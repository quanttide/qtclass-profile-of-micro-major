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数据科学的最后一讲。在前面的课程中，我们学习了如何定义问题、设计指标、进行统计分析、预测和因果推断。今天，我们将学习如何将所有这些分析结果，转化为一份能够“讲故事”的总结报告，这是数据科学价值实现的关键一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本次课程将分为五个部分。我们将从一个核心问题“数据分析的最终目的是什么？”开始，然后深入探讨数据可视化的原则和报告撰写的规范，通过案例分析来巩固所学，最后对整个数据科学课程进行总结。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我们做数据分析的最终目的，不是为了炫技，而是为了支持决策。而连接数据和决策的关键桥梁，就是一份高质量的数据分析报告。它能帮助我们清晰地传达结果，支持决策，并最终推动行动。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报告的核心是可视化。一个好的可视化必须遵循四大原则。首先是准确性，图表绝不能误导观众，比如通过截断Y轴来夸大差异。其次是简洁性，我们要最大化“数据墨水比”，去除所有不必要的装饰，让数据自己说话。</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另外两个原则是可读性和一致性。可读性要求我们的图表标签清晰、字体合适、单位明确。一致性则要求在整个报告中，颜色、字体等视觉元素保持统一，以减少观众的认知负担，让他们专注于数据本身。</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选择图表的黄金法则是：根据你想表达的核心信息来选择。折线图看趋势，柱状图做对比，饼图看比例，散点图看关系。选对图表，能让你的信息传达事半功倍。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做一个实战演练。这里有三个常见的错误图表，大家可以看看问题出在哪里。3D饼图扭曲了数据，混乱的折线图信息过载，无标签的柱状图让人不知所云。避免这些错误，是制作高质量可视化的第一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掌握了可视化，我们来看报告的整体结构。一个好的报告应该像一个故事，有清晰的结构。我们推荐使用这个标准结构：从封面、目录开始，然后是至关重要的执行摘要，接着是背景、方法、分析结果、结论建议，最后是附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报告中最重要的部分之一就是执行摘要。它是写给最忙的决策者看的“电梯演讲”。写作时要记住结论先行，高度概括，让决策者在30秒内就能了解报告的核心内容。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接下来是背景与目标，这部分要清晰地告诉读者我们为什么要做这次分析。然后是数据与方法，这部分要说明我们是怎么做的，保证分析的可信度和可追溯性。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分析结果是报告的核心。这部分要做到图文并茂，一图胜千言。每张图表都要有明确的核心信息，并且一定要配上注释，告诉读者你想表达什么，不要让他们自己去猜。同时，要保证逻辑的清晰递进，并对关键结论进行高亮，让决策者能快速抓住重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最后是结论与建议。结论要直接回答最初提出的问题。建议则要具体、可操作、可衡量。避免空泛的口号，要给出能指导行动的具体方案。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在撰写报告时，要避免这些常见问题：缺乏明确目标、数据展示混乱、结论不清晰、建议不可行，以及过度技术化。一个好的报告应该是清晰、简洁、有说服力的。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理论讲完了，我们来看一个真实的案例：China's Prices Project。这个项目旨在构建一个高频的线上价格指数，以弥补传统CPI的不足。整个流程包括数据采集、处理、指数构建和分析洞察。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我们来拆解一下这个案例的报告结构。标题清晰明了，执行摘要结论先行，背景与目标说明了为什么要做，数据与方法说明了怎么做。整个结构非常清晰。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在结果展示部分，我们使用了两个核心维度的分析来呈现Q4的市场表现。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首先，左侧的线上价格指数走势清晰地展示了市场的动态变化。数据表明，指数在Q4整体呈上升趋势，虽然在11月受“双十一”大促影响出现了短暂的技术性回调，但年末的迅速反弹证明了市场需求的强劲韧性。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其次，右侧的品类贡献度分析揭示了增长的内在结构。食品类价格上涨是推动Q4指数上升的核心动力，贡献了超过60%的涨幅，这反映了刚性需求的稳定性。相比之下，电子产品和服装类的贡献则较为温和。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这两个维度的结合，为我们理解Q4市场趋势并制定后续策略提供了坚实的数据支持。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最后，报告的结论直接回答了最初的问题，而建议则具体、可操作，分别针对政策制定者和电商平台给出了行动指引。这就是一份高质量报告的典范。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现在是课堂研讨时间。请大家分组讨论，根据这些信息，撰写一份一页纸的简要分析报告。这是一个很好的机会，让大家把今天学到的知识应用到实践中。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课程到这里就接近尾声了。让我们回顾一下整个数据科学的知识体系。从提出正确的问题，到定义衡量标准，再到探索数据、预测未来、探究因果，最后通过报告将洞察转化为行动。这是一个完整的闭环。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展望未来，数据科学将与AI深度融合，数据驱动决策将更加普及，同时，数据伦理和隐私保护也将成为我们必须关注的重要议题。希望大家能保持学习，不断进步。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课后请大家完成两道作业题。一道是报告撰写题，希望大家能动手完成一份完整的报告。另一道是工具调研题，鼓励大家去探索更多强大的数据可视化工具。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1" Type="http://schemas.openxmlformats.org/officeDocument/2006/relationships/notesSlide" Target="../notesSlides/notesSlide9.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24.svg"/><Relationship Id="rId8" Type="http://schemas.openxmlformats.org/officeDocument/2006/relationships/image" Target="../media/image23.png"/><Relationship Id="rId7" Type="http://schemas.openxmlformats.org/officeDocument/2006/relationships/image" Target="../media/image22.svg"/><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3" Type="http://schemas.openxmlformats.org/officeDocument/2006/relationships/image" Target="../media/image18.svg"/><Relationship Id="rId2" Type="http://schemas.openxmlformats.org/officeDocument/2006/relationships/image" Target="../media/image17.png"/><Relationship Id="rId13" Type="http://schemas.openxmlformats.org/officeDocument/2006/relationships/notesSlide" Target="../notesSlides/notesSlide11.xml"/><Relationship Id="rId12" Type="http://schemas.openxmlformats.org/officeDocument/2006/relationships/slideLayout" Target="../slideLayouts/slideLayout12.xml"/><Relationship Id="rId11" Type="http://schemas.openxmlformats.org/officeDocument/2006/relationships/image" Target="../media/image26.svg"/><Relationship Id="rId10" Type="http://schemas.openxmlformats.org/officeDocument/2006/relationships/image" Target="../media/image25.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12.xml"/><Relationship Id="rId7" Type="http://schemas.openxmlformats.org/officeDocument/2006/relationships/image" Target="../media/image31.svg"/><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 Id="rId3" Type="http://schemas.openxmlformats.org/officeDocument/2006/relationships/image" Target="../media/image6.svg"/><Relationship Id="rId2" Type="http://schemas.openxmlformats.org/officeDocument/2006/relationships/image" Target="../media/image27.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12.xml"/><Relationship Id="rId7" Type="http://schemas.openxmlformats.org/officeDocument/2006/relationships/image" Target="../media/image35.svg"/><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第六讲：总结报告</a:t>
            </a:r>
            <a:endParaRPr lang="en-US" sz="1100"/>
          </a:p>
        </p:txBody>
      </p:sp>
      <p:sp>
        <p:nvSpPr>
          <p:cNvPr id="4" name="AutoShape 4"/>
          <p:cNvSpPr/>
          <p:nvPr/>
        </p:nvSpPr>
        <p:spPr>
          <a:xfrm>
            <a:off x="0" y="3683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spc="200">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用数据讲故事的艺术</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课程大纲</a:t>
            </a:r>
            <a:endParaRPr lang="en-US" sz="1100"/>
          </a:p>
        </p:txBody>
      </p:sp>
      <p:sp>
        <p:nvSpPr>
          <p:cNvPr id="4" name="AutoShape 4"/>
          <p:cNvSpPr/>
          <p:nvPr/>
        </p:nvSpPr>
        <p:spPr>
          <a:xfrm>
            <a:off x="762000" y="1651000"/>
            <a:ext cx="3378200" cy="19685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63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1714500" y="18415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开篇导入</a:t>
            </a:r>
            <a:endParaRPr lang="en-US" sz="1100"/>
          </a:p>
        </p:txBody>
      </p:sp>
      <p:sp>
        <p:nvSpPr>
          <p:cNvPr id="8" name="AutoShape 8"/>
          <p:cNvSpPr/>
          <p:nvPr/>
        </p:nvSpPr>
        <p:spPr>
          <a:xfrm>
            <a:off x="952500" y="2540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从数据到决策，我们将一起探讨数据分析的核心目的——不仅仅是处理数字，更是为了通过数据洞察驱动正确的业务行动。</a:t>
            </a:r>
            <a:endParaRPr lang="en-US" sz="1100"/>
          </a:p>
        </p:txBody>
      </p:sp>
      <p:sp>
        <p:nvSpPr>
          <p:cNvPr id="9" name="AutoShape 9"/>
          <p:cNvSpPr/>
          <p:nvPr/>
        </p:nvSpPr>
        <p:spPr>
          <a:xfrm>
            <a:off x="4394200" y="1651000"/>
            <a:ext cx="3378200" cy="19685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3942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84700" y="1803400"/>
            <a:ext cx="63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nvSpPr>
        <p:spPr>
          <a:xfrm>
            <a:off x="5346700" y="18415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可视化原则</a:t>
            </a:r>
            <a:endParaRPr lang="en-US" sz="1100"/>
          </a:p>
        </p:txBody>
      </p:sp>
      <p:sp>
        <p:nvSpPr>
          <p:cNvPr id="13" name="AutoShape 13"/>
          <p:cNvSpPr/>
          <p:nvPr/>
        </p:nvSpPr>
        <p:spPr>
          <a:xfrm>
            <a:off x="4584700" y="2540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让数据自己说话。掌握清晰、准确、有效的数据呈现方法，去除噪音，提炼核心信息，让复杂的数据关系一目了然。</a:t>
            </a:r>
            <a:endParaRPr lang="en-US" sz="1100"/>
          </a:p>
        </p:txBody>
      </p:sp>
      <p:sp>
        <p:nvSpPr>
          <p:cNvPr id="14" name="AutoShape 14"/>
          <p:cNvSpPr/>
          <p:nvPr/>
        </p:nvSpPr>
        <p:spPr>
          <a:xfrm>
            <a:off x="8026400" y="1651000"/>
            <a:ext cx="3378200" cy="19685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026400" y="1651000"/>
            <a:ext cx="3378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216900" y="1803400"/>
            <a:ext cx="63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nvSpPr>
        <p:spPr>
          <a:xfrm>
            <a:off x="8978900" y="1841500"/>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报告撰写规范</a:t>
            </a:r>
            <a:endParaRPr lang="en-US" sz="1100"/>
          </a:p>
        </p:txBody>
      </p:sp>
      <p:sp>
        <p:nvSpPr>
          <p:cNvPr id="18" name="AutoShape 18"/>
          <p:cNvSpPr/>
          <p:nvPr/>
        </p:nvSpPr>
        <p:spPr>
          <a:xfrm>
            <a:off x="8216900" y="2540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构建你的故事线。学习结构化的叙事逻辑，将零散的分析结果串联成有说服力的商业报告，清晰传达你的发现与建议。</a:t>
            </a:r>
            <a:endParaRPr lang="en-US" sz="1100"/>
          </a:p>
        </p:txBody>
      </p:sp>
      <p:sp>
        <p:nvSpPr>
          <p:cNvPr id="19" name="AutoShape 19"/>
          <p:cNvSpPr/>
          <p:nvPr/>
        </p:nvSpPr>
        <p:spPr>
          <a:xfrm>
            <a:off x="762000" y="3937000"/>
            <a:ext cx="5156200" cy="19685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3937000"/>
            <a:ext cx="5156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4089400"/>
            <a:ext cx="76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2" name="AutoShape 22"/>
          <p:cNvSpPr/>
          <p:nvPr/>
        </p:nvSpPr>
        <p:spPr>
          <a:xfrm>
            <a:off x="1841500" y="41275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案例分析：从理论到实践</a:t>
            </a:r>
            <a:endParaRPr lang="en-US" sz="1100"/>
          </a:p>
        </p:txBody>
      </p:sp>
      <p:sp>
        <p:nvSpPr>
          <p:cNvPr id="23" name="AutoShape 23"/>
          <p:cNvSpPr/>
          <p:nvPr/>
        </p:nvSpPr>
        <p:spPr>
          <a:xfrm>
            <a:off x="952500" y="4826000"/>
            <a:ext cx="4775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通过真实的商业场景案例，将之前学到的分析方法和可视化原则应用到实际问题中。我们将拆解业务痛点，演示如何一步步从原始数据推导出可行的解决方案，切实掌握数据分析的实战技巧。</a:t>
            </a:r>
            <a:endParaRPr lang="en-US" sz="1100"/>
          </a:p>
        </p:txBody>
      </p:sp>
      <p:sp>
        <p:nvSpPr>
          <p:cNvPr id="24" name="AutoShape 24"/>
          <p:cNvSpPr/>
          <p:nvPr/>
        </p:nvSpPr>
        <p:spPr>
          <a:xfrm>
            <a:off x="6172200" y="3937000"/>
            <a:ext cx="5156200" cy="19685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172200" y="3937000"/>
            <a:ext cx="51562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362700" y="4089400"/>
            <a:ext cx="76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7" name="AutoShape 27"/>
          <p:cNvSpPr/>
          <p:nvPr/>
        </p:nvSpPr>
        <p:spPr>
          <a:xfrm>
            <a:off x="7251700" y="4127500"/>
            <a:ext cx="381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课程总结：数据科学闭环</a:t>
            </a:r>
            <a:endParaRPr lang="en-US" sz="1100"/>
          </a:p>
        </p:txBody>
      </p:sp>
      <p:sp>
        <p:nvSpPr>
          <p:cNvPr id="28" name="AutoShape 28"/>
          <p:cNvSpPr/>
          <p:nvPr/>
        </p:nvSpPr>
        <p:spPr>
          <a:xfrm>
            <a:off x="6362700" y="4826000"/>
            <a:ext cx="4775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回顾全课程的核心知识点，梳理从问题定义、数据获取、分析处理、可视化呈现到最终决策的完整数据科学工作流。帮助大家建立系统的知识框架，能够独立开展数据分析项目，实现从数据到价值的转化。</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导入：从数据到决策</a:t>
            </a:r>
            <a:endParaRPr lang="en-US" sz="1100"/>
          </a:p>
        </p:txBody>
      </p:sp>
      <p:sp>
        <p:nvSpPr>
          <p:cNvPr id="4" name="AutoShape 4"/>
          <p:cNvSpPr/>
          <p:nvPr/>
        </p:nvSpPr>
        <p:spPr>
          <a:xfrm>
            <a:off x="762000" y="1587500"/>
            <a:ext cx="10668000" cy="1524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1016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核心问题：我们做了那么多数据分析，最终目的是什么？</a:t>
            </a:r>
            <a:endParaRPr lang="en-US" sz="1100"/>
          </a:p>
        </p:txBody>
      </p:sp>
      <p:sp>
        <p:nvSpPr>
          <p:cNvPr id="6" name="AutoShape 6"/>
          <p:cNvSpPr/>
          <p:nvPr/>
        </p:nvSpPr>
        <p:spPr>
          <a:xfrm>
            <a:off x="1016000" y="2286000"/>
            <a:ext cx="4826000" cy="762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43000" y="2349500"/>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不是：产出一堆复杂的图表和模型，陷入数据的细节而忽略业务目标。</a:t>
            </a:r>
            <a:endParaRPr lang="en-US" sz="1100"/>
          </a:p>
        </p:txBody>
      </p:sp>
      <p:sp>
        <p:nvSpPr>
          <p:cNvPr id="8" name="AutoShape 8"/>
          <p:cNvSpPr/>
          <p:nvPr/>
        </p:nvSpPr>
        <p:spPr>
          <a:xfrm>
            <a:off x="6096000" y="2286000"/>
            <a:ext cx="5207000" cy="762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2349500"/>
            <a:ext cx="495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而是：支持决策 (Support Decision Making)，让数据真正服务于业务增长。</a:t>
            </a:r>
            <a:endParaRPr lang="en-US" sz="1100"/>
          </a:p>
        </p:txBody>
      </p:sp>
      <p:sp>
        <p:nvSpPr>
          <p:cNvPr id="10" name="AutoShape 10"/>
          <p:cNvSpPr/>
          <p:nvPr/>
        </p:nvSpPr>
        <p:spPr>
          <a:xfrm>
            <a:off x="762000" y="3365500"/>
            <a:ext cx="10668000" cy="952500"/>
          </a:xfrm>
          <a:prstGeom prst="roundRect">
            <a:avLst>
              <a:gd name="adj" fmla="val 0"/>
            </a:avLst>
          </a:prstGeom>
          <a:solidFill>
            <a:srgbClr val="22C55E">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34544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关键桥梁：一份高质量的数据分析报告，连接数据洞察与业务行动。</a:t>
            </a:r>
            <a:endParaRPr lang="en-US" sz="1100"/>
          </a:p>
        </p:txBody>
      </p:sp>
      <p:sp>
        <p:nvSpPr>
          <p:cNvPr id="12" name="AutoShape 12"/>
          <p:cNvSpPr/>
          <p:nvPr/>
        </p:nvSpPr>
        <p:spPr>
          <a:xfrm>
            <a:off x="762000" y="4572000"/>
            <a:ext cx="3429000" cy="190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572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762500"/>
            <a:ext cx="304800" cy="304800"/>
          </a:xfrm>
          <a:prstGeom prst="rect">
            <a:avLst/>
          </a:prstGeom>
        </p:spPr>
      </p:pic>
      <p:sp>
        <p:nvSpPr>
          <p:cNvPr id="15" name="AutoShape 15"/>
          <p:cNvSpPr/>
          <p:nvPr/>
        </p:nvSpPr>
        <p:spPr>
          <a:xfrm>
            <a:off x="1397000" y="4724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传达结果</a:t>
            </a:r>
            <a:endParaRPr lang="en-US" sz="1100"/>
          </a:p>
        </p:txBody>
      </p:sp>
      <p:sp>
        <p:nvSpPr>
          <p:cNvPr id="16" name="AutoShape 16"/>
          <p:cNvSpPr/>
          <p:nvPr/>
        </p:nvSpPr>
        <p:spPr>
          <a:xfrm>
            <a:off x="952500" y="52705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将复杂的技术分析和海量数据，转化为业务人员能快速理解的商业洞察，消除信息不对称。</a:t>
            </a:r>
            <a:endParaRPr lang="en-US" sz="1100"/>
          </a:p>
        </p:txBody>
      </p:sp>
      <p:sp>
        <p:nvSpPr>
          <p:cNvPr id="17" name="AutoShape 17"/>
          <p:cNvSpPr/>
          <p:nvPr/>
        </p:nvSpPr>
        <p:spPr>
          <a:xfrm>
            <a:off x="4381500" y="4572000"/>
            <a:ext cx="3429000" cy="190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381500" y="4572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4762500"/>
            <a:ext cx="304800" cy="304800"/>
          </a:xfrm>
          <a:prstGeom prst="rect">
            <a:avLst/>
          </a:prstGeom>
        </p:spPr>
      </p:pic>
      <p:sp>
        <p:nvSpPr>
          <p:cNvPr id="20" name="AutoShape 20"/>
          <p:cNvSpPr/>
          <p:nvPr/>
        </p:nvSpPr>
        <p:spPr>
          <a:xfrm>
            <a:off x="5016500" y="4724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支持决策</a:t>
            </a:r>
            <a:endParaRPr lang="en-US" sz="1100"/>
          </a:p>
        </p:txBody>
      </p:sp>
      <p:sp>
        <p:nvSpPr>
          <p:cNvPr id="21" name="AutoShape 21"/>
          <p:cNvSpPr/>
          <p:nvPr/>
        </p:nvSpPr>
        <p:spPr>
          <a:xfrm>
            <a:off x="4572000" y="52705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针对具体的业务痛点，提供基于数据的明确答案、利弊分析以及切实可行的行动建议。</a:t>
            </a:r>
            <a:endParaRPr lang="en-US" sz="1100"/>
          </a:p>
        </p:txBody>
      </p:sp>
      <p:sp>
        <p:nvSpPr>
          <p:cNvPr id="22" name="AutoShape 22"/>
          <p:cNvSpPr/>
          <p:nvPr/>
        </p:nvSpPr>
        <p:spPr>
          <a:xfrm>
            <a:off x="8001000" y="4572000"/>
            <a:ext cx="3429000" cy="190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001000" y="4572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4762500"/>
            <a:ext cx="304800" cy="304800"/>
          </a:xfrm>
          <a:prstGeom prst="rect">
            <a:avLst/>
          </a:prstGeom>
        </p:spPr>
      </p:pic>
      <p:sp>
        <p:nvSpPr>
          <p:cNvPr id="25" name="AutoShape 25"/>
          <p:cNvSpPr/>
          <p:nvPr/>
        </p:nvSpPr>
        <p:spPr>
          <a:xfrm>
            <a:off x="8636000" y="4724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推动行动</a:t>
            </a:r>
            <a:endParaRPr lang="en-US" sz="1100"/>
          </a:p>
        </p:txBody>
      </p:sp>
      <p:sp>
        <p:nvSpPr>
          <p:cNvPr id="26" name="AutoShape 26"/>
          <p:cNvSpPr/>
          <p:nvPr/>
        </p:nvSpPr>
        <p:spPr>
          <a:xfrm>
            <a:off x="8191500" y="52705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将分析成果转化为可执行的业务动作，跟踪落地效果，让数据驱动产生实际的商业价值。</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可视化的四大基本原则</a:t>
            </a:r>
            <a:endParaRPr lang="en-US" sz="1100"/>
          </a:p>
        </p:txBody>
      </p:sp>
      <p:sp>
        <p:nvSpPr>
          <p:cNvPr id="4" name="AutoShape 4"/>
          <p:cNvSpPr/>
          <p:nvPr/>
        </p:nvSpPr>
        <p:spPr>
          <a:xfrm>
            <a:off x="762000" y="1651000"/>
            <a:ext cx="5270500" cy="4318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476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准确性 (Accuracy)</a:t>
            </a:r>
            <a:endParaRPr lang="en-US" sz="1100"/>
          </a:p>
        </p:txBody>
      </p:sp>
      <p:sp>
        <p:nvSpPr>
          <p:cNvPr id="7" name="AutoShape 7"/>
          <p:cNvSpPr/>
          <p:nvPr/>
        </p:nvSpPr>
        <p:spPr>
          <a:xfrm>
            <a:off x="1016000" y="2794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图表必须如镜子般准确无误地反映数据，确保信息传递的真实性。任何形式的扭曲、误导或数据偏差都是可视化的大忌，会直接导致基于错误信息的决策失误。</a:t>
            </a:r>
            <a:endParaRPr lang="en-US" sz="1100"/>
          </a:p>
        </p:txBody>
      </p:sp>
      <p:sp>
        <p:nvSpPr>
          <p:cNvPr id="8" name="AutoShape 8"/>
          <p:cNvSpPr/>
          <p:nvPr/>
        </p:nvSpPr>
        <p:spPr>
          <a:xfrm>
            <a:off x="1016000" y="4191000"/>
            <a:ext cx="4762500" cy="15875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4292600"/>
            <a:ext cx="438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常见误区与避坑指南</a:t>
            </a:r>
            <a:endParaRPr lang="en-US" sz="1100"/>
          </a:p>
        </p:txBody>
      </p:sp>
      <p:sp>
        <p:nvSpPr>
          <p:cNvPr id="10" name="AutoShape 10"/>
          <p:cNvSpPr/>
          <p:nvPr/>
        </p:nvSpPr>
        <p:spPr>
          <a:xfrm>
            <a:off x="1206500" y="4724400"/>
            <a:ext cx="438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切忌随意截断Y轴以夸大差异、选用与数据类型不匹配的图表、或滥用3D立体效果干扰视觉判断。数据的呈现应始终保持客观中立，还原数据最真实的趋势与比例。</a:t>
            </a:r>
            <a:endParaRPr lang="en-US" sz="1100"/>
          </a:p>
        </p:txBody>
      </p:sp>
      <p:cxnSp>
        <p:nvCxnSpPr>
          <p:cNvPr id="11" name="Connector 11"/>
          <p:cNvCxnSpPr/>
          <p:nvPr/>
        </p:nvCxnSpPr>
        <p:spPr>
          <a:xfrm rot="5389582">
            <a:off x="4064000" y="3867160"/>
            <a:ext cx="41910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12" name="AutoShape 12"/>
          <p:cNvSpPr/>
          <p:nvPr/>
        </p:nvSpPr>
        <p:spPr>
          <a:xfrm>
            <a:off x="6286500" y="1651000"/>
            <a:ext cx="5270500" cy="4318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865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540500" y="1968500"/>
            <a:ext cx="476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简洁性 (Simplicity)</a:t>
            </a:r>
            <a:endParaRPr lang="en-US" sz="1100"/>
          </a:p>
        </p:txBody>
      </p:sp>
      <p:sp>
        <p:nvSpPr>
          <p:cNvPr id="15" name="AutoShape 15"/>
          <p:cNvSpPr/>
          <p:nvPr/>
        </p:nvSpPr>
        <p:spPr>
          <a:xfrm>
            <a:off x="6540500" y="2794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做减法是核心逻辑，去除一切冗余的边框、装饰性背景和无关元素，让数据本身成为绝对的视觉焦点。极简的设计能有效降低观众的认知负荷，帮助其在短时间内快速捕捉关键信息。</a:t>
            </a:r>
            <a:endParaRPr lang="en-US" sz="1100"/>
          </a:p>
        </p:txBody>
      </p:sp>
      <p:sp>
        <p:nvSpPr>
          <p:cNvPr id="16" name="AutoShape 16"/>
          <p:cNvSpPr/>
          <p:nvPr/>
        </p:nvSpPr>
        <p:spPr>
          <a:xfrm>
            <a:off x="6540500" y="4191000"/>
            <a:ext cx="4762500" cy="15875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731000" y="4292600"/>
            <a:ext cx="438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核心法则：数据墨水比 (Data-Ink Ratio)</a:t>
            </a:r>
            <a:endParaRPr lang="en-US" sz="1100"/>
          </a:p>
        </p:txBody>
      </p:sp>
      <p:sp>
        <p:nvSpPr>
          <p:cNvPr id="18" name="AutoShape 18"/>
          <p:cNvSpPr/>
          <p:nvPr/>
        </p:nvSpPr>
        <p:spPr>
          <a:xfrm>
            <a:off x="6731000" y="4724400"/>
            <a:ext cx="438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即图表中用于表达数据的墨水占总墨水的比例。这一比例越高，信息传递效率越强。核心在于“擦除”所有不承载数据信息的冗余视觉元素，让每一笔线条都精准服务于数据的有效表达。</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可视化的四大基本原则 (续)</a:t>
            </a:r>
            <a:endParaRPr lang="en-US" sz="1100"/>
          </a:p>
        </p:txBody>
      </p:sp>
      <p:sp>
        <p:nvSpPr>
          <p:cNvPr id="4" name="AutoShape 4"/>
          <p:cNvSpPr/>
          <p:nvPr/>
        </p:nvSpPr>
        <p:spPr>
          <a:xfrm>
            <a:off x="762000" y="1778000"/>
            <a:ext cx="5207000" cy="41910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32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可读性 (Readability)</a:t>
            </a:r>
            <a:endParaRPr lang="en-US" sz="1100"/>
          </a:p>
        </p:txBody>
      </p:sp>
      <p:sp>
        <p:nvSpPr>
          <p:cNvPr id="7" name="AutoShape 7"/>
          <p:cNvSpPr/>
          <p:nvPr/>
        </p:nvSpPr>
        <p:spPr>
          <a:xfrm>
            <a:off x="1016000" y="2794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确保观众能够在短时间内轻松阅读和准确理解图表所传递的核心信息，是数据可视化的基础门槛。信息传递的效率直接决定了沟通的效果。</a:t>
            </a:r>
            <a:endParaRPr lang="en-US" sz="1100"/>
          </a:p>
        </p:txBody>
      </p:sp>
      <p:sp>
        <p:nvSpPr>
          <p:cNvPr id="8" name="AutoShape 8"/>
          <p:cNvSpPr/>
          <p:nvPr/>
        </p:nvSpPr>
        <p:spPr>
          <a:xfrm>
            <a:off x="1016000" y="4127500"/>
            <a:ext cx="4699000" cy="1587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42545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关键执行要素</a:t>
            </a:r>
            <a:endParaRPr lang="en-US" sz="1100"/>
          </a:p>
        </p:txBody>
      </p:sp>
      <p:sp>
        <p:nvSpPr>
          <p:cNvPr id="10" name="AutoShape 10"/>
          <p:cNvSpPr/>
          <p:nvPr/>
        </p:nvSpPr>
        <p:spPr>
          <a:xfrm>
            <a:off x="1206500" y="4699000"/>
            <a:ext cx="431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使用清晰易读的标签与合适的字体大小；明确标注数据单位；对关键数据点进行直接标注；同时保证图表元素的间距合理，避免视觉拥挤。</a:t>
            </a:r>
            <a:endParaRPr lang="en-US" sz="1100"/>
          </a:p>
        </p:txBody>
      </p:sp>
      <p:sp>
        <p:nvSpPr>
          <p:cNvPr id="11" name="AutoShape 11"/>
          <p:cNvSpPr/>
          <p:nvPr/>
        </p:nvSpPr>
        <p:spPr>
          <a:xfrm>
            <a:off x="6223000" y="1778000"/>
            <a:ext cx="5207000" cy="41910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1778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77000" y="2032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一致性 (Consistency)</a:t>
            </a:r>
            <a:endParaRPr lang="en-US" sz="1100"/>
          </a:p>
        </p:txBody>
      </p:sp>
      <p:sp>
        <p:nvSpPr>
          <p:cNvPr id="14" name="AutoShape 14"/>
          <p:cNvSpPr/>
          <p:nvPr/>
        </p:nvSpPr>
        <p:spPr>
          <a:xfrm>
            <a:off x="6477000" y="27940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在整个报告、演示文稿或系列图表中，保持视觉语言和表达规则的统一。这能有效降低观众的认知负荷，帮助他们建立稳定的视觉预期，专注于数据本身。</a:t>
            </a:r>
            <a:endParaRPr lang="en-US" sz="1100"/>
          </a:p>
        </p:txBody>
      </p:sp>
      <p:sp>
        <p:nvSpPr>
          <p:cNvPr id="15" name="AutoShape 15"/>
          <p:cNvSpPr/>
          <p:nvPr/>
        </p:nvSpPr>
        <p:spPr>
          <a:xfrm>
            <a:off x="6477000" y="4127500"/>
            <a:ext cx="4699000" cy="1587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67500" y="42545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关键执行要素</a:t>
            </a:r>
            <a:endParaRPr lang="en-US" sz="1100"/>
          </a:p>
        </p:txBody>
      </p:sp>
      <p:sp>
        <p:nvSpPr>
          <p:cNvPr id="17" name="AutoShape 17"/>
          <p:cNvSpPr/>
          <p:nvPr/>
        </p:nvSpPr>
        <p:spPr>
          <a:xfrm>
            <a:off x="6667500" y="4699000"/>
            <a:ext cx="431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统一全文档的配色方案与字体体系；确保同类图表的样式、图例、坐标轴刻度和单位保持一致；规范术语表达，形成标准化的视觉沟通范式。</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常见图表类型与适用场景</a:t>
            </a:r>
            <a:endParaRPr lang="en-US" sz="1100"/>
          </a:p>
        </p:txBody>
      </p:sp>
      <p:sp>
        <p:nvSpPr>
          <p:cNvPr id="4" name="AutoShape 4"/>
          <p:cNvSpPr/>
          <p:nvPr/>
        </p:nvSpPr>
        <p:spPr>
          <a:xfrm>
            <a:off x="762000" y="1651000"/>
            <a:ext cx="2667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266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803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折线图</a:t>
            </a:r>
            <a:endParaRPr lang="en-US" sz="1100"/>
          </a:p>
        </p:txBody>
      </p:sp>
      <p:sp>
        <p:nvSpPr>
          <p:cNvPr id="7" name="AutoShape 7"/>
          <p:cNvSpPr/>
          <p:nvPr/>
        </p:nvSpPr>
        <p:spPr>
          <a:xfrm>
            <a:off x="889000" y="2311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核心：趋势变化</a:t>
            </a:r>
            <a:endParaRPr lang="en-US" sz="1100"/>
          </a:p>
        </p:txBody>
      </p:sp>
      <p:sp>
        <p:nvSpPr>
          <p:cNvPr id="8" name="AutoShape 8"/>
          <p:cNvSpPr/>
          <p:nvPr/>
        </p:nvSpPr>
        <p:spPr>
          <a:xfrm>
            <a:off x="889000" y="28194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适合展示随时间推进的动态走向，如股票价格波动、产品销量的月度走势，能直观呈现数据上升、下降或周期性的波动规律。</a:t>
            </a:r>
            <a:endParaRPr lang="en-US" sz="1100"/>
          </a:p>
        </p:txBody>
      </p:sp>
      <p:sp>
        <p:nvSpPr>
          <p:cNvPr id="9" name="AutoShape 9"/>
          <p:cNvSpPr/>
          <p:nvPr/>
        </p:nvSpPr>
        <p:spPr>
          <a:xfrm>
            <a:off x="3594100" y="1651000"/>
            <a:ext cx="2667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594100" y="1651000"/>
            <a:ext cx="266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721100" y="1803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柱状图</a:t>
            </a:r>
            <a:endParaRPr lang="en-US" sz="1100"/>
          </a:p>
        </p:txBody>
      </p:sp>
      <p:sp>
        <p:nvSpPr>
          <p:cNvPr id="12" name="AutoShape 12"/>
          <p:cNvSpPr/>
          <p:nvPr/>
        </p:nvSpPr>
        <p:spPr>
          <a:xfrm>
            <a:off x="3721100" y="2311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核心：项目对比</a:t>
            </a:r>
            <a:endParaRPr lang="en-US" sz="1100"/>
          </a:p>
        </p:txBody>
      </p:sp>
      <p:sp>
        <p:nvSpPr>
          <p:cNvPr id="13" name="AutoShape 13"/>
          <p:cNvSpPr/>
          <p:nvPr/>
        </p:nvSpPr>
        <p:spPr>
          <a:xfrm>
            <a:off x="3721100" y="28194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用于多组数据的横向对比，清晰展示不同产品线销售额、各渠道用户数等离散数据的差异，帮助快速识别数据量级与优劣。</a:t>
            </a:r>
            <a:endParaRPr lang="en-US" sz="1100"/>
          </a:p>
        </p:txBody>
      </p:sp>
      <p:sp>
        <p:nvSpPr>
          <p:cNvPr id="14" name="AutoShape 14"/>
          <p:cNvSpPr/>
          <p:nvPr/>
        </p:nvSpPr>
        <p:spPr>
          <a:xfrm>
            <a:off x="6426200" y="1651000"/>
            <a:ext cx="2667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26200" y="1651000"/>
            <a:ext cx="266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553200" y="1803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饼图</a:t>
            </a:r>
            <a:endParaRPr lang="en-US" sz="1100"/>
          </a:p>
        </p:txBody>
      </p:sp>
      <p:sp>
        <p:nvSpPr>
          <p:cNvPr id="17" name="AutoShape 17"/>
          <p:cNvSpPr/>
          <p:nvPr/>
        </p:nvSpPr>
        <p:spPr>
          <a:xfrm>
            <a:off x="6553200" y="2311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核心：占比构成</a:t>
            </a:r>
            <a:endParaRPr lang="en-US" sz="1100"/>
          </a:p>
        </p:txBody>
      </p:sp>
      <p:sp>
        <p:nvSpPr>
          <p:cNvPr id="18" name="AutoShape 18"/>
          <p:cNvSpPr/>
          <p:nvPr/>
        </p:nvSpPr>
        <p:spPr>
          <a:xfrm>
            <a:off x="6553200" y="28194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呈现部分与整体的比例关系，如市场份额分布、用户来源渠道占比。需注意分类数量不宜过多，否则会降低视觉辨识度。</a:t>
            </a:r>
            <a:endParaRPr lang="en-US" sz="1100"/>
          </a:p>
        </p:txBody>
      </p:sp>
      <p:sp>
        <p:nvSpPr>
          <p:cNvPr id="19" name="AutoShape 19"/>
          <p:cNvSpPr/>
          <p:nvPr/>
        </p:nvSpPr>
        <p:spPr>
          <a:xfrm>
            <a:off x="9258300" y="1651000"/>
            <a:ext cx="2667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258300" y="1651000"/>
            <a:ext cx="266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385300" y="1803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散点图</a:t>
            </a:r>
            <a:endParaRPr lang="en-US" sz="1100"/>
          </a:p>
        </p:txBody>
      </p:sp>
      <p:sp>
        <p:nvSpPr>
          <p:cNvPr id="22" name="AutoShape 22"/>
          <p:cNvSpPr/>
          <p:nvPr/>
        </p:nvSpPr>
        <p:spPr>
          <a:xfrm>
            <a:off x="9385300" y="2311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核心：变量关系</a:t>
            </a:r>
            <a:endParaRPr lang="en-US" sz="1100"/>
          </a:p>
        </p:txBody>
      </p:sp>
      <p:sp>
        <p:nvSpPr>
          <p:cNvPr id="23" name="AutoShape 23"/>
          <p:cNvSpPr/>
          <p:nvPr/>
        </p:nvSpPr>
        <p:spPr>
          <a:xfrm>
            <a:off x="9385300" y="28194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分析两个变量间的相关性，例如广告投入与销售额的关联、用户活跃度与留存率的联系，帮助发现数据背后的潜在规律。</a:t>
            </a:r>
            <a:endParaRPr lang="en-US" sz="1100"/>
          </a:p>
        </p:txBody>
      </p:sp>
      <p:sp>
        <p:nvSpPr>
          <p:cNvPr id="24" name="AutoShape 24"/>
          <p:cNvSpPr/>
          <p:nvPr/>
        </p:nvSpPr>
        <p:spPr>
          <a:xfrm>
            <a:off x="762000" y="4254500"/>
            <a:ext cx="11163300" cy="2095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4254500"/>
            <a:ext cx="50800" cy="2095500"/>
          </a:xfrm>
          <a:prstGeom prst="roundRect">
            <a:avLst>
              <a:gd name="adj" fmla="val 0"/>
            </a:avLst>
          </a:prstGeom>
          <a:solidFill>
            <a:srgbClr val="22C55E">
              <a:alpha val="6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016000" y="4419600"/>
            <a:ext cx="10541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数据表达的黄金法则：匹配核心信息</a:t>
            </a:r>
            <a:endParaRPr lang="en-US" sz="1100"/>
          </a:p>
        </p:txBody>
      </p:sp>
      <p:sp>
        <p:nvSpPr>
          <p:cNvPr id="27" name="AutoShape 27"/>
          <p:cNvSpPr/>
          <p:nvPr/>
        </p:nvSpPr>
        <p:spPr>
          <a:xfrm>
            <a:off x="1016000" y="5016500"/>
            <a:ext cx="1054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选对图表是高效沟通的关键。当你需要展示「变化」时首选折线图，需要「比较」时用柱状图，需要看「占比」时选饼图，而探究「关联」则离不开散点图。根据核心信息匹配图表类型，能让数据故事一目了然，避免信息传递的偏差。</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可视化实战演练：识别错误</a:t>
            </a:r>
            <a:endParaRPr lang="en-US" sz="1100"/>
          </a:p>
        </p:txBody>
      </p:sp>
      <p:sp>
        <p:nvSpPr>
          <p:cNvPr id="4" name="AutoShape 4"/>
          <p:cNvSpPr/>
          <p:nvPr/>
        </p:nvSpPr>
        <p:spPr>
          <a:xfrm>
            <a:off x="762000" y="1651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图表A：误导性的3D饼图</a:t>
            </a:r>
            <a:endParaRPr lang="en-US" sz="1100"/>
          </a:p>
        </p:txBody>
      </p:sp>
      <p:sp>
        <p:nvSpPr>
          <p:cNvPr id="7" name="AutoShape 7"/>
          <p:cNvSpPr/>
          <p:nvPr/>
        </p:nvSpPr>
        <p:spPr>
          <a:xfrm>
            <a:off x="952500" y="2540000"/>
            <a:ext cx="3111500" cy="1460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6416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核心问题：数据扭曲与误导</a:t>
            </a:r>
            <a:endParaRPr lang="en-US" sz="1100"/>
          </a:p>
        </p:txBody>
      </p:sp>
      <p:sp>
        <p:nvSpPr>
          <p:cNvPr id="9" name="AutoShape 9"/>
          <p:cNvSpPr/>
          <p:nvPr/>
        </p:nvSpPr>
        <p:spPr>
          <a:xfrm>
            <a:off x="1079500" y="30480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3D透视效果会严重扭曲扇区的实际大小，导致视觉上的比例失衡。此外，人为将某个扇区“拉出”的操作，会进一步误导观众对数据占比的判断，破坏客观性。</a:t>
            </a:r>
            <a:endParaRPr lang="en-US" sz="1100"/>
          </a:p>
        </p:txBody>
      </p:sp>
      <p:sp>
        <p:nvSpPr>
          <p:cNvPr id="10" name="AutoShape 10"/>
          <p:cNvSpPr/>
          <p:nvPr/>
        </p:nvSpPr>
        <p:spPr>
          <a:xfrm>
            <a:off x="952500" y="4191000"/>
            <a:ext cx="3111500" cy="1587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2926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优化方案：回归平面呈现</a:t>
            </a:r>
            <a:endParaRPr lang="en-US" sz="1100"/>
          </a:p>
        </p:txBody>
      </p:sp>
      <p:sp>
        <p:nvSpPr>
          <p:cNvPr id="12" name="AutoShape 12"/>
          <p:cNvSpPr/>
          <p:nvPr/>
        </p:nvSpPr>
        <p:spPr>
          <a:xfrm>
            <a:off x="1079500" y="46990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放弃3D效果，改用标准的2D饼图或环形图。如果是为了精确比较数值大小，建议直接使用条形图，因为人眼对长度的感知远比对角度和面积的感知更准确。</a:t>
            </a:r>
            <a:endParaRPr lang="en-US" sz="1100"/>
          </a:p>
        </p:txBody>
      </p:sp>
      <p:sp>
        <p:nvSpPr>
          <p:cNvPr id="13" name="AutoShape 13"/>
          <p:cNvSpPr/>
          <p:nvPr/>
        </p:nvSpPr>
        <p:spPr>
          <a:xfrm>
            <a:off x="4445000" y="1651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445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355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图表B：信息过载的折线图</a:t>
            </a:r>
            <a:endParaRPr lang="en-US" sz="1100"/>
          </a:p>
        </p:txBody>
      </p:sp>
      <p:sp>
        <p:nvSpPr>
          <p:cNvPr id="16" name="AutoShape 16"/>
          <p:cNvSpPr/>
          <p:nvPr/>
        </p:nvSpPr>
        <p:spPr>
          <a:xfrm>
            <a:off x="4635500" y="2540000"/>
            <a:ext cx="3111500" cy="1460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762500" y="26416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核心问题：视觉噪音过多</a:t>
            </a:r>
            <a:endParaRPr lang="en-US" sz="1100"/>
          </a:p>
        </p:txBody>
      </p:sp>
      <p:sp>
        <p:nvSpPr>
          <p:cNvPr id="18" name="AutoShape 18"/>
          <p:cNvSpPr/>
          <p:nvPr/>
        </p:nvSpPr>
        <p:spPr>
          <a:xfrm>
            <a:off x="4762500" y="30480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单张图表中强行绘制10条以上不同颜色的折线，且缺乏清晰的分组与指引。线条密集交叉形成“蜘蛛网”，观众难以快速捕捉关键趋势，信息传达效率极低。</a:t>
            </a:r>
            <a:endParaRPr lang="en-US" sz="1100"/>
          </a:p>
        </p:txBody>
      </p:sp>
      <p:sp>
        <p:nvSpPr>
          <p:cNvPr id="19" name="AutoShape 19"/>
          <p:cNvSpPr/>
          <p:nvPr/>
        </p:nvSpPr>
        <p:spPr>
          <a:xfrm>
            <a:off x="4635500" y="4191000"/>
            <a:ext cx="3111500" cy="1587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762500" y="42926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优化方案：拆分与聚焦</a:t>
            </a:r>
            <a:endParaRPr lang="en-US" sz="1100"/>
          </a:p>
        </p:txBody>
      </p:sp>
      <p:sp>
        <p:nvSpPr>
          <p:cNvPr id="21" name="AutoShape 21"/>
          <p:cNvSpPr/>
          <p:nvPr/>
        </p:nvSpPr>
        <p:spPr>
          <a:xfrm>
            <a:off x="4762500" y="46990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遵循“少即是多”原则，将复杂数据拆分到多个独立的小图表中分别展示。或者，在单图中只保留最核心的2-3条关键趋势线，其余数据可作为附录，让核心结论一目了然。</a:t>
            </a:r>
            <a:endParaRPr lang="en-US" sz="1100"/>
          </a:p>
        </p:txBody>
      </p:sp>
      <p:sp>
        <p:nvSpPr>
          <p:cNvPr id="22" name="AutoShape 22"/>
          <p:cNvSpPr/>
          <p:nvPr/>
        </p:nvSpPr>
        <p:spPr>
          <a:xfrm>
            <a:off x="8128000" y="1651000"/>
            <a:ext cx="3492500" cy="431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128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318500" y="1841500"/>
            <a:ext cx="3111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图表C：缺失信息的柱状图</a:t>
            </a:r>
            <a:endParaRPr lang="en-US" sz="1100"/>
          </a:p>
        </p:txBody>
      </p:sp>
      <p:sp>
        <p:nvSpPr>
          <p:cNvPr id="25" name="AutoShape 25"/>
          <p:cNvSpPr/>
          <p:nvPr/>
        </p:nvSpPr>
        <p:spPr>
          <a:xfrm>
            <a:off x="8318500" y="2540000"/>
            <a:ext cx="3111500" cy="1460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445500" y="26416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核心问题：上下文缺失</a:t>
            </a:r>
            <a:endParaRPr lang="en-US" sz="1100"/>
          </a:p>
        </p:txBody>
      </p:sp>
      <p:sp>
        <p:nvSpPr>
          <p:cNvPr id="27" name="AutoShape 27"/>
          <p:cNvSpPr/>
          <p:nvPr/>
        </p:nvSpPr>
        <p:spPr>
          <a:xfrm>
            <a:off x="8445500" y="30480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图表的X轴分类标签被完全省略，只剩下孤零零的柱子。观众面对一组没有任何标识的数据，无法理解数据代表的具体含义（如时间、类别或区域），图表失去了实际解读价值。</a:t>
            </a:r>
            <a:endParaRPr lang="en-US" sz="1100"/>
          </a:p>
        </p:txBody>
      </p:sp>
      <p:sp>
        <p:nvSpPr>
          <p:cNvPr id="28" name="AutoShape 28"/>
          <p:cNvSpPr/>
          <p:nvPr/>
        </p:nvSpPr>
        <p:spPr>
          <a:xfrm>
            <a:off x="8318500" y="4191000"/>
            <a:ext cx="3111500" cy="1587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445500" y="4292600"/>
            <a:ext cx="2857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优化方案：完整信息标注</a:t>
            </a:r>
            <a:endParaRPr lang="en-US" sz="1100"/>
          </a:p>
        </p:txBody>
      </p:sp>
      <p:sp>
        <p:nvSpPr>
          <p:cNvPr id="30" name="AutoShape 30"/>
          <p:cNvSpPr/>
          <p:nvPr/>
        </p:nvSpPr>
        <p:spPr>
          <a:xfrm>
            <a:off x="8445500" y="4699000"/>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补充必要的元数据，为X轴添加清晰、易读的分类标签。同时，确保图表标题、坐标轴标题和数据单位等要素完整，让观众在无需额外说明的情况下，能够独立、准确地理解图表内容。</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报告的基本结构</a:t>
            </a:r>
            <a:endParaRPr lang="en-US" sz="1100"/>
          </a:p>
        </p:txBody>
      </p:sp>
      <p:sp>
        <p:nvSpPr>
          <p:cNvPr id="4" name="AutoShape 4"/>
          <p:cNvSpPr/>
          <p:nvPr/>
        </p:nvSpPr>
        <p:spPr>
          <a:xfrm>
            <a:off x="762000" y="1524000"/>
            <a:ext cx="10668000" cy="952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875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一个好的报告结构，就像一个好的故事结构，有开头、发展、高潮和结尾。清晰的结构不仅能帮助读者快速把握核心信息，更能让复杂的分析逻辑变得顺畅易懂，是高效沟通与专业呈现的基础。</a:t>
            </a:r>
            <a:endParaRPr lang="en-US" sz="1100"/>
          </a:p>
        </p:txBody>
      </p:sp>
      <p:sp>
        <p:nvSpPr>
          <p:cNvPr id="6" name="AutoShape 6"/>
          <p:cNvSpPr/>
          <p:nvPr/>
        </p:nvSpPr>
        <p:spPr>
          <a:xfrm>
            <a:off x="762000" y="2667000"/>
            <a:ext cx="2540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6670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2794000"/>
            <a:ext cx="57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9" name="AutoShape 9"/>
          <p:cNvSpPr/>
          <p:nvPr/>
        </p:nvSpPr>
        <p:spPr>
          <a:xfrm>
            <a:off x="1524000" y="28321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封面 Cover Page</a:t>
            </a:r>
            <a:endParaRPr lang="en-US" sz="1100"/>
          </a:p>
        </p:txBody>
      </p:sp>
      <p:sp>
        <p:nvSpPr>
          <p:cNvPr id="10" name="AutoShape 10"/>
          <p:cNvSpPr/>
          <p:nvPr/>
        </p:nvSpPr>
        <p:spPr>
          <a:xfrm>
            <a:off x="889000" y="33655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报告的门面，清晰展示主题、汇报时间与对象，直观建立专业的第一印象，传递核心议题。</a:t>
            </a:r>
            <a:endParaRPr lang="en-US" sz="1100"/>
          </a:p>
        </p:txBody>
      </p:sp>
      <p:sp>
        <p:nvSpPr>
          <p:cNvPr id="11" name="AutoShape 11"/>
          <p:cNvSpPr/>
          <p:nvPr/>
        </p:nvSpPr>
        <p:spPr>
          <a:xfrm>
            <a:off x="3429000" y="2667000"/>
            <a:ext cx="2540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429000" y="26670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556000" y="2794000"/>
            <a:ext cx="57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4" name="AutoShape 14"/>
          <p:cNvSpPr/>
          <p:nvPr/>
        </p:nvSpPr>
        <p:spPr>
          <a:xfrm>
            <a:off x="4191000" y="28321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15" name="AutoShape 15"/>
          <p:cNvSpPr/>
          <p:nvPr/>
        </p:nvSpPr>
        <p:spPr>
          <a:xfrm>
            <a:off x="3556000" y="33655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梳理报告的整体逻辑脉络，引导读者快速定位关键章节，高效获取感兴趣的核心内容。</a:t>
            </a:r>
            <a:endParaRPr lang="en-US" sz="1100"/>
          </a:p>
        </p:txBody>
      </p:sp>
      <p:sp>
        <p:nvSpPr>
          <p:cNvPr id="16" name="AutoShape 16"/>
          <p:cNvSpPr/>
          <p:nvPr/>
        </p:nvSpPr>
        <p:spPr>
          <a:xfrm>
            <a:off x="6096000" y="2667000"/>
            <a:ext cx="2540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096000" y="26670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223000" y="2794000"/>
            <a:ext cx="57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9" name="AutoShape 19"/>
          <p:cNvSpPr/>
          <p:nvPr/>
        </p:nvSpPr>
        <p:spPr>
          <a:xfrm>
            <a:off x="6858000" y="28321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执行摘要 Summary</a:t>
            </a:r>
            <a:endParaRPr lang="en-US" sz="1100"/>
          </a:p>
        </p:txBody>
      </p:sp>
      <p:sp>
        <p:nvSpPr>
          <p:cNvPr id="20" name="AutoShape 20"/>
          <p:cNvSpPr/>
          <p:nvPr/>
        </p:nvSpPr>
        <p:spPr>
          <a:xfrm>
            <a:off x="6223000" y="33655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浓缩全文精华，让忙碌的决策者无需阅读全文，即可迅速掌握关键发现、结论与行动建议。</a:t>
            </a:r>
            <a:endParaRPr lang="en-US" sz="1100"/>
          </a:p>
        </p:txBody>
      </p:sp>
      <p:sp>
        <p:nvSpPr>
          <p:cNvPr id="21" name="AutoShape 21"/>
          <p:cNvSpPr/>
          <p:nvPr/>
        </p:nvSpPr>
        <p:spPr>
          <a:xfrm>
            <a:off x="8763000" y="2667000"/>
            <a:ext cx="2540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763000" y="26670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890000" y="2794000"/>
            <a:ext cx="57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4" name="AutoShape 24"/>
          <p:cNvSpPr/>
          <p:nvPr/>
        </p:nvSpPr>
        <p:spPr>
          <a:xfrm>
            <a:off x="9525000" y="28321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背景与目标</a:t>
            </a:r>
            <a:endParaRPr lang="en-US" sz="1100"/>
          </a:p>
        </p:txBody>
      </p:sp>
      <p:sp>
        <p:nvSpPr>
          <p:cNvPr id="25" name="AutoShape 25"/>
          <p:cNvSpPr/>
          <p:nvPr/>
        </p:nvSpPr>
        <p:spPr>
          <a:xfrm>
            <a:off x="8890000" y="33655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明确项目的缘起、行业背景与业务痛点，界定研究范围与要解决的核心问题，奠定分析基调。</a:t>
            </a:r>
            <a:endParaRPr lang="en-US" sz="1100"/>
          </a:p>
        </p:txBody>
      </p:sp>
      <p:sp>
        <p:nvSpPr>
          <p:cNvPr id="26" name="AutoShape 26"/>
          <p:cNvSpPr/>
          <p:nvPr/>
        </p:nvSpPr>
        <p:spPr>
          <a:xfrm>
            <a:off x="762000" y="4635500"/>
            <a:ext cx="2540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62000" y="46355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89000" y="4762500"/>
            <a:ext cx="57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9" name="AutoShape 29"/>
          <p:cNvSpPr/>
          <p:nvPr/>
        </p:nvSpPr>
        <p:spPr>
          <a:xfrm>
            <a:off x="1524000" y="4800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数据与方法</a:t>
            </a:r>
            <a:endParaRPr lang="en-US" sz="1100"/>
          </a:p>
        </p:txBody>
      </p:sp>
      <p:sp>
        <p:nvSpPr>
          <p:cNvPr id="30" name="AutoShape 30"/>
          <p:cNvSpPr/>
          <p:nvPr/>
        </p:nvSpPr>
        <p:spPr>
          <a:xfrm>
            <a:off x="889000" y="53340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阐述数据来源、样本选取标准及分析模型，体现研究的科学性与严谨性，增强结论的可信度。</a:t>
            </a:r>
            <a:endParaRPr lang="en-US" sz="1100"/>
          </a:p>
        </p:txBody>
      </p:sp>
      <p:sp>
        <p:nvSpPr>
          <p:cNvPr id="31" name="AutoShape 31"/>
          <p:cNvSpPr/>
          <p:nvPr/>
        </p:nvSpPr>
        <p:spPr>
          <a:xfrm>
            <a:off x="3429000" y="4635500"/>
            <a:ext cx="2540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3429000" y="46355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3556000" y="4762500"/>
            <a:ext cx="57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34" name="AutoShape 34"/>
          <p:cNvSpPr/>
          <p:nvPr/>
        </p:nvSpPr>
        <p:spPr>
          <a:xfrm>
            <a:off x="4191000" y="4800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分析结果 Results</a:t>
            </a:r>
            <a:endParaRPr lang="en-US" sz="1100"/>
          </a:p>
        </p:txBody>
      </p:sp>
      <p:sp>
        <p:nvSpPr>
          <p:cNvPr id="35" name="AutoShape 35"/>
          <p:cNvSpPr/>
          <p:nvPr/>
        </p:nvSpPr>
        <p:spPr>
          <a:xfrm>
            <a:off x="3556000" y="53340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客观呈现数据洞察与详细分析过程，用可视化图表与事实数据说话，清晰支撑报告的核心观点。</a:t>
            </a:r>
            <a:endParaRPr lang="en-US" sz="1100"/>
          </a:p>
        </p:txBody>
      </p:sp>
      <p:sp>
        <p:nvSpPr>
          <p:cNvPr id="36" name="AutoShape 36"/>
          <p:cNvSpPr/>
          <p:nvPr/>
        </p:nvSpPr>
        <p:spPr>
          <a:xfrm>
            <a:off x="6096000" y="4635500"/>
            <a:ext cx="2540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6096000" y="46355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6223000" y="4762500"/>
            <a:ext cx="57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39" name="AutoShape 39"/>
          <p:cNvSpPr/>
          <p:nvPr/>
        </p:nvSpPr>
        <p:spPr>
          <a:xfrm>
            <a:off x="6858000" y="4800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结论与建议</a:t>
            </a:r>
            <a:endParaRPr lang="en-US" sz="1100"/>
          </a:p>
        </p:txBody>
      </p:sp>
      <p:sp>
        <p:nvSpPr>
          <p:cNvPr id="40" name="AutoShape 40"/>
          <p:cNvSpPr/>
          <p:nvPr/>
        </p:nvSpPr>
        <p:spPr>
          <a:xfrm>
            <a:off x="6223000" y="53340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基于分析结果推导核心业务结论，提出具有针对性、可落地的行动建议，为业务决策提供支持。</a:t>
            </a:r>
            <a:endParaRPr lang="en-US" sz="1100"/>
          </a:p>
        </p:txBody>
      </p:sp>
      <p:sp>
        <p:nvSpPr>
          <p:cNvPr id="41" name="AutoShape 41"/>
          <p:cNvSpPr/>
          <p:nvPr/>
        </p:nvSpPr>
        <p:spPr>
          <a:xfrm>
            <a:off x="8763000" y="4635500"/>
            <a:ext cx="2540000" cy="1841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42" name="AutoShape 42"/>
          <p:cNvSpPr/>
          <p:nvPr/>
        </p:nvSpPr>
        <p:spPr>
          <a:xfrm>
            <a:off x="8763000" y="46355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3" name="AutoShape 43"/>
          <p:cNvSpPr/>
          <p:nvPr/>
        </p:nvSpPr>
        <p:spPr>
          <a:xfrm>
            <a:off x="8890000" y="4762500"/>
            <a:ext cx="57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endParaRPr lang="en-US" sz="1100"/>
          </a:p>
        </p:txBody>
      </p:sp>
      <p:sp>
        <p:nvSpPr>
          <p:cNvPr id="44" name="AutoShape 44"/>
          <p:cNvSpPr/>
          <p:nvPr/>
        </p:nvSpPr>
        <p:spPr>
          <a:xfrm>
            <a:off x="9525000" y="48006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附录 Appendix</a:t>
            </a:r>
            <a:endParaRPr lang="en-US" sz="1100"/>
          </a:p>
        </p:txBody>
      </p:sp>
      <p:sp>
        <p:nvSpPr>
          <p:cNvPr id="45" name="AutoShape 45"/>
          <p:cNvSpPr/>
          <p:nvPr/>
        </p:nvSpPr>
        <p:spPr>
          <a:xfrm>
            <a:off x="8890000" y="5334000"/>
            <a:ext cx="228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补充详细的原始数据、技术细节、代码实现或补充图表，供需要深入研究的专业人员查阅。</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执行摘要</a:t>
            </a:r>
            <a:endParaRPr lang="en-US" sz="1100"/>
          </a:p>
        </p:txBody>
      </p:sp>
      <p:sp>
        <p:nvSpPr>
          <p:cNvPr id="4" name="AutoShape 4"/>
          <p:cNvSpPr/>
          <p:nvPr/>
        </p:nvSpPr>
        <p:spPr>
          <a:xfrm>
            <a:off x="762000" y="1524000"/>
            <a:ext cx="10668000" cy="1143000"/>
          </a:xfrm>
          <a:prstGeom prst="roundRect">
            <a:avLst>
              <a:gd name="adj" fmla="val 0"/>
            </a:avLst>
          </a:prstGeom>
          <a:solidFill>
            <a:srgbClr val="F0FDF4">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143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这是报告的“电梯演讲”，专为时间宝贵的决策者设计。无需阅读全文，通过高度凝练的核心观点，让决策者在30秒内精准把握项目的背景、关键发现与行动建议，快速建立对核心议题的认知框架。</a:t>
            </a:r>
            <a:endParaRPr lang="en-US" sz="1100"/>
          </a:p>
        </p:txBody>
      </p:sp>
      <p:sp>
        <p:nvSpPr>
          <p:cNvPr id="7" name="AutoShape 7"/>
          <p:cNvSpPr/>
          <p:nvPr/>
        </p:nvSpPr>
        <p:spPr>
          <a:xfrm>
            <a:off x="762000" y="2921000"/>
            <a:ext cx="3429000" cy="190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92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111500"/>
            <a:ext cx="304800" cy="304800"/>
          </a:xfrm>
          <a:prstGeom prst="rect">
            <a:avLst/>
          </a:prstGeom>
        </p:spPr>
      </p:pic>
      <p:sp>
        <p:nvSpPr>
          <p:cNvPr id="10" name="AutoShape 10"/>
          <p:cNvSpPr/>
          <p:nvPr/>
        </p:nvSpPr>
        <p:spPr>
          <a:xfrm>
            <a:off x="1397000" y="3111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结论先行</a:t>
            </a:r>
            <a:endParaRPr lang="en-US" sz="1100"/>
          </a:p>
        </p:txBody>
      </p:sp>
      <p:sp>
        <p:nvSpPr>
          <p:cNvPr id="11" name="AutoShape 11"/>
          <p:cNvSpPr/>
          <p:nvPr/>
        </p:nvSpPr>
        <p:spPr>
          <a:xfrm>
            <a:off x="952500" y="361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摒弃冗长的背景铺垫，首句即亮出最终结论。在信息过载的时代，第一时间抓住决策者的注意力，是有效沟通的核心前提。</a:t>
            </a:r>
            <a:endParaRPr lang="en-US" sz="1100"/>
          </a:p>
        </p:txBody>
      </p:sp>
      <p:sp>
        <p:nvSpPr>
          <p:cNvPr id="12" name="AutoShape 12"/>
          <p:cNvSpPr/>
          <p:nvPr/>
        </p:nvSpPr>
        <p:spPr>
          <a:xfrm>
            <a:off x="4381500" y="2921000"/>
            <a:ext cx="3429000" cy="190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81500" y="292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3111500"/>
            <a:ext cx="304800" cy="304800"/>
          </a:xfrm>
          <a:prstGeom prst="rect">
            <a:avLst/>
          </a:prstGeom>
        </p:spPr>
      </p:pic>
      <p:sp>
        <p:nvSpPr>
          <p:cNvPr id="15" name="AutoShape 15"/>
          <p:cNvSpPr/>
          <p:nvPr/>
        </p:nvSpPr>
        <p:spPr>
          <a:xfrm>
            <a:off x="5016500" y="3111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高度概括</a:t>
            </a:r>
            <a:endParaRPr lang="en-US" sz="1100"/>
          </a:p>
        </p:txBody>
      </p:sp>
      <p:sp>
        <p:nvSpPr>
          <p:cNvPr id="16" name="AutoShape 16"/>
          <p:cNvSpPr/>
          <p:nvPr/>
        </p:nvSpPr>
        <p:spPr>
          <a:xfrm>
            <a:off x="4572000" y="361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提炼项目核心背景、关键数据洞察与顶层策略。用最精炼的语言承载最多的关键信息，拒绝细枝末节，只呈现对决策有实质影响的核心要素。</a:t>
            </a:r>
            <a:endParaRPr lang="en-US" sz="1100"/>
          </a:p>
        </p:txBody>
      </p:sp>
      <p:sp>
        <p:nvSpPr>
          <p:cNvPr id="17" name="AutoShape 17"/>
          <p:cNvSpPr/>
          <p:nvPr/>
        </p:nvSpPr>
        <p:spPr>
          <a:xfrm>
            <a:off x="8001000" y="2921000"/>
            <a:ext cx="3429000" cy="190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001000" y="292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3111500"/>
            <a:ext cx="304800" cy="304800"/>
          </a:xfrm>
          <a:prstGeom prst="rect">
            <a:avLst/>
          </a:prstGeom>
        </p:spPr>
      </p:pic>
      <p:sp>
        <p:nvSpPr>
          <p:cNvPr id="20" name="AutoShape 20"/>
          <p:cNvSpPr/>
          <p:nvPr/>
        </p:nvSpPr>
        <p:spPr>
          <a:xfrm>
            <a:off x="8636000" y="3111500"/>
            <a:ext cx="266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独立成篇</a:t>
            </a:r>
            <a:endParaRPr lang="en-US" sz="1100"/>
          </a:p>
        </p:txBody>
      </p:sp>
      <p:sp>
        <p:nvSpPr>
          <p:cNvPr id="21" name="AutoShape 21"/>
          <p:cNvSpPr/>
          <p:nvPr/>
        </p:nvSpPr>
        <p:spPr>
          <a:xfrm>
            <a:off x="8191500" y="3619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具备完整的信息闭环，无需依赖报告全文即可独立理解。无论决策者是在出差途中还是会议间隙，都能通过摘要形成清晰、无歧义的判断依据。</a:t>
            </a:r>
            <a:endParaRPr lang="en-US" sz="1100"/>
          </a:p>
        </p:txBody>
      </p:sp>
      <p:sp>
        <p:nvSpPr>
          <p:cNvPr id="22" name="AutoShape 22"/>
          <p:cNvSpPr/>
          <p:nvPr/>
        </p:nvSpPr>
        <p:spPr>
          <a:xfrm>
            <a:off x="762000" y="5080000"/>
            <a:ext cx="106680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 y="5080000"/>
            <a:ext cx="50800" cy="1397000"/>
          </a:xfrm>
          <a:prstGeom prst="roundRect">
            <a:avLst>
              <a:gd name="adj" fmla="val 0"/>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270500"/>
            <a:ext cx="355600" cy="355600"/>
          </a:xfrm>
          <a:prstGeom prst="rect">
            <a:avLst/>
          </a:prstGeom>
        </p:spPr>
      </p:pic>
      <p:sp>
        <p:nvSpPr>
          <p:cNvPr id="25" name="AutoShape 25"/>
          <p:cNvSpPr/>
          <p:nvPr/>
        </p:nvSpPr>
        <p:spPr>
          <a:xfrm>
            <a:off x="1460500" y="52705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标准写作范式</a:t>
            </a:r>
            <a:endParaRPr lang="en-US" sz="1100"/>
          </a:p>
        </p:txBody>
      </p:sp>
      <p:sp>
        <p:nvSpPr>
          <p:cNvPr id="26" name="AutoShape 26"/>
          <p:cNvSpPr/>
          <p:nvPr/>
        </p:nvSpPr>
        <p:spPr>
          <a:xfrm>
            <a:off x="3619500" y="5270500"/>
            <a:ext cx="12700" cy="1016000"/>
          </a:xfrm>
          <a:prstGeom prst="roundRect">
            <a:avLst>
              <a:gd name="adj" fmla="val 0"/>
            </a:avLst>
          </a:prstGeom>
          <a:solidFill>
            <a:srgbClr val="D1D5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3810000" y="5232400"/>
            <a:ext cx="736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“本报告旨在解决 [核心业务问题]。基于对 [关键数据源] 的深度分析，我们发现 [核心洞察1] 与 [核心洞察2]。据此，建议立即启动 [关键举措A] 和 [关键举措B]，预计这将在 [时间周期] 内带来 [具体业务收益]，从而有效达成 [战略目标]。”</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第二、三部分：背景与方法</a:t>
            </a:r>
            <a:endParaRPr lang="en-US" sz="1100"/>
          </a:p>
        </p:txBody>
      </p:sp>
      <p:sp>
        <p:nvSpPr>
          <p:cNvPr id="4" name="AutoShape 4"/>
          <p:cNvSpPr/>
          <p:nvPr/>
        </p:nvSpPr>
        <p:spPr>
          <a:xfrm>
            <a:off x="762000" y="1651000"/>
            <a:ext cx="5207000" cy="2794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背景与目标</a:t>
            </a:r>
            <a:endParaRPr lang="en-US" sz="1100"/>
          </a:p>
        </p:txBody>
      </p:sp>
      <p:sp>
        <p:nvSpPr>
          <p:cNvPr id="7" name="AutoShape 7"/>
          <p:cNvSpPr/>
          <p:nvPr/>
        </p:nvSpPr>
        <p:spPr>
          <a:xfrm>
            <a:off x="1016000" y="2413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我们面临一个什么样的业务问题？本次分析希望达到什么目的？在这一章节中，我们将明确核心业务痛点，界定问题的边界与范围，清晰阐述开展此次项目的根本动因与预期价值。</a:t>
            </a:r>
            <a:endParaRPr lang="en-US" sz="1100"/>
          </a:p>
        </p:txBody>
      </p:sp>
      <p:sp>
        <p:nvSpPr>
          <p:cNvPr id="8" name="AutoShape 8"/>
          <p:cNvSpPr/>
          <p:nvPr/>
        </p:nvSpPr>
        <p:spPr>
          <a:xfrm>
            <a:off x="1016000" y="3429000"/>
            <a:ext cx="4699000" cy="889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3000" y="3505200"/>
            <a:ext cx="4445000" cy="736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核心：让读者明白 “Why”</a:t>
            </a:r>
            <a:endParaRPr lang="en-US" sz="1100"/>
          </a:p>
          <a:p>
            <a:pPr marL="0" indent="0" algn="l">
              <a:lnSpc>
                <a:spcPct val="108000"/>
              </a:lnSpc>
            </a:pPr>
            <a:r>
              <a:rPr lang="en-US" sz="12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不仅要定义问题，更要解释其重要性，为后续的分析建立共同的认知基础。</a:t>
            </a:r>
            <a:endParaRPr lang="en-US" sz="12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23000" y="1651000"/>
            <a:ext cx="5207000" cy="2794000"/>
          </a:xfrm>
          <a:prstGeom prst="roundRect">
            <a:avLst>
              <a:gd name="adj" fmla="val 0"/>
            </a:avLst>
          </a:prstGeom>
          <a:solidFill>
            <a:srgbClr val="FFFFFF">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77000" y="18415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数据与方法</a:t>
            </a:r>
            <a:endParaRPr lang="en-US" sz="1100"/>
          </a:p>
        </p:txBody>
      </p:sp>
      <p:sp>
        <p:nvSpPr>
          <p:cNvPr id="13" name="AutoShape 13"/>
          <p:cNvSpPr/>
          <p:nvPr/>
        </p:nvSpPr>
        <p:spPr>
          <a:xfrm>
            <a:off x="6477000" y="2413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数据来自哪里？使用了哪些分析方法和模型？本章节将详细拆解数据采集的维度、样本范围，以及支撑结论的方法论体系，展现整个研究过程的科学性与严谨性。</a:t>
            </a:r>
            <a:endParaRPr lang="en-US" sz="1100"/>
          </a:p>
        </p:txBody>
      </p:sp>
      <p:sp>
        <p:nvSpPr>
          <p:cNvPr id="14" name="AutoShape 14"/>
          <p:cNvSpPr/>
          <p:nvPr/>
        </p:nvSpPr>
        <p:spPr>
          <a:xfrm>
            <a:off x="6477000" y="3429000"/>
            <a:ext cx="4699000" cy="889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3505200"/>
            <a:ext cx="4445000" cy="736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核心：让读者明白 “How”</a:t>
            </a:r>
            <a:endParaRPr lang="en-US" sz="1100"/>
          </a:p>
          <a:p>
            <a:pPr marL="0" indent="0" algn="l">
              <a:lnSpc>
                <a:spcPct val="108000"/>
              </a:lnSpc>
            </a:pPr>
            <a:r>
              <a:rPr lang="en-US" sz="12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确保分析过程的可追溯性，通过透明化的方法论选择，构建结论的可信度。</a:t>
            </a:r>
            <a:endParaRPr lang="en-US" sz="12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62000" y="4699000"/>
            <a:ext cx="10668000" cy="1524000"/>
          </a:xfrm>
          <a:prstGeom prst="roundRect">
            <a:avLst>
              <a:gd name="adj" fmla="val 0"/>
            </a:avLst>
          </a:prstGeom>
          <a:solidFill>
            <a:srgbClr val="F0FDF4">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8514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章节写作原则：从“动机”到“路径”的闭环</a:t>
            </a:r>
            <a:endParaRPr lang="en-US" sz="1100"/>
          </a:p>
        </p:txBody>
      </p:sp>
      <p:sp>
        <p:nvSpPr>
          <p:cNvPr id="18" name="AutoShape 18"/>
          <p:cNvSpPr/>
          <p:nvPr/>
        </p:nvSpPr>
        <p:spPr>
          <a:xfrm>
            <a:off x="1016000" y="5334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两个章节构成了报告的逻辑基石。首先通过背景与目标确立“为什么做”，让受众理解业务紧迫性；其次通过数据与方法回答“怎么做”，展示专业度与可靠性。两者结合，能让读者在进入具体分析前，对项目背景和执行标准建立清晰、统一的认知，从而更顺畅地接受后续的研究发现。</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第四部分：分析结果</a:t>
            </a:r>
            <a:endParaRPr lang="en-US" sz="1100"/>
          </a:p>
        </p:txBody>
      </p:sp>
      <p:sp>
        <p:nvSpPr>
          <p:cNvPr id="4" name="AutoShape 4"/>
          <p:cNvSpPr/>
          <p:nvPr/>
        </p:nvSpPr>
        <p:spPr>
          <a:xfrm>
            <a:off x="762000" y="1651000"/>
            <a:ext cx="10668000" cy="1206500"/>
          </a:xfrm>
          <a:prstGeom prst="roundRect">
            <a:avLst>
              <a:gd name="adj" fmla="val 0"/>
            </a:avLst>
          </a:prstGeom>
          <a:solidFill>
            <a:srgbClr val="22C55E">
              <a:alpha val="13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图文并茂，一图胜千言</a:t>
            </a:r>
            <a:endParaRPr lang="en-US" sz="1100"/>
          </a:p>
        </p:txBody>
      </p:sp>
      <p:cxnSp>
        <p:nvCxnSpPr>
          <p:cNvPr id="6" name="Connector 6"/>
          <p:cNvCxnSpPr/>
          <p:nvPr/>
        </p:nvCxnSpPr>
        <p:spPr>
          <a:xfrm rot="5351584">
            <a:off x="5518150" y="2247945"/>
            <a:ext cx="9017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7" name="AutoShape 7"/>
          <p:cNvSpPr/>
          <p:nvPr/>
        </p:nvSpPr>
        <p:spPr>
          <a:xfrm>
            <a:off x="6159500" y="17145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作为报告的核心内容板块，分析结果需要通过可视化的图表与精准的文字注释相结合，将复杂的业务洞察直观地呈现给决策者，使其能够快速理解数据背后的业务逻辑与关键结论。</a:t>
            </a:r>
            <a:endParaRPr lang="en-US" sz="1100"/>
          </a:p>
        </p:txBody>
      </p:sp>
      <p:sp>
        <p:nvSpPr>
          <p:cNvPr id="8" name="AutoShape 8"/>
          <p:cNvSpPr/>
          <p:nvPr/>
        </p:nvSpPr>
        <p:spPr>
          <a:xfrm>
            <a:off x="762000" y="3048000"/>
            <a:ext cx="3429000" cy="1714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3048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3213100"/>
            <a:ext cx="279400" cy="279400"/>
          </a:xfrm>
          <a:prstGeom prst="rect">
            <a:avLst/>
          </a:prstGeom>
        </p:spPr>
      </p:pic>
      <p:sp>
        <p:nvSpPr>
          <p:cNvPr id="11" name="AutoShape 11"/>
          <p:cNvSpPr/>
          <p:nvPr/>
        </p:nvSpPr>
        <p:spPr>
          <a:xfrm>
            <a:off x="1333500" y="3200400"/>
            <a:ext cx="2730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以图表为中心</a:t>
            </a:r>
            <a:endParaRPr lang="en-US" sz="1100"/>
          </a:p>
        </p:txBody>
      </p:sp>
      <p:sp>
        <p:nvSpPr>
          <p:cNvPr id="12" name="AutoShape 12"/>
          <p:cNvSpPr/>
          <p:nvPr/>
        </p:nvSpPr>
        <p:spPr>
          <a:xfrm>
            <a:off x="914400" y="3683000"/>
            <a:ext cx="312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每张图表都应承载一个明确的核心信息，将其作为分析论证的视觉锚点。避免堆砌无关数据，确保图表服务于单一且清晰的业务观点。</a:t>
            </a:r>
            <a:endParaRPr lang="en-US" sz="1100"/>
          </a:p>
        </p:txBody>
      </p:sp>
      <p:sp>
        <p:nvSpPr>
          <p:cNvPr id="13" name="AutoShape 13"/>
          <p:cNvSpPr/>
          <p:nvPr/>
        </p:nvSpPr>
        <p:spPr>
          <a:xfrm>
            <a:off x="4381500" y="3048000"/>
            <a:ext cx="3429000" cy="1714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4381500" y="30480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33900" y="3213100"/>
            <a:ext cx="279400" cy="279400"/>
          </a:xfrm>
          <a:prstGeom prst="rect">
            <a:avLst/>
          </a:prstGeom>
        </p:spPr>
      </p:pic>
      <p:sp>
        <p:nvSpPr>
          <p:cNvPr id="16" name="AutoShape 16"/>
          <p:cNvSpPr/>
          <p:nvPr/>
        </p:nvSpPr>
        <p:spPr>
          <a:xfrm>
            <a:off x="4953000" y="3200400"/>
            <a:ext cx="2730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图表注释</a:t>
            </a:r>
            <a:endParaRPr lang="en-US" sz="1100"/>
          </a:p>
        </p:txBody>
      </p:sp>
      <p:sp>
        <p:nvSpPr>
          <p:cNvPr id="17" name="AutoShape 17"/>
          <p:cNvSpPr/>
          <p:nvPr/>
        </p:nvSpPr>
        <p:spPr>
          <a:xfrm>
            <a:off x="4533900" y="3683000"/>
            <a:ext cx="312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在图表旁用精炼的1-2句话进行总结，直接点破数据背后的业务含义。这是“导游”式的解读，能有效降低读者的理解成本，引导其关注关键结论。</a:t>
            </a:r>
            <a:endParaRPr lang="en-US" sz="1100"/>
          </a:p>
        </p:txBody>
      </p:sp>
      <p:sp>
        <p:nvSpPr>
          <p:cNvPr id="18" name="AutoShape 18"/>
          <p:cNvSpPr/>
          <p:nvPr/>
        </p:nvSpPr>
        <p:spPr>
          <a:xfrm>
            <a:off x="762000" y="4889500"/>
            <a:ext cx="3429000" cy="1714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8895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5054600"/>
            <a:ext cx="279400" cy="279400"/>
          </a:xfrm>
          <a:prstGeom prst="rect">
            <a:avLst/>
          </a:prstGeom>
        </p:spPr>
      </p:pic>
      <p:sp>
        <p:nvSpPr>
          <p:cNvPr id="21" name="AutoShape 21"/>
          <p:cNvSpPr/>
          <p:nvPr/>
        </p:nvSpPr>
        <p:spPr>
          <a:xfrm>
            <a:off x="1333500" y="5041900"/>
            <a:ext cx="2730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逻辑清晰</a:t>
            </a:r>
            <a:endParaRPr lang="en-US" sz="1100"/>
          </a:p>
        </p:txBody>
      </p:sp>
      <p:sp>
        <p:nvSpPr>
          <p:cNvPr id="22" name="AutoShape 22"/>
          <p:cNvSpPr/>
          <p:nvPr/>
        </p:nvSpPr>
        <p:spPr>
          <a:xfrm>
            <a:off x="914400" y="5486400"/>
            <a:ext cx="312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按照分析的内在逻辑顺序组织图表，遵循从现状、问题到原因、方案的推导路径。层层递进的结构能让读者跟随你的思路，自然地接受最终结论。</a:t>
            </a:r>
            <a:endParaRPr lang="en-US" sz="1100"/>
          </a:p>
        </p:txBody>
      </p:sp>
      <p:sp>
        <p:nvSpPr>
          <p:cNvPr id="23" name="AutoShape 23"/>
          <p:cNvSpPr/>
          <p:nvPr/>
        </p:nvSpPr>
        <p:spPr>
          <a:xfrm>
            <a:off x="4381500" y="4889500"/>
            <a:ext cx="3429000" cy="17145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4381500" y="4889500"/>
            <a:ext cx="3429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33900" y="5054600"/>
            <a:ext cx="279400" cy="279400"/>
          </a:xfrm>
          <a:prstGeom prst="rect">
            <a:avLst/>
          </a:prstGeom>
        </p:spPr>
      </p:pic>
      <p:sp>
        <p:nvSpPr>
          <p:cNvPr id="26" name="AutoShape 26"/>
          <p:cNvSpPr/>
          <p:nvPr/>
        </p:nvSpPr>
        <p:spPr>
          <a:xfrm>
            <a:off x="4953000" y="5041900"/>
            <a:ext cx="2730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突出重点</a:t>
            </a:r>
            <a:endParaRPr lang="en-US" sz="1100"/>
          </a:p>
        </p:txBody>
      </p:sp>
      <p:sp>
        <p:nvSpPr>
          <p:cNvPr id="27" name="AutoShape 27"/>
          <p:cNvSpPr/>
          <p:nvPr/>
        </p:nvSpPr>
        <p:spPr>
          <a:xfrm>
            <a:off x="4533900" y="5486400"/>
            <a:ext cx="312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对关键的发现、异常数据或核心洞察，使用高亮、加粗或对比色进行视觉强调。在信息过载的时代，让核心价值点在第一时间被决策者捕捉至关重要。</a:t>
            </a:r>
            <a:endParaRPr lang="en-US" sz="1100"/>
          </a:p>
        </p:txBody>
      </p:sp>
      <p:sp>
        <p:nvSpPr>
          <p:cNvPr id="28" name="AutoShape 28"/>
          <p:cNvSpPr/>
          <p:nvPr/>
        </p:nvSpPr>
        <p:spPr>
          <a:xfrm>
            <a:off x="8128000" y="3048000"/>
            <a:ext cx="3683000" cy="3556000"/>
          </a:xfrm>
          <a:prstGeom prst="roundRect">
            <a:avLst>
              <a:gd name="adj" fmla="val 0"/>
            </a:avLst>
          </a:prstGeom>
          <a:solidFill>
            <a:srgbClr val="FFFFFF">
              <a:alpha val="88000"/>
            </a:srgbClr>
          </a:solidFill>
          <a:ln w="12700" cap="flat" cmpd="sng">
            <a:solidFill>
              <a:srgbClr val="22C55E">
                <a:alpha val="40000"/>
              </a:srgbClr>
            </a:solidFill>
            <a:prstDash val="dash"/>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318500" y="3238500"/>
            <a:ext cx="330200" cy="330200"/>
          </a:xfrm>
          <a:prstGeom prst="rect">
            <a:avLst/>
          </a:prstGeom>
        </p:spPr>
      </p:pic>
      <p:sp>
        <p:nvSpPr>
          <p:cNvPr id="30" name="AutoShape 30"/>
          <p:cNvSpPr/>
          <p:nvPr/>
        </p:nvSpPr>
        <p:spPr>
          <a:xfrm>
            <a:off x="8763000" y="32385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核心目标：决策支撑</a:t>
            </a:r>
            <a:endParaRPr lang="en-US" sz="1100"/>
          </a:p>
        </p:txBody>
      </p:sp>
      <p:sp>
        <p:nvSpPr>
          <p:cNvPr id="31" name="AutoShape 31"/>
          <p:cNvSpPr/>
          <p:nvPr/>
        </p:nvSpPr>
        <p:spPr>
          <a:xfrm>
            <a:off x="8318500" y="3810000"/>
            <a:ext cx="3302000" cy="12700"/>
          </a:xfrm>
          <a:prstGeom prst="roundRect">
            <a:avLst>
              <a:gd name="adj" fmla="val 0"/>
            </a:avLst>
          </a:prstGeom>
          <a:solidFill>
            <a:srgbClr val="22C55E">
              <a:alpha val="25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318500" y="4000500"/>
            <a:ext cx="3365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让冰冷的数据转化为有温度的业务洞察。通过清晰的逻辑链条与直观的图表呈现，不仅要展示“发生了什么”，更要解释“为什么发生”以及“意味着什么”，为后续的业务决策提供坚实、可信且易于执行的依据。</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第五部分：结论与建议</a:t>
            </a:r>
            <a:endParaRPr lang="en-US" sz="1100"/>
          </a:p>
        </p:txBody>
      </p:sp>
      <p:sp>
        <p:nvSpPr>
          <p:cNvPr id="4" name="AutoShape 4"/>
          <p:cNvSpPr/>
          <p:nvPr/>
        </p:nvSpPr>
        <p:spPr>
          <a:xfrm>
            <a:off x="762000" y="1651000"/>
            <a:ext cx="5270500" cy="2159000"/>
          </a:xfrm>
          <a:prstGeom prst="roundRect">
            <a:avLst>
              <a:gd name="adj" fmla="val 0"/>
            </a:avLst>
          </a:prstGeom>
          <a:solidFill>
            <a:srgbClr val="FFFFFF">
              <a:alpha val="9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核心结论：回归问题本质</a:t>
            </a:r>
            <a:endParaRPr lang="en-US" sz="1100"/>
          </a:p>
        </p:txBody>
      </p:sp>
      <p:sp>
        <p:nvSpPr>
          <p:cNvPr id="7" name="AutoShape 7"/>
          <p:cNvSpPr/>
          <p:nvPr/>
        </p:nvSpPr>
        <p:spPr>
          <a:xfrm>
            <a:off x="1016000" y="2413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对项目背景与目标中提出的核心业务问题进行直接回应。通过对整个分析过程的提炼与总结，明确关键发现，为后续决策提供坚实的判断依据，确保所有分析工作最终服务于解决实际问题。</a:t>
            </a:r>
            <a:endParaRPr lang="en-US" sz="1100"/>
          </a:p>
        </p:txBody>
      </p:sp>
      <p:sp>
        <p:nvSpPr>
          <p:cNvPr id="8" name="AutoShape 8"/>
          <p:cNvSpPr/>
          <p:nvPr/>
        </p:nvSpPr>
        <p:spPr>
          <a:xfrm>
            <a:off x="6286500" y="1651000"/>
            <a:ext cx="5270500" cy="2159000"/>
          </a:xfrm>
          <a:prstGeom prst="roundRect">
            <a:avLst>
              <a:gd name="adj" fmla="val 0"/>
            </a:avLst>
          </a:prstGeom>
          <a:solidFill>
            <a:srgbClr val="FFFFFF">
              <a:alpha val="9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2865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540500" y="1841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行动建议：明确执行方向</a:t>
            </a:r>
            <a:endParaRPr lang="en-US" sz="1100"/>
          </a:p>
        </p:txBody>
      </p:sp>
      <p:sp>
        <p:nvSpPr>
          <p:cNvPr id="11" name="AutoShape 11"/>
          <p:cNvSpPr/>
          <p:nvPr/>
        </p:nvSpPr>
        <p:spPr>
          <a:xfrm>
            <a:off x="6540500" y="2413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基于核心发现推导具体的执行方案。建议需具备落地可行性，能够指导团队下一阶段的工作重心，将分析成果转化为实际的业务动作，推动问题的解决和目标的达成。</a:t>
            </a:r>
            <a:endParaRPr lang="en-US" sz="1100"/>
          </a:p>
        </p:txBody>
      </p:sp>
      <p:sp>
        <p:nvSpPr>
          <p:cNvPr id="12" name="AutoShape 12"/>
          <p:cNvSpPr/>
          <p:nvPr/>
        </p:nvSpPr>
        <p:spPr>
          <a:xfrm>
            <a:off x="762000" y="4191000"/>
            <a:ext cx="3492500" cy="1968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191000"/>
            <a:ext cx="508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4343400"/>
            <a:ext cx="304800" cy="304800"/>
          </a:xfrm>
          <a:prstGeom prst="rect">
            <a:avLst/>
          </a:prstGeom>
        </p:spPr>
      </p:pic>
      <p:sp>
        <p:nvSpPr>
          <p:cNvPr id="15" name="AutoShape 15"/>
          <p:cNvSpPr/>
          <p:nvPr/>
        </p:nvSpPr>
        <p:spPr>
          <a:xfrm>
            <a:off x="1397000" y="4318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建议要具体</a:t>
            </a:r>
            <a:endParaRPr lang="en-US" sz="1100"/>
          </a:p>
        </p:txBody>
      </p:sp>
      <p:sp>
        <p:nvSpPr>
          <p:cNvPr id="16" name="AutoShape 16"/>
          <p:cNvSpPr/>
          <p:nvPr/>
        </p:nvSpPr>
        <p:spPr>
          <a:xfrm>
            <a:off x="952500" y="4889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拒绝空泛的口号式表达。要明确具体的执行动作，例如不说“加强运营”，而是明确“优化新用户注册流程”，让执行者能清晰理解并着手实施。</a:t>
            </a:r>
            <a:endParaRPr lang="en-US" sz="1100"/>
          </a:p>
        </p:txBody>
      </p:sp>
      <p:sp>
        <p:nvSpPr>
          <p:cNvPr id="17" name="AutoShape 17"/>
          <p:cNvSpPr/>
          <p:nvPr/>
        </p:nvSpPr>
        <p:spPr>
          <a:xfrm>
            <a:off x="4445000" y="4191000"/>
            <a:ext cx="3492500" cy="1968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445000" y="4191000"/>
            <a:ext cx="508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4343400"/>
            <a:ext cx="304800" cy="304800"/>
          </a:xfrm>
          <a:prstGeom prst="rect">
            <a:avLst/>
          </a:prstGeom>
        </p:spPr>
      </p:pic>
      <p:sp>
        <p:nvSpPr>
          <p:cNvPr id="20" name="AutoShape 20"/>
          <p:cNvSpPr/>
          <p:nvPr/>
        </p:nvSpPr>
        <p:spPr>
          <a:xfrm>
            <a:off x="5080000" y="4318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目标可衡量</a:t>
            </a:r>
            <a:endParaRPr lang="en-US" sz="1100"/>
          </a:p>
        </p:txBody>
      </p:sp>
      <p:sp>
        <p:nvSpPr>
          <p:cNvPr id="21" name="AutoShape 21"/>
          <p:cNvSpPr/>
          <p:nvPr/>
        </p:nvSpPr>
        <p:spPr>
          <a:xfrm>
            <a:off x="4635500" y="4889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为建议设定量化指标。如“推出新用户引导教程，将次日留存率提升5%”。有明确的数据指标，才能在执行后客观评估方案的有效性和达成度。</a:t>
            </a:r>
            <a:endParaRPr lang="en-US" sz="1100"/>
          </a:p>
        </p:txBody>
      </p:sp>
      <p:sp>
        <p:nvSpPr>
          <p:cNvPr id="22" name="AutoShape 22"/>
          <p:cNvSpPr/>
          <p:nvPr/>
        </p:nvSpPr>
        <p:spPr>
          <a:xfrm>
            <a:off x="8128000" y="4191000"/>
            <a:ext cx="3492500" cy="1968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128000" y="4191000"/>
            <a:ext cx="508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4343400"/>
            <a:ext cx="304800" cy="304800"/>
          </a:xfrm>
          <a:prstGeom prst="rect">
            <a:avLst/>
          </a:prstGeom>
        </p:spPr>
      </p:pic>
      <p:sp>
        <p:nvSpPr>
          <p:cNvPr id="25" name="AutoShape 25"/>
          <p:cNvSpPr/>
          <p:nvPr/>
        </p:nvSpPr>
        <p:spPr>
          <a:xfrm>
            <a:off x="8763000" y="43180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逻辑要清晰</a:t>
            </a:r>
            <a:endParaRPr lang="en-US" sz="1100"/>
          </a:p>
        </p:txBody>
      </p:sp>
      <p:sp>
        <p:nvSpPr>
          <p:cNvPr id="26" name="AutoShape 26"/>
          <p:cNvSpPr/>
          <p:nvPr/>
        </p:nvSpPr>
        <p:spPr>
          <a:xfrm>
            <a:off x="8318500" y="4889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采用结构化的分点形式。将复杂的执行策略拆解为清晰的条目，层次分明地呈现，便于阅读者快速抓取重点，也有利于后续工作的分步推进与责任落实。</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报告撰写常见问题</a:t>
            </a:r>
            <a:endParaRPr lang="en-US" sz="1100"/>
          </a:p>
        </p:txBody>
      </p:sp>
      <p:sp>
        <p:nvSpPr>
          <p:cNvPr id="4" name="AutoShape 4"/>
          <p:cNvSpPr/>
          <p:nvPr/>
        </p:nvSpPr>
        <p:spPr>
          <a:xfrm>
            <a:off x="762000" y="1651000"/>
            <a:ext cx="5207000" cy="2222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缺乏明确的分析目标</a:t>
            </a:r>
            <a:endParaRPr lang="en-US" sz="1100"/>
          </a:p>
        </p:txBody>
      </p:sp>
      <p:sp>
        <p:nvSpPr>
          <p:cNvPr id="7" name="AutoShape 7"/>
          <p:cNvSpPr/>
          <p:nvPr/>
        </p:nvSpPr>
        <p:spPr>
          <a:xfrm>
            <a:off x="952500" y="2413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报告内容如同一份简单的数据流水账，仅罗列了现象却没有回答任何具体的业务问题。缺乏核心议题的指引，导致读者无法快速抓住内容重点，也无法理解数据背后的业务价值与决策意义。</a:t>
            </a:r>
            <a:endParaRPr lang="en-US" sz="1100"/>
          </a:p>
        </p:txBody>
      </p:sp>
      <p:sp>
        <p:nvSpPr>
          <p:cNvPr id="8" name="AutoShape 8"/>
          <p:cNvSpPr/>
          <p:nvPr/>
        </p:nvSpPr>
        <p:spPr>
          <a:xfrm>
            <a:off x="6223000" y="1651000"/>
            <a:ext cx="5207000" cy="2222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1841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数据展示混乱</a:t>
            </a:r>
            <a:endParaRPr lang="en-US" sz="1100"/>
          </a:p>
        </p:txBody>
      </p:sp>
      <p:sp>
        <p:nvSpPr>
          <p:cNvPr id="11" name="AutoShape 11"/>
          <p:cNvSpPr/>
          <p:nvPr/>
        </p:nvSpPr>
        <p:spPr>
          <a:xfrm>
            <a:off x="6413500" y="2413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图表与数据杂乱堆砌，没有遵循清晰的逻辑顺序，关键信息也缺乏必要的标注和解释。读者在阅读时需要花费大量时间梳理信息，不仅降低了沟通效率，还容易因信息解读偏差而产生理解错误。</a:t>
            </a:r>
            <a:endParaRPr lang="en-US" sz="1100"/>
          </a:p>
        </p:txBody>
      </p:sp>
      <p:sp>
        <p:nvSpPr>
          <p:cNvPr id="12" name="AutoShape 12"/>
          <p:cNvSpPr/>
          <p:nvPr/>
        </p:nvSpPr>
        <p:spPr>
          <a:xfrm>
            <a:off x="762000" y="4064000"/>
            <a:ext cx="5207000" cy="2222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06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952500" y="4254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结论不清晰，建议不可行</a:t>
            </a:r>
            <a:endParaRPr lang="en-US" sz="1100"/>
          </a:p>
        </p:txBody>
      </p:sp>
      <p:sp>
        <p:nvSpPr>
          <p:cNvPr id="15" name="AutoShape 15"/>
          <p:cNvSpPr/>
          <p:nvPr/>
        </p:nvSpPr>
        <p:spPr>
          <a:xfrm>
            <a:off x="952500" y="4826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分析后的结论表述模糊，无法让人形成明确认知；提出的行动建议空洞且缺乏落地细节，不具备实际执行条件。这样的报告无法为业务决策提供有效支撑，也难以推动后续工作的具体开展。</a:t>
            </a:r>
            <a:endParaRPr lang="en-US" sz="1100"/>
          </a:p>
        </p:txBody>
      </p:sp>
      <p:sp>
        <p:nvSpPr>
          <p:cNvPr id="16" name="AutoShape 16"/>
          <p:cNvSpPr/>
          <p:nvPr/>
        </p:nvSpPr>
        <p:spPr>
          <a:xfrm>
            <a:off x="6223000" y="4064000"/>
            <a:ext cx="5207000" cy="2222500"/>
          </a:xfrm>
          <a:prstGeom prst="roundRect">
            <a:avLst>
              <a:gd name="adj" fmla="val 0"/>
            </a:avLst>
          </a:prstGeom>
          <a:solidFill>
            <a:srgbClr val="FFFFFF">
              <a:alpha val="92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406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13500" y="4254500"/>
            <a:ext cx="482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过度技术化</a:t>
            </a:r>
            <a:endParaRPr lang="en-US" sz="1100"/>
          </a:p>
        </p:txBody>
      </p:sp>
      <p:sp>
        <p:nvSpPr>
          <p:cNvPr id="19" name="AutoShape 19"/>
          <p:cNvSpPr/>
          <p:nvPr/>
        </p:nvSpPr>
        <p:spPr>
          <a:xfrm>
            <a:off x="6413500" y="4826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内容中充斥着大量晦涩的专业术语和复杂的模型细节，忽视了业务人员的知识背景与理解习惯。这种表达方式会增加沟通的认知门槛，让非技术背景的业务人员难以理解，进而失去阅读兴趣和行动意愿。</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案例分析：China's Prices Project</a:t>
            </a:r>
            <a:endParaRPr lang="en-US" sz="1100"/>
          </a:p>
        </p:txBody>
      </p:sp>
      <p:sp>
        <p:nvSpPr>
          <p:cNvPr id="4" name="AutoShape 4"/>
          <p:cNvSpPr/>
          <p:nvPr/>
        </p:nvSpPr>
        <p:spPr>
          <a:xfrm>
            <a:off x="762000" y="1651000"/>
            <a:ext cx="5270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业务痛点：传统统计的滞后与盲区</a:t>
            </a:r>
            <a:endParaRPr lang="en-US" sz="1100"/>
          </a:p>
        </p:txBody>
      </p:sp>
      <p:sp>
        <p:nvSpPr>
          <p:cNvPr id="7" name="AutoShape 7"/>
          <p:cNvSpPr/>
          <p:nvPr/>
        </p:nvSpPr>
        <p:spPr>
          <a:xfrm>
            <a:off x="952500" y="22860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消费者价格指数（CPI）数据发布周期长、滞后性显著，且样本结构以线下实体为主，无法有效覆盖数字化时代电商平台、即时零售等新兴渠道的海量商品。这种信息差导致宏观经济研判与商业决策难以捕捉市场价格的实时动态变化。</a:t>
            </a:r>
            <a:endParaRPr lang="en-US" sz="1100"/>
          </a:p>
        </p:txBody>
      </p:sp>
      <p:sp>
        <p:nvSpPr>
          <p:cNvPr id="8" name="AutoShape 8"/>
          <p:cNvSpPr/>
          <p:nvPr/>
        </p:nvSpPr>
        <p:spPr>
          <a:xfrm>
            <a:off x="6223000" y="1651000"/>
            <a:ext cx="5270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18034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核心目标：打造高频线上价格洞察体系</a:t>
            </a:r>
            <a:endParaRPr lang="en-US" sz="1100"/>
          </a:p>
        </p:txBody>
      </p:sp>
      <p:sp>
        <p:nvSpPr>
          <p:cNvPr id="11" name="AutoShape 11"/>
          <p:cNvSpPr/>
          <p:nvPr/>
        </p:nvSpPr>
        <p:spPr>
          <a:xfrm>
            <a:off x="6413500" y="22860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依托大数据技术构建一个日级更新的线上价格指数，突破传统统计的时空限制。通过对线上消费市场的持续监测，生成具备高时效性、高颗粒度的价格趋势指标，为政策制定者与企业提供更敏锐、更贴近真实消费场景的市场参考依据。</a:t>
            </a:r>
            <a:endParaRPr lang="en-US" sz="1100"/>
          </a:p>
        </p:txBody>
      </p:sp>
      <p:sp>
        <p:nvSpPr>
          <p:cNvPr id="12" name="AutoShape 12"/>
          <p:cNvSpPr/>
          <p:nvPr/>
        </p:nvSpPr>
        <p:spPr>
          <a:xfrm>
            <a:off x="762000" y="3683000"/>
            <a:ext cx="2667000" cy="2349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3683000"/>
            <a:ext cx="266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89000" y="3835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15" name="AutoShape 15"/>
          <p:cNvSpPr/>
          <p:nvPr/>
        </p:nvSpPr>
        <p:spPr>
          <a:xfrm>
            <a:off x="889000" y="4445000"/>
            <a:ext cx="241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全域数据采集</a:t>
            </a:r>
            <a:endParaRPr lang="en-US" sz="1100"/>
          </a:p>
        </p:txBody>
      </p:sp>
      <p:sp>
        <p:nvSpPr>
          <p:cNvPr id="16" name="AutoShape 16"/>
          <p:cNvSpPr/>
          <p:nvPr/>
        </p:nvSpPr>
        <p:spPr>
          <a:xfrm>
            <a:off x="889000" y="4953000"/>
            <a:ext cx="241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每日自动化抓取主流电商平台数十万核心SKU的实时标价、促销活动及销量数据，建立覆盖全品类的基础数据源。</a:t>
            </a:r>
            <a:endParaRPr lang="en-US" sz="1100"/>
          </a:p>
        </p:txBody>
      </p:sp>
      <p:sp>
        <p:nvSpPr>
          <p:cNvPr id="17" name="AutoShape 17"/>
          <p:cNvSpPr/>
          <p:nvPr/>
        </p:nvSpPr>
        <p:spPr>
          <a:xfrm>
            <a:off x="3594100" y="3683000"/>
            <a:ext cx="2667000" cy="2349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3594100" y="3683000"/>
            <a:ext cx="266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3721100" y="3835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20" name="AutoShape 20"/>
          <p:cNvSpPr/>
          <p:nvPr/>
        </p:nvSpPr>
        <p:spPr>
          <a:xfrm>
            <a:off x="3721100" y="4445000"/>
            <a:ext cx="241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标准化清洗治理</a:t>
            </a:r>
            <a:endParaRPr lang="en-US" sz="1100"/>
          </a:p>
        </p:txBody>
      </p:sp>
      <p:sp>
        <p:nvSpPr>
          <p:cNvPr id="21" name="AutoShape 21"/>
          <p:cNvSpPr/>
          <p:nvPr/>
        </p:nvSpPr>
        <p:spPr>
          <a:xfrm>
            <a:off x="3721100" y="4953000"/>
            <a:ext cx="241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对原始数据执行去重、缺失值插补与异常值剔除，统一商品品类与规格口径，消除噪音，保障数据的准确性与可对比性。</a:t>
            </a:r>
            <a:endParaRPr lang="en-US" sz="1100"/>
          </a:p>
        </p:txBody>
      </p:sp>
      <p:sp>
        <p:nvSpPr>
          <p:cNvPr id="22" name="AutoShape 22"/>
          <p:cNvSpPr/>
          <p:nvPr/>
        </p:nvSpPr>
        <p:spPr>
          <a:xfrm>
            <a:off x="6426200" y="3683000"/>
            <a:ext cx="2667000" cy="2349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426200" y="3683000"/>
            <a:ext cx="266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553200" y="3835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25" name="AutoShape 25"/>
          <p:cNvSpPr/>
          <p:nvPr/>
        </p:nvSpPr>
        <p:spPr>
          <a:xfrm>
            <a:off x="6553200" y="4445000"/>
            <a:ext cx="241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动态指数模型</a:t>
            </a:r>
            <a:endParaRPr lang="en-US" sz="1100"/>
          </a:p>
        </p:txBody>
      </p:sp>
      <p:sp>
        <p:nvSpPr>
          <p:cNvPr id="26" name="AutoShape 26"/>
          <p:cNvSpPr/>
          <p:nvPr/>
        </p:nvSpPr>
        <p:spPr>
          <a:xfrm>
            <a:off x="6553200" y="4953000"/>
            <a:ext cx="241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参考CPI方法论，结合线上消费结构赋予各品类动态权重，通过加权平均算法计算生成每日更新的线上价格指数。</a:t>
            </a:r>
            <a:endParaRPr lang="en-US" sz="1100"/>
          </a:p>
        </p:txBody>
      </p:sp>
      <p:sp>
        <p:nvSpPr>
          <p:cNvPr id="27" name="AutoShape 27"/>
          <p:cNvSpPr/>
          <p:nvPr/>
        </p:nvSpPr>
        <p:spPr>
          <a:xfrm>
            <a:off x="9245600" y="3683000"/>
            <a:ext cx="2667000" cy="2349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245600" y="3683000"/>
            <a:ext cx="266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9372600" y="3835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30" name="AutoShape 30"/>
          <p:cNvSpPr/>
          <p:nvPr/>
        </p:nvSpPr>
        <p:spPr>
          <a:xfrm>
            <a:off x="9372600" y="4445000"/>
            <a:ext cx="2413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趋势对比洞察</a:t>
            </a:r>
            <a:endParaRPr lang="en-US" sz="1100"/>
          </a:p>
        </p:txBody>
      </p:sp>
      <p:sp>
        <p:nvSpPr>
          <p:cNvPr id="31" name="AutoShape 31"/>
          <p:cNvSpPr/>
          <p:nvPr/>
        </p:nvSpPr>
        <p:spPr>
          <a:xfrm>
            <a:off x="9372600" y="4953000"/>
            <a:ext cx="241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深度分析指数波动特征，与官方CPI进行多维度趋势对比，挖掘市场结构性变化，为经济研判提供实时的辅助视角。</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案例报告结构拆解</a:t>
            </a:r>
            <a:endParaRPr lang="en-US" sz="1100"/>
          </a:p>
        </p:txBody>
      </p:sp>
      <p:sp>
        <p:nvSpPr>
          <p:cNvPr id="4" name="AutoShape 4"/>
          <p:cNvSpPr/>
          <p:nvPr/>
        </p:nvSpPr>
        <p:spPr>
          <a:xfrm>
            <a:off x="762000" y="1651000"/>
            <a:ext cx="3556000" cy="330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55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执行摘要</a:t>
            </a:r>
            <a:endParaRPr lang="en-US" sz="1100"/>
          </a:p>
        </p:txBody>
      </p:sp>
      <p:sp>
        <p:nvSpPr>
          <p:cNvPr id="7" name="AutoShape 7"/>
          <p:cNvSpPr/>
          <p:nvPr/>
        </p:nvSpPr>
        <p:spPr>
          <a:xfrm>
            <a:off x="952500" y="23495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中国线上价格指数报告 (2025年Q4)</a:t>
            </a:r>
            <a:endParaRPr lang="en-US" sz="1100"/>
          </a:p>
        </p:txBody>
      </p:sp>
      <p:sp>
        <p:nvSpPr>
          <p:cNvPr id="8" name="AutoShape 8"/>
          <p:cNvSpPr/>
          <p:nvPr/>
        </p:nvSpPr>
        <p:spPr>
          <a:xfrm>
            <a:off x="952500" y="3111500"/>
            <a:ext cx="3175000" cy="698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1750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核心结论：环比上涨 1.2%</a:t>
            </a:r>
            <a:endParaRPr lang="en-US" sz="1100"/>
          </a:p>
        </p:txBody>
      </p:sp>
      <p:sp>
        <p:nvSpPr>
          <p:cNvPr id="10" name="AutoShape 10"/>
          <p:cNvSpPr/>
          <p:nvPr/>
        </p:nvSpPr>
        <p:spPr>
          <a:xfrm>
            <a:off x="952500" y="39370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由食品和能源价格驱动，较官方CPI提前一月捕捉上涨趋势。为相关部门提供了具有前瞻性的市场信号参考。</a:t>
            </a:r>
            <a:endParaRPr lang="en-US" sz="1100"/>
          </a:p>
        </p:txBody>
      </p:sp>
      <p:sp>
        <p:nvSpPr>
          <p:cNvPr id="11" name="AutoShape 11"/>
          <p:cNvSpPr/>
          <p:nvPr/>
        </p:nvSpPr>
        <p:spPr>
          <a:xfrm>
            <a:off x="4508500" y="1651000"/>
            <a:ext cx="3556000" cy="330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08500" y="1651000"/>
            <a:ext cx="355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99000" y="1841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背景与目标</a:t>
            </a:r>
            <a:endParaRPr lang="en-US" sz="1100"/>
          </a:p>
        </p:txBody>
      </p:sp>
      <p:sp>
        <p:nvSpPr>
          <p:cNvPr id="14" name="AutoShape 14"/>
          <p:cNvSpPr/>
          <p:nvPr/>
        </p:nvSpPr>
        <p:spPr>
          <a:xfrm>
            <a:off x="4699000" y="23495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突破传统统计的滞后性瓶颈</a:t>
            </a:r>
            <a:endParaRPr lang="en-US" sz="1100"/>
          </a:p>
        </p:txBody>
      </p:sp>
      <p:sp>
        <p:nvSpPr>
          <p:cNvPr id="15" name="AutoShape 15"/>
          <p:cNvSpPr/>
          <p:nvPr/>
        </p:nvSpPr>
        <p:spPr>
          <a:xfrm>
            <a:off x="4699000" y="3111500"/>
            <a:ext cx="3175000" cy="698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826000" y="31750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构建高频线上价格指数</a:t>
            </a:r>
            <a:endParaRPr lang="en-US" sz="1100"/>
          </a:p>
        </p:txBody>
      </p:sp>
      <p:sp>
        <p:nvSpPr>
          <p:cNvPr id="17" name="AutoShape 17"/>
          <p:cNvSpPr/>
          <p:nvPr/>
        </p:nvSpPr>
        <p:spPr>
          <a:xfrm>
            <a:off x="4699000" y="39370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针对传统CPI数据发布周期长、覆盖范围有限的局限性，旨在利用互联网大数据优势，建立更灵敏的市场价格监测体系。</a:t>
            </a:r>
            <a:endParaRPr lang="en-US" sz="1100"/>
          </a:p>
        </p:txBody>
      </p:sp>
      <p:sp>
        <p:nvSpPr>
          <p:cNvPr id="18" name="AutoShape 18"/>
          <p:cNvSpPr/>
          <p:nvPr/>
        </p:nvSpPr>
        <p:spPr>
          <a:xfrm>
            <a:off x="8255000" y="1651000"/>
            <a:ext cx="3556000" cy="3302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255000" y="1651000"/>
            <a:ext cx="355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445500" y="1841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数据与方法</a:t>
            </a:r>
            <a:endParaRPr lang="en-US" sz="1100"/>
          </a:p>
        </p:txBody>
      </p:sp>
      <p:sp>
        <p:nvSpPr>
          <p:cNvPr id="21" name="AutoShape 21"/>
          <p:cNvSpPr/>
          <p:nvPr/>
        </p:nvSpPr>
        <p:spPr>
          <a:xfrm>
            <a:off x="8445500" y="23495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海量电商数据支撑模型</a:t>
            </a:r>
            <a:endParaRPr lang="en-US" sz="1100"/>
          </a:p>
        </p:txBody>
      </p:sp>
      <p:sp>
        <p:nvSpPr>
          <p:cNvPr id="22" name="AutoShape 22"/>
          <p:cNvSpPr/>
          <p:nvPr/>
        </p:nvSpPr>
        <p:spPr>
          <a:xfrm>
            <a:off x="8445500" y="3111500"/>
            <a:ext cx="3175000" cy="698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572500" y="3175000"/>
            <a:ext cx="2921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 50万+ 核心SKU</a:t>
            </a:r>
            <a:endParaRPr lang="en-US" sz="1100"/>
          </a:p>
        </p:txBody>
      </p:sp>
      <p:sp>
        <p:nvSpPr>
          <p:cNvPr id="24" name="AutoShape 24"/>
          <p:cNvSpPr/>
          <p:nvPr/>
        </p:nvSpPr>
        <p:spPr>
          <a:xfrm>
            <a:off x="8445500" y="39370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聚合淘宝、京东等主流电商平台交易数据，采用经典拉氏指数法进行科学构建，确保指数的客观性与行业代表性。</a:t>
            </a:r>
            <a:endParaRPr lang="en-US" sz="1100"/>
          </a:p>
        </p:txBody>
      </p:sp>
      <p:sp>
        <p:nvSpPr>
          <p:cNvPr id="25" name="AutoShape 25"/>
          <p:cNvSpPr/>
          <p:nvPr/>
        </p:nvSpPr>
        <p:spPr>
          <a:xfrm>
            <a:off x="762000" y="5207000"/>
            <a:ext cx="11049000" cy="1206500"/>
          </a:xfrm>
          <a:prstGeom prst="roundRect">
            <a:avLst>
              <a:gd name="adj" fmla="val 0"/>
            </a:avLst>
          </a:prstGeom>
          <a:solidFill>
            <a:srgbClr val="F0FDF4">
              <a:alpha val="9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762000" y="5207000"/>
            <a:ext cx="76200" cy="1206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1016000" y="53340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endParaRPr lang="en-US" sz="1100"/>
          </a:p>
        </p:txBody>
      </p:sp>
      <p:sp>
        <p:nvSpPr>
          <p:cNvPr id="28" name="AutoShape 28"/>
          <p:cNvSpPr/>
          <p:nvPr/>
        </p:nvSpPr>
        <p:spPr>
          <a:xfrm>
            <a:off x="2667000" y="5397500"/>
            <a:ext cx="12700" cy="825500"/>
          </a:xfrm>
          <a:prstGeom prst="roundRect">
            <a:avLst>
              <a:gd name="adj" fmla="val 0"/>
            </a:avLst>
          </a:prstGeom>
          <a:solidFill>
            <a:srgbClr val="22C55E">
              <a:alpha val="4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2921000" y="5334000"/>
            <a:ext cx="863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高频电商数据的价格指数，为宏观经济监测提供了更敏捷、更具前瞻性的参考依据。它不仅有效弥补了传统统计手段的时间滞后性，更通过微观市场数据的实时捕捉，为政策制定和市场决策提供了重要的补充视角。</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案例报告结果展示</a:t>
            </a:r>
            <a:endParaRPr lang="en-US" sz="1100"/>
          </a:p>
        </p:txBody>
      </p:sp>
      <p:sp>
        <p:nvSpPr>
          <p:cNvPr id="4" name="AutoShape 4"/>
          <p:cNvSpPr/>
          <p:nvPr/>
        </p:nvSpPr>
        <p:spPr>
          <a:xfrm>
            <a:off x="762000" y="1651000"/>
            <a:ext cx="5270500" cy="4445000"/>
          </a:xfrm>
          <a:prstGeom prst="roundRect">
            <a:avLst>
              <a:gd name="adj" fmla="val 0"/>
            </a:avLst>
          </a:prstGeom>
          <a:solidFill>
            <a:srgbClr val="FFFFFF">
              <a:alpha val="9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线上价格指数走势 (2025.10 - 2025.12)</a:t>
            </a:r>
            <a:endParaRPr lang="en-US" sz="1100"/>
          </a:p>
        </p:txBody>
      </p:sp>
      <p:sp>
        <p:nvSpPr>
          <p:cNvPr id="7" name="AutoShape 7"/>
          <p:cNvSpPr/>
          <p:nvPr/>
        </p:nvSpPr>
        <p:spPr>
          <a:xfrm>
            <a:off x="952500" y="2540000"/>
            <a:ext cx="4889500" cy="1270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6670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趋势特征：稳步上行，大促节点短暂回调</a:t>
            </a:r>
            <a:endParaRPr lang="en-US" sz="1100"/>
          </a:p>
        </p:txBody>
      </p:sp>
      <p:sp>
        <p:nvSpPr>
          <p:cNvPr id="9" name="AutoShape 9"/>
          <p:cNvSpPr/>
          <p:nvPr/>
        </p:nvSpPr>
        <p:spPr>
          <a:xfrm>
            <a:off x="1079500" y="31750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指数在10月至12月期间整体保持上升通道，11月受“双十一”电商大促策略影响出现阶段性波动，但市场需求韧性强劲，促使价格指数在促销后迅速反弹并突破前期高点。</a:t>
            </a:r>
            <a:endParaRPr lang="en-US" sz="1100"/>
          </a:p>
        </p:txBody>
      </p:sp>
      <p:cxnSp>
        <p:nvCxnSpPr>
          <p:cNvPr id="10" name="Connector 10"/>
          <p:cNvCxnSpPr/>
          <p:nvPr/>
        </p:nvCxnSpPr>
        <p:spPr>
          <a:xfrm rot="-8929">
            <a:off x="952508" y="4057650"/>
            <a:ext cx="4889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1" name="AutoShape 11"/>
          <p:cNvSpPr/>
          <p:nvPr/>
        </p:nvSpPr>
        <p:spPr>
          <a:xfrm>
            <a:off x="952500" y="4254500"/>
            <a:ext cx="4889500" cy="1651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79500" y="4381500"/>
            <a:ext cx="4635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核心洞察：市场复苏动力强劲</a:t>
            </a:r>
            <a:endParaRPr lang="en-US" sz="1100"/>
          </a:p>
        </p:txBody>
      </p:sp>
      <p:sp>
        <p:nvSpPr>
          <p:cNvPr id="13" name="AutoShape 13"/>
          <p:cNvSpPr/>
          <p:nvPr/>
        </p:nvSpPr>
        <p:spPr>
          <a:xfrm>
            <a:off x="1079500" y="4826000"/>
            <a:ext cx="463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Q4线上价格指数的上升趋势明确。尽管11月大促带来短期价格下探，但这属于典型的营销驱动型波动。年末的快速回升不仅体现了供给端的响应速度，更反映出终端消费市场在年底旺季的实际需求增长，为后续市场预判提供了积极信号。</a:t>
            </a:r>
            <a:endParaRPr lang="en-US" sz="1100"/>
          </a:p>
        </p:txBody>
      </p:sp>
      <p:sp>
        <p:nvSpPr>
          <p:cNvPr id="14" name="AutoShape 14"/>
          <p:cNvSpPr/>
          <p:nvPr/>
        </p:nvSpPr>
        <p:spPr>
          <a:xfrm>
            <a:off x="6223000" y="1651000"/>
            <a:ext cx="5270500" cy="4445000"/>
          </a:xfrm>
          <a:prstGeom prst="roundRect">
            <a:avLst>
              <a:gd name="adj" fmla="val 0"/>
            </a:avLst>
          </a:prstGeom>
          <a:solidFill>
            <a:srgbClr val="FFFFFF">
              <a:alpha val="9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1841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各品类价格涨跌幅贡献度</a:t>
            </a:r>
            <a:endParaRPr lang="en-US" sz="1100"/>
          </a:p>
        </p:txBody>
      </p:sp>
      <p:sp>
        <p:nvSpPr>
          <p:cNvPr id="17" name="AutoShape 17"/>
          <p:cNvSpPr/>
          <p:nvPr/>
        </p:nvSpPr>
        <p:spPr>
          <a:xfrm>
            <a:off x="6413500" y="2540000"/>
            <a:ext cx="4889500" cy="1270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540500" y="2667000"/>
            <a:ext cx="463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结构分析：食品类为核心增长引擎</a:t>
            </a:r>
            <a:endParaRPr lang="en-US" sz="1100"/>
          </a:p>
        </p:txBody>
      </p:sp>
      <p:sp>
        <p:nvSpPr>
          <p:cNvPr id="19" name="AutoShape 19"/>
          <p:cNvSpPr/>
          <p:nvPr/>
        </p:nvSpPr>
        <p:spPr>
          <a:xfrm>
            <a:off x="6540500" y="31750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食品类以超过60%的贡献占比成为Q4指数上行的第一推手；电子产品与服装类受行业竞争格局影响，价格波动幅度较小，对整体指数的拉动作用相对平稳。</a:t>
            </a:r>
            <a:endParaRPr lang="en-US" sz="1100"/>
          </a:p>
        </p:txBody>
      </p:sp>
      <p:cxnSp>
        <p:nvCxnSpPr>
          <p:cNvPr id="20" name="Connector 20"/>
          <p:cNvCxnSpPr/>
          <p:nvPr/>
        </p:nvCxnSpPr>
        <p:spPr>
          <a:xfrm rot="-8929">
            <a:off x="6413508" y="4057650"/>
            <a:ext cx="48895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1" name="AutoShape 21"/>
          <p:cNvSpPr/>
          <p:nvPr/>
        </p:nvSpPr>
        <p:spPr>
          <a:xfrm>
            <a:off x="6413500" y="4254500"/>
            <a:ext cx="4889500" cy="1651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540500" y="4381500"/>
            <a:ext cx="4635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业务启示：聚焦刚需品类机会</a:t>
            </a:r>
            <a:endParaRPr lang="en-US" sz="1100"/>
          </a:p>
        </p:txBody>
      </p:sp>
      <p:sp>
        <p:nvSpPr>
          <p:cNvPr id="23" name="AutoShape 23"/>
          <p:cNvSpPr/>
          <p:nvPr/>
        </p:nvSpPr>
        <p:spPr>
          <a:xfrm>
            <a:off x="6540500" y="4826000"/>
            <a:ext cx="463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食品类作为生活必需品，其价格上涨具有较强的市场传导性和持续性。对于零售企业而言，Q4的市场机会主要集中在生鲜、粮油等核心食品品类的供应链优化与库存管理上；而对于非必需消费品，则需要通过更具竞争力的定价策略来维持市场份额。</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案例报告结论与建议</a:t>
            </a:r>
            <a:endParaRPr lang="en-US" sz="1100"/>
          </a:p>
        </p:txBody>
      </p:sp>
      <p:sp>
        <p:nvSpPr>
          <p:cNvPr id="4" name="AutoShape 4"/>
          <p:cNvSpPr/>
          <p:nvPr/>
        </p:nvSpPr>
        <p:spPr>
          <a:xfrm>
            <a:off x="762000" y="1651000"/>
            <a:ext cx="5270500" cy="2794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a:t>
            </a:r>
            <a:endParaRPr lang="en-US" sz="1100"/>
          </a:p>
        </p:txBody>
      </p:sp>
      <p:sp>
        <p:nvSpPr>
          <p:cNvPr id="7" name="AutoShape 7"/>
          <p:cNvSpPr/>
          <p:nvPr/>
        </p:nvSpPr>
        <p:spPr>
          <a:xfrm>
            <a:off x="952500" y="2413000"/>
            <a:ext cx="48895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489200"/>
            <a:ext cx="46355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2025年Q4线上价格水平呈现温和上涨态势，整体通胀压力处于可控区间。市场供需关系相对稳定，未出现超出预期的大幅价格异动，消费端表现平稳。</a:t>
            </a:r>
            <a:endParaRPr lang="en-US" sz="1100"/>
          </a:p>
        </p:txBody>
      </p:sp>
      <p:sp>
        <p:nvSpPr>
          <p:cNvPr id="9" name="AutoShape 9"/>
          <p:cNvSpPr/>
          <p:nvPr/>
        </p:nvSpPr>
        <p:spPr>
          <a:xfrm>
            <a:off x="952500" y="3556000"/>
            <a:ext cx="48895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3632200"/>
            <a:ext cx="46355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食品品类价格是当前物价波动的核心驱动因素，其市场价格的实时变化趋势，在时间维度上显著领先于官方发布的传统统计数据，具备重要的先行参考价值。</a:t>
            </a:r>
            <a:endParaRPr lang="en-US" sz="1100"/>
          </a:p>
        </p:txBody>
      </p:sp>
      <p:sp>
        <p:nvSpPr>
          <p:cNvPr id="11" name="AutoShape 11"/>
          <p:cNvSpPr/>
          <p:nvPr/>
        </p:nvSpPr>
        <p:spPr>
          <a:xfrm>
            <a:off x="6223000" y="1651000"/>
            <a:ext cx="5270500" cy="2794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18034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行动建议</a:t>
            </a:r>
            <a:endParaRPr lang="en-US" sz="1100"/>
          </a:p>
        </p:txBody>
      </p:sp>
      <p:sp>
        <p:nvSpPr>
          <p:cNvPr id="14" name="AutoShape 14"/>
          <p:cNvSpPr/>
          <p:nvPr/>
        </p:nvSpPr>
        <p:spPr>
          <a:xfrm>
            <a:off x="6413500" y="2413000"/>
            <a:ext cx="48895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2489200"/>
            <a:ext cx="46355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建议政策制定者将高频线上价格指数纳入宏观经济监测框架，作为官方传统统计体系的有效补充指标，以提升对市场价格变化的感知灵敏度与响应速度。</a:t>
            </a:r>
            <a:endParaRPr lang="en-US" sz="1100"/>
          </a:p>
        </p:txBody>
      </p:sp>
      <p:sp>
        <p:nvSpPr>
          <p:cNvPr id="16" name="AutoShape 16"/>
          <p:cNvSpPr/>
          <p:nvPr/>
        </p:nvSpPr>
        <p:spPr>
          <a:xfrm>
            <a:off x="6413500" y="3556000"/>
            <a:ext cx="48895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3632200"/>
            <a:ext cx="4635500" cy="914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建议主流电商平台针对食品等民生刚需商品建立专项价格预警机制，加强全周期动态监控，及时发现并干预异常波动，保障基础消费品市场的价格秩序。</a:t>
            </a:r>
            <a:endParaRPr lang="en-US" sz="1100"/>
          </a:p>
        </p:txBody>
      </p:sp>
      <p:sp>
        <p:nvSpPr>
          <p:cNvPr id="18" name="AutoShape 18"/>
          <p:cNvSpPr/>
          <p:nvPr/>
        </p:nvSpPr>
        <p:spPr>
          <a:xfrm>
            <a:off x="762000" y="4699000"/>
            <a:ext cx="10731500" cy="1714500"/>
          </a:xfrm>
          <a:prstGeom prst="roundRect">
            <a:avLst>
              <a:gd name="adj" fmla="val 0"/>
            </a:avLst>
          </a:prstGeom>
          <a:solidFill>
            <a:srgbClr val="F0F9EB">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699000"/>
            <a:ext cx="50800" cy="1714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4851400"/>
            <a:ext cx="1016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监测清晰表明，线上消费市场的实时价格动态已成为宏观经济运行的重要“晴雨表”。及时捕捉并有效响应这些市场信号，不仅有助于宏观政策制定的精准性与前瞻性，也能帮助市场主体提前预判趋势。建议监管机构与电商平台协同发力，以线上数据为依托，建立常态化的价格监测与风险预警机制，形成调控合力，共同维护市场的平稳运行与消费者的合法权益。</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 课堂研讨与练习</a:t>
            </a:r>
            <a:endParaRPr lang="en-US" sz="1100"/>
          </a:p>
        </p:txBody>
      </p:sp>
      <p:sp>
        <p:nvSpPr>
          <p:cNvPr id="4" name="AutoShape 4"/>
          <p:cNvSpPr/>
          <p:nvPr/>
        </p:nvSpPr>
        <p:spPr>
          <a:xfrm>
            <a:off x="762000" y="1524000"/>
            <a:ext cx="10668000" cy="1397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endParaRPr lang="en-US" sz="1100"/>
          </a:p>
        </p:txBody>
      </p:sp>
      <p:sp>
        <p:nvSpPr>
          <p:cNvPr id="7" name="AutoShape 7"/>
          <p:cNvSpPr/>
          <p:nvPr/>
        </p:nvSpPr>
        <p:spPr>
          <a:xfrm>
            <a:off x="1016000" y="2032000"/>
            <a:ext cx="990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假设你是“China's Prices Project”项目组核心成员，请基于下方市场异动线索，撰写一份一页纸的商业分析简报。你需要快速定位关键问题，进行逻辑推导，并给出具有行动价值的初步结论，为团队下一步决策提供支持。</a:t>
            </a:r>
            <a:endParaRPr lang="en-US" sz="1100"/>
          </a:p>
        </p:txBody>
      </p:sp>
      <p:sp>
        <p:nvSpPr>
          <p:cNvPr id="8" name="AutoShape 8"/>
          <p:cNvSpPr/>
          <p:nvPr/>
        </p:nvSpPr>
        <p:spPr>
          <a:xfrm>
            <a:off x="762000" y="3175000"/>
            <a:ext cx="3429000" cy="1714500"/>
          </a:xfrm>
          <a:prstGeom prst="roundRect">
            <a:avLst>
              <a:gd name="adj" fmla="val 0"/>
            </a:avLst>
          </a:prstGeom>
          <a:solidFill>
            <a:srgbClr val="F9FAFB">
              <a:alpha val="9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175000"/>
            <a:ext cx="3429000" cy="508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3020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市场异动发现</a:t>
            </a:r>
            <a:endParaRPr lang="en-US" sz="1100"/>
          </a:p>
        </p:txBody>
      </p:sp>
      <p:sp>
        <p:nvSpPr>
          <p:cNvPr id="11" name="AutoShape 11"/>
          <p:cNvSpPr/>
          <p:nvPr/>
        </p:nvSpPr>
        <p:spPr>
          <a:xfrm>
            <a:off x="952500" y="3746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2026年1月监测数据显示，“家电”品类线上价格指数环比</a:t>
            </a:r>
            <a:r>
              <a:rPr lang="en-US" sz="13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意外下降 5%</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。这一数据打破了行业常规趋势，需要立即进行原因追溯与影响评估。</a:t>
            </a:r>
            <a:endParaRPr lang="en-US" sz="1100"/>
          </a:p>
        </p:txBody>
      </p:sp>
      <p:sp>
        <p:nvSpPr>
          <p:cNvPr id="12" name="AutoShape 12"/>
          <p:cNvSpPr/>
          <p:nvPr/>
        </p:nvSpPr>
        <p:spPr>
          <a:xfrm>
            <a:off x="4445000" y="3175000"/>
            <a:ext cx="3429000" cy="1714500"/>
          </a:xfrm>
          <a:prstGeom prst="roundRect">
            <a:avLst>
              <a:gd name="adj" fmla="val 0"/>
            </a:avLst>
          </a:prstGeom>
          <a:solidFill>
            <a:srgbClr val="F9FAFB">
              <a:alpha val="9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445000" y="3175000"/>
            <a:ext cx="3429000" cy="508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635500" y="33020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季节性背景对照</a:t>
            </a:r>
            <a:endParaRPr lang="en-US" sz="1100"/>
          </a:p>
        </p:txBody>
      </p:sp>
      <p:sp>
        <p:nvSpPr>
          <p:cNvPr id="15" name="AutoShape 15"/>
          <p:cNvSpPr/>
          <p:nvPr/>
        </p:nvSpPr>
        <p:spPr>
          <a:xfrm>
            <a:off x="4635500" y="3746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历史数据表明，春节前夕是传统的家电销售旺季。受节前备货与消费需求双重拉动，该时段产品价格通常呈现</a:t>
            </a:r>
            <a:r>
              <a:rPr lang="en-US" sz="13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稳中有升</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的态势，本次降价属于非典型市场表现。</a:t>
            </a:r>
            <a:endParaRPr lang="en-US" sz="1100"/>
          </a:p>
        </p:txBody>
      </p:sp>
      <p:sp>
        <p:nvSpPr>
          <p:cNvPr id="16" name="AutoShape 16"/>
          <p:cNvSpPr/>
          <p:nvPr/>
        </p:nvSpPr>
        <p:spPr>
          <a:xfrm>
            <a:off x="8128000" y="3175000"/>
            <a:ext cx="3429000" cy="1714500"/>
          </a:xfrm>
          <a:prstGeom prst="roundRect">
            <a:avLst>
              <a:gd name="adj" fmla="val 0"/>
            </a:avLst>
          </a:prstGeom>
          <a:solidFill>
            <a:srgbClr val="F9FAFB">
              <a:alpha val="9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3175000"/>
            <a:ext cx="3429000" cy="508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18500" y="33020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核心驱动线索</a:t>
            </a:r>
            <a:endParaRPr lang="en-US" sz="1100"/>
          </a:p>
        </p:txBody>
      </p:sp>
      <p:sp>
        <p:nvSpPr>
          <p:cNvPr id="19" name="AutoShape 19"/>
          <p:cNvSpPr/>
          <p:nvPr/>
        </p:nvSpPr>
        <p:spPr>
          <a:xfrm>
            <a:off x="8318500" y="37465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经初步排查，某头部电商平台同期启动了超大规模的“年货节”补贴活动，高额平台补贴直接拉低了市场均价，是本次价格指数波动的主要外部动因。</a:t>
            </a:r>
            <a:endParaRPr lang="en-US" sz="1100"/>
          </a:p>
        </p:txBody>
      </p:sp>
      <p:sp>
        <p:nvSpPr>
          <p:cNvPr id="20" name="AutoShape 20"/>
          <p:cNvSpPr/>
          <p:nvPr/>
        </p:nvSpPr>
        <p:spPr>
          <a:xfrm>
            <a:off x="762000" y="5080000"/>
            <a:ext cx="10668000" cy="13970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080000"/>
            <a:ext cx="508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16000" y="5143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交付标准</a:t>
            </a:r>
            <a:endParaRPr lang="en-US" sz="1100"/>
          </a:p>
        </p:txBody>
      </p:sp>
      <p:cxnSp>
        <p:nvCxnSpPr>
          <p:cNvPr id="23" name="Connector 23"/>
          <p:cNvCxnSpPr/>
          <p:nvPr/>
        </p:nvCxnSpPr>
        <p:spPr>
          <a:xfrm rot="5359557">
            <a:off x="2508250" y="5740437"/>
            <a:ext cx="1079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4" name="AutoShape 24"/>
          <p:cNvSpPr/>
          <p:nvPr/>
        </p:nvSpPr>
        <p:spPr>
          <a:xfrm>
            <a:off x="3302000" y="5232400"/>
            <a:ext cx="787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报告需严格遵循商业简报结构，包含</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项目摘要、市场背景、分析方法、核心结果、行动结论</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五个核心模块。请在30分钟内完成初稿，并准备3分钟的观点陈述，重点阐述你对该现象背后商业逻辑的深度思考。</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05 课程知识体系回顾</a:t>
            </a:r>
            <a:endParaRPr lang="en-US" sz="1100"/>
          </a:p>
        </p:txBody>
      </p:sp>
      <p:sp>
        <p:nvSpPr>
          <p:cNvPr id="4" name="AutoShape 4"/>
          <p:cNvSpPr/>
          <p:nvPr/>
        </p:nvSpPr>
        <p:spPr>
          <a:xfrm>
            <a:off x="762000" y="16510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第一讲：问题定义</a:t>
            </a:r>
            <a:endParaRPr lang="en-US" sz="1100"/>
          </a:p>
        </p:txBody>
      </p:sp>
      <p:sp>
        <p:nvSpPr>
          <p:cNvPr id="7" name="AutoShape 7"/>
          <p:cNvSpPr/>
          <p:nvPr/>
        </p:nvSpPr>
        <p:spPr>
          <a:xfrm>
            <a:off x="952500" y="2349500"/>
            <a:ext cx="3086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提出正确的问题</a:t>
            </a:r>
            <a:endParaRPr lang="en-US" sz="1100"/>
          </a:p>
        </p:txBody>
      </p:sp>
      <p:sp>
        <p:nvSpPr>
          <p:cNvPr id="8" name="AutoShape 8"/>
          <p:cNvSpPr/>
          <p:nvPr/>
        </p:nvSpPr>
        <p:spPr>
          <a:xfrm>
            <a:off x="952500" y="2857500"/>
            <a:ext cx="3086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明确业务痛点与核心目标是数据科学的起点。精准的问题定义能够锚定分析方向，确保后续技术手段服务于实际业务价值，避免无效探索。</a:t>
            </a:r>
            <a:endParaRPr lang="en-US" sz="1100"/>
          </a:p>
        </p:txBody>
      </p:sp>
      <p:sp>
        <p:nvSpPr>
          <p:cNvPr id="9" name="AutoShape 9"/>
          <p:cNvSpPr/>
          <p:nvPr/>
        </p:nvSpPr>
        <p:spPr>
          <a:xfrm>
            <a:off x="4483100" y="16510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483100" y="1651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673600" y="18415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第二讲：指标设计</a:t>
            </a:r>
            <a:endParaRPr lang="en-US" sz="1100"/>
          </a:p>
        </p:txBody>
      </p:sp>
      <p:sp>
        <p:nvSpPr>
          <p:cNvPr id="12" name="AutoShape 12"/>
          <p:cNvSpPr/>
          <p:nvPr/>
        </p:nvSpPr>
        <p:spPr>
          <a:xfrm>
            <a:off x="4673600" y="2349500"/>
            <a:ext cx="3086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定义衡量成功的标准</a:t>
            </a:r>
            <a:endParaRPr lang="en-US" sz="1100"/>
          </a:p>
        </p:txBody>
      </p:sp>
      <p:sp>
        <p:nvSpPr>
          <p:cNvPr id="13" name="AutoShape 13"/>
          <p:cNvSpPr/>
          <p:nvPr/>
        </p:nvSpPr>
        <p:spPr>
          <a:xfrm>
            <a:off x="4673600" y="2857500"/>
            <a:ext cx="3086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将抽象的业务意图转化为可量化的指标体系。科学的指标是评估策略效果的标尺，帮助我们在复杂数据中快速定位关键信息，驱动业务迭代。</a:t>
            </a:r>
            <a:endParaRPr lang="en-US" sz="1100"/>
          </a:p>
        </p:txBody>
      </p:sp>
      <p:sp>
        <p:nvSpPr>
          <p:cNvPr id="14" name="AutoShape 14"/>
          <p:cNvSpPr/>
          <p:nvPr/>
        </p:nvSpPr>
        <p:spPr>
          <a:xfrm>
            <a:off x="8204200" y="16510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204200" y="16510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394700" y="18415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第三讲：统计分析</a:t>
            </a:r>
            <a:endParaRPr lang="en-US" sz="1100"/>
          </a:p>
        </p:txBody>
      </p:sp>
      <p:sp>
        <p:nvSpPr>
          <p:cNvPr id="17" name="AutoShape 17"/>
          <p:cNvSpPr/>
          <p:nvPr/>
        </p:nvSpPr>
        <p:spPr>
          <a:xfrm>
            <a:off x="8394700" y="2349500"/>
            <a:ext cx="3086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探索数据的基本特征</a:t>
            </a:r>
            <a:endParaRPr lang="en-US" sz="1100"/>
          </a:p>
        </p:txBody>
      </p:sp>
      <p:sp>
        <p:nvSpPr>
          <p:cNvPr id="18" name="AutoShape 18"/>
          <p:cNvSpPr/>
          <p:nvPr/>
        </p:nvSpPr>
        <p:spPr>
          <a:xfrm>
            <a:off x="8394700" y="2857500"/>
            <a:ext cx="3086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通过描述性统计与可视化手段探索数据全貌。这一步是发现数据规律、识别异常值、理解变量分布的基础，为深度建模提供重要的先验信息。</a:t>
            </a:r>
            <a:endParaRPr lang="en-US" sz="1100"/>
          </a:p>
        </p:txBody>
      </p:sp>
      <p:sp>
        <p:nvSpPr>
          <p:cNvPr id="19" name="AutoShape 19"/>
          <p:cNvSpPr/>
          <p:nvPr/>
        </p:nvSpPr>
        <p:spPr>
          <a:xfrm>
            <a:off x="762000" y="40005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0005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41910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第四讲：预测分析</a:t>
            </a:r>
            <a:endParaRPr lang="en-US" sz="1100"/>
          </a:p>
        </p:txBody>
      </p:sp>
      <p:sp>
        <p:nvSpPr>
          <p:cNvPr id="22" name="AutoShape 22"/>
          <p:cNvSpPr/>
          <p:nvPr/>
        </p:nvSpPr>
        <p:spPr>
          <a:xfrm>
            <a:off x="952500" y="4699000"/>
            <a:ext cx="3086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从数据中预见未来</a:t>
            </a:r>
            <a:endParaRPr lang="en-US" sz="1100"/>
          </a:p>
        </p:txBody>
      </p:sp>
      <p:sp>
        <p:nvSpPr>
          <p:cNvPr id="23" name="AutoShape 23"/>
          <p:cNvSpPr/>
          <p:nvPr/>
        </p:nvSpPr>
        <p:spPr>
          <a:xfrm>
            <a:off x="952500" y="5207000"/>
            <a:ext cx="3086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利用历史数据训练模型对未知进行推断。无论是销量预测还是用户行为预判，预测分析让我们具备前瞻性视野，从而提前制定策略，抢占先机。</a:t>
            </a:r>
            <a:endParaRPr lang="en-US" sz="1100"/>
          </a:p>
        </p:txBody>
      </p:sp>
      <p:sp>
        <p:nvSpPr>
          <p:cNvPr id="24" name="AutoShape 24"/>
          <p:cNvSpPr/>
          <p:nvPr/>
        </p:nvSpPr>
        <p:spPr>
          <a:xfrm>
            <a:off x="4483100" y="40005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483100" y="40005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673600" y="41910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第五讲：因果分析</a:t>
            </a:r>
            <a:endParaRPr lang="en-US" sz="1100"/>
          </a:p>
        </p:txBody>
      </p:sp>
      <p:sp>
        <p:nvSpPr>
          <p:cNvPr id="27" name="AutoShape 27"/>
          <p:cNvSpPr/>
          <p:nvPr/>
        </p:nvSpPr>
        <p:spPr>
          <a:xfrm>
            <a:off x="4673600" y="4699000"/>
            <a:ext cx="3086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探究现象背后的原因</a:t>
            </a:r>
            <a:endParaRPr lang="en-US" sz="1100"/>
          </a:p>
        </p:txBody>
      </p:sp>
      <p:sp>
        <p:nvSpPr>
          <p:cNvPr id="28" name="AutoShape 28"/>
          <p:cNvSpPr/>
          <p:nvPr/>
        </p:nvSpPr>
        <p:spPr>
          <a:xfrm>
            <a:off x="4673600" y="5207000"/>
            <a:ext cx="3086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突破相关性的表象，揭示变量间的真实逻辑。因果分析帮助我们理解“为什么”发生，从而在复杂的业务场景中做出正确的归因，指导干预措施。</a:t>
            </a:r>
            <a:endParaRPr lang="en-US" sz="1100"/>
          </a:p>
        </p:txBody>
      </p:sp>
      <p:sp>
        <p:nvSpPr>
          <p:cNvPr id="29" name="AutoShape 29"/>
          <p:cNvSpPr/>
          <p:nvPr/>
        </p:nvSpPr>
        <p:spPr>
          <a:xfrm>
            <a:off x="8204200" y="4000500"/>
            <a:ext cx="3467100" cy="2095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204200" y="4000500"/>
            <a:ext cx="34671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394700" y="41910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第六讲：报告撰写</a:t>
            </a:r>
            <a:endParaRPr lang="en-US" sz="1100"/>
          </a:p>
        </p:txBody>
      </p:sp>
      <p:sp>
        <p:nvSpPr>
          <p:cNvPr id="32" name="AutoShape 32"/>
          <p:cNvSpPr/>
          <p:nvPr/>
        </p:nvSpPr>
        <p:spPr>
          <a:xfrm>
            <a:off x="8394700" y="4699000"/>
            <a:ext cx="30861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将洞察转化为行动</a:t>
            </a:r>
            <a:endParaRPr lang="en-US" sz="1100"/>
          </a:p>
        </p:txBody>
      </p:sp>
      <p:sp>
        <p:nvSpPr>
          <p:cNvPr id="33" name="AutoShape 33"/>
          <p:cNvSpPr/>
          <p:nvPr/>
        </p:nvSpPr>
        <p:spPr>
          <a:xfrm>
            <a:off x="8394700" y="5207000"/>
            <a:ext cx="30861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专业的呈现是连接分析成果与业务落地的桥梁。清晰的逻辑框架与直观的可视化，能让非技术决策者快速理解洞察，推动从数据到行动的转化。</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未来展望</a:t>
            </a:r>
            <a:endParaRPr lang="en-US" sz="1100"/>
          </a:p>
        </p:txBody>
      </p:sp>
      <p:sp>
        <p:nvSpPr>
          <p:cNvPr id="4" name="AutoShape 4"/>
          <p:cNvSpPr/>
          <p:nvPr/>
        </p:nvSpPr>
        <p:spPr>
          <a:xfrm>
            <a:off x="762000" y="1651000"/>
            <a:ext cx="3492500" cy="4318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905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数据科学与AI的融合</a:t>
            </a:r>
            <a:endParaRPr lang="en-US" sz="1100"/>
          </a:p>
        </p:txBody>
      </p:sp>
      <p:sp>
        <p:nvSpPr>
          <p:cNvPr id="7" name="AutoShape 7"/>
          <p:cNvSpPr/>
          <p:nvPr/>
        </p:nvSpPr>
        <p:spPr>
          <a:xfrm>
            <a:off x="952500" y="27940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机器学习（AutoML）正在打破技术壁垒，让无深厚算法背景的业务人员也能完成复杂模型训练；而大语言模型（LLM）则作为智能助手，将数据分析结果转化为自然语言报告，让技术成果更易被业务端理解和采纳。</a:t>
            </a:r>
            <a:endParaRPr lang="en-US" sz="1100"/>
          </a:p>
        </p:txBody>
      </p:sp>
      <p:sp>
        <p:nvSpPr>
          <p:cNvPr id="8" name="AutoShape 8"/>
          <p:cNvSpPr/>
          <p:nvPr/>
        </p:nvSpPr>
        <p:spPr>
          <a:xfrm>
            <a:off x="952500" y="4699000"/>
            <a:ext cx="3111500" cy="1079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48260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技术融合新范式：让专业工具平民化，让复杂分析自动化，加速数据价值从实验室走向业务现场。</a:t>
            </a:r>
            <a:endParaRPr lang="en-US" sz="1100"/>
          </a:p>
        </p:txBody>
      </p:sp>
      <p:sp>
        <p:nvSpPr>
          <p:cNvPr id="10" name="AutoShape 10"/>
          <p:cNvSpPr/>
          <p:nvPr/>
        </p:nvSpPr>
        <p:spPr>
          <a:xfrm>
            <a:off x="4470400" y="1651000"/>
            <a:ext cx="3492500" cy="4318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704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60900" y="1905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数据驱动决策的普及</a:t>
            </a:r>
            <a:endParaRPr lang="en-US" sz="1100"/>
          </a:p>
        </p:txBody>
      </p:sp>
      <p:sp>
        <p:nvSpPr>
          <p:cNvPr id="13" name="AutoShape 13"/>
          <p:cNvSpPr/>
          <p:nvPr/>
        </p:nvSpPr>
        <p:spPr>
          <a:xfrm>
            <a:off x="4660900" y="27940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数据素养不再是数据部门的专属能力，而是所有职场人的通用技能。企业管理正经历根本性的范式转移，从传统的“经验主义”直觉判断，转向基于全量数据的理性决策，这让市场响应更敏捷，业务判断更精准。</a:t>
            </a:r>
            <a:endParaRPr lang="en-US" sz="1100"/>
          </a:p>
        </p:txBody>
      </p:sp>
      <p:sp>
        <p:nvSpPr>
          <p:cNvPr id="14" name="AutoShape 14"/>
          <p:cNvSpPr/>
          <p:nvPr/>
        </p:nvSpPr>
        <p:spPr>
          <a:xfrm>
            <a:off x="4660900" y="4699000"/>
            <a:ext cx="3111500" cy="1079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87900" y="48260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全员数据化觉醒：当每一次业务动作都有据可依，当每一个关键决策都有数支撑，企业的增长将拥有可复制的科学路径。</a:t>
            </a:r>
            <a:endParaRPr lang="en-US" sz="1100"/>
          </a:p>
        </p:txBody>
      </p:sp>
      <p:sp>
        <p:nvSpPr>
          <p:cNvPr id="16" name="AutoShape 16"/>
          <p:cNvSpPr/>
          <p:nvPr/>
        </p:nvSpPr>
        <p:spPr>
          <a:xfrm>
            <a:off x="8191500" y="1651000"/>
            <a:ext cx="3492500" cy="4318000"/>
          </a:xfrm>
          <a:prstGeom prst="roundRect">
            <a:avLst>
              <a:gd name="adj" fmla="val 0"/>
            </a:avLst>
          </a:prstGeom>
          <a:solidFill>
            <a:srgbClr val="FFFFFF">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191500" y="1651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82000" y="1905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数据伦理与隐私保护</a:t>
            </a:r>
            <a:endParaRPr lang="en-US" sz="1100"/>
          </a:p>
        </p:txBody>
      </p:sp>
      <p:sp>
        <p:nvSpPr>
          <p:cNvPr id="19" name="AutoShape 19"/>
          <p:cNvSpPr/>
          <p:nvPr/>
        </p:nvSpPr>
        <p:spPr>
          <a:xfrm>
            <a:off x="8382000" y="2794000"/>
            <a:ext cx="3111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数据资产价值的飙升，公平使用、算法透明和用户隐私保护成为不可逾越的红线。建立负责任的AI应用标准，完善合规的数据治理体系，不仅是规避法律风险的需要，更是赢得用户长期信任、实现行业可持续发展的关键。</a:t>
            </a:r>
            <a:endParaRPr lang="en-US" sz="1100"/>
          </a:p>
        </p:txBody>
      </p:sp>
      <p:sp>
        <p:nvSpPr>
          <p:cNvPr id="20" name="AutoShape 20"/>
          <p:cNvSpPr/>
          <p:nvPr/>
        </p:nvSpPr>
        <p:spPr>
          <a:xfrm>
            <a:off x="8382000" y="4699000"/>
            <a:ext cx="3111500" cy="1079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509000" y="48260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信任即基石：在追求技术创新与业务增长的同时，始终将数据安全与伦理置于首位，行稳方能致远。</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课后作业</a:t>
            </a:r>
            <a:endParaRPr lang="en-US" sz="1100"/>
          </a:p>
        </p:txBody>
      </p:sp>
      <p:sp>
        <p:nvSpPr>
          <p:cNvPr id="4" name="AutoShape 4"/>
          <p:cNvSpPr/>
          <p:nvPr/>
        </p:nvSpPr>
        <p:spPr>
          <a:xfrm>
            <a:off x="762000" y="1651000"/>
            <a:ext cx="5270500" cy="4445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68500"/>
            <a:ext cx="406400" cy="406400"/>
          </a:xfrm>
          <a:prstGeom prst="rect">
            <a:avLst/>
          </a:prstGeom>
        </p:spPr>
      </p:pic>
      <p:sp>
        <p:nvSpPr>
          <p:cNvPr id="7" name="AutoShape 7"/>
          <p:cNvSpPr/>
          <p:nvPr/>
        </p:nvSpPr>
        <p:spPr>
          <a:xfrm>
            <a:off x="1651000" y="1930400"/>
            <a:ext cx="4064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报告撰写题</a:t>
            </a:r>
            <a:endParaRPr lang="en-US" sz="1100"/>
          </a:p>
        </p:txBody>
      </p:sp>
      <p:cxnSp>
        <p:nvCxnSpPr>
          <p:cNvPr id="8" name="Connector 8"/>
          <p:cNvCxnSpPr/>
          <p:nvPr/>
        </p:nvCxnSpPr>
        <p:spPr>
          <a:xfrm rot="-9167">
            <a:off x="1016008" y="2660650"/>
            <a:ext cx="4762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1016000" y="2857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核心任务：基于项目背景的实战分析</a:t>
            </a:r>
            <a:endParaRPr lang="en-US" sz="1100"/>
          </a:p>
        </p:txBody>
      </p:sp>
      <p:sp>
        <p:nvSpPr>
          <p:cNvPr id="10" name="AutoShape 10"/>
          <p:cNvSpPr/>
          <p:nvPr/>
        </p:nvSpPr>
        <p:spPr>
          <a:xfrm>
            <a:off x="1016000" y="3429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请围绕“China's Prices Project”的宏观背景，自由选取一个感兴趣的细分品类（如电子产品、快时尚服装等）。通过虚构符合行业逻辑的数据与关键发现，构建一份包含研究背景、现状分析、核心洞察及策略建议的完整商业分析报告。</a:t>
            </a:r>
            <a:endParaRPr lang="en-US" sz="1100"/>
          </a:p>
        </p:txBody>
      </p:sp>
      <p:sp>
        <p:nvSpPr>
          <p:cNvPr id="11" name="AutoShape 11"/>
          <p:cNvSpPr/>
          <p:nvPr/>
        </p:nvSpPr>
        <p:spPr>
          <a:xfrm>
            <a:off x="1016000" y="4826000"/>
            <a:ext cx="47625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000" y="4953000"/>
            <a:ext cx="228600" cy="228600"/>
          </a:xfrm>
          <a:prstGeom prst="rect">
            <a:avLst/>
          </a:prstGeom>
        </p:spPr>
      </p:pic>
      <p:sp>
        <p:nvSpPr>
          <p:cNvPr id="13" name="AutoShape 13"/>
          <p:cNvSpPr/>
          <p:nvPr/>
        </p:nvSpPr>
        <p:spPr>
          <a:xfrm>
            <a:off x="1524000" y="4927600"/>
            <a:ext cx="412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虚构数据时请注意逻辑自洽，报告结构建议参考标准商业分析框架，重点在于展现对市场价格机制与品类特性的理解。</a:t>
            </a:r>
            <a:endParaRPr lang="en-US" sz="1100"/>
          </a:p>
        </p:txBody>
      </p:sp>
      <p:sp>
        <p:nvSpPr>
          <p:cNvPr id="14" name="AutoShape 14"/>
          <p:cNvSpPr/>
          <p:nvPr/>
        </p:nvSpPr>
        <p:spPr>
          <a:xfrm>
            <a:off x="6223000" y="1651000"/>
            <a:ext cx="5270500" cy="4445000"/>
          </a:xfrm>
          <a:prstGeom prst="roundRect">
            <a:avLst>
              <a:gd name="adj" fmla="val 0"/>
            </a:avLst>
          </a:prstGeom>
          <a:solidFill>
            <a:srgbClr val="FFFFFF">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1651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968500"/>
            <a:ext cx="406400" cy="406400"/>
          </a:xfrm>
          <a:prstGeom prst="rect">
            <a:avLst/>
          </a:prstGeom>
        </p:spPr>
      </p:pic>
      <p:sp>
        <p:nvSpPr>
          <p:cNvPr id="17" name="AutoShape 17"/>
          <p:cNvSpPr/>
          <p:nvPr/>
        </p:nvSpPr>
        <p:spPr>
          <a:xfrm>
            <a:off x="7112000" y="1930400"/>
            <a:ext cx="4064000" cy="482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工具调研题</a:t>
            </a:r>
            <a:endParaRPr lang="en-US" sz="1100"/>
          </a:p>
        </p:txBody>
      </p:sp>
      <p:cxnSp>
        <p:nvCxnSpPr>
          <p:cNvPr id="18" name="Connector 18"/>
          <p:cNvCxnSpPr/>
          <p:nvPr/>
        </p:nvCxnSpPr>
        <p:spPr>
          <a:xfrm rot="-9167">
            <a:off x="6477008" y="2660650"/>
            <a:ext cx="47625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6477000" y="28575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核心任务：数据可视化工具深度探索</a:t>
            </a:r>
            <a:endParaRPr lang="en-US" sz="1100"/>
          </a:p>
        </p:txBody>
      </p:sp>
      <p:sp>
        <p:nvSpPr>
          <p:cNvPr id="20" name="AutoShape 20"/>
          <p:cNvSpPr/>
          <p:nvPr/>
        </p:nvSpPr>
        <p:spPr>
          <a:xfrm>
            <a:off x="6477000" y="34290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调研一款主流的数据可视化工具（如 Tableau、Power BI、Python 生态的 Matplotlib/Seaborn 等）。撰写调研报告，系统梳理其核心功能模块、技术优缺点，并结合实际业务场景（如销售数据分析、用户行为洞察），展示该工具在解决具体问题时的应用价值。</a:t>
            </a:r>
            <a:endParaRPr lang="en-US" sz="1100"/>
          </a:p>
        </p:txBody>
      </p:sp>
      <p:sp>
        <p:nvSpPr>
          <p:cNvPr id="21" name="AutoShape 21"/>
          <p:cNvSpPr/>
          <p:nvPr/>
        </p:nvSpPr>
        <p:spPr>
          <a:xfrm>
            <a:off x="6477000" y="4826000"/>
            <a:ext cx="47625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4953000"/>
            <a:ext cx="228600" cy="228600"/>
          </a:xfrm>
          <a:prstGeom prst="rect">
            <a:avLst/>
          </a:prstGeom>
        </p:spPr>
      </p:pic>
      <p:sp>
        <p:nvSpPr>
          <p:cNvPr id="23" name="AutoShape 23"/>
          <p:cNvSpPr/>
          <p:nvPr/>
        </p:nvSpPr>
        <p:spPr>
          <a:xfrm>
            <a:off x="6985000" y="4927600"/>
            <a:ext cx="412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建议尝试工具的基础操作流程，在报告中对比其学习成本与应用效率。若条件允许，可附上手绘或实际生成的可视化图表作为案例支撑。</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8488</Words>
  <Application>WPS 演示</Application>
  <PresentationFormat/>
  <Paragraphs>514</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21</vt:i4>
      </vt:variant>
    </vt:vector>
  </HeadingPairs>
  <TitlesOfParts>
    <vt:vector size="30"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没事找事</cp:lastModifiedBy>
  <cp:revision>1</cp:revision>
  <dcterms:created xsi:type="dcterms:W3CDTF">2026-06-01T02:07:46Z</dcterms:created>
  <dcterms:modified xsi:type="dcterms:W3CDTF">2026-06-01T02:07:46Z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{"Label":"1","ContentProducer":"001191110102MACQD9K64010000","ProduceID":"7645660645593648319","ReservedCode1":"","ContentPropagator":"","PropagateID":"","ReservedCode2":""}</vt:lpwstr>
  </property>
  <property fmtid="{D5CDD505-2E9C-101B-9397-08002B2CF9AE}" pid="3" name="ICV">
    <vt:lpwstr>6E94A78EBD324CD4B0837CDEC55C0566_12</vt:lpwstr>
  </property>
  <property fmtid="{D5CDD505-2E9C-101B-9397-08002B2CF9AE}" pid="4" name="KSOProductBuildVer">
    <vt:lpwstr>2052-12.1.0.20784</vt:lpwstr>
  </property>
</Properties>
</file>