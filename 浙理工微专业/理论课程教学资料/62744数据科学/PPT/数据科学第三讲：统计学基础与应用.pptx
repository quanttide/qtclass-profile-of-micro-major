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科学第三讲。今天我们将深入探讨数据分析的基石——统计学。面对海量数据，我们如何从中发现规律、做出判断？统计学将为我们提供一套强大的工具和思维方式，帮助我们从数据特征描述走向科学的决策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六个部分。首先，我们将明确学习统计学的重要性。接着，我们会系统学习描述性统计，学会描绘数据的“肖像”。然后，进入推断统计的世界，学习如何从样本洞察总体。之后，我们将掌握假设检验这一核心工具。最后通过案例分析和课堂研讨来巩固所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什么我们需要统计学？因为它能帮助我们回答关于数据的三个核心问题：规律、异常和关系。统计学通过描述、推断和决策支持这三大作用，为我们提供了一套完整的数据分析方法论，让我们能够从纷繁复杂的数据中提取价值，辅助科学决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通过本节课的学习，我们希望大家能在知识、能力和素养三个层面都有所收获。不仅要掌握具体的统计方法，更要建立起统计思维，培养严谨客观的分析态度。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学习描述性统计，它就像给数据画肖像。第一步是找到数据的“重心”，也就是集中趋势。我们常用均值、中位数和众数来描述。均值最常用，但容易受极端值影响；中位数则更稳健，适合描述像收入这样的偏态分布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除了重心，我们还需要了解数据的“个性”，即离散程度。极差、方差和标准差都是衡量数据波动的指标。其中，标准差最为常用，它告诉我们数据点平均偏离均值有多远。标准差越大，说明数据越分散。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数据的“形状”由偏度和峰度来描述。偏度告诉我们分布是否对称，比如收入是典型的右偏分布。峰度则描述分布的陡峭程度，尖峰分布意味着极端值更多。理解这些形态有助于我们选择正确的统计方法。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图表是描述性统计的直观体现。直方图帮助我们看分布，箱线图帮我们找异常值，散点图则揭示变量间的关系。学会使用这些图表，能让数据自己“开口说话”。</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接下来我们进入推断统计。它的基本思想是，我们无法研究所有对象（总体），所以我们研究其中一部分（样本），并通过样本来推断总体的特征。这是一种从部分到整体的逻辑。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要让推断可靠，样本必须有代表性。常见的抽样方法有简单随机抽样、分层抽样和整群抽样。其中，分层抽样通过先分层再抽样，能更好地保证样本结构与总体一致，从而提高推断的准确性。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我们的推断有多可靠？置信区间回答了这个问题。它给出一个范围，我们有很高的信心（比如95%）认为真实的总体参数就在这个范围内。这体现了统计学的严谨性，它不仅给出结论，还给出结论的可靠程度。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假设检验是推断统计的核心工具。我们可以用法庭审判来理解它：原假设就是“无罪推定”，备择假设是“有罪”。我们通过计算P值来判断证据是否足够推翻“无罪”的假设。P值越小，说明现有证据越反常，原假设越站不住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进行假设检验需要遵循一个标准流程：首先提出假设，然后选择检验方法，计算统计量和P值，最后根据P值与显著性水平α的比较做出判断。如果P值小于等于0.05，我们就有足够的证据拒绝原假设，认为观察到的差异是真实存在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针对不同的数据类型和分析目的，我们有不同的假设检验方法。t检验用于比较两组均值，比如A/B测试；卡方检验用于分析分类变量间的关系；方差分析则用于比较三组或更多组的均值。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一个实战案例。在“中国价格项目”中，我们首先通过描述性统计发现价格呈右偏分布。然后，通过假设检验，我们量化地证明了不同电商平台在定价上存在显著差异。这展示了统计学如何从描述到推断，层层深入地揭示数据背后的真相。</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理论学习之后，我们来实践一下。请看这个用户停留时长的数据。请大家分组讨论，应该用什么指标描述典型时长？用什么图表展示分布？以及如何检验新功能的效果？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议题是关于结果解读。一个A/B测试显示转化率提升了2%，P值是0.03。这在统计上显著吗？公司是否应该立即上线？这个问题提醒我们，统计显著性不等于商业显著性，决策时还需要综合考虑成本、用户体验等多方面因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最后，我们来总结一下。今天我们学习了统计学的两大分支：描述性统计和推断统计。掌握这些方法，是成为一名合格数据科学家的必备基本功。课后请大家完成两道作业题，巩固所学知识。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0000"/>
                </a:srgbClr>
              </a:gs>
              <a:gs pos="50000">
                <a:srgbClr val="000000">
                  <a:alpha val="45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数据科学第三讲：统计学基础与应用</a:t>
            </a:r>
            <a:endParaRPr lang="en-US" sz="1100"/>
          </a:p>
        </p:txBody>
      </p:sp>
      <p:sp>
        <p:nvSpPr>
          <p:cNvPr id="4" name="AutoShape 4"/>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从数据特征到决策支持</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课程大纲</a:t>
            </a:r>
            <a:endParaRPr lang="en-US" sz="1100"/>
          </a:p>
        </p:txBody>
      </p:sp>
      <p:sp>
        <p:nvSpPr>
          <p:cNvPr id="4" name="AutoShape 4"/>
          <p:cNvSpPr/>
          <p:nvPr/>
        </p:nvSpPr>
        <p:spPr>
          <a:xfrm>
            <a:off x="762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651000" y="1854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课程导入与学习目标</a:t>
            </a:r>
            <a:endParaRPr lang="en-US" sz="1100"/>
          </a:p>
        </p:txBody>
      </p:sp>
      <p:sp>
        <p:nvSpPr>
          <p:cNvPr id="8" name="AutoShape 8"/>
          <p:cNvSpPr/>
          <p:nvPr/>
        </p:nvSpPr>
        <p:spPr>
          <a:xfrm>
            <a:off x="952500" y="2476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为什么需要学习统计学？从生活中的不确定性出发，建立对数据分析的基本认知，明确本课程的核心学习路径与预期达成的能力目标。</a:t>
            </a:r>
            <a:endParaRPr lang="en-US" sz="1100"/>
          </a:p>
        </p:txBody>
      </p:sp>
      <p:sp>
        <p:nvSpPr>
          <p:cNvPr id="9" name="AutoShape 9"/>
          <p:cNvSpPr/>
          <p:nvPr/>
        </p:nvSpPr>
        <p:spPr>
          <a:xfrm>
            <a:off x="4445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1803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5334000" y="1854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描述性统计：描绘数据肖像</a:t>
            </a:r>
            <a:endParaRPr lang="en-US" sz="1100"/>
          </a:p>
        </p:txBody>
      </p:sp>
      <p:sp>
        <p:nvSpPr>
          <p:cNvPr id="13" name="AutoShape 13"/>
          <p:cNvSpPr/>
          <p:nvPr/>
        </p:nvSpPr>
        <p:spPr>
          <a:xfrm>
            <a:off x="4635500" y="2476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掌握集中趋势、离散程度与分布形态的核心指标，学习用图表将枯燥数据转化为直观可视的信息，读懂数据的基本特征与内在结构。</a:t>
            </a:r>
            <a:endParaRPr lang="en-US" sz="1100"/>
          </a:p>
        </p:txBody>
      </p:sp>
      <p:sp>
        <p:nvSpPr>
          <p:cNvPr id="14" name="AutoShape 14"/>
          <p:cNvSpPr/>
          <p:nvPr/>
        </p:nvSpPr>
        <p:spPr>
          <a:xfrm>
            <a:off x="8128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128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18500" y="1803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9017000" y="1854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推断统计：从部分洞察整体</a:t>
            </a:r>
            <a:endParaRPr lang="en-US" sz="1100"/>
          </a:p>
        </p:txBody>
      </p:sp>
      <p:sp>
        <p:nvSpPr>
          <p:cNvPr id="18" name="AutoShape 18"/>
          <p:cNvSpPr/>
          <p:nvPr/>
        </p:nvSpPr>
        <p:spPr>
          <a:xfrm>
            <a:off x="8318500" y="2476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理解总体与样本的关系，学习科学的抽样方法。通过置信区间估计，掌握如何从有限的样本数据中，科学推断出总体的真实情况与趋势。</a:t>
            </a:r>
            <a:endParaRPr lang="en-US" sz="1100"/>
          </a:p>
        </p:txBody>
      </p:sp>
      <p:sp>
        <p:nvSpPr>
          <p:cNvPr id="19" name="AutoShape 19"/>
          <p:cNvSpPr/>
          <p:nvPr/>
        </p:nvSpPr>
        <p:spPr>
          <a:xfrm>
            <a:off x="762000" y="3937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937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089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1651000" y="4140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假设检验：数据背后的真相</a:t>
            </a:r>
            <a:endParaRPr lang="en-US" sz="1100"/>
          </a:p>
        </p:txBody>
      </p:sp>
      <p:sp>
        <p:nvSpPr>
          <p:cNvPr id="23" name="AutoShape 23"/>
          <p:cNvSpPr/>
          <p:nvPr/>
        </p:nvSpPr>
        <p:spPr>
          <a:xfrm>
            <a:off x="952500" y="4762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建立假设检验的逻辑框架，掌握标准分析流程与常见方法。学会用严谨的数据证据去验证观点，辨别数据背后的真实规律，而非随机巧合。</a:t>
            </a:r>
            <a:endParaRPr lang="en-US" sz="1100"/>
          </a:p>
        </p:txBody>
      </p:sp>
      <p:sp>
        <p:nvSpPr>
          <p:cNvPr id="24" name="AutoShape 24"/>
          <p:cNvSpPr/>
          <p:nvPr/>
        </p:nvSpPr>
        <p:spPr>
          <a:xfrm>
            <a:off x="4445000" y="3937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445000" y="3937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635500" y="4089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7" name="AutoShape 27"/>
          <p:cNvSpPr/>
          <p:nvPr/>
        </p:nvSpPr>
        <p:spPr>
          <a:xfrm>
            <a:off x="5334000" y="4140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案例：China's Prices Project</a:t>
            </a:r>
            <a:endParaRPr lang="en-US" sz="1100"/>
          </a:p>
        </p:txBody>
      </p:sp>
      <p:sp>
        <p:nvSpPr>
          <p:cNvPr id="28" name="AutoShape 28"/>
          <p:cNvSpPr/>
          <p:nvPr/>
        </p:nvSpPr>
        <p:spPr>
          <a:xfrm>
            <a:off x="4635500" y="4762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基于真实的中国物价项目展开实战演练。将所学的统计理论与方法，转化为解决实际商业问题的能力，体会数据分析在决策中的核心价值。</a:t>
            </a:r>
            <a:endParaRPr lang="en-US" sz="1100"/>
          </a:p>
        </p:txBody>
      </p:sp>
      <p:sp>
        <p:nvSpPr>
          <p:cNvPr id="29" name="AutoShape 29"/>
          <p:cNvSpPr/>
          <p:nvPr/>
        </p:nvSpPr>
        <p:spPr>
          <a:xfrm>
            <a:off x="8128000" y="3937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128000" y="3937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318500" y="40894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2" name="AutoShape 32"/>
          <p:cNvSpPr/>
          <p:nvPr/>
        </p:nvSpPr>
        <p:spPr>
          <a:xfrm>
            <a:off x="9017000" y="4140200"/>
            <a:ext cx="241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课堂研讨与总结</a:t>
            </a:r>
            <a:endParaRPr lang="en-US" sz="1100"/>
          </a:p>
        </p:txBody>
      </p:sp>
      <p:sp>
        <p:nvSpPr>
          <p:cNvPr id="33" name="AutoShape 33"/>
          <p:cNvSpPr/>
          <p:nvPr/>
        </p:nvSpPr>
        <p:spPr>
          <a:xfrm>
            <a:off x="8318500" y="47625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通过小组研讨深化知识应用，回顾全课程核心要点。将统计学思维融入日常业务分析，形成可复用的分析框架，真正实现学以致用的学习目标。</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为什么我们需要统计学？</a:t>
            </a:r>
            <a:endParaRPr lang="en-US" sz="1100"/>
          </a:p>
        </p:txBody>
      </p:sp>
      <p:sp>
        <p:nvSpPr>
          <p:cNvPr id="4" name="AutoShape 4"/>
          <p:cNvSpPr/>
          <p:nvPr/>
        </p:nvSpPr>
        <p:spPr>
          <a:xfrm>
            <a:off x="762000" y="1651000"/>
            <a:ext cx="3429000" cy="190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数据有什么规律？</a:t>
            </a:r>
            <a:endParaRPr lang="en-US" sz="1100"/>
          </a:p>
        </p:txBody>
      </p:sp>
      <p:sp>
        <p:nvSpPr>
          <p:cNvPr id="7" name="AutoShape 7"/>
          <p:cNvSpPr/>
          <p:nvPr/>
        </p:nvSpPr>
        <p:spPr>
          <a:xfrm>
            <a:off x="952500" y="23114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面对杂乱的原始数据，我们想知道用户的平均消费金额是多少？背后隐藏着怎样的分布模式与集中趋势？统计学帮助我们梳理表象下的内在逻辑。</a:t>
            </a:r>
            <a:endParaRPr lang="en-US" sz="1100"/>
          </a:p>
        </p:txBody>
      </p:sp>
      <p:sp>
        <p:nvSpPr>
          <p:cNvPr id="8" name="AutoShape 8"/>
          <p:cNvSpPr/>
          <p:nvPr/>
        </p:nvSpPr>
        <p:spPr>
          <a:xfrm>
            <a:off x="4381500" y="1651000"/>
            <a:ext cx="3429000" cy="190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3815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1803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数据有什么异常？</a:t>
            </a:r>
            <a:endParaRPr lang="en-US" sz="1100"/>
          </a:p>
        </p:txBody>
      </p:sp>
      <p:sp>
        <p:nvSpPr>
          <p:cNvPr id="11" name="AutoShape 11"/>
          <p:cNvSpPr/>
          <p:nvPr/>
        </p:nvSpPr>
        <p:spPr>
          <a:xfrm>
            <a:off x="4572000" y="23114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是否存在异常高消费的用户？或是出现了不符合常规的业务波动？统计学提供了方法，让我们能快速识别偏离常态的极值，及时发现风险或潜在机遇。</a:t>
            </a:r>
            <a:endParaRPr lang="en-US" sz="1100"/>
          </a:p>
        </p:txBody>
      </p:sp>
      <p:sp>
        <p:nvSpPr>
          <p:cNvPr id="12" name="AutoShape 12"/>
          <p:cNvSpPr/>
          <p:nvPr/>
        </p:nvSpPr>
        <p:spPr>
          <a:xfrm>
            <a:off x="8001000" y="1651000"/>
            <a:ext cx="3429000" cy="190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001000" y="1651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91500" y="1803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数据之间有什么关系？</a:t>
            </a:r>
            <a:endParaRPr lang="en-US" sz="1100"/>
          </a:p>
        </p:txBody>
      </p:sp>
      <p:sp>
        <p:nvSpPr>
          <p:cNvPr id="15" name="AutoShape 15"/>
          <p:cNvSpPr/>
          <p:nvPr/>
        </p:nvSpPr>
        <p:spPr>
          <a:xfrm>
            <a:off x="8191500" y="23114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用户的年龄和购买偏好有关联吗？价格调整会如何影响销量？通过分析变量间的相关性，统计学帮助我们揭示业务背后的关键驱动因素与因果逻辑。</a:t>
            </a:r>
            <a:endParaRPr lang="en-US" sz="1100"/>
          </a:p>
        </p:txBody>
      </p:sp>
      <p:sp>
        <p:nvSpPr>
          <p:cNvPr id="16" name="AutoShape 16"/>
          <p:cNvSpPr/>
          <p:nvPr/>
        </p:nvSpPr>
        <p:spPr>
          <a:xfrm>
            <a:off x="762000" y="3810000"/>
            <a:ext cx="3429000" cy="2286000"/>
          </a:xfrm>
          <a:prstGeom prst="roundRect">
            <a:avLst>
              <a:gd name="adj" fmla="val 0"/>
            </a:avLst>
          </a:prstGeom>
          <a:solidFill>
            <a:srgbClr val="F0FDF4">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3962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描述数据特征</a:t>
            </a:r>
            <a:endParaRPr lang="en-US" sz="1100"/>
          </a:p>
        </p:txBody>
      </p:sp>
      <p:sp>
        <p:nvSpPr>
          <p:cNvPr id="18" name="AutoShape 18"/>
          <p:cNvSpPr/>
          <p:nvPr/>
        </p:nvSpPr>
        <p:spPr>
          <a:xfrm>
            <a:off x="952500" y="4445000"/>
            <a:ext cx="304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Descriptive Statistics</a:t>
            </a:r>
            <a:endParaRPr lang="en-US" sz="1100"/>
          </a:p>
        </p:txBody>
      </p:sp>
      <p:sp>
        <p:nvSpPr>
          <p:cNvPr id="19" name="AutoShape 19"/>
          <p:cNvSpPr/>
          <p:nvPr/>
        </p:nvSpPr>
        <p:spPr>
          <a:xfrm>
            <a:off x="952500" y="4826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利用均值、标准差等关键指标和可视化图表，将海量且复杂的原始数据进行结构化提炼，把抽象的数字转化为直观的信息，让核心特征一目了然。</a:t>
            </a:r>
            <a:endParaRPr lang="en-US" sz="1100"/>
          </a:p>
        </p:txBody>
      </p:sp>
      <p:sp>
        <p:nvSpPr>
          <p:cNvPr id="20" name="AutoShape 20"/>
          <p:cNvSpPr/>
          <p:nvPr/>
        </p:nvSpPr>
        <p:spPr>
          <a:xfrm>
            <a:off x="4381500" y="3810000"/>
            <a:ext cx="3429000" cy="2286000"/>
          </a:xfrm>
          <a:prstGeom prst="roundRect">
            <a:avLst>
              <a:gd name="adj" fmla="val 0"/>
            </a:avLst>
          </a:prstGeom>
          <a:solidFill>
            <a:srgbClr val="F0FDF4">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572000" y="3962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发现数据规律</a:t>
            </a:r>
            <a:endParaRPr lang="en-US" sz="1100"/>
          </a:p>
        </p:txBody>
      </p:sp>
      <p:sp>
        <p:nvSpPr>
          <p:cNvPr id="22" name="AutoShape 22"/>
          <p:cNvSpPr/>
          <p:nvPr/>
        </p:nvSpPr>
        <p:spPr>
          <a:xfrm>
            <a:off x="4572000" y="4445000"/>
            <a:ext cx="304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Inferential Statistics</a:t>
            </a:r>
            <a:endParaRPr lang="en-US" sz="1100"/>
          </a:p>
        </p:txBody>
      </p:sp>
      <p:sp>
        <p:nvSpPr>
          <p:cNvPr id="23" name="AutoShape 23"/>
          <p:cNvSpPr/>
          <p:nvPr/>
        </p:nvSpPr>
        <p:spPr>
          <a:xfrm>
            <a:off x="4572000" y="4826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基于代表性的样本数据进行科学归纳与逻辑推演，突破局部信息的限制，从有限的观察中推断出整体的特征与未来的发展趋势，洞察事物本质。</a:t>
            </a:r>
            <a:endParaRPr lang="en-US" sz="1100"/>
          </a:p>
        </p:txBody>
      </p:sp>
      <p:sp>
        <p:nvSpPr>
          <p:cNvPr id="24" name="AutoShape 24"/>
          <p:cNvSpPr/>
          <p:nvPr/>
        </p:nvSpPr>
        <p:spPr>
          <a:xfrm>
            <a:off x="8001000" y="3810000"/>
            <a:ext cx="3429000" cy="2286000"/>
          </a:xfrm>
          <a:prstGeom prst="roundRect">
            <a:avLst>
              <a:gd name="adj" fmla="val 0"/>
            </a:avLst>
          </a:prstGeom>
          <a:solidFill>
            <a:srgbClr val="F0FDF4">
              <a:alpha val="9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191500" y="39624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支持决策判断</a:t>
            </a:r>
            <a:endParaRPr lang="en-US" sz="1100"/>
          </a:p>
        </p:txBody>
      </p:sp>
      <p:sp>
        <p:nvSpPr>
          <p:cNvPr id="26" name="AutoShape 26"/>
          <p:cNvSpPr/>
          <p:nvPr/>
        </p:nvSpPr>
        <p:spPr>
          <a:xfrm>
            <a:off x="8191500" y="4445000"/>
            <a:ext cx="3048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Making</a:t>
            </a:r>
            <a:endParaRPr lang="en-US" sz="1100"/>
          </a:p>
        </p:txBody>
      </p:sp>
      <p:sp>
        <p:nvSpPr>
          <p:cNvPr id="27" name="AutoShape 27"/>
          <p:cNvSpPr/>
          <p:nvPr/>
        </p:nvSpPr>
        <p:spPr>
          <a:xfrm>
            <a:off x="8191500" y="4826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以客观数据和严谨的统计分析为决策依据，替代单纯依靠经验与直觉的盲目判断，为业务策略的制定、资源的优化配置提供可靠的量化支撑。</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本节课学习目标</a:t>
            </a:r>
            <a:endParaRPr lang="en-US" sz="1100"/>
          </a:p>
        </p:txBody>
      </p:sp>
      <p:sp>
        <p:nvSpPr>
          <p:cNvPr id="4" name="AutoShape 4"/>
          <p:cNvSpPr/>
          <p:nvPr/>
        </p:nvSpPr>
        <p:spPr>
          <a:xfrm>
            <a:off x="762000" y="1651000"/>
            <a:ext cx="3492500" cy="4445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知识目标</a:t>
            </a:r>
            <a:endParaRPr lang="en-US" sz="1100"/>
          </a:p>
        </p:txBody>
      </p:sp>
      <p:cxnSp>
        <p:nvCxnSpPr>
          <p:cNvPr id="7" name="Connector 7"/>
          <p:cNvCxnSpPr/>
          <p:nvPr/>
        </p:nvCxnSpPr>
        <p:spPr>
          <a:xfrm rot="-14031">
            <a:off x="952513" y="2533650"/>
            <a:ext cx="3111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8" name="AutoShape 8"/>
          <p:cNvSpPr/>
          <p:nvPr/>
        </p:nvSpPr>
        <p:spPr>
          <a:xfrm>
            <a:off x="952500" y="2730500"/>
            <a:ext cx="3111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27940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掌握描述性统计的核心指标体系，包括均值、中位数、众数以及标准差等关键概念，能够准确理解数据的集中趋势与离散程度。</a:t>
            </a:r>
            <a:endParaRPr lang="en-US" sz="1100"/>
          </a:p>
        </p:txBody>
      </p:sp>
      <p:sp>
        <p:nvSpPr>
          <p:cNvPr id="10" name="AutoShape 10"/>
          <p:cNvSpPr/>
          <p:nvPr/>
        </p:nvSpPr>
        <p:spPr>
          <a:xfrm>
            <a:off x="952500" y="3937000"/>
            <a:ext cx="3111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0005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深入理解推断统计的逻辑基础，清晰界定总体、样本与抽样的关系，掌握从局部样本推断总体特征的基本数学原理。</a:t>
            </a:r>
            <a:endParaRPr lang="en-US" sz="1100"/>
          </a:p>
        </p:txBody>
      </p:sp>
      <p:sp>
        <p:nvSpPr>
          <p:cNvPr id="12" name="AutoShape 12"/>
          <p:cNvSpPr/>
          <p:nvPr/>
        </p:nvSpPr>
        <p:spPr>
          <a:xfrm>
            <a:off x="952500" y="5143500"/>
            <a:ext cx="3111500" cy="889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79500" y="5207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建立假设检验的理论框架，熟悉假设设定、显著性水平判定与结果解读的标准流程。</a:t>
            </a:r>
            <a:endParaRPr lang="en-US" sz="1100"/>
          </a:p>
        </p:txBody>
      </p:sp>
      <p:sp>
        <p:nvSpPr>
          <p:cNvPr id="14" name="AutoShape 14"/>
          <p:cNvSpPr/>
          <p:nvPr/>
        </p:nvSpPr>
        <p:spPr>
          <a:xfrm>
            <a:off x="4470400" y="1651000"/>
            <a:ext cx="3492500" cy="4445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4704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6609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能力目标</a:t>
            </a:r>
            <a:endParaRPr lang="en-US" sz="1100"/>
          </a:p>
        </p:txBody>
      </p:sp>
      <p:cxnSp>
        <p:nvCxnSpPr>
          <p:cNvPr id="17" name="Connector 17"/>
          <p:cNvCxnSpPr/>
          <p:nvPr/>
        </p:nvCxnSpPr>
        <p:spPr>
          <a:xfrm rot="-14031">
            <a:off x="4660913" y="2533650"/>
            <a:ext cx="3111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8" name="AutoShape 18"/>
          <p:cNvSpPr/>
          <p:nvPr/>
        </p:nvSpPr>
        <p:spPr>
          <a:xfrm>
            <a:off x="4660900" y="2730500"/>
            <a:ext cx="3111500" cy="158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787900" y="2794000"/>
            <a:ext cx="2857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具备独立运用描述性统计方法处理真实业务数据的能力。面对复杂数据集，能够快速选择合适的指标进行计算，输出包含数据分布、关键特征的结构化分析报告，为业务现状提供量化依据。</a:t>
            </a:r>
            <a:endParaRPr lang="en-US" sz="1100"/>
          </a:p>
        </p:txBody>
      </p:sp>
      <p:sp>
        <p:nvSpPr>
          <p:cNvPr id="20" name="AutoShape 20"/>
          <p:cNvSpPr/>
          <p:nvPr/>
        </p:nvSpPr>
        <p:spPr>
          <a:xfrm>
            <a:off x="4660900" y="4445000"/>
            <a:ext cx="3111500" cy="158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787900" y="4508500"/>
            <a:ext cx="2857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能够独立设计并执行标准的假设检验实验，如常见的A/B测试场景。从明确实验目标、确定样本量，到执行统计检验并根据P值判断结果显著性，形成闭环的数据分析解决能力。</a:t>
            </a:r>
            <a:endParaRPr lang="en-US" sz="1100"/>
          </a:p>
        </p:txBody>
      </p:sp>
      <p:sp>
        <p:nvSpPr>
          <p:cNvPr id="22" name="AutoShape 22"/>
          <p:cNvSpPr/>
          <p:nvPr/>
        </p:nvSpPr>
        <p:spPr>
          <a:xfrm>
            <a:off x="8178800" y="1651000"/>
            <a:ext cx="3492500" cy="4445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788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693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素养目标</a:t>
            </a:r>
            <a:endParaRPr lang="en-US" sz="1100"/>
          </a:p>
        </p:txBody>
      </p:sp>
      <p:cxnSp>
        <p:nvCxnSpPr>
          <p:cNvPr id="25" name="Connector 25"/>
          <p:cNvCxnSpPr/>
          <p:nvPr/>
        </p:nvCxnSpPr>
        <p:spPr>
          <a:xfrm rot="-14031">
            <a:off x="8369313" y="2533650"/>
            <a:ext cx="3111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6" name="AutoShape 26"/>
          <p:cNvSpPr/>
          <p:nvPr/>
        </p:nvSpPr>
        <p:spPr>
          <a:xfrm>
            <a:off x="8369300" y="2730500"/>
            <a:ext cx="3111500" cy="1714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96300" y="2794000"/>
            <a:ext cx="2857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建立“用数据说话”的理性统计思维模式。摒弃主观臆断，在日常决策与业务分析中养成基于证据和概率的思考习惯，让数据成为洞察问题、验证假设、支撑结论的核心依据，提升决策的科学性。</a:t>
            </a:r>
            <a:endParaRPr lang="en-US" sz="1100"/>
          </a:p>
        </p:txBody>
      </p:sp>
      <p:sp>
        <p:nvSpPr>
          <p:cNvPr id="28" name="AutoShape 28"/>
          <p:cNvSpPr/>
          <p:nvPr/>
        </p:nvSpPr>
        <p:spPr>
          <a:xfrm>
            <a:off x="8369300" y="4572000"/>
            <a:ext cx="3111500" cy="1524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496300" y="4635500"/>
            <a:ext cx="2857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培养严谨、客观、实事求是的数据分析职业素养。尊重数据事实，对分析结果保持审慎态度，在数据处理与解读中始终坚持逻辑严密性，形成专业的统计分析职业规范。</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描述性统计：描绘数据的“肖像”</a:t>
            </a:r>
            <a:endParaRPr lang="en-US" sz="1100"/>
          </a:p>
        </p:txBody>
      </p:sp>
      <p:sp>
        <p:nvSpPr>
          <p:cNvPr id="4" name="AutoShape 4"/>
          <p:cNvSpPr/>
          <p:nvPr/>
        </p:nvSpPr>
        <p:spPr>
          <a:xfrm>
            <a:off x="762000" y="1651000"/>
            <a:ext cx="3492500" cy="2730500"/>
          </a:xfrm>
          <a:prstGeom prst="roundRect">
            <a:avLst>
              <a:gd name="adj" fmla="val 0"/>
            </a:avLst>
          </a:prstGeom>
          <a:solidFill>
            <a:srgbClr val="FFFFFF">
              <a:alpha val="9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均值 (Mean)</a:t>
            </a:r>
            <a:endParaRPr lang="en-US" sz="1100"/>
          </a:p>
        </p:txBody>
      </p:sp>
      <p:sp>
        <p:nvSpPr>
          <p:cNvPr id="7" name="AutoShape 7"/>
          <p:cNvSpPr/>
          <p:nvPr/>
        </p:nvSpPr>
        <p:spPr>
          <a:xfrm>
            <a:off x="952500" y="2413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所有数据的算术平均值，是统计学中最基础、应用最广泛的代表值，反映数据的平均水平。</a:t>
            </a:r>
            <a:endParaRPr lang="en-US" sz="1100"/>
          </a:p>
        </p:txBody>
      </p:sp>
      <p:sp>
        <p:nvSpPr>
          <p:cNvPr id="8" name="AutoShape 8"/>
          <p:cNvSpPr/>
          <p:nvPr/>
        </p:nvSpPr>
        <p:spPr>
          <a:xfrm>
            <a:off x="952500" y="3302000"/>
            <a:ext cx="31115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3655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适用数据分布对称、无显著极端值的场景。但抗干扰性弱，易受异常值（如少数极值）影响而偏离真实中心。</a:t>
            </a:r>
            <a:endParaRPr lang="en-US" sz="1100"/>
          </a:p>
        </p:txBody>
      </p:sp>
      <p:sp>
        <p:nvSpPr>
          <p:cNvPr id="10" name="AutoShape 10"/>
          <p:cNvSpPr/>
          <p:nvPr/>
        </p:nvSpPr>
        <p:spPr>
          <a:xfrm>
            <a:off x="4445000" y="1651000"/>
            <a:ext cx="3492500" cy="2730500"/>
          </a:xfrm>
          <a:prstGeom prst="roundRect">
            <a:avLst>
              <a:gd name="adj" fmla="val 0"/>
            </a:avLst>
          </a:prstGeom>
          <a:solidFill>
            <a:srgbClr val="FFFFFF">
              <a:alpha val="9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中位数 (Median)</a:t>
            </a:r>
            <a:endParaRPr lang="en-US" sz="1100"/>
          </a:p>
        </p:txBody>
      </p:sp>
      <p:sp>
        <p:nvSpPr>
          <p:cNvPr id="13" name="AutoShape 13"/>
          <p:cNvSpPr/>
          <p:nvPr/>
        </p:nvSpPr>
        <p:spPr>
          <a:xfrm>
            <a:off x="4635500" y="2413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将数据按大小排序后，处于中间位置的数值，它将数据集恰好平分为上下两个部分。</a:t>
            </a:r>
            <a:endParaRPr lang="en-US" sz="1100"/>
          </a:p>
        </p:txBody>
      </p:sp>
      <p:sp>
        <p:nvSpPr>
          <p:cNvPr id="14" name="AutoShape 14"/>
          <p:cNvSpPr/>
          <p:nvPr/>
        </p:nvSpPr>
        <p:spPr>
          <a:xfrm>
            <a:off x="4635500" y="3302000"/>
            <a:ext cx="31115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33655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专为偏态分布或含极端值场景设计（如房价、薪酬）。具有极强的稳健性，个别异常值不会改变其位置。</a:t>
            </a:r>
            <a:endParaRPr lang="en-US" sz="1100"/>
          </a:p>
        </p:txBody>
      </p:sp>
      <p:sp>
        <p:nvSpPr>
          <p:cNvPr id="16" name="AutoShape 16"/>
          <p:cNvSpPr/>
          <p:nvPr/>
        </p:nvSpPr>
        <p:spPr>
          <a:xfrm>
            <a:off x="8128000" y="1651000"/>
            <a:ext cx="3492500" cy="2730500"/>
          </a:xfrm>
          <a:prstGeom prst="roundRect">
            <a:avLst>
              <a:gd name="adj" fmla="val 0"/>
            </a:avLst>
          </a:prstGeom>
          <a:solidFill>
            <a:srgbClr val="FFFFFF">
              <a:alpha val="9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众数 (Mode)</a:t>
            </a:r>
            <a:endParaRPr lang="en-US" sz="1100"/>
          </a:p>
        </p:txBody>
      </p:sp>
      <p:sp>
        <p:nvSpPr>
          <p:cNvPr id="19" name="AutoShape 19"/>
          <p:cNvSpPr/>
          <p:nvPr/>
        </p:nvSpPr>
        <p:spPr>
          <a:xfrm>
            <a:off x="8318500" y="2413000"/>
            <a:ext cx="311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数据集中出现频率最高的数值，代表了数据中最“流行”或最普遍存在的类别。</a:t>
            </a:r>
            <a:endParaRPr lang="en-US" sz="1100"/>
          </a:p>
        </p:txBody>
      </p:sp>
      <p:sp>
        <p:nvSpPr>
          <p:cNvPr id="20" name="AutoShape 20"/>
          <p:cNvSpPr/>
          <p:nvPr/>
        </p:nvSpPr>
        <p:spPr>
          <a:xfrm>
            <a:off x="8318500" y="3302000"/>
            <a:ext cx="31115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45500" y="33655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唯一适用于分类数据的指标（如畅销产品型号）。在定量数据中可能不存在，也可能存在多个众数。</a:t>
            </a:r>
            <a:endParaRPr lang="en-US" sz="1100"/>
          </a:p>
        </p:txBody>
      </p:sp>
      <p:sp>
        <p:nvSpPr>
          <p:cNvPr id="22" name="AutoShape 22"/>
          <p:cNvSpPr/>
          <p:nvPr/>
        </p:nvSpPr>
        <p:spPr>
          <a:xfrm>
            <a:off x="762000" y="4572000"/>
            <a:ext cx="10858500" cy="1841500"/>
          </a:xfrm>
          <a:prstGeom prst="roundRect">
            <a:avLst>
              <a:gd name="adj" fmla="val 0"/>
            </a:avLst>
          </a:prstGeom>
          <a:solidFill>
            <a:srgbClr val="F0FDF4">
              <a:alpha val="92000"/>
            </a:srgbClr>
          </a:solidFill>
          <a:ln w="12700" cap="flat" cmpd="sng">
            <a:solidFill>
              <a:srgbClr val="86EFAC">
                <a:alpha val="7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52500" y="4699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【课堂思考】</a:t>
            </a:r>
            <a:endParaRPr lang="en-US" sz="1100"/>
          </a:p>
        </p:txBody>
      </p:sp>
      <p:sp>
        <p:nvSpPr>
          <p:cNvPr id="24" name="AutoShape 24"/>
          <p:cNvSpPr/>
          <p:nvPr/>
        </p:nvSpPr>
        <p:spPr>
          <a:xfrm>
            <a:off x="952500" y="5207000"/>
            <a:ext cx="501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如果要了解一个城市居民的真实收入水平，统计时更适合使用均值还是中位数？背后的统计学逻辑是什么？</a:t>
            </a:r>
            <a:endParaRPr lang="en-US" sz="1100"/>
          </a:p>
        </p:txBody>
      </p:sp>
      <p:cxnSp>
        <p:nvCxnSpPr>
          <p:cNvPr id="25" name="Connector 25"/>
          <p:cNvCxnSpPr/>
          <p:nvPr/>
        </p:nvCxnSpPr>
        <p:spPr>
          <a:xfrm rot="5368748">
            <a:off x="5524500" y="5454679"/>
            <a:ext cx="1397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26" name="AutoShape 26"/>
          <p:cNvSpPr/>
          <p:nvPr/>
        </p:nvSpPr>
        <p:spPr>
          <a:xfrm>
            <a:off x="6477000" y="4699000"/>
            <a:ext cx="4953000" cy="1587500"/>
          </a:xfrm>
          <a:prstGeom prst="roundRect">
            <a:avLst>
              <a:gd name="adj" fmla="val 0"/>
            </a:avLst>
          </a:prstGeom>
          <a:solidFill>
            <a:srgbClr val="FFFFFF">
              <a:alpha val="96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604000" y="4762500"/>
            <a:ext cx="4635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答案提示</a:t>
            </a:r>
            <a:endParaRPr lang="en-US" sz="1100"/>
          </a:p>
        </p:txBody>
      </p:sp>
      <p:sp>
        <p:nvSpPr>
          <p:cNvPr id="28" name="AutoShape 28"/>
          <p:cNvSpPr/>
          <p:nvPr/>
        </p:nvSpPr>
        <p:spPr>
          <a:xfrm>
            <a:off x="6604000" y="520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居民收入通常呈</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右偏分布</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（少数高收入者拉高整体），均值会被极值扭曲。而</a:t>
            </a:r>
            <a:r>
              <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中位数</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不受极端值影响，能客观反映处于中间位置的普通居民真实收入水平，是此类场景下更可靠的指标。</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离散程度：数据的“个性”与“波动”</a:t>
            </a:r>
            <a:endParaRPr lang="en-US" sz="1100"/>
          </a:p>
        </p:txBody>
      </p:sp>
      <p:sp>
        <p:nvSpPr>
          <p:cNvPr id="4" name="AutoShape 4"/>
          <p:cNvSpPr/>
          <p:nvPr/>
        </p:nvSpPr>
        <p:spPr>
          <a:xfrm>
            <a:off x="762000" y="1651000"/>
            <a:ext cx="3378200" cy="2794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极差 (Range)</a:t>
            </a:r>
            <a:endParaRPr lang="en-US" sz="1100"/>
          </a:p>
        </p:txBody>
      </p:sp>
      <p:sp>
        <p:nvSpPr>
          <p:cNvPr id="7" name="AutoShape 7"/>
          <p:cNvSpPr/>
          <p:nvPr/>
        </p:nvSpPr>
        <p:spPr>
          <a:xfrm>
            <a:off x="952500" y="2413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数据集中最大值与最小值的差值。这是描述数据波动最直观、计算成本最低的基础指标，仅关注极端值的差距。</a:t>
            </a:r>
            <a:endParaRPr lang="en-US" sz="1100"/>
          </a:p>
        </p:txBody>
      </p:sp>
      <p:sp>
        <p:nvSpPr>
          <p:cNvPr id="8" name="AutoShape 8"/>
          <p:cNvSpPr/>
          <p:nvPr/>
        </p:nvSpPr>
        <p:spPr>
          <a:xfrm>
            <a:off x="952500" y="3365500"/>
            <a:ext cx="29972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29000"/>
            <a:ext cx="274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适用场景：快速探查数据的波动范围。</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特点：信息量有限，极易受异常值干扰，无法反映中间数据的分布。</a:t>
            </a:r>
            <a:endParaRPr lang="en-US" sz="1100"/>
          </a:p>
        </p:txBody>
      </p:sp>
      <p:sp>
        <p:nvSpPr>
          <p:cNvPr id="10" name="AutoShape 10"/>
          <p:cNvSpPr/>
          <p:nvPr/>
        </p:nvSpPr>
        <p:spPr>
          <a:xfrm>
            <a:off x="4394200" y="1651000"/>
            <a:ext cx="3378200" cy="2794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84700" y="1841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 (Variance)</a:t>
            </a:r>
            <a:endParaRPr lang="en-US" sz="1100"/>
          </a:p>
        </p:txBody>
      </p:sp>
      <p:sp>
        <p:nvSpPr>
          <p:cNvPr id="13" name="AutoShape 13"/>
          <p:cNvSpPr/>
          <p:nvPr/>
        </p:nvSpPr>
        <p:spPr>
          <a:xfrm>
            <a:off x="4584700" y="2413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每个数据点与均值之差的平方的平均值。通过平方运算放大了偏离程度，从而量化整体数据的离散趋势。</a:t>
            </a:r>
            <a:endParaRPr lang="en-US" sz="1100"/>
          </a:p>
        </p:txBody>
      </p:sp>
      <p:sp>
        <p:nvSpPr>
          <p:cNvPr id="14" name="AutoShape 14"/>
          <p:cNvSpPr/>
          <p:nvPr/>
        </p:nvSpPr>
        <p:spPr>
          <a:xfrm>
            <a:off x="4584700" y="3365500"/>
            <a:ext cx="29972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11700" y="3429000"/>
            <a:ext cx="274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适用场景：作为统计学核心的理论基础。</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特点：数值单位与原始数据不一致，数值偏大，在实际业务中难以直观解释其含义。</a:t>
            </a:r>
            <a:endParaRPr lang="en-US" sz="1100"/>
          </a:p>
        </p:txBody>
      </p:sp>
      <p:sp>
        <p:nvSpPr>
          <p:cNvPr id="16" name="AutoShape 16"/>
          <p:cNvSpPr/>
          <p:nvPr/>
        </p:nvSpPr>
        <p:spPr>
          <a:xfrm>
            <a:off x="8026400" y="1651000"/>
            <a:ext cx="3378200" cy="2794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216900" y="1841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标准差 (Standard Deviation)</a:t>
            </a:r>
            <a:endParaRPr lang="en-US" sz="1100"/>
          </a:p>
        </p:txBody>
      </p:sp>
      <p:sp>
        <p:nvSpPr>
          <p:cNvPr id="19" name="AutoShape 19"/>
          <p:cNvSpPr/>
          <p:nvPr/>
        </p:nvSpPr>
        <p:spPr>
          <a:xfrm>
            <a:off x="8216900" y="2413000"/>
            <a:ext cx="2997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方差的算术平方根。它还原了数据的原始量纲，将抽象的平方值转换回了可理解的原始数据单位。</a:t>
            </a:r>
            <a:endParaRPr lang="en-US" sz="1100"/>
          </a:p>
        </p:txBody>
      </p:sp>
      <p:sp>
        <p:nvSpPr>
          <p:cNvPr id="20" name="AutoShape 20"/>
          <p:cNvSpPr/>
          <p:nvPr/>
        </p:nvSpPr>
        <p:spPr>
          <a:xfrm>
            <a:off x="8216900" y="3365500"/>
            <a:ext cx="29972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43900" y="3429000"/>
            <a:ext cx="274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适用场景：实际业务中最主流的离散程度指标。</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特点：单位直观，数值大小直接反映数据偏离均值的平均距离，是数据分析的关键参考。</a:t>
            </a:r>
            <a:endParaRPr lang="en-US" sz="1100"/>
          </a:p>
        </p:txBody>
      </p:sp>
      <p:sp>
        <p:nvSpPr>
          <p:cNvPr id="22" name="AutoShape 22"/>
          <p:cNvSpPr/>
          <p:nvPr/>
        </p:nvSpPr>
        <p:spPr>
          <a:xfrm>
            <a:off x="762000" y="4699000"/>
            <a:ext cx="10668000" cy="1651000"/>
          </a:xfrm>
          <a:prstGeom prst="roundRect">
            <a:avLst>
              <a:gd name="adj" fmla="val 0"/>
            </a:avLst>
          </a:prstGeom>
          <a:solidFill>
            <a:srgbClr val="F0FDF4">
              <a:alpha val="96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699000"/>
            <a:ext cx="50800" cy="165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79500" y="4826000"/>
            <a:ext cx="990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概念辨析：理解数据的“紧凑”与“松散”</a:t>
            </a:r>
            <a:endParaRPr lang="en-US" sz="1100"/>
          </a:p>
        </p:txBody>
      </p:sp>
      <p:sp>
        <p:nvSpPr>
          <p:cNvPr id="25" name="AutoShape 25"/>
          <p:cNvSpPr/>
          <p:nvPr/>
        </p:nvSpPr>
        <p:spPr>
          <a:xfrm>
            <a:off x="1079500" y="53340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差是判断数据分布特征的核心依据。数值越大，代表数据点在均值两侧分布得越分散，波动性越强；数值越小，则说明数据越紧密地聚集在均值周围，稳定性越高。在实际决策中，我们通常希望关键指标的标准差尽可能小，以保证结果的可预测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分布形态：数据的“形状”</a:t>
            </a:r>
            <a:endParaRPr lang="en-US" sz="1100"/>
          </a:p>
        </p:txBody>
      </p:sp>
      <p:sp>
        <p:nvSpPr>
          <p:cNvPr id="4" name="AutoShape 4"/>
          <p:cNvSpPr/>
          <p:nvPr/>
        </p:nvSpPr>
        <p:spPr>
          <a:xfrm>
            <a:off x="762000" y="1524000"/>
            <a:ext cx="5270500" cy="482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51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偏度 (Skewness)：描述分布的不对称性</a:t>
            </a:r>
            <a:endParaRPr lang="en-US" sz="1100"/>
          </a:p>
        </p:txBody>
      </p:sp>
      <p:sp>
        <p:nvSpPr>
          <p:cNvPr id="6" name="AutoShape 6"/>
          <p:cNvSpPr/>
          <p:nvPr/>
        </p:nvSpPr>
        <p:spPr>
          <a:xfrm>
            <a:off x="9525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对称分布</a:t>
            </a:r>
            <a:endParaRPr lang="en-US" sz="1100"/>
          </a:p>
        </p:txBody>
      </p:sp>
      <p:sp>
        <p:nvSpPr>
          <p:cNvPr id="9" name="AutoShape 9"/>
          <p:cNvSpPr/>
          <p:nvPr/>
        </p:nvSpPr>
        <p:spPr>
          <a:xfrm>
            <a:off x="10160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偏度≈0，数据左右均衡。均值、中位数和众数三者大致相等，是理想的对称状态。</a:t>
            </a:r>
            <a:endParaRPr lang="en-US" sz="1100"/>
          </a:p>
        </p:txBody>
      </p:sp>
      <p:sp>
        <p:nvSpPr>
          <p:cNvPr id="10" name="AutoShape 10"/>
          <p:cNvSpPr/>
          <p:nvPr/>
        </p:nvSpPr>
        <p:spPr>
          <a:xfrm>
            <a:off x="26924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6924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7559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右偏分布</a:t>
            </a:r>
            <a:endParaRPr lang="en-US" sz="1100"/>
          </a:p>
        </p:txBody>
      </p:sp>
      <p:sp>
        <p:nvSpPr>
          <p:cNvPr id="13" name="AutoShape 13"/>
          <p:cNvSpPr/>
          <p:nvPr/>
        </p:nvSpPr>
        <p:spPr>
          <a:xfrm>
            <a:off x="27559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偏度&gt;0，长尾向右延伸。均值受极值影响最大，表现为均值 &gt; 中位数 &gt; 众数，如个人收入。</a:t>
            </a:r>
            <a:endParaRPr lang="en-US" sz="1100"/>
          </a:p>
        </p:txBody>
      </p:sp>
      <p:sp>
        <p:nvSpPr>
          <p:cNvPr id="14" name="AutoShape 14"/>
          <p:cNvSpPr/>
          <p:nvPr/>
        </p:nvSpPr>
        <p:spPr>
          <a:xfrm>
            <a:off x="43815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4450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左偏分布</a:t>
            </a:r>
            <a:endParaRPr lang="en-US" sz="1100"/>
          </a:p>
        </p:txBody>
      </p:sp>
      <p:sp>
        <p:nvSpPr>
          <p:cNvPr id="17" name="AutoShape 17"/>
          <p:cNvSpPr/>
          <p:nvPr/>
        </p:nvSpPr>
        <p:spPr>
          <a:xfrm>
            <a:off x="44450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偏度&lt;0，长尾向左延伸。低分段数据较多，均值受拉低，表现为均值 &lt; 中位数 &lt; 众数，如考试成绩。</a:t>
            </a:r>
            <a:endParaRPr lang="en-US" sz="1100"/>
          </a:p>
        </p:txBody>
      </p:sp>
      <p:sp>
        <p:nvSpPr>
          <p:cNvPr id="18" name="AutoShape 18"/>
          <p:cNvSpPr/>
          <p:nvPr/>
        </p:nvSpPr>
        <p:spPr>
          <a:xfrm>
            <a:off x="952500" y="4381500"/>
            <a:ext cx="5054600" cy="17780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79500" y="4508500"/>
            <a:ext cx="48006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偏度揭示了数据的倾斜方向与重心位置。在实际业务中，识别偏度至关重要：例如分析客户消费金额时，右偏分布意味着少数高净值客户贡献了大部分营收；而分析产品合格率时，左偏分布则代表大部分产品质量达标，仅有少量次品。</a:t>
            </a:r>
            <a:endParaRPr lang="en-US" sz="1100"/>
          </a:p>
        </p:txBody>
      </p:sp>
      <p:cxnSp>
        <p:nvCxnSpPr>
          <p:cNvPr id="20" name="Connector 20"/>
          <p:cNvCxnSpPr/>
          <p:nvPr/>
        </p:nvCxnSpPr>
        <p:spPr>
          <a:xfrm rot="5390953">
            <a:off x="3746500" y="3930658"/>
            <a:ext cx="48260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21" name="AutoShape 21"/>
          <p:cNvSpPr/>
          <p:nvPr/>
        </p:nvSpPr>
        <p:spPr>
          <a:xfrm>
            <a:off x="6286500" y="1524000"/>
            <a:ext cx="5270500" cy="482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1651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峰度 (Kurtosis)：描述分布的陡峭程度</a:t>
            </a:r>
            <a:endParaRPr lang="en-US" sz="1100"/>
          </a:p>
        </p:txBody>
      </p:sp>
      <p:sp>
        <p:nvSpPr>
          <p:cNvPr id="23" name="AutoShape 23"/>
          <p:cNvSpPr/>
          <p:nvPr/>
        </p:nvSpPr>
        <p:spPr>
          <a:xfrm>
            <a:off x="64770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405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正态峰度</a:t>
            </a:r>
            <a:endParaRPr lang="en-US" sz="1100"/>
          </a:p>
        </p:txBody>
      </p:sp>
      <p:sp>
        <p:nvSpPr>
          <p:cNvPr id="26" name="AutoShape 26"/>
          <p:cNvSpPr/>
          <p:nvPr/>
        </p:nvSpPr>
        <p:spPr>
          <a:xfrm>
            <a:off x="65405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峰度≈0，与标准正态分布一致。数据的极端值概率适中，是统计学中最基础的参照模型。</a:t>
            </a:r>
            <a:endParaRPr lang="en-US" sz="1100"/>
          </a:p>
        </p:txBody>
      </p:sp>
      <p:sp>
        <p:nvSpPr>
          <p:cNvPr id="27" name="AutoShape 27"/>
          <p:cNvSpPr/>
          <p:nvPr/>
        </p:nvSpPr>
        <p:spPr>
          <a:xfrm>
            <a:off x="81915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1915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2550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尖峰分布</a:t>
            </a:r>
            <a:endParaRPr lang="en-US" sz="1100"/>
          </a:p>
        </p:txBody>
      </p:sp>
      <p:sp>
        <p:nvSpPr>
          <p:cNvPr id="30" name="AutoShape 30"/>
          <p:cNvSpPr/>
          <p:nvPr/>
        </p:nvSpPr>
        <p:spPr>
          <a:xfrm>
            <a:off x="82550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峰度&gt;0，曲线尖锐。数据高度集中在均值周围，同时更容易出现极端异常值，如金融市场的日收益率。</a:t>
            </a:r>
            <a:endParaRPr lang="en-US" sz="1100"/>
          </a:p>
        </p:txBody>
      </p:sp>
      <p:sp>
        <p:nvSpPr>
          <p:cNvPr id="31" name="AutoShape 31"/>
          <p:cNvSpPr/>
          <p:nvPr/>
        </p:nvSpPr>
        <p:spPr>
          <a:xfrm>
            <a:off x="9880600" y="2349500"/>
            <a:ext cx="1625600" cy="1905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9880600" y="2349500"/>
            <a:ext cx="16256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944100" y="2438400"/>
            <a:ext cx="14986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平峰分布</a:t>
            </a:r>
            <a:endParaRPr lang="en-US" sz="1100"/>
          </a:p>
        </p:txBody>
      </p:sp>
      <p:sp>
        <p:nvSpPr>
          <p:cNvPr id="34" name="AutoShape 34"/>
          <p:cNvSpPr/>
          <p:nvPr/>
        </p:nvSpPr>
        <p:spPr>
          <a:xfrm>
            <a:off x="9944100" y="2921000"/>
            <a:ext cx="1498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峰度&lt;0，曲线平缓。数据点相对分散，极端值较少。这种分布下，数据波动更温和，风险相对可控。</a:t>
            </a:r>
            <a:endParaRPr lang="en-US" sz="1100"/>
          </a:p>
        </p:txBody>
      </p:sp>
      <p:sp>
        <p:nvSpPr>
          <p:cNvPr id="35" name="AutoShape 35"/>
          <p:cNvSpPr/>
          <p:nvPr/>
        </p:nvSpPr>
        <p:spPr>
          <a:xfrm>
            <a:off x="6477000" y="4381500"/>
            <a:ext cx="5054600" cy="17780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604000" y="4508500"/>
            <a:ext cx="48006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峰度本质上是对“尾部风险”的度量。对于投资者而言，资产收益率的尖峰厚尾特征意味着极端涨跌的概率比正态分布更高，需制定更保守的风控策略；而平峰分布则代表系统稳定性较强，适合采用均值回归等常规预测方法进行决策。</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数据可视化：让数据“开口说话”</a:t>
            </a:r>
            <a:endParaRPr lang="en-US" sz="1100"/>
          </a:p>
        </p:txBody>
      </p:sp>
      <p:sp>
        <p:nvSpPr>
          <p:cNvPr id="4" name="AutoShape 4"/>
          <p:cNvSpPr/>
          <p:nvPr/>
        </p:nvSpPr>
        <p:spPr>
          <a:xfrm>
            <a:off x="762000" y="1714500"/>
            <a:ext cx="3429000" cy="3683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14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9050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直方图 (Histogram)</a:t>
            </a:r>
            <a:endParaRPr lang="en-US" sz="1100"/>
          </a:p>
        </p:txBody>
      </p:sp>
      <p:sp>
        <p:nvSpPr>
          <p:cNvPr id="7" name="AutoShape 7"/>
          <p:cNvSpPr/>
          <p:nvPr/>
        </p:nvSpPr>
        <p:spPr>
          <a:xfrm>
            <a:off x="889000" y="2667000"/>
            <a:ext cx="317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适用场景：连续数据分布</a:t>
            </a:r>
            <a:endParaRPr lang="en-US" sz="1100"/>
          </a:p>
        </p:txBody>
      </p:sp>
      <p:sp>
        <p:nvSpPr>
          <p:cNvPr id="8" name="AutoShape 8"/>
          <p:cNvSpPr/>
          <p:nvPr/>
        </p:nvSpPr>
        <p:spPr>
          <a:xfrm>
            <a:off x="889000" y="3111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用于展示连续型数据在不同区间的频次分布，比如用户年龄分布、产品销量的时间区间波动等，将抽象的数值转化为直观的高低对比。</a:t>
            </a:r>
            <a:endParaRPr lang="en-US" sz="1100"/>
          </a:p>
        </p:txBody>
      </p:sp>
      <p:sp>
        <p:nvSpPr>
          <p:cNvPr id="9" name="AutoShape 9"/>
          <p:cNvSpPr/>
          <p:nvPr/>
        </p:nvSpPr>
        <p:spPr>
          <a:xfrm>
            <a:off x="889000" y="4191000"/>
            <a:ext cx="3175000" cy="1079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90600" y="42545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16422A">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观察数据的分布形态是对称还是偏态，快速判断数据是否符合预期模型，并能直观发现数据的集中趋势与潜在的异常区间。</a:t>
            </a:r>
            <a:endParaRPr lang="en-US" sz="1100"/>
          </a:p>
        </p:txBody>
      </p:sp>
      <p:sp>
        <p:nvSpPr>
          <p:cNvPr id="11" name="AutoShape 11"/>
          <p:cNvSpPr/>
          <p:nvPr/>
        </p:nvSpPr>
        <p:spPr>
          <a:xfrm>
            <a:off x="4381500" y="1714500"/>
            <a:ext cx="3429000" cy="3683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381500" y="1714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08500" y="19050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箱线图 (Box Plot)</a:t>
            </a:r>
            <a:endParaRPr lang="en-US" sz="1100"/>
          </a:p>
        </p:txBody>
      </p:sp>
      <p:sp>
        <p:nvSpPr>
          <p:cNvPr id="14" name="AutoShape 14"/>
          <p:cNvSpPr/>
          <p:nvPr/>
        </p:nvSpPr>
        <p:spPr>
          <a:xfrm>
            <a:off x="4508500" y="2667000"/>
            <a:ext cx="317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适用场景：离散与异常分析</a:t>
            </a:r>
            <a:endParaRPr lang="en-US" sz="1100"/>
          </a:p>
        </p:txBody>
      </p:sp>
      <p:sp>
        <p:nvSpPr>
          <p:cNvPr id="15" name="AutoShape 15"/>
          <p:cNvSpPr/>
          <p:nvPr/>
        </p:nvSpPr>
        <p:spPr>
          <a:xfrm>
            <a:off x="4508500" y="3111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聚焦于数据的统计特征，广泛应用于质量控制、不同实验组数据对比等场景，能有效剥离数据的具体数值，展现其整体离散特征。</a:t>
            </a:r>
            <a:endParaRPr lang="en-US" sz="1100"/>
          </a:p>
        </p:txBody>
      </p:sp>
      <p:sp>
        <p:nvSpPr>
          <p:cNvPr id="16" name="AutoShape 16"/>
          <p:cNvSpPr/>
          <p:nvPr/>
        </p:nvSpPr>
        <p:spPr>
          <a:xfrm>
            <a:off x="4508500" y="4191000"/>
            <a:ext cx="3175000" cy="1079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10100" y="42545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16422A">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精准定位中位数与四分位距，清晰界定数据的正常波动范围。最重要的是能自动识别并标记出超出合理范围的异常值，辅助问题定位。</a:t>
            </a:r>
            <a:endParaRPr lang="en-US" sz="1100"/>
          </a:p>
        </p:txBody>
      </p:sp>
      <p:sp>
        <p:nvSpPr>
          <p:cNvPr id="18" name="AutoShape 18"/>
          <p:cNvSpPr/>
          <p:nvPr/>
        </p:nvSpPr>
        <p:spPr>
          <a:xfrm>
            <a:off x="8001000" y="1714500"/>
            <a:ext cx="3429000" cy="3683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01000" y="1714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128000" y="19050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散点图 (Scatter Plot)</a:t>
            </a:r>
            <a:endParaRPr lang="en-US" sz="1100"/>
          </a:p>
        </p:txBody>
      </p:sp>
      <p:sp>
        <p:nvSpPr>
          <p:cNvPr id="21" name="AutoShape 21"/>
          <p:cNvSpPr/>
          <p:nvPr/>
        </p:nvSpPr>
        <p:spPr>
          <a:xfrm>
            <a:off x="8128000" y="2667000"/>
            <a:ext cx="317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适用场景：变量关系探索</a:t>
            </a:r>
            <a:endParaRPr lang="en-US" sz="1100"/>
          </a:p>
        </p:txBody>
      </p:sp>
      <p:sp>
        <p:nvSpPr>
          <p:cNvPr id="22" name="AutoShape 22"/>
          <p:cNvSpPr/>
          <p:nvPr/>
        </p:nvSpPr>
        <p:spPr>
          <a:xfrm>
            <a:off x="8128000" y="3111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通过数据点的分布形态来揭示两个数值型变量之间的内在联系，例如分析营销投入与转化量、用户行为指标与业务结果之间的互动效应。</a:t>
            </a:r>
            <a:endParaRPr lang="en-US" sz="1100"/>
          </a:p>
        </p:txBody>
      </p:sp>
      <p:sp>
        <p:nvSpPr>
          <p:cNvPr id="23" name="AutoShape 23"/>
          <p:cNvSpPr/>
          <p:nvPr/>
        </p:nvSpPr>
        <p:spPr>
          <a:xfrm>
            <a:off x="8128000" y="4191000"/>
            <a:ext cx="3175000" cy="1079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229600" y="42545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16422A">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直观判断变量间是正相关、负相关还是无线性关联。通过数据点的疏密与趋势，挖掘隐藏在海量数据背后的业务逻辑与因果线索。</a:t>
            </a:r>
            <a:endParaRPr lang="en-US" sz="1100"/>
          </a:p>
        </p:txBody>
      </p:sp>
      <p:sp>
        <p:nvSpPr>
          <p:cNvPr id="25" name="AutoShape 25"/>
          <p:cNvSpPr/>
          <p:nvPr/>
        </p:nvSpPr>
        <p:spPr>
          <a:xfrm>
            <a:off x="762000" y="5588000"/>
            <a:ext cx="10668000" cy="101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5651500"/>
            <a:ext cx="1041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这三类图表构成了数据探索的基础工具箱。直方图看分布、箱线图找异常、散点图寻关联，将它们组合使用，能让原本沉默的数字转化为有力的决策依据，让我们真正听懂数据的“语言”。</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推断统计：从“部分”洞察“整体”</a:t>
            </a:r>
            <a:endParaRPr lang="en-US" sz="1100"/>
          </a:p>
        </p:txBody>
      </p:sp>
      <p:sp>
        <p:nvSpPr>
          <p:cNvPr id="4" name="AutoShape 4"/>
          <p:cNvSpPr/>
          <p:nvPr/>
        </p:nvSpPr>
        <p:spPr>
          <a:xfrm>
            <a:off x="762000" y="1651000"/>
            <a:ext cx="5207000" cy="2286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 (Population)</a:t>
            </a:r>
            <a:endParaRPr lang="en-US" sz="1100"/>
          </a:p>
        </p:txBody>
      </p:sp>
      <p:sp>
        <p:nvSpPr>
          <p:cNvPr id="7" name="AutoShape 7"/>
          <p:cNvSpPr/>
          <p:nvPr/>
        </p:nvSpPr>
        <p:spPr>
          <a:xfrm>
            <a:off x="1016000" y="2413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我们研究对象的整个集合，是统计推断的最终目标。例如，想要分析全国网购用户的行为偏好，那么所有的网购用户就构成了这个研究的总体，它包含了目标领域内的每一个个体。</a:t>
            </a:r>
            <a:endParaRPr lang="en-US" sz="1100"/>
          </a:p>
        </p:txBody>
      </p:sp>
      <p:sp>
        <p:nvSpPr>
          <p:cNvPr id="8" name="AutoShape 8"/>
          <p:cNvSpPr/>
          <p:nvPr/>
        </p:nvSpPr>
        <p:spPr>
          <a:xfrm>
            <a:off x="6223000" y="1651000"/>
            <a:ext cx="5207000" cy="2286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 (Sample)</a:t>
            </a:r>
            <a:endParaRPr lang="en-US" sz="1100"/>
          </a:p>
        </p:txBody>
      </p:sp>
      <p:sp>
        <p:nvSpPr>
          <p:cNvPr id="11" name="AutoShape 11"/>
          <p:cNvSpPr/>
          <p:nvPr/>
        </p:nvSpPr>
        <p:spPr>
          <a:xfrm>
            <a:off x="6477000" y="2413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从总体中科学抽取的一部分具有代表性的个体。例如，在全国范围内随机筛选出的1万名网购用户。这部分个体虽只是总体的缩影，但通过合理抽样，其特征能有效反映总体的真实情况。</a:t>
            </a:r>
            <a:endParaRPr lang="en-US" sz="1100"/>
          </a:p>
        </p:txBody>
      </p:sp>
      <p:sp>
        <p:nvSpPr>
          <p:cNvPr id="12" name="AutoShape 12"/>
          <p:cNvSpPr/>
          <p:nvPr/>
        </p:nvSpPr>
        <p:spPr>
          <a:xfrm>
            <a:off x="762000" y="4254500"/>
            <a:ext cx="10668000" cy="2095500"/>
          </a:xfrm>
          <a:prstGeom prst="roundRect">
            <a:avLst>
              <a:gd name="adj" fmla="val 0"/>
            </a:avLst>
          </a:prstGeom>
          <a:solidFill>
            <a:srgbClr val="22C55E">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4419600"/>
            <a:ext cx="1016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核心逻辑：以“小”见“大”的科学范式</a:t>
            </a:r>
            <a:endParaRPr lang="en-US" sz="1100"/>
          </a:p>
        </p:txBody>
      </p:sp>
      <p:sp>
        <p:nvSpPr>
          <p:cNvPr id="14" name="AutoShape 14"/>
          <p:cNvSpPr/>
          <p:nvPr/>
        </p:nvSpPr>
        <p:spPr>
          <a:xfrm>
            <a:off x="1016000" y="50800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0FDF4"/>
                </a:solidFill>
                <a:latin typeface="Noto Sans SC" panose="020B0200000000000000" charset="-122"/>
                <a:ea typeface="Noto Sans SC" panose="020B0200000000000000" charset="-122"/>
                <a:cs typeface="Noto Sans SC" panose="020B0200000000000000" charset="-122"/>
                <a:sym typeface="Noto Sans SC" panose="020B0200000000000000" charset="-122"/>
              </a:rPr>
              <a:t>对总体进行全面普查往往面临极高的时间、资金成本，甚至存在现实操作上的不可行性。因此，统计学通过科学的抽样方法获取样本，利用样本的特征来推断总体的未知特征。这种从“部分”推导“整体”的思路，让我们能用有限的资源获得具有决策价值的结论，是现代数据分析中化繁为简、以简驭繁的关键智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抽样方法：如何获取有代表性的样本？</a:t>
            </a:r>
            <a:endParaRPr lang="en-US" sz="1100"/>
          </a:p>
        </p:txBody>
      </p:sp>
      <p:sp>
        <p:nvSpPr>
          <p:cNvPr id="4" name="AutoShape 4"/>
          <p:cNvSpPr/>
          <p:nvPr/>
        </p:nvSpPr>
        <p:spPr>
          <a:xfrm>
            <a:off x="762000" y="1778000"/>
            <a:ext cx="3429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简单随机抽样</a:t>
            </a:r>
            <a:endParaRPr lang="en-US" sz="1100"/>
          </a:p>
        </p:txBody>
      </p:sp>
      <p:sp>
        <p:nvSpPr>
          <p:cNvPr id="7" name="AutoShape 7"/>
          <p:cNvSpPr/>
          <p:nvPr/>
        </p:nvSpPr>
        <p:spPr>
          <a:xfrm>
            <a:off x="952500" y="2667000"/>
            <a:ext cx="3048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7305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核心方法</a:t>
            </a:r>
            <a:endParaRPr lang="en-US" sz="1100"/>
          </a:p>
        </p:txBody>
      </p:sp>
      <p:sp>
        <p:nvSpPr>
          <p:cNvPr id="9" name="AutoShape 9"/>
          <p:cNvSpPr/>
          <p:nvPr/>
        </p:nvSpPr>
        <p:spPr>
          <a:xfrm>
            <a:off x="1079500" y="30734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对总体不做任何分组或排序，完全随机地逐个抽取，确保每个个体被抽中的概率严格相等。</a:t>
            </a:r>
            <a:endParaRPr lang="en-US" sz="1100"/>
          </a:p>
        </p:txBody>
      </p:sp>
      <p:sp>
        <p:nvSpPr>
          <p:cNvPr id="10" name="AutoShape 10"/>
          <p:cNvSpPr/>
          <p:nvPr/>
        </p:nvSpPr>
        <p:spPr>
          <a:xfrm>
            <a:off x="952500" y="393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理论上最公平、无偏倚的方式，但当总体内部差异较大时，样本可能因随机性而缺乏代表性，难以反映总体全貌。</a:t>
            </a:r>
            <a:endParaRPr lang="en-US" sz="1100"/>
          </a:p>
        </p:txBody>
      </p:sp>
      <p:sp>
        <p:nvSpPr>
          <p:cNvPr id="11" name="AutoShape 11"/>
          <p:cNvSpPr/>
          <p:nvPr/>
        </p:nvSpPr>
        <p:spPr>
          <a:xfrm>
            <a:off x="4445000" y="1778000"/>
            <a:ext cx="3429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177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355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分层抽样</a:t>
            </a:r>
            <a:endParaRPr lang="en-US" sz="1100"/>
          </a:p>
        </p:txBody>
      </p:sp>
      <p:sp>
        <p:nvSpPr>
          <p:cNvPr id="14" name="AutoShape 14"/>
          <p:cNvSpPr/>
          <p:nvPr/>
        </p:nvSpPr>
        <p:spPr>
          <a:xfrm>
            <a:off x="4635500" y="2667000"/>
            <a:ext cx="3048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27305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核心方法</a:t>
            </a:r>
            <a:endParaRPr lang="en-US" sz="1100"/>
          </a:p>
        </p:txBody>
      </p:sp>
      <p:sp>
        <p:nvSpPr>
          <p:cNvPr id="16" name="AutoShape 16"/>
          <p:cNvSpPr/>
          <p:nvPr/>
        </p:nvSpPr>
        <p:spPr>
          <a:xfrm>
            <a:off x="4762500" y="30734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先按关键特征（如年龄、性别、区域）将总体划分为若干层，再从每一层中独立进行随机抽样。</a:t>
            </a:r>
            <a:endParaRPr lang="en-US" sz="1100"/>
          </a:p>
        </p:txBody>
      </p:sp>
      <p:sp>
        <p:nvSpPr>
          <p:cNvPr id="17" name="AutoShape 17"/>
          <p:cNvSpPr/>
          <p:nvPr/>
        </p:nvSpPr>
        <p:spPr>
          <a:xfrm>
            <a:off x="4635500" y="393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代表性最强。有效降低抽样误差，保证样本结构与总体结构一致，特别适用于总体构成复杂、内部差异明显的场景。</a:t>
            </a:r>
            <a:endParaRPr lang="en-US" sz="1100"/>
          </a:p>
        </p:txBody>
      </p:sp>
      <p:sp>
        <p:nvSpPr>
          <p:cNvPr id="18" name="AutoShape 18"/>
          <p:cNvSpPr/>
          <p:nvPr/>
        </p:nvSpPr>
        <p:spPr>
          <a:xfrm>
            <a:off x="8128000" y="1778000"/>
            <a:ext cx="3429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128000" y="177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3185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整群抽样</a:t>
            </a:r>
            <a:endParaRPr lang="en-US" sz="1100"/>
          </a:p>
        </p:txBody>
      </p:sp>
      <p:sp>
        <p:nvSpPr>
          <p:cNvPr id="21" name="AutoShape 21"/>
          <p:cNvSpPr/>
          <p:nvPr/>
        </p:nvSpPr>
        <p:spPr>
          <a:xfrm>
            <a:off x="8318500" y="2667000"/>
            <a:ext cx="3048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445500" y="27305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核心方法</a:t>
            </a:r>
            <a:endParaRPr lang="en-US" sz="1100"/>
          </a:p>
        </p:txBody>
      </p:sp>
      <p:sp>
        <p:nvSpPr>
          <p:cNvPr id="23" name="AutoShape 23"/>
          <p:cNvSpPr/>
          <p:nvPr/>
        </p:nvSpPr>
        <p:spPr>
          <a:xfrm>
            <a:off x="8445500" y="3073400"/>
            <a:ext cx="279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将总体划分为若干个相互独立的群组，随机抽取部分群组，对抽中群组内的所有个体进行全面调查。</a:t>
            </a:r>
            <a:endParaRPr lang="en-US" sz="1100"/>
          </a:p>
        </p:txBody>
      </p:sp>
      <p:sp>
        <p:nvSpPr>
          <p:cNvPr id="24" name="AutoShape 24"/>
          <p:cNvSpPr/>
          <p:nvPr/>
        </p:nvSpPr>
        <p:spPr>
          <a:xfrm>
            <a:off x="8318500" y="3937000"/>
            <a:ext cx="304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操作极其简便，大幅节省调查成本和时间。但如果群间差异大而群内差异小，抽样误差可能较大，影响结果精度。</a:t>
            </a:r>
            <a:endParaRPr lang="en-US" sz="1100"/>
          </a:p>
        </p:txBody>
      </p:sp>
      <p:sp>
        <p:nvSpPr>
          <p:cNvPr id="25" name="AutoShape 25"/>
          <p:cNvSpPr/>
          <p:nvPr/>
        </p:nvSpPr>
        <p:spPr>
          <a:xfrm>
            <a:off x="762000" y="5461000"/>
            <a:ext cx="10795000" cy="1079500"/>
          </a:xfrm>
          <a:prstGeom prst="roundRect">
            <a:avLst>
              <a:gd name="adj" fmla="val 0"/>
            </a:avLst>
          </a:prstGeom>
          <a:solidFill>
            <a:srgbClr val="F0FDF4">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55626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在实际调研中，</a:t>
            </a: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分层抽样</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通常是获取高代表性样本的首选方案，因为它能有效控制抽样偏差；而简单随机抽样和整群抽样则根据总体特征和调研成本在特定场景下发挥重要作用。选择恰当的方法，是确保后续数据分析与推断结果真实可靠的关键基础。</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置信区间：我们的推断有多可靠？</a:t>
            </a:r>
            <a:endParaRPr lang="en-US" sz="1100"/>
          </a:p>
        </p:txBody>
      </p:sp>
      <p:sp>
        <p:nvSpPr>
          <p:cNvPr id="4" name="AutoShape 4"/>
          <p:cNvSpPr/>
          <p:nvPr/>
        </p:nvSpPr>
        <p:spPr>
          <a:xfrm>
            <a:off x="762000" y="1524000"/>
            <a:ext cx="10668000" cy="1016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10287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样本只是总体的一部分，基于样本的推断天然存在误差。置信区间正是用来衡量这种不确定性的核心工具，它帮助我们从单一的“点估计”走向更严谨、更具参考价值的“区间估计”，清晰地量化结论的可靠程度。</a:t>
            </a:r>
            <a:endParaRPr lang="en-US" sz="1100"/>
          </a:p>
        </p:txBody>
      </p:sp>
      <p:sp>
        <p:nvSpPr>
          <p:cNvPr id="6" name="AutoShape 6"/>
          <p:cNvSpPr/>
          <p:nvPr/>
        </p:nvSpPr>
        <p:spPr>
          <a:xfrm>
            <a:off x="762000" y="2794000"/>
            <a:ext cx="3467100" cy="203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794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984500"/>
            <a:ext cx="3086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a:t>
            </a:r>
            <a:endParaRPr lang="en-US" sz="1100"/>
          </a:p>
        </p:txBody>
      </p:sp>
      <p:sp>
        <p:nvSpPr>
          <p:cNvPr id="9" name="AutoShape 9"/>
          <p:cNvSpPr/>
          <p:nvPr/>
        </p:nvSpPr>
        <p:spPr>
          <a:xfrm>
            <a:off x="952500" y="3429000"/>
            <a:ext cx="30861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基于样本数据计算出的一个数值区间。我们有特定的信心认为，真实的总体参数（如均值、比例）会落在这个区间内，而非一个绝对确定的数值点。</a:t>
            </a:r>
            <a:endParaRPr lang="en-US" sz="1100"/>
          </a:p>
        </p:txBody>
      </p:sp>
      <p:sp>
        <p:nvSpPr>
          <p:cNvPr id="10" name="AutoShape 10"/>
          <p:cNvSpPr/>
          <p:nvPr/>
        </p:nvSpPr>
        <p:spPr>
          <a:xfrm>
            <a:off x="4445000" y="2794000"/>
            <a:ext cx="3467100" cy="203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2794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2984500"/>
            <a:ext cx="3086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区间构成公式</a:t>
            </a:r>
            <a:endParaRPr lang="en-US" sz="1100"/>
          </a:p>
        </p:txBody>
      </p:sp>
      <p:sp>
        <p:nvSpPr>
          <p:cNvPr id="13" name="AutoShape 13"/>
          <p:cNvSpPr/>
          <p:nvPr/>
        </p:nvSpPr>
        <p:spPr>
          <a:xfrm>
            <a:off x="4635500" y="3429000"/>
            <a:ext cx="3086100" cy="431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99000" y="3454400"/>
            <a:ext cx="29591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样本统计量 ± 误差范围</a:t>
            </a:r>
            <a:endParaRPr lang="en-US" sz="1100"/>
          </a:p>
        </p:txBody>
      </p:sp>
      <p:sp>
        <p:nvSpPr>
          <p:cNvPr id="15" name="AutoShape 15"/>
          <p:cNvSpPr/>
          <p:nvPr/>
        </p:nvSpPr>
        <p:spPr>
          <a:xfrm>
            <a:off x="4635500" y="39624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误差范围由抽样误差和置信水平共同决定，它反映了我们的估计与真实值之间可能存在的合理波动幅度。</a:t>
            </a:r>
            <a:endParaRPr lang="en-US" sz="1100"/>
          </a:p>
        </p:txBody>
      </p:sp>
      <p:sp>
        <p:nvSpPr>
          <p:cNvPr id="16" name="AutoShape 16"/>
          <p:cNvSpPr/>
          <p:nvPr/>
        </p:nvSpPr>
        <p:spPr>
          <a:xfrm>
            <a:off x="8128000" y="2794000"/>
            <a:ext cx="3467100" cy="203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2794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2984500"/>
            <a:ext cx="3086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95% 置信水平</a:t>
            </a:r>
            <a:endParaRPr lang="en-US" sz="1100"/>
          </a:p>
        </p:txBody>
      </p:sp>
      <p:sp>
        <p:nvSpPr>
          <p:cNvPr id="19" name="AutoShape 19"/>
          <p:cNvSpPr/>
          <p:nvPr/>
        </p:nvSpPr>
        <p:spPr>
          <a:xfrm>
            <a:off x="8318500" y="3429000"/>
            <a:ext cx="30861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这是统计推断中最常用的标准。意味着如果我们重复进行100次同样的抽样实验，平均约有95个计算出的区间能包含真实的总体参数，仅有5次可能因随机误差而“失手”。</a:t>
            </a:r>
            <a:endParaRPr lang="en-US" sz="1100"/>
          </a:p>
        </p:txBody>
      </p:sp>
      <p:sp>
        <p:nvSpPr>
          <p:cNvPr id="20" name="AutoShape 20"/>
          <p:cNvSpPr/>
          <p:nvPr/>
        </p:nvSpPr>
        <p:spPr>
          <a:xfrm>
            <a:off x="762000" y="5080000"/>
            <a:ext cx="10833100" cy="1397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080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181600"/>
            <a:ext cx="1028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通俗理解：像天气预报一样给“准信”</a:t>
            </a:r>
            <a:endParaRPr lang="en-US" sz="1100"/>
          </a:p>
        </p:txBody>
      </p:sp>
      <p:sp>
        <p:nvSpPr>
          <p:cNvPr id="23" name="AutoShape 23"/>
          <p:cNvSpPr/>
          <p:nvPr/>
        </p:nvSpPr>
        <p:spPr>
          <a:xfrm>
            <a:off x="1016000" y="55880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置信区间不承诺绝对正确，而是给出一个我们有极高把握的预测范围。就像预报降水概率90%，它承认了不确定性的存在，但用概率语言给出了一个可信赖的结论，让我们在面对随机现象时，能够做出更理性、更科学的决策。</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假设检验：数据背后的真相</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原假设 (H₀)：初始的“零假设”</a:t>
            </a:r>
            <a:endParaRPr lang="en-US" sz="1100"/>
          </a:p>
        </p:txBody>
      </p:sp>
      <p:sp>
        <p:nvSpPr>
          <p:cNvPr id="7" name="AutoShape 7"/>
          <p:cNvSpPr/>
          <p:nvPr/>
        </p:nvSpPr>
        <p:spPr>
          <a:xfrm>
            <a:off x="952500" y="2413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我们默认的、认为“没有效果”或“没有差异”的陈述。它是统计检验的起点，通常代表着维持现状或无关联的情况。</a:t>
            </a:r>
            <a:endParaRPr lang="en-US" sz="1100"/>
          </a:p>
        </p:txBody>
      </p:sp>
      <p:sp>
        <p:nvSpPr>
          <p:cNvPr id="8" name="AutoShape 8"/>
          <p:cNvSpPr/>
          <p:nvPr/>
        </p:nvSpPr>
        <p:spPr>
          <a:xfrm>
            <a:off x="952500" y="3175000"/>
            <a:ext cx="4826000" cy="571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213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法庭比喻：被告在被证明有罪前，法律上默认是“无罪”的。</a:t>
            </a:r>
            <a:endParaRPr lang="en-US" sz="1100"/>
          </a:p>
        </p:txBody>
      </p:sp>
      <p:sp>
        <p:nvSpPr>
          <p:cNvPr id="10" name="AutoShape 10"/>
          <p:cNvSpPr/>
          <p:nvPr/>
        </p:nvSpPr>
        <p:spPr>
          <a:xfrm>
            <a:off x="6223000" y="1651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备择假设 (H₁)：我们的研究目标</a:t>
            </a:r>
            <a:endParaRPr lang="en-US" sz="1100"/>
          </a:p>
        </p:txBody>
      </p:sp>
      <p:sp>
        <p:nvSpPr>
          <p:cNvPr id="13" name="AutoShape 13"/>
          <p:cNvSpPr/>
          <p:nvPr/>
        </p:nvSpPr>
        <p:spPr>
          <a:xfrm>
            <a:off x="6413500" y="2413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研究者希望通过数据去证明的陈述，通常是指“存在显著效果”、“存在差异”或“变量间存在关联”的结论。</a:t>
            </a:r>
            <a:endParaRPr lang="en-US" sz="1100"/>
          </a:p>
        </p:txBody>
      </p:sp>
      <p:sp>
        <p:nvSpPr>
          <p:cNvPr id="14" name="AutoShape 14"/>
          <p:cNvSpPr/>
          <p:nvPr/>
        </p:nvSpPr>
        <p:spPr>
          <a:xfrm>
            <a:off x="6413500" y="3175000"/>
            <a:ext cx="4826000" cy="571500"/>
          </a:xfrm>
          <a:prstGeom prst="roundRect">
            <a:avLst>
              <a:gd name="adj" fmla="val 0"/>
            </a:avLst>
          </a:prstGeom>
          <a:solidFill>
            <a:srgbClr val="F97316">
              <a:alpha val="1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3213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 法庭比喻：检察官提出的“有罪”指控，需要证据支持。</a:t>
            </a:r>
            <a:endParaRPr lang="en-US" sz="1100"/>
          </a:p>
        </p:txBody>
      </p:sp>
      <p:sp>
        <p:nvSpPr>
          <p:cNvPr id="16" name="AutoShape 16"/>
          <p:cNvSpPr/>
          <p:nvPr/>
        </p:nvSpPr>
        <p:spPr>
          <a:xfrm>
            <a:off x="762000" y="41275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25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P值 (P-value)：衡量证据的强度</a:t>
            </a:r>
            <a:endParaRPr lang="en-US" sz="1100"/>
          </a:p>
        </p:txBody>
      </p:sp>
      <p:sp>
        <p:nvSpPr>
          <p:cNvPr id="19" name="AutoShape 19"/>
          <p:cNvSpPr/>
          <p:nvPr/>
        </p:nvSpPr>
        <p:spPr>
          <a:xfrm>
            <a:off x="952500" y="4826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在原假设 (H₀) 成立的前提下，观察到当前样本结果或更极端结果出现的概率。它量化了观察到的数据与原假设之间的矛盾程度。</a:t>
            </a:r>
            <a:endParaRPr lang="en-US" sz="1100"/>
          </a:p>
        </p:txBody>
      </p:sp>
      <p:sp>
        <p:nvSpPr>
          <p:cNvPr id="20" name="AutoShape 20"/>
          <p:cNvSpPr/>
          <p:nvPr/>
        </p:nvSpPr>
        <p:spPr>
          <a:xfrm>
            <a:off x="952500" y="5588000"/>
            <a:ext cx="4826000" cy="571500"/>
          </a:xfrm>
          <a:prstGeom prst="roundRect">
            <a:avLst>
              <a:gd name="adj" fmla="val 0"/>
            </a:avLst>
          </a:prstGeom>
          <a:solidFill>
            <a:srgbClr val="3B82F6">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79500" y="5626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核心逻辑：P值越小，推翻原假设的证据越充分。</a:t>
            </a:r>
            <a:endParaRPr lang="en-US" sz="1100"/>
          </a:p>
        </p:txBody>
      </p:sp>
      <p:sp>
        <p:nvSpPr>
          <p:cNvPr id="22" name="AutoShape 22"/>
          <p:cNvSpPr/>
          <p:nvPr/>
        </p:nvSpPr>
        <p:spPr>
          <a:xfrm>
            <a:off x="6223000" y="41275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13500" y="425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显著性水平 (α)：决策的红线</a:t>
            </a:r>
            <a:endParaRPr lang="en-US" sz="1100"/>
          </a:p>
        </p:txBody>
      </p:sp>
      <p:sp>
        <p:nvSpPr>
          <p:cNvPr id="25" name="AutoShape 25"/>
          <p:cNvSpPr/>
          <p:nvPr/>
        </p:nvSpPr>
        <p:spPr>
          <a:xfrm>
            <a:off x="6413500" y="4826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人为设定的一个阈值，用于判断P值是否足够小。这是我们愿意承担的“错误拒绝原假设”的最大风险概率。</a:t>
            </a:r>
            <a:endParaRPr lang="en-US" sz="1100"/>
          </a:p>
        </p:txBody>
      </p:sp>
      <p:sp>
        <p:nvSpPr>
          <p:cNvPr id="26" name="AutoShape 26"/>
          <p:cNvSpPr/>
          <p:nvPr/>
        </p:nvSpPr>
        <p:spPr>
          <a:xfrm>
            <a:off x="6413500" y="5588000"/>
            <a:ext cx="4826000" cy="571500"/>
          </a:xfrm>
          <a:prstGeom prst="roundRect">
            <a:avLst>
              <a:gd name="adj" fmla="val 0"/>
            </a:avLst>
          </a:prstGeom>
          <a:solidFill>
            <a:srgbClr val="EC4899">
              <a:alpha val="1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540500" y="5626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BE185D"/>
                </a:solidFill>
                <a:latin typeface="Noto Sans SC" panose="020B0200000000000000" charset="-122"/>
                <a:ea typeface="Noto Sans SC" panose="020B0200000000000000" charset="-122"/>
                <a:cs typeface="Noto Sans SC" panose="020B0200000000000000" charset="-122"/>
                <a:sym typeface="Noto Sans SC" panose="020B0200000000000000" charset="-122"/>
              </a:rPr>
              <a:t>💡 行业惯例：通常取 α = 0.05，即5%的犯错风险。</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假设检验的标准流程</a:t>
            </a:r>
            <a:endParaRPr lang="en-US" sz="1100"/>
          </a:p>
        </p:txBody>
      </p:sp>
      <p:sp>
        <p:nvSpPr>
          <p:cNvPr id="4" name="AutoShape 4"/>
          <p:cNvSpPr/>
          <p:nvPr/>
        </p:nvSpPr>
        <p:spPr>
          <a:xfrm>
            <a:off x="7620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41500"/>
            <a:ext cx="50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524000" y="1879600"/>
            <a:ext cx="171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提出假设</a:t>
            </a:r>
            <a:endParaRPr lang="en-US" sz="1100"/>
          </a:p>
        </p:txBody>
      </p:sp>
      <p:sp>
        <p:nvSpPr>
          <p:cNvPr id="8" name="AutoShape 8"/>
          <p:cNvSpPr/>
          <p:nvPr/>
        </p:nvSpPr>
        <p:spPr>
          <a:xfrm>
            <a:off x="889000" y="2476500"/>
            <a:ext cx="234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明确原假设(H₀)和备择假设(H₁)，这是整个检验的逻辑起点，确立需要验证的核心统计命题与预期结论。</a:t>
            </a:r>
            <a:endParaRPr lang="en-US" sz="1100"/>
          </a:p>
        </p:txBody>
      </p:sp>
      <p:sp>
        <p:nvSpPr>
          <p:cNvPr id="9" name="AutoShape 9"/>
          <p:cNvSpPr/>
          <p:nvPr/>
        </p:nvSpPr>
        <p:spPr>
          <a:xfrm>
            <a:off x="35306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5306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657600" y="1841500"/>
            <a:ext cx="50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4292600" y="1879600"/>
            <a:ext cx="171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选择检验方法</a:t>
            </a:r>
            <a:endParaRPr lang="en-US" sz="1100"/>
          </a:p>
        </p:txBody>
      </p:sp>
      <p:sp>
        <p:nvSpPr>
          <p:cNvPr id="13" name="AutoShape 13"/>
          <p:cNvSpPr/>
          <p:nvPr/>
        </p:nvSpPr>
        <p:spPr>
          <a:xfrm>
            <a:off x="3657600" y="2476500"/>
            <a:ext cx="234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依据数据分布特征（正态性）、样本量大小及研究设计类型，选定适配的统计模型，如t检验、Z检验或卡方检验。</a:t>
            </a:r>
            <a:endParaRPr lang="en-US" sz="1100"/>
          </a:p>
        </p:txBody>
      </p:sp>
      <p:sp>
        <p:nvSpPr>
          <p:cNvPr id="14" name="AutoShape 14"/>
          <p:cNvSpPr/>
          <p:nvPr/>
        </p:nvSpPr>
        <p:spPr>
          <a:xfrm>
            <a:off x="62992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992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26200" y="1841500"/>
            <a:ext cx="50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7061200" y="1879600"/>
            <a:ext cx="171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计算统计量</a:t>
            </a:r>
            <a:endParaRPr lang="en-US" sz="1100"/>
          </a:p>
        </p:txBody>
      </p:sp>
      <p:sp>
        <p:nvSpPr>
          <p:cNvPr id="18" name="AutoShape 18"/>
          <p:cNvSpPr/>
          <p:nvPr/>
        </p:nvSpPr>
        <p:spPr>
          <a:xfrm>
            <a:off x="6426200" y="2476500"/>
            <a:ext cx="234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代入实际观测的样本数据，通过既定的统计学公式，计算得出能够反映样本与总体差异的核心检验统计量。</a:t>
            </a:r>
            <a:endParaRPr lang="en-US" sz="1100"/>
          </a:p>
        </p:txBody>
      </p:sp>
      <p:sp>
        <p:nvSpPr>
          <p:cNvPr id="19" name="AutoShape 19"/>
          <p:cNvSpPr/>
          <p:nvPr/>
        </p:nvSpPr>
        <p:spPr>
          <a:xfrm>
            <a:off x="9067800" y="1651000"/>
            <a:ext cx="26035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067800" y="1651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194800" y="1841500"/>
            <a:ext cx="50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9829800" y="1879600"/>
            <a:ext cx="171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 P 值</a:t>
            </a:r>
            <a:endParaRPr lang="en-US" sz="1100"/>
          </a:p>
        </p:txBody>
      </p:sp>
      <p:sp>
        <p:nvSpPr>
          <p:cNvPr id="23" name="AutoShape 23"/>
          <p:cNvSpPr/>
          <p:nvPr/>
        </p:nvSpPr>
        <p:spPr>
          <a:xfrm>
            <a:off x="9194800" y="2476500"/>
            <a:ext cx="234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基于计算出的统计量和对应的理论抽样分布，通过查表或软件计算，得出在原假设成立前提下的概率值(P值)。</a:t>
            </a:r>
            <a:endParaRPr lang="en-US" sz="1100"/>
          </a:p>
        </p:txBody>
      </p:sp>
      <p:sp>
        <p:nvSpPr>
          <p:cNvPr id="24" name="AutoShape 24"/>
          <p:cNvSpPr/>
          <p:nvPr/>
        </p:nvSpPr>
        <p:spPr>
          <a:xfrm>
            <a:off x="762000" y="4191000"/>
            <a:ext cx="10922000" cy="2159000"/>
          </a:xfrm>
          <a:prstGeom prst="roundRect">
            <a:avLst>
              <a:gd name="adj" fmla="val 0"/>
            </a:avLst>
          </a:prstGeom>
          <a:solidFill>
            <a:srgbClr val="F0FDF4">
              <a:alpha val="88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52500" y="4381500"/>
            <a:ext cx="5207000" cy="1778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143000" y="450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拒绝原假设 (H₀)：差异显著</a:t>
            </a:r>
            <a:endParaRPr lang="en-US" sz="1100"/>
          </a:p>
        </p:txBody>
      </p:sp>
      <p:sp>
        <p:nvSpPr>
          <p:cNvPr id="27" name="AutoShape 27"/>
          <p:cNvSpPr/>
          <p:nvPr/>
        </p:nvSpPr>
        <p:spPr>
          <a:xfrm>
            <a:off x="1143000" y="508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当 P 值 ≤ α (通常取 0.05) 时，说明观测到的样本差异由随机因素导致的概率极低，我们有充分的统计证据认为原假设不成立，即实际存在显著差异。</a:t>
            </a:r>
            <a:endParaRPr lang="en-US" sz="1100"/>
          </a:p>
        </p:txBody>
      </p:sp>
      <p:cxnSp>
        <p:nvCxnSpPr>
          <p:cNvPr id="28" name="Connector 28"/>
          <p:cNvCxnSpPr/>
          <p:nvPr/>
        </p:nvCxnSpPr>
        <p:spPr>
          <a:xfrm rot="5375445">
            <a:off x="5397500" y="5264173"/>
            <a:ext cx="177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sp>
        <p:nvSpPr>
          <p:cNvPr id="29" name="AutoShape 29"/>
          <p:cNvSpPr/>
          <p:nvPr/>
        </p:nvSpPr>
        <p:spPr>
          <a:xfrm>
            <a:off x="6413500" y="4381500"/>
            <a:ext cx="5207000" cy="1778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04000" y="4508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不能拒绝原假设 (H₀)：证据不足</a:t>
            </a:r>
            <a:endParaRPr lang="en-US" sz="1100"/>
          </a:p>
        </p:txBody>
      </p:sp>
      <p:sp>
        <p:nvSpPr>
          <p:cNvPr id="31" name="AutoShape 31"/>
          <p:cNvSpPr/>
          <p:nvPr/>
        </p:nvSpPr>
        <p:spPr>
          <a:xfrm>
            <a:off x="6604000" y="508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 P 值 &gt; α (通常取 0.05) 时，表明观测结果在原假设成立的情况下是大概率事件，现有数据不足以推翻原假设，需认为差异不具备统计学显著性。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常见的假设检验方法</a:t>
            </a:r>
            <a:endParaRPr lang="en-US" sz="1100"/>
          </a:p>
        </p:txBody>
      </p:sp>
      <p:sp>
        <p:nvSpPr>
          <p:cNvPr id="4" name="AutoShape 4"/>
          <p:cNvSpPr/>
          <p:nvPr/>
        </p:nvSpPr>
        <p:spPr>
          <a:xfrm>
            <a:off x="762000" y="1651000"/>
            <a:ext cx="34671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t检验 (t-test)</a:t>
            </a:r>
            <a:endParaRPr lang="en-US" sz="1100"/>
          </a:p>
        </p:txBody>
      </p:sp>
      <p:sp>
        <p:nvSpPr>
          <p:cNvPr id="7" name="AutoShape 7"/>
          <p:cNvSpPr/>
          <p:nvPr/>
        </p:nvSpPr>
        <p:spPr>
          <a:xfrm>
            <a:off x="952500" y="2540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适用于样本量较小、总体标准差未知的情况，核心是比较两组数据的均值是否存在统计学上的显著差异。</a:t>
            </a:r>
            <a:endParaRPr lang="en-US" sz="1100"/>
          </a:p>
        </p:txBody>
      </p:sp>
      <p:sp>
        <p:nvSpPr>
          <p:cNvPr id="8" name="AutoShape 8"/>
          <p:cNvSpPr/>
          <p:nvPr/>
        </p:nvSpPr>
        <p:spPr>
          <a:xfrm>
            <a:off x="952500" y="3683000"/>
            <a:ext cx="3086100" cy="825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759200"/>
            <a:ext cx="2832100" cy="673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核心目的：</a:t>
            </a:r>
            <a:r>
              <a:rPr lang="en-US" sz="1200" b="0" i="0" u="none" strike="noStrike">
                <a:solidFill>
                  <a:srgbClr val="166534">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精准检验两组独立或配对样本间的均值差异，确定差异是否由随机因素引起。</a:t>
            </a:r>
            <a:endParaRPr lang="en-US" sz="1100"/>
          </a:p>
        </p:txBody>
      </p:sp>
      <p:sp>
        <p:nvSpPr>
          <p:cNvPr id="10" name="AutoShape 10"/>
          <p:cNvSpPr/>
          <p:nvPr/>
        </p:nvSpPr>
        <p:spPr>
          <a:xfrm>
            <a:off x="952500" y="4699000"/>
            <a:ext cx="3086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应用示例：在产品A/B测试中，对比两个版本的用户转化率均值，判断新版本是否显著优于旧版本。</a:t>
            </a:r>
            <a:endParaRPr lang="en-US" sz="1100"/>
          </a:p>
        </p:txBody>
      </p:sp>
      <p:sp>
        <p:nvSpPr>
          <p:cNvPr id="11" name="AutoShape 11"/>
          <p:cNvSpPr/>
          <p:nvPr/>
        </p:nvSpPr>
        <p:spPr>
          <a:xfrm>
            <a:off x="4394200" y="1651000"/>
            <a:ext cx="34671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942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847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卡方检验 (Chi-square)</a:t>
            </a:r>
            <a:endParaRPr lang="en-US" sz="1100"/>
          </a:p>
        </p:txBody>
      </p:sp>
      <p:sp>
        <p:nvSpPr>
          <p:cNvPr id="14" name="AutoShape 14"/>
          <p:cNvSpPr/>
          <p:nvPr/>
        </p:nvSpPr>
        <p:spPr>
          <a:xfrm>
            <a:off x="4584700" y="2540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专门用于分析分类数据，探究两个或多个定性变量之间是否存在非随机的关联性或依存关系。</a:t>
            </a:r>
            <a:endParaRPr lang="en-US" sz="1100"/>
          </a:p>
        </p:txBody>
      </p:sp>
      <p:sp>
        <p:nvSpPr>
          <p:cNvPr id="15" name="AutoShape 15"/>
          <p:cNvSpPr/>
          <p:nvPr/>
        </p:nvSpPr>
        <p:spPr>
          <a:xfrm>
            <a:off x="4584700" y="3683000"/>
            <a:ext cx="3086100" cy="825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711700" y="3759200"/>
            <a:ext cx="2832100" cy="673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核心目的：</a:t>
            </a:r>
            <a:r>
              <a:rPr lang="en-US" sz="1200" b="0" i="0" u="none" strike="noStrike">
                <a:solidFill>
                  <a:srgbClr val="166534">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检验变量分布的独立性，即判断一个变量的分布是否会随另一个变量的变化而改变。</a:t>
            </a:r>
            <a:endParaRPr lang="en-US" sz="1100"/>
          </a:p>
        </p:txBody>
      </p:sp>
      <p:sp>
        <p:nvSpPr>
          <p:cNvPr id="17" name="AutoShape 17"/>
          <p:cNvSpPr/>
          <p:nvPr/>
        </p:nvSpPr>
        <p:spPr>
          <a:xfrm>
            <a:off x="4584700" y="4699000"/>
            <a:ext cx="3086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应用示例：在市场调研中，分析不同性别（男/女）的消费者对某种商品的购买偏好（买/不买）是否存在显著关联。</a:t>
            </a:r>
            <a:endParaRPr lang="en-US" sz="1100"/>
          </a:p>
        </p:txBody>
      </p:sp>
      <p:sp>
        <p:nvSpPr>
          <p:cNvPr id="18" name="AutoShape 18"/>
          <p:cNvSpPr/>
          <p:nvPr/>
        </p:nvSpPr>
        <p:spPr>
          <a:xfrm>
            <a:off x="8026400" y="1651000"/>
            <a:ext cx="34671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169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方差分析 (ANOVA)</a:t>
            </a:r>
            <a:endParaRPr lang="en-US" sz="1100"/>
          </a:p>
        </p:txBody>
      </p:sp>
      <p:sp>
        <p:nvSpPr>
          <p:cNvPr id="21" name="AutoShape 21"/>
          <p:cNvSpPr/>
          <p:nvPr/>
        </p:nvSpPr>
        <p:spPr>
          <a:xfrm>
            <a:off x="8216900" y="2540000"/>
            <a:ext cx="30861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当比较对象超过两组时使用的统计方法，通过分析组间与组内的方差，判断多组数据的均值是否存在差异。</a:t>
            </a:r>
            <a:endParaRPr lang="en-US" sz="1100"/>
          </a:p>
        </p:txBody>
      </p:sp>
      <p:sp>
        <p:nvSpPr>
          <p:cNvPr id="22" name="AutoShape 22"/>
          <p:cNvSpPr/>
          <p:nvPr/>
        </p:nvSpPr>
        <p:spPr>
          <a:xfrm>
            <a:off x="8216900" y="3683000"/>
            <a:ext cx="3086100" cy="825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343900" y="3759200"/>
            <a:ext cx="2832100" cy="673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核心目的：</a:t>
            </a:r>
            <a:r>
              <a:rPr lang="en-US" sz="1200" b="0" i="0" u="none" strike="noStrike">
                <a:solidFill>
                  <a:srgbClr val="166534">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一次性检验三组或更多组样本的均值是否存在显著性差异，避免多次t检验带来的误差。</a:t>
            </a:r>
            <a:endParaRPr lang="en-US" sz="1100"/>
          </a:p>
        </p:txBody>
      </p:sp>
      <p:sp>
        <p:nvSpPr>
          <p:cNvPr id="24" name="AutoShape 24"/>
          <p:cNvSpPr/>
          <p:nvPr/>
        </p:nvSpPr>
        <p:spPr>
          <a:xfrm>
            <a:off x="8216900" y="4699000"/>
            <a:ext cx="3086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应用示例：评估三种不同的广告投放策略，对比它们带来的销售额均值，判断是否存在一种策略的效果显著优于其他策略。</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案例分析：China's Prices Project</a:t>
            </a:r>
            <a:endParaRPr lang="en-US" sz="1100"/>
          </a:p>
        </p:txBody>
      </p:sp>
      <p:sp>
        <p:nvSpPr>
          <p:cNvPr id="4" name="AutoShape 4"/>
          <p:cNvSpPr/>
          <p:nvPr/>
        </p:nvSpPr>
        <p:spPr>
          <a:xfrm>
            <a:off x="762000" y="1651000"/>
            <a:ext cx="3492500" cy="2794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数据概览与清洗</a:t>
            </a:r>
            <a:endParaRPr lang="en-US" sz="1100"/>
          </a:p>
        </p:txBody>
      </p:sp>
      <p:sp>
        <p:nvSpPr>
          <p:cNvPr id="7" name="AutoShape 7"/>
          <p:cNvSpPr/>
          <p:nvPr/>
        </p:nvSpPr>
        <p:spPr>
          <a:xfrm>
            <a:off x="952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加载多平台原始商品交易记录，快速探查数据集规模、字段类型与数据结构。对缺失值、重复记录进行预处理，确保后续分析样本的有效性。</a:t>
            </a:r>
            <a:endParaRPr lang="en-US" sz="1100"/>
          </a:p>
        </p:txBody>
      </p:sp>
      <p:sp>
        <p:nvSpPr>
          <p:cNvPr id="8" name="AutoShape 8"/>
          <p:cNvSpPr/>
          <p:nvPr/>
        </p:nvSpPr>
        <p:spPr>
          <a:xfrm>
            <a:off x="952500" y="3556000"/>
            <a:ext cx="3111500" cy="762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619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核心动作：确认数据分布范围，排除无效干扰项，建立分析基线。</a:t>
            </a:r>
            <a:endParaRPr lang="en-US" sz="1100"/>
          </a:p>
        </p:txBody>
      </p:sp>
      <p:sp>
        <p:nvSpPr>
          <p:cNvPr id="10" name="AutoShape 10"/>
          <p:cNvSpPr/>
          <p:nvPr/>
        </p:nvSpPr>
        <p:spPr>
          <a:xfrm>
            <a:off x="4445000" y="1651000"/>
            <a:ext cx="3492500" cy="2794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描述性特征解析</a:t>
            </a:r>
            <a:endParaRPr lang="en-US" sz="1100"/>
          </a:p>
        </p:txBody>
      </p:sp>
      <p:sp>
        <p:nvSpPr>
          <p:cNvPr id="13" name="AutoShape 13"/>
          <p:cNvSpPr/>
          <p:nvPr/>
        </p:nvSpPr>
        <p:spPr>
          <a:xfrm>
            <a:off x="4635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计算价格均值与中位数，发现中位数显著小于均值，呈现明显的右偏分布。结合直方图与箱线图，直观识别出长尾区域的高价异常值商品。</a:t>
            </a:r>
            <a:endParaRPr lang="en-US" sz="1100"/>
          </a:p>
        </p:txBody>
      </p:sp>
      <p:sp>
        <p:nvSpPr>
          <p:cNvPr id="14" name="AutoShape 14"/>
          <p:cNvSpPr/>
          <p:nvPr/>
        </p:nvSpPr>
        <p:spPr>
          <a:xfrm>
            <a:off x="4635500" y="3556000"/>
            <a:ext cx="3111500" cy="762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3619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关键发现：低价商品占据市场主流，少数高端商品拉高整体均价。</a:t>
            </a:r>
            <a:endParaRPr lang="en-US" sz="1100"/>
          </a:p>
        </p:txBody>
      </p:sp>
      <p:sp>
        <p:nvSpPr>
          <p:cNvPr id="16" name="AutoShape 16"/>
          <p:cNvSpPr/>
          <p:nvPr/>
        </p:nvSpPr>
        <p:spPr>
          <a:xfrm>
            <a:off x="8128000" y="1651000"/>
            <a:ext cx="3492500" cy="2794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假设检验与验证</a:t>
            </a:r>
            <a:endParaRPr lang="en-US" sz="1100"/>
          </a:p>
        </p:txBody>
      </p:sp>
      <p:sp>
        <p:nvSpPr>
          <p:cNvPr id="19" name="AutoShape 19"/>
          <p:cNvSpPr/>
          <p:nvPr/>
        </p:nvSpPr>
        <p:spPr>
          <a:xfrm>
            <a:off x="8318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针对平台A与平台B的定价差异提出假设，执行独立样本t检验。以95%为置信水平，通过统计量计算判断两组样本均值是否存在实质差异。</a:t>
            </a:r>
            <a:endParaRPr lang="en-US" sz="1100"/>
          </a:p>
        </p:txBody>
      </p:sp>
      <p:sp>
        <p:nvSpPr>
          <p:cNvPr id="20" name="AutoShape 20"/>
          <p:cNvSpPr/>
          <p:nvPr/>
        </p:nvSpPr>
        <p:spPr>
          <a:xfrm>
            <a:off x="8318500" y="3556000"/>
            <a:ext cx="3111500" cy="762000"/>
          </a:xfrm>
          <a:prstGeom prst="roundRect">
            <a:avLst>
              <a:gd name="adj" fmla="val 0"/>
            </a:avLst>
          </a:prstGeom>
          <a:solidFill>
            <a:srgbClr val="22C55E">
              <a:alpha val="7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45500" y="3619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结论：P值=0.02 &lt; 0.05，拒绝原假设，定价策略存在显著不同。</a:t>
            </a:r>
            <a:endParaRPr lang="en-US" sz="1100"/>
          </a:p>
        </p:txBody>
      </p:sp>
      <p:sp>
        <p:nvSpPr>
          <p:cNvPr id="22" name="AutoShape 22"/>
          <p:cNvSpPr/>
          <p:nvPr/>
        </p:nvSpPr>
        <p:spPr>
          <a:xfrm>
            <a:off x="762000" y="4699000"/>
            <a:ext cx="10858500" cy="1651000"/>
          </a:xfrm>
          <a:prstGeom prst="roundRect">
            <a:avLst>
              <a:gd name="adj" fmla="val 0"/>
            </a:avLst>
          </a:prstGeom>
          <a:solidFill>
            <a:srgbClr val="FFFFFF">
              <a:alpha val="8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699000"/>
            <a:ext cx="76200" cy="165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79500" y="48514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a:t>
            </a:r>
            <a:endParaRPr lang="en-US" sz="1100"/>
          </a:p>
        </p:txBody>
      </p:sp>
      <p:sp>
        <p:nvSpPr>
          <p:cNvPr id="25" name="AutoShape 25"/>
          <p:cNvSpPr/>
          <p:nvPr/>
        </p:nvSpPr>
        <p:spPr>
          <a:xfrm>
            <a:off x="1079500" y="5334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通过严谨的统计分析流程，从基础数据探查进阶至深度的统计推断。我们不仅识别出了市场价格的右偏结构，更以量化证据证实了平台间定价策略的差异。这一结论有助于企业理解竞争环境，在定价决策中避开直觉误区，基于数据事实制定更具针对性的市场策略，从而在价格战中找到差异化优势。</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05 课堂研讨：学以致用</a:t>
            </a:r>
            <a:endParaRPr lang="en-US" sz="1100"/>
          </a:p>
        </p:txBody>
      </p:sp>
      <p:sp>
        <p:nvSpPr>
          <p:cNvPr id="4" name="AutoShape 4"/>
          <p:cNvSpPr/>
          <p:nvPr/>
        </p:nvSpPr>
        <p:spPr>
          <a:xfrm>
            <a:off x="762000" y="1524000"/>
            <a:ext cx="10668000" cy="1524000"/>
          </a:xfrm>
          <a:prstGeom prst="roundRect">
            <a:avLst>
              <a:gd name="adj" fmla="val 0"/>
            </a:avLst>
          </a:prstGeom>
          <a:solidFill>
            <a:srgbClr val="FFFFFF">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议题一：统计方法选择 —— 用户App停留时长样本数据</a:t>
            </a:r>
            <a:endParaRPr lang="en-US" sz="1100"/>
          </a:p>
        </p:txBody>
      </p:sp>
      <p:sp>
        <p:nvSpPr>
          <p:cNvPr id="6" name="AutoShape 6"/>
          <p:cNvSpPr/>
          <p:nvPr/>
        </p:nvSpPr>
        <p:spPr>
          <a:xfrm>
            <a:off x="1016000" y="2222500"/>
            <a:ext cx="10033000" cy="698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206500" y="2260600"/>
            <a:ext cx="9652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数据组：[1.5, 3.2, 2.8, 5.5, 1.1, 4.0, 0.8, 3.5, 10.5, 2.1]（单位：分钟）</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背景：某产品新功能上线后，运营同学收集了首批体验用户的单次使用停留时长，需要对数据进行初步分析以评估效果。</a:t>
            </a:r>
            <a:endParaRPr lang="en-US" sz="1100"/>
          </a:p>
        </p:txBody>
      </p:sp>
      <p:sp>
        <p:nvSpPr>
          <p:cNvPr id="8" name="AutoShape 8"/>
          <p:cNvSpPr/>
          <p:nvPr/>
        </p:nvSpPr>
        <p:spPr>
          <a:xfrm>
            <a:off x="762000" y="3302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30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556000"/>
            <a:ext cx="508000" cy="508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3300" y="3606800"/>
            <a:ext cx="406400" cy="406400"/>
          </a:xfrm>
          <a:prstGeom prst="rect">
            <a:avLst/>
          </a:prstGeom>
        </p:spPr>
      </p:pic>
      <p:sp>
        <p:nvSpPr>
          <p:cNvPr id="12" name="AutoShape 12"/>
          <p:cNvSpPr/>
          <p:nvPr/>
        </p:nvSpPr>
        <p:spPr>
          <a:xfrm>
            <a:off x="1587500" y="35814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核心指标判定</a:t>
            </a:r>
            <a:endParaRPr lang="en-US" sz="1100"/>
          </a:p>
        </p:txBody>
      </p:sp>
      <p:sp>
        <p:nvSpPr>
          <p:cNvPr id="13" name="AutoShape 13"/>
          <p:cNvSpPr/>
          <p:nvPr/>
        </p:nvSpPr>
        <p:spPr>
          <a:xfrm>
            <a:off x="952500" y="4318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请讨论：你会选择哪个统计指标来描述用户的“典型停留时长”？</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思考方向：均值、中位数、众数各自的特点是什么？数据中是否存在极值？该指标能否真实反映大多数用户的行为水平？</a:t>
            </a:r>
            <a:endParaRPr lang="en-US" sz="1100"/>
          </a:p>
        </p:txBody>
      </p:sp>
      <p:sp>
        <p:nvSpPr>
          <p:cNvPr id="14" name="AutoShape 14"/>
          <p:cNvSpPr/>
          <p:nvPr/>
        </p:nvSpPr>
        <p:spPr>
          <a:xfrm>
            <a:off x="4381500" y="3302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330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572000" y="3556000"/>
            <a:ext cx="508000" cy="508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22800" y="3606800"/>
            <a:ext cx="406400" cy="406400"/>
          </a:xfrm>
          <a:prstGeom prst="rect">
            <a:avLst/>
          </a:prstGeom>
        </p:spPr>
      </p:pic>
      <p:sp>
        <p:nvSpPr>
          <p:cNvPr id="18" name="AutoShape 18"/>
          <p:cNvSpPr/>
          <p:nvPr/>
        </p:nvSpPr>
        <p:spPr>
          <a:xfrm>
            <a:off x="5207000" y="35814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可视化图表选择</a:t>
            </a:r>
            <a:endParaRPr lang="en-US" sz="1100"/>
          </a:p>
        </p:txBody>
      </p:sp>
      <p:sp>
        <p:nvSpPr>
          <p:cNvPr id="19" name="AutoShape 19"/>
          <p:cNvSpPr/>
          <p:nvPr/>
        </p:nvSpPr>
        <p:spPr>
          <a:xfrm>
            <a:off x="4572000" y="4318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请讨论：采用哪种图表最适合展示这组停留时长的分布情况？</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思考方向：直方图、箱线图、折线图的适用场景差异。哪种图表能直观呈现数据的离散程度、集中趋势以及可能存在的异常值？</a:t>
            </a:r>
            <a:endParaRPr lang="en-US" sz="1100"/>
          </a:p>
        </p:txBody>
      </p:sp>
      <p:sp>
        <p:nvSpPr>
          <p:cNvPr id="20" name="AutoShape 20"/>
          <p:cNvSpPr/>
          <p:nvPr/>
        </p:nvSpPr>
        <p:spPr>
          <a:xfrm>
            <a:off x="8001000" y="3302000"/>
            <a:ext cx="3429000" cy="279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001000" y="330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191500" y="3556000"/>
            <a:ext cx="508000" cy="5080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2300" y="3606800"/>
            <a:ext cx="406400" cy="406400"/>
          </a:xfrm>
          <a:prstGeom prst="rect">
            <a:avLst/>
          </a:prstGeom>
        </p:spPr>
      </p:pic>
      <p:sp>
        <p:nvSpPr>
          <p:cNvPr id="24" name="AutoShape 24"/>
          <p:cNvSpPr/>
          <p:nvPr/>
        </p:nvSpPr>
        <p:spPr>
          <a:xfrm>
            <a:off x="8826500" y="35814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假设检验方法</a:t>
            </a:r>
            <a:endParaRPr lang="en-US" sz="1100"/>
          </a:p>
        </p:txBody>
      </p:sp>
      <p:sp>
        <p:nvSpPr>
          <p:cNvPr id="25" name="AutoShape 25"/>
          <p:cNvSpPr/>
          <p:nvPr/>
        </p:nvSpPr>
        <p:spPr>
          <a:xfrm>
            <a:off x="8191500" y="4318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请讨论：若要验证“新功能上线后停留时长显著增加”，该选什么检验方法？</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思考方向：样本数据特征（如是否正态分布）、样本量大小。Z检验、T检验、非参数检验中哪一种是最合适的统计推断工具？</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课堂研讨：学以致用</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议题二：统计结果解读</a:t>
            </a:r>
            <a:endParaRPr lang="en-US" sz="1100"/>
          </a:p>
        </p:txBody>
      </p:sp>
      <p:sp>
        <p:nvSpPr>
          <p:cNvPr id="6" name="AutoShape 6"/>
          <p:cNvSpPr/>
          <p:nvPr/>
        </p:nvSpPr>
        <p:spPr>
          <a:xfrm>
            <a:off x="1016000" y="19685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电商平台开展了一项关键的A/B测试，数据反馈显示新版本用户转化率较旧版本提升了2%，且测试结果的P值为0.03。这组数据看似乐观，但背后的业务逻辑值得推敲。请各小组结合统计学知识与商业实践，围绕以下核心问题展开深度研讨：</a:t>
            </a:r>
            <a:endParaRPr lang="en-US" sz="1100"/>
          </a:p>
        </p:txBody>
      </p:sp>
      <p:sp>
        <p:nvSpPr>
          <p:cNvPr id="7" name="AutoShape 7"/>
          <p:cNvSpPr/>
          <p:nvPr/>
        </p:nvSpPr>
        <p:spPr>
          <a:xfrm>
            <a:off x="762000" y="2921000"/>
            <a:ext cx="3492500" cy="177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48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问题一：统计显著性判定</a:t>
            </a:r>
            <a:endParaRPr lang="en-US" sz="1100"/>
          </a:p>
        </p:txBody>
      </p:sp>
      <p:sp>
        <p:nvSpPr>
          <p:cNvPr id="10" name="AutoShape 10"/>
          <p:cNvSpPr/>
          <p:nvPr/>
        </p:nvSpPr>
        <p:spPr>
          <a:xfrm>
            <a:off x="952500" y="3492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该测试结果在统计学意义上是否具备显著性？请结合P值的核心定义与通用判断标准，详细阐述得出结论的依据，并解释这一结果对数据可信度的影响。</a:t>
            </a:r>
            <a:endParaRPr lang="en-US" sz="1100"/>
          </a:p>
        </p:txBody>
      </p:sp>
      <p:sp>
        <p:nvSpPr>
          <p:cNvPr id="11" name="AutoShape 11"/>
          <p:cNvSpPr/>
          <p:nvPr/>
        </p:nvSpPr>
        <p:spPr>
          <a:xfrm>
            <a:off x="4419600" y="2921000"/>
            <a:ext cx="3492500" cy="177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419600" y="292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10100" y="3048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问题二：是否立即上线？</a:t>
            </a:r>
            <a:endParaRPr lang="en-US" sz="1100"/>
          </a:p>
        </p:txBody>
      </p:sp>
      <p:sp>
        <p:nvSpPr>
          <p:cNvPr id="14" name="AutoShape 14"/>
          <p:cNvSpPr/>
          <p:nvPr/>
        </p:nvSpPr>
        <p:spPr>
          <a:xfrm>
            <a:off x="4610100" y="3492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仅依据“转化率提升2%”这一单一数据指标，公司是否应当立即执行新版本的全面上线计划？请给出你的初步决策，并说明支持该决策的关键商业逻辑。</a:t>
            </a:r>
            <a:endParaRPr lang="en-US" sz="1100"/>
          </a:p>
        </p:txBody>
      </p:sp>
      <p:sp>
        <p:nvSpPr>
          <p:cNvPr id="15" name="AutoShape 15"/>
          <p:cNvSpPr/>
          <p:nvPr/>
        </p:nvSpPr>
        <p:spPr>
          <a:xfrm>
            <a:off x="8064500" y="2921000"/>
            <a:ext cx="3492500" cy="177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064500" y="292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255000" y="3048000"/>
            <a:ext cx="311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问题三：关键决策因子</a:t>
            </a:r>
            <a:endParaRPr lang="en-US" sz="1100"/>
          </a:p>
        </p:txBody>
      </p:sp>
      <p:sp>
        <p:nvSpPr>
          <p:cNvPr id="18" name="AutoShape 18"/>
          <p:cNvSpPr/>
          <p:nvPr/>
        </p:nvSpPr>
        <p:spPr>
          <a:xfrm>
            <a:off x="8255000" y="3492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在最终敲定产品上线方案前，除了数据指标外，还需要纳入哪些非数据类的关键考量维度？请尝试列出核心要素，并分析它们在决策链条中的权重。</a:t>
            </a:r>
            <a:endParaRPr lang="en-US" sz="1100"/>
          </a:p>
        </p:txBody>
      </p:sp>
      <p:sp>
        <p:nvSpPr>
          <p:cNvPr id="19" name="AutoShape 19"/>
          <p:cNvSpPr/>
          <p:nvPr/>
        </p:nvSpPr>
        <p:spPr>
          <a:xfrm>
            <a:off x="762000" y="4953000"/>
            <a:ext cx="10795000" cy="1460500"/>
          </a:xfrm>
          <a:prstGeom prst="roundRect">
            <a:avLst>
              <a:gd name="adj" fmla="val 0"/>
            </a:avLst>
          </a:prstGeom>
          <a:solidFill>
            <a:srgbClr val="22C55E">
              <a:alpha val="94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0800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关键决策提示</a:t>
            </a:r>
            <a:endParaRPr lang="en-US" sz="1100"/>
          </a:p>
        </p:txBody>
      </p:sp>
      <p:sp>
        <p:nvSpPr>
          <p:cNvPr id="21" name="AutoShape 21"/>
          <p:cNvSpPr/>
          <p:nvPr/>
        </p:nvSpPr>
        <p:spPr>
          <a:xfrm>
            <a:off x="1016000" y="54864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5FCF7"/>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显著性并不等同于商业显著性。在做出最终决策时，必须跳出单一数据视角，综合评估：技术研发与上线的实际商业成本、新旧版本切换带来的用户体验断层、转化率提升带来的实际收益绝对值，以及新功能可能引发的潜在运营风险（如用户流失、系统适配性等），以确保业务决策的科学性与落地可行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06 课堂小结与作业</a:t>
            </a:r>
            <a:endParaRPr lang="en-US" sz="1100"/>
          </a:p>
        </p:txBody>
      </p:sp>
      <p:sp>
        <p:nvSpPr>
          <p:cNvPr id="4" name="AutoShape 4"/>
          <p:cNvSpPr/>
          <p:nvPr/>
        </p:nvSpPr>
        <p:spPr>
          <a:xfrm>
            <a:off x="762000" y="1524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7145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统计学基石</a:t>
            </a:r>
            <a:endParaRPr lang="en-US" sz="1100"/>
          </a:p>
        </p:txBody>
      </p:sp>
      <p:sp>
        <p:nvSpPr>
          <p:cNvPr id="7" name="AutoShape 7"/>
          <p:cNvSpPr/>
          <p:nvPr/>
        </p:nvSpPr>
        <p:spPr>
          <a:xfrm>
            <a:off x="889000" y="22225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数据分析的底层逻辑与核心基础，主要包含描述性统计和推断统计两大分支。它帮助我们从杂乱无章的数据中提炼规律，是科学决策的前提。</a:t>
            </a:r>
            <a:endParaRPr lang="en-US" sz="1100"/>
          </a:p>
        </p:txBody>
      </p:sp>
      <p:sp>
        <p:nvSpPr>
          <p:cNvPr id="8" name="AutoShape 8"/>
          <p:cNvSpPr/>
          <p:nvPr/>
        </p:nvSpPr>
        <p:spPr>
          <a:xfrm>
            <a:off x="3467100" y="1524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4671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594100" y="17145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描述性统计</a:t>
            </a:r>
            <a:endParaRPr lang="en-US" sz="1100"/>
          </a:p>
        </p:txBody>
      </p:sp>
      <p:sp>
        <p:nvSpPr>
          <p:cNvPr id="11" name="AutoShape 11"/>
          <p:cNvSpPr/>
          <p:nvPr/>
        </p:nvSpPr>
        <p:spPr>
          <a:xfrm>
            <a:off x="3594100" y="22225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通过集中趋势（均值、中位数）、离散程度（方差、标准差）和可视化图表，直观地描绘数据的静态特征，让数据的全貌清晰可见。</a:t>
            </a:r>
            <a:endParaRPr lang="en-US" sz="1100"/>
          </a:p>
        </p:txBody>
      </p:sp>
      <p:sp>
        <p:nvSpPr>
          <p:cNvPr id="12" name="AutoShape 12"/>
          <p:cNvSpPr/>
          <p:nvPr/>
        </p:nvSpPr>
        <p:spPr>
          <a:xfrm>
            <a:off x="6172200" y="1524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1722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299200" y="17145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推断统计</a:t>
            </a:r>
            <a:endParaRPr lang="en-US" sz="1100"/>
          </a:p>
        </p:txBody>
      </p:sp>
      <p:sp>
        <p:nvSpPr>
          <p:cNvPr id="15" name="AutoShape 15"/>
          <p:cNvSpPr/>
          <p:nvPr/>
        </p:nvSpPr>
        <p:spPr>
          <a:xfrm>
            <a:off x="6299200" y="22225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基于代表性的样本数据来推断总体的特征。利用抽样分布和概率理论，突破数据量的限制，从局部数据科学地推导整体趋势与规律。</a:t>
            </a:r>
            <a:endParaRPr lang="en-US" sz="1100"/>
          </a:p>
        </p:txBody>
      </p:sp>
      <p:sp>
        <p:nvSpPr>
          <p:cNvPr id="16" name="AutoShape 16"/>
          <p:cNvSpPr/>
          <p:nvPr/>
        </p:nvSpPr>
        <p:spPr>
          <a:xfrm>
            <a:off x="8864600" y="1524000"/>
            <a:ext cx="2603500" cy="241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646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991600" y="17145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假设检验</a:t>
            </a:r>
            <a:endParaRPr lang="en-US" sz="1100"/>
          </a:p>
        </p:txBody>
      </p:sp>
      <p:sp>
        <p:nvSpPr>
          <p:cNvPr id="19" name="AutoShape 19"/>
          <p:cNvSpPr/>
          <p:nvPr/>
        </p:nvSpPr>
        <p:spPr>
          <a:xfrm>
            <a:off x="8991600" y="2222500"/>
            <a:ext cx="2349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核心验证工具。通过设定原假设与备择假设，计算P值并与显著性水平(α)对比，以量化的方式科学判断样本差异是否代表总体的真实差异。</a:t>
            </a:r>
            <a:endParaRPr lang="en-US" sz="1100"/>
          </a:p>
        </p:txBody>
      </p:sp>
      <p:sp>
        <p:nvSpPr>
          <p:cNvPr id="20" name="AutoShape 20"/>
          <p:cNvSpPr/>
          <p:nvPr/>
        </p:nvSpPr>
        <p:spPr>
          <a:xfrm>
            <a:off x="762000" y="4191000"/>
            <a:ext cx="5270500" cy="2222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191000"/>
            <a:ext cx="63500" cy="2222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43180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实战演练：基础统计量计算</a:t>
            </a:r>
            <a:endParaRPr lang="en-US" sz="1100"/>
          </a:p>
        </p:txBody>
      </p:sp>
      <p:sp>
        <p:nvSpPr>
          <p:cNvPr id="23" name="AutoShape 23"/>
          <p:cNvSpPr/>
          <p:nvPr/>
        </p:nvSpPr>
        <p:spPr>
          <a:xfrm>
            <a:off x="1016000" y="4851400"/>
            <a:ext cx="47625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143000" y="4889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给定数据集 [10, 20, 30, 40, 50]，请手动完成均值、中位数和标准差的计算。这是理解数据集中趋势与离散程度的基础，请务必掌握计算逻辑与过程。</a:t>
            </a:r>
            <a:endParaRPr lang="en-US" sz="1100"/>
          </a:p>
        </p:txBody>
      </p:sp>
      <p:cxnSp>
        <p:nvCxnSpPr>
          <p:cNvPr id="25" name="Connector 25"/>
          <p:cNvCxnSpPr/>
          <p:nvPr/>
        </p:nvCxnSpPr>
        <p:spPr>
          <a:xfrm rot="5380355">
            <a:off x="5048250" y="5295918"/>
            <a:ext cx="2222500" cy="12700"/>
          </a:xfrm>
          <a:prstGeom prst="straightConnector1">
            <a:avLst/>
          </a:prstGeom>
          <a:solidFill>
            <a:srgbClr val="DEE0E3">
              <a:alpha val="100000"/>
            </a:srgbClr>
          </a:solidFill>
          <a:ln w="12700" cap="flat" cmpd="sng">
            <a:solidFill>
              <a:srgbClr val="D1D5DB">
                <a:alpha val="80000"/>
              </a:srgbClr>
            </a:solidFill>
            <a:prstDash val="solid"/>
            <a:round/>
            <a:headEnd type="none" w="med" len="med"/>
            <a:tailEnd type="none" w="med" len="med"/>
          </a:ln>
        </p:spPr>
      </p:cxnSp>
      <p:sp>
        <p:nvSpPr>
          <p:cNvPr id="26" name="AutoShape 26"/>
          <p:cNvSpPr/>
          <p:nvPr/>
        </p:nvSpPr>
        <p:spPr>
          <a:xfrm>
            <a:off x="6286500" y="4191000"/>
            <a:ext cx="5270500" cy="2222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286500" y="4191000"/>
            <a:ext cx="63500" cy="2222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540500" y="43180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综合应用：分析报告框架设计</a:t>
            </a:r>
            <a:endParaRPr lang="en-US" sz="1100"/>
          </a:p>
        </p:txBody>
      </p:sp>
      <p:sp>
        <p:nvSpPr>
          <p:cNvPr id="29" name="AutoShape 29"/>
          <p:cNvSpPr/>
          <p:nvPr/>
        </p:nvSpPr>
        <p:spPr>
          <a:xfrm>
            <a:off x="6540500" y="4851400"/>
            <a:ext cx="47625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667500" y="4889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针对包含“用户ID、性别、年龄、购买金额”的用户行为CSV数据，设计一份统计分析报告框架。需明确分析目标、关键指标选择、分析方法及可视化呈现思路。</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7875</Words>
  <Application>WPS 演示</Application>
  <PresentationFormat/>
  <Paragraphs>450</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2026-06-01T02:07:46Z</dcterms:created>
  <dcterms:modified xsi:type="dcterms:W3CDTF">2026-06-01T02:07:46Z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{"Label":"1","ContentProducer":"001191110102MACQD9K64010000","ProduceID":"7645646889710996658","ReservedCode1":"","ContentPropagator":"","PropagateID":"","ReservedCode2":""}</vt:lpwstr>
  </property>
  <property fmtid="{D5CDD505-2E9C-101B-9397-08002B2CF9AE}" pid="3" name="ICV">
    <vt:lpwstr>D082E0D1C73046869F32BEFB72375CB5_12</vt:lpwstr>
  </property>
  <property fmtid="{D5CDD505-2E9C-101B-9397-08002B2CF9AE}" pid="4" name="KSOProductBuildVer">
    <vt:lpwstr>2052-12.1.0.20784</vt:lpwstr>
  </property>
</Properties>
</file>