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数据科学第二讲。今天我们将探讨一个非常核心的话题——指标定义。如果说数据是业务的血液，那么指标就是衡量业务心跳的脉搏。学会如何科学地定义和使用指标，是成为一名优秀数据分析师的关键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五个部分。首先，我们会探讨为什么指标如此重要。接着，深入学习指标的概念、原则和分类。然后，介绍定义指标的核心方法。之后，通过实战案例来解析常见的业务指标。最后是课堂研讨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我们先从一个简单的问题开始：如何衡量业务的好坏？如果你的回答是“感觉不错”，那说明我们需要指标。在商业世界里，无法衡量就无法管理和改进。指标的核心作用就是描述现状、评估效果和指导决策。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指标？简单说，指标就是业务目标的量化表示。它和原始数据不同，是经过聚合计算的结果。一个好的指标必须遵循SMART原则，也就是具体的、可衡量的、可实现的、相关的和有时限的。比如，“提升用户体验”就不是一个好指标，而“在Q2将NPS提升到40”就是一个符合SMART原则的好指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指标可以分为三类。结果指标衡量最终成果，比如总营收；过程指标监控关键环节，比如转化率；先行指标则预示未来趋势，比如新用户注册量。这三者共同构成了一个完整的指标体系，帮助我们从预测、监控到评估，全面管理业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学习定义指标的核心方法。首先是找到北极星指标。它是指引团队前进方向的唯一指标，最能体现产品的核心价值。比如，电商平台的北极星指标是GMV，社交平台是DAU。找到正确的北极星指标，能让整个团队力出一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目标，如何落地？OSM模型提供了一个清晰的路径。它将目标（Objective）通过策略（Strategy）分解为可衡量的指标（Measure）。这个模型确保了我们所有的行动都服务于最终目标，并且逻辑清晰，便于团队理解和执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一个复杂的公司来说，单一指标是不够的。我们需要一个金字塔式的指标体系。从顶层的公司级北极星指标，到底层的功能级指标，层层分解，确保每个团队的工作都与公司战略对齐。当顶层指标出现问题时，我们也能向下逐层排查，找到问题根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最后，为了确保所有人对指标的理解一致，我们需要建立指标字典。它就像指标的说明书，详细定义了每个指标的计算方式、数据来源和业务口径。这能有效消除歧义，保证数据一致性，是数据驱动决策的基础。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之后，我们来看一些实战案例。首先是电商业务，核心指标包括GMV、转化率、客单价、复购率和用户获取成本。这些指标从不同维度描绘了电商业务的全貌，帮助我们从宏观规模到微观效率进行全方位的业务诊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对于用户增长，我们关注的指标则有所不同。DAU和MAU是基础，留存率是产品价值的试金石，用户时长反映了用户的投入度，而流失率则警示我们产品可能存在的问题。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我们再来看一个具体的案例：如何定义一个价格指数？这需要我们一步步明确目标、定义分子分母、确定统计范围，并最终构建公式。这个过程充分体现了指标定义的严谨性和逻辑性。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现在是课堂研讨时间。请大家分组，为一个在线教育平台设计指标体系。首先设计一个北极星指标，然后运用OSM模型，围绕“提升付费转化率”这个目标，设计策略和对应的指标。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接下来，我们进行指标体系评审。每个小组派代表汇报，其他小组作为评审团进行提问和挑战。通过这个过程，我们可以锻炼批判性思维和指标评审能力。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今天我们学习了为什么需要指标，什么是好的指标，以及如何科学地定义和管理指标。记住，好的指标设计是数据分析成功的一半。课后请大家完成两道作业题，一个设计题，一个调研题，来巩固所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8.svg"/><Relationship Id="rId12" Type="http://schemas.openxmlformats.org/officeDocument/2006/relationships/image" Target="../media/image27.png"/><Relationship Id="rId11" Type="http://schemas.openxmlformats.org/officeDocument/2006/relationships/image" Target="../media/image26.svg"/><Relationship Id="rId10" Type="http://schemas.openxmlformats.org/officeDocument/2006/relationships/image" Target="../media/image25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45000"/>
                </a:srgbClr>
              </a:gs>
              <a:gs pos="100000">
                <a:srgbClr val="000000">
                  <a:alpha val="6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数据科学第二讲：指标定义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3F4F6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如何用数据衡量业务的心跳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课程大纲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19050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引言：为什么需要指标？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667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探讨从模糊的“感觉”到精准的“度量”的思维转变，理解数据指标在现代商业决策中的核心驱动力与必要性。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19600" y="1651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196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10100" y="1841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99100" y="19050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指标的概念与原则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10100" y="2667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明确指标的定义，掌握好指标的SMART原则，并学习将指标科学地分为结果、过程与基础三大核心分类。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77200" y="1651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772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67700" y="1841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156700" y="19050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指标定义的核心方法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67700" y="2667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深入解析北极星指标与OSM模型，构建系统化的指标体系，通过标准的指标字典实现业务语言的统一对齐。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06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4254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841500" y="4318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常见业务指标实战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5080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结合真实商业场景，深度解析电商核心指标与用户增长关键数据，并通过价格指数等经典案例，掌握不同业务阶段下的指标应用与问题诊断技巧。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064000"/>
            <a:ext cx="5334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4064000"/>
            <a:ext cx="533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4254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02500" y="4318000"/>
            <a:ext cx="406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课堂研讨与总结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5080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通过分组实战演练将理论转化为实操能力，对全课程内容进行系统性复盘总结，并布置课后作业以巩固对指标体系设计与应用的掌握程度。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我们如何衡量业务的好坏？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256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老板的灵魂拷问：“这个季度业务做得怎么样？”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336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如果你的回答还停留在“感觉还不错”、“用户反馈挺好”这类模糊表述上，本质上是因为缺乏可量化的标准。这种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主观、无法对比、无法指导决策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的信息，在商业管理中无法帮助我们发现问题，更谈不上优化业务。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2512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商业世界的底层逻辑：数据驱动管理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14532D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没有指标，就无法衡量现状；无法衡量，就无法进行有效管理；无法管理，就永远无法实现持续改进。这是商业经营中不可逾越的客观规律。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572000"/>
            <a:ext cx="337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4699000"/>
            <a:ext cx="2997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描述业务现状 (Descriptive)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52070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如同汽车的仪表盘，实时反映业务的运行状态。它回答了“现在发生了什么”，让我们对业务的健康度有即时、清晰的感知。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94200" y="457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394200" y="4572000"/>
            <a:ext cx="337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584700" y="4699000"/>
            <a:ext cx="2997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评估业务效果 (Evaluative)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84700" y="52070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如同精准的标尺，客观衡量策略执行的成败。它回答了“目标达成了吗”，帮助我们判断过去的行动是否有效，是否偏离了既定的方向。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26400" y="457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26400" y="4572000"/>
            <a:ext cx="337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216900" y="4699000"/>
            <a:ext cx="2997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指导业务决策 (Directive)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16900" y="52070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如同航行的导航仪，基于数据洞察指引未来方向。它回答了“接下来该怎么做”，为我们调整策略、分配资源提供科学、理性的依据。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指标的概念与原则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87500"/>
            <a:ext cx="520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什么是指标 (Metric / KPI)？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032000"/>
            <a:ext cx="520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指标是衡量业务活动状况的量化数值，是业务目标的直观体现。它并非凭空产生，而是从原始商业行为中提炼出的关键结果，用于判断业务是否在正确的轨道上运行。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57030">
            <a:off x="5778500" y="2216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477000" y="1587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数据与指标的本质区别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2349500" cy="825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20701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原始数据：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离散的、未经加工的观察记录（如：一次用户点击）。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953500" y="2032000"/>
            <a:ext cx="2349500" cy="825500"/>
          </a:xfrm>
          <a:prstGeom prst="roundRect">
            <a:avLst>
              <a:gd name="adj" fmla="val 0"/>
            </a:avLst>
          </a:prstGeom>
          <a:solidFill>
            <a:srgbClr val="DCFCE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017000" y="20701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核心指标：</a:t>
            </a:r>
            <a:r>
              <a:rPr lang="en-US" sz="1200" b="0" i="0" u="none" strike="noStrike">
                <a:solidFill>
                  <a:srgbClr val="15803D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聚合计算后的结果（如：月活跃用户数MAU）。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111500"/>
            <a:ext cx="20828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1115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5500" y="32131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pecific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" y="3746500"/>
            <a:ext cx="1955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目标必须清晰具体，拒绝笼统模糊的描述，明确具体的对象与任务。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971800" y="3111500"/>
            <a:ext cx="20828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2971800" y="31115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035300" y="32131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easurable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035300" y="3746500"/>
            <a:ext cx="1955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结果必须可衡量，具备明确的数据指标或标准，让进度可视化。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181600" y="3111500"/>
            <a:ext cx="20828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181600" y="31115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245100" y="32131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ttainable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245100" y="3746500"/>
            <a:ext cx="1955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目标务实可行，在现有资源和能力范围内可以达成，兼具挑战性与落地性。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391400" y="3111500"/>
            <a:ext cx="20828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391400" y="31115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454900" y="32131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elevant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54900" y="3746500"/>
            <a:ext cx="1955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与核心业务强相关，指标达成对业务增长或问题解决有实际价值。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601200" y="3111500"/>
            <a:ext cx="20828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601200" y="31115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664700" y="32131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ime-bound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664700" y="3746500"/>
            <a:ext cx="1955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设定明确的截止时间，有时间节点的约束才能形成有效的执行压力。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2000" y="4889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EF2F2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762000" y="4889500"/>
            <a:ext cx="50800" cy="1714500"/>
          </a:xfrm>
          <a:prstGeom prst="roundRect">
            <a:avLst>
              <a:gd name="adj" fmla="val 0"/>
            </a:avLst>
          </a:prstGeom>
          <a:solidFill>
            <a:srgbClr val="EF444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52500" y="4978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典型误区：模糊的业务目标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52500" y="5397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“我们要在下个阶段大力提升产品的用户体验。”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52500" y="5905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问题分析：缺乏具体对象、无量化标准、无时间周期，团队无法理解具体要求，也无法评估最终结果。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223000" y="4889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DCFCE7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6223000" y="4889500"/>
            <a:ext cx="508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413500" y="4978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 优化方案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413500" y="5397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“在2026年Q2，将核心产品的用户NPS从30提升至40。”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413500" y="5905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方案优势：时间、对象、指标、目标值均清晰明确，执行路径可拆解，成果可量化，是一个合格的业务指标。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指标的分类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结果指标 (Lagging Indicators)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317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衡量最终业务成果的核心指标，是对过去经营行为产生的既定事实的量化反馈。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3175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086100"/>
            <a:ext cx="292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特点：滞后性强，用于结果复盘与考核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746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典型示例：年度净利润、平台总交易额(GMV)、季度用户留存最终达成率。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524000"/>
            <a:ext cx="3492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17145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过程指标 (Process Metrics)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2286000"/>
            <a:ext cx="317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聚焦业务执行链路中关键环节的表现，反映策略落地过程中的效率与质量。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3048000"/>
            <a:ext cx="3175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762500" y="3086100"/>
            <a:ext cx="292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特点：实时可控，指导动作优化与干预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3746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典型示例：购物车到支付的转化率、广告素材点击率、工单处理及时率。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1524000"/>
            <a:ext cx="3492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28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18500" y="17145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先行指标 (Leading Indicators)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2286000"/>
            <a:ext cx="317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能够预示未来业务发展趋势的前瞻性信号，是判断未来业绩走向的风向标。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18500" y="3048000"/>
            <a:ext cx="3175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445500" y="3086100"/>
            <a:ext cx="292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特点：预测价值高，提供风险预警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3746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典型示例：新用户注册量、产品试用申请数、核心功能的日活跃用户数(DAU)。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4762500"/>
            <a:ext cx="10858500" cy="17780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4889500"/>
            <a:ext cx="1028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三者协同：构建动态闭环的业务管理视角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6000" y="5397500"/>
            <a:ext cx="1035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指标只能反映局部情况，而有效的业务管理需要三者形成合力。例如，企业要达成“年度营收增长”（结果指标），不能仅等待年底核算，而需通过“市场获客线索量”（先行指标）预判增长潜力，并在执行中通过“销售线索跟进率”（过程指标）确保动作到位。先行指标指引方向，过程指标把控执行，结果指标验证成效，三者联动才能实现从预判、管控到复盘的全链路优化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指标定义的核心方法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752600"/>
            <a:ext cx="584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找到北极星指标 (North Star Metric)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在产品当前阶段，最能体现产品核心价值、并能衡量产品健康度的单一指标。它是指引产品方向的“唯一方向”，帮助团队在复杂的业务环境中保持聚焦，避免目标分散。</a:t>
            </a:r>
            <a:endParaRPr lang="en-US" sz="1300" b="0" i="0" u="none" strike="noStrike">
              <a:solidFill>
                <a:srgbClr val="374151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63814">
            <a:off x="6508750" y="24384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366000" y="1752600"/>
            <a:ext cx="3937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统一全团队目标，让资源投入更聚焦；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作为衡量产品价值的核心标尺，直接反映业务健康度，是决策迭代的关键依据。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2540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254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14400" y="3619500"/>
            <a:ext cx="2235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电商平台 · 淘宝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" y="4254500"/>
            <a:ext cx="2235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90600" y="4318000"/>
            <a:ext cx="208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GMV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14400" y="5143500"/>
            <a:ext cx="2235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成交总额是电商业务的生命线，直接体现平台的交易规模与商业变现能力。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67100" y="3429000"/>
            <a:ext cx="2540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467100" y="3429000"/>
            <a:ext cx="254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619500" y="3619500"/>
            <a:ext cx="2235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社交平台 · Facebook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19500" y="4254500"/>
            <a:ext cx="2235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695700" y="4318000"/>
            <a:ext cx="208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DAU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19500" y="5143500"/>
            <a:ext cx="2235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日活跃用户数代表了产品的用户粘性与活跃度，是社交网络效应强弱的核心体现。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72200" y="3429000"/>
            <a:ext cx="2540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172200" y="3429000"/>
            <a:ext cx="254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24600" y="3619500"/>
            <a:ext cx="2235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内容平台 · 抖音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24600" y="4254500"/>
            <a:ext cx="2235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24600" y="43180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日均使用时长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24600" y="5143500"/>
            <a:ext cx="2235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用户停留时间直接反映内容吸引力，决定了广告库存与内容消费的核心商业价值。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0" y="3429000"/>
            <a:ext cx="2540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890000" y="3429000"/>
            <a:ext cx="254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042400" y="3619500"/>
            <a:ext cx="2235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SaaS · Salesforce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42400" y="4254500"/>
            <a:ext cx="2235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042400" y="43180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付费客户数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042400" y="5143500"/>
            <a:ext cx="2235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付费用户规模是SaaS业务的核心增长引擎，代表了市场认可度与企业的核心营收能力。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OSM模型：从目标到指标的路径图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 (Objective)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你想要达成的、定性的业务核心愿景。它回答了“我们为什么出发”，是所有后续行动的最终北极星。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429000"/>
            <a:ext cx="3111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5306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应用示例：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显著提升电商App的年度销售额，扩大市场份额，成为细分领域的头部增长应用。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70400" y="1651000"/>
            <a:ext cx="3492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704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60900" y="1841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 (Strategy)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2413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为实现目标所制定的关键行动路径与核心打法。它明确了“我们具体怎么做”，是连接目标与执行的桥梁。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60900" y="3429000"/>
            <a:ext cx="3111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787900" y="35306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执行路径：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优化产品购物流程以提升现有用户下单转化率；通过组合营销活动，有效提高用户平均客单价(AOV)。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53400" y="1651000"/>
            <a:ext cx="3492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534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43900" y="1841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 (Measure)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43900" y="2413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用于量化评估策略执行效果的具体数据维度。它让结果“看得见”，帮助我们判断是否走在正确的道路上。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43900" y="3429000"/>
            <a:ext cx="3111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470900" y="35306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核心KPI：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关键业务指标包括：用户从浏览到支付的下单转化率、单用户单次购买的平均客单价(AOV)。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4953000"/>
            <a:ext cx="10922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95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080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模型价值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57030">
            <a:off x="2794000" y="5645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3556000" y="5118100"/>
            <a:ext cx="774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M模型通过结构化的方式将抽象目标转化为具体行动，不仅确保了策略与核心目标的高度一致性，更增强了执行逻辑的严密性。它为团队提供了一套通用的沟通语言，让目标、路径与结果之间的因果关系清晰可见，从而帮助组织更高效地落地战略，实现可衡量的业务增长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构建指标分层体系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494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一个复杂的业务需要一个金字塔式的指标体系，确保从上到下的目标对齐，让每个环节的执行都有明确的方向指引，形成从战略到执行的完整闭环。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508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5146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公司级指标（北极星指标）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464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聚焦企业最核心的战略成果，是衡量业务长期成败的唯一关键标尺。它决定了全公司的资源投入方向。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示例：年度总GMV、平台日活跃用户数(DAU)、核心业务留存率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413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2413000"/>
            <a:ext cx="508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13500" y="25146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部门级指标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9464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承接公司顶层目标，将其拆解为各职能部门的核心考核维度。确保各业务单元劲往一处使，协同共进。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示例：市场部获客成本(CAC)、产品部用户活跃度、研发部系统稳定性SLA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275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127500"/>
            <a:ext cx="508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42291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业务线/项目级指标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46609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落实到具体业务单元或短期战役，是支撑阶段性目标达成的直接依据。关注特定业务动作的即时反馈。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示例：“春季大促”活动GMV、新功能上线用户渗透率、区域市场增长率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1275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4127500"/>
            <a:ext cx="508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42291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L4 功能/模块级指标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46609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深入业务执行的末梢环节，反映具体功能或产品模块的微观表现。是优化用户体验和运营效率的基础。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示例：搜索功能点击率(CTR)、支付流程转化率、APP页面加载耗时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8674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544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164E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通过指标的层层分解与逻辑串联，实现目标自上而下的精准对齐。当顶层指标波动时，可快速向下逐层归因，定位问题根源，为业务决策提供可落地的量化依据。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建立指标字典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240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字典是一份关于业务指标的标准化“说明书”，是连接数据团队与业务团队的核心沟通桥梁。通过统一的定义、计算逻辑和业务口径，它能让所有相关方对关键数据达成共识，是实现数据驱动决策的重要基础设施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6924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95400" y="26670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消除歧义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" y="3111500"/>
            <a:ext cx="2311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终结“活跃用户”等关键术语的多义性，避免不同部门因理解偏差产生数据冲突，确保沟通基础一致。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67100" y="2540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67100" y="2540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26924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00500" y="26670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数据一致性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3111500"/>
            <a:ext cx="2311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确保同一指标在报表、大屏及不同业务系统中的计算口径完全统一，大幅提升业务数据的可信度与可用性。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72200" y="2540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172200" y="2540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4600" y="26924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05600" y="26670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新人提效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24600" y="3111500"/>
            <a:ext cx="2311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新入职员工可通过查阅字典快速掌握业务指标含义，无需反复咨询老员工，有效缩短业务上手周期。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77300" y="2540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77300" y="2540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9700" y="26924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410700" y="26670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集中维护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29700" y="3111500"/>
            <a:ext cx="2311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指标定义变更可在一处统一更新并实时同步，减少多处维护的重复劳动，降低人工修改带来的错误风险。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4572000"/>
            <a:ext cx="10668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89000" y="4699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16000" y="4762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指标名称：下单转化率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16000" y="5207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定义：用户完成从访问商品详情页到最终成功提交订单这一行为的比例。它是评估商品吸引力、页面体验及购买流程流畅度的核心业务指标。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5374535">
            <a:off x="3587750" y="5549924"/>
            <a:ext cx="171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4572000" y="4699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4699000" y="4762500"/>
            <a:ext cx="311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核心计算逻辑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699000" y="5207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(提交订单的用户数) ÷ (访问商品详情页的用户数) × 100%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该公式需确保分子分母的统计时间窗口与用户范围完全对齐。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5374535">
            <a:off x="7207250" y="5549924"/>
            <a:ext cx="171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8191500" y="4699000"/>
            <a:ext cx="3175000" cy="1714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318500" y="47625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关键执行细节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318500" y="52070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来源：用户行为日志表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口径：排除测试与刷单用户，仅统计真实业务流量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负责人：数据分析部 - 张三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常见业务指标实战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03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GMV (成交总额)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衡量平台整体销售规模的核心大盘数据，直接反映业务的市场体量与交易活跃度，是电商业务发展的“晴雨表”，也是评估平台竞争力的关键宏观指标。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72000" y="1803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转化率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贯穿点击、下单到支付的全链路过程指标，精准反映流量质量与运营转化效率。通过拆解各环节转化率，可快速定位业务瓶颈，是优化用户体验与运营策略的重要抓手。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010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91500" y="1803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客单价 (AOV)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反映用户单次购买的价值贡献，体现产品定价策略、商品组合与连带销售能力。提升客单价是挖掘存量用户价值、提高单客收益的有效途径，助力实现销售增长。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5232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937000"/>
            <a:ext cx="523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40894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复购率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6990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衡量用户忠诚度与产品服务粘性的核心指标。高复购率意味着用户对品牌的高度认可，不仅能降低获客成本，还能带来稳定的持续收入，是业务实现长期稳健增长的基石，也是衡量用户生命周期价值的重要参考。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48400" y="3937000"/>
            <a:ext cx="5232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48400" y="3937000"/>
            <a:ext cx="523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38900" y="40894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用户获取成本 (CAC)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38900" y="46990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评估市场投放与获客效率的关键财务指标。它直接决定了营销预算的投入产出比，合理控制CAC并与用户生命周期价值(LTV)进行协同分析，能帮助企业优化投放策略、平衡成本与收益，确保业务的健康可持续发展。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用户增长类核心指标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DAU / MAU (日/月活跃用户数)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这是衡量产品吸引力和用户规模的最基础指标。其中DAU与MAU的比值（月活渗透率）是反映用户粘性的重要参考，比值越高说明用户使用频次越稳定。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留存率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产品价值的“试金石”，直接体现用户对产品的依赖程度。核心关注次日留存（验证核心体验）、7日留存（验证长期价值）及30日留存（验证商业模式健康度）。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937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127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用户时长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69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衡量用户投入度和产品内容吸引力的关键维度。更长的有效使用时长意味着用户能在产品中获得更多价值，也为广告变现或增值服务提供了更大的转化空间。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937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3937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4127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流失率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69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留存率的另一面，是产品健康的重要警示信号。高流失率通常意味着核心功能缺失、体验断层或市场竞争加剧。通过对流失用户的定向分析，可指导产品进行针对性迭代。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案例分析：如何定义一个“价格指数”？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875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业务场景：构建一个“电商平台价格指数”，旨在科学衡量特定品类商品在市场中的价格波动情况，为企业制定定价策略、研判市场趋势及开展竞品分析提供可量化、可追踪的数据依据。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3467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768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27940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明确核心目标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302000"/>
            <a:ext cx="3213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精准锚定衡量对象为“特定品类”，聚焦主流电商平台的商品价格动态，核心任务是捕捉市场真实的价格波动趋势，而非单一商品的偶然调价。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667000"/>
            <a:ext cx="3467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667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08500" y="2768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07000" y="27940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定义核心分子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08500" y="3302000"/>
            <a:ext cx="3213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选定商品详情页展示的“最低支付价格”作为计算基础。该价格剔除了营销包装，反映了用户实际购买时的真实成本，是指数准确性的关键输入。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667000"/>
            <a:ext cx="3467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667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2768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26500" y="27940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设定权重分母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3302000"/>
            <a:ext cx="3213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采用加权平均法，以商品“近30天销量”作为权重因子。销量越高的商品代表市场接受度越高，对整体市场价格的代表性越强，因此赋予更高的计算权重。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508500"/>
            <a:ext cx="3467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4508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9000" y="46101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587500" y="46355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划定统计范围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89000" y="5143500"/>
            <a:ext cx="3213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明确统计边界：品类锁定智能手机，覆盖淘宝、京东等头部主流平台，时间维度设定为每日采集。清晰的边界确保了数据的横向可比性与纵向时效性。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381500" y="4508500"/>
            <a:ext cx="3467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381500" y="4508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4508500" y="46101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207000" y="46355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构建计算逻辑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508500" y="5143500"/>
            <a:ext cx="3213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确立核心计算逻辑：将单品实际价格与市场销量深度关联，通过加权计算的方式，消除单一商品短期促销带来的波动，形成能反映市场整体水平的综合价格指数。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001000" y="4508500"/>
            <a:ext cx="3467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001000" y="45085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128000" y="46101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826500" y="46355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沉淀指标字典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128000" y="5143500"/>
            <a:ext cx="3213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将目标、分子、分母、范围、公式等所有业务规则固化为“指标字典”。这是跨团队协作的基准，确保后续数据采集、计算和分析时的定义完全一致。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课堂研讨与总结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研讨场景：在线编程教育平台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假设你是该App的产品负责人，面对日益激烈的市场竞争，需要通过科学的指标体系来驱动业务增长。本次研讨旨在通过实战演练，掌握核心指标的设计逻辑与应用方法。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67260">
            <a:off x="5238750" y="2374930"/>
            <a:ext cx="133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59500" y="16510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核心实战任务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20955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首先为业务设计一个北极星指标并阐述理由；随后运用OSM模型，围绕“提升付费转化率”这一核心商业目标，拆解出具体的执行策略，并为每个策略制定可落地、可量化的关键衡量指标。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619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606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 Objective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41910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明确核心方向为“提升课程付费转化率”。这是产品商业价值变现的核心环节，直接关系到平台的营收效率与长期发展的造血能力，也是本次指标设计的最终服务对象。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445000" y="3429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445000" y="3429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619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080000" y="3606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 Strategy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41910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基于用户转化全链路构思3个有效策略。例如优化课程试学体验降低决策门槛、优化支付转化路径减少流失、或针对高潜用户进行精准触达与激励，推动用户完成付费动作。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3429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3429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3619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763000" y="3606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 Measure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41910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为每个策略定制唯一的衡量指标。指标需具备清晰定义、可实时追踪和可归因分析的特性，如试学完成率、支付流程流失率、定向优惠券核销率等，用以科学评估策略效果。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715000"/>
            <a:ext cx="10858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8166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397000" y="57912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1F2937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研讨关键提示：</a:t>
            </a:r>
            <a:r>
              <a:rPr lang="en-US" sz="1200" b="0" i="0" u="none" strike="noStrike">
                <a:solidFill>
                  <a:srgbClr val="1F2937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指标设计不仅要具备战略指导性，更要兼顾业务实际落地性。在选择指标时，请充分考虑数据采集的可行性、计算成本以及指标对业务动作的指导延迟性，确保指标能真正服务于日常决策。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课堂研讨二：指标体系评审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826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研讨实施流程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318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6924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6924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小组汇报方案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43000" y="3175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各小组依次展示为在线教育平台量身设计的核心指标体系框架，清晰阐述指标的设计思路、数据定义来源，以及该体系如何支撑业务决策。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191000"/>
            <a:ext cx="43180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43434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3434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交叉评审质询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43000" y="4826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其他小组作为专业评审团，针对汇报内容提出尖锐质疑与细节追问。从业务实操视角发起核心挑战，共同探讨指标的合理性与潜在优化空间。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90177">
            <a:off x="3619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096000" y="1651000"/>
            <a:ext cx="5715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096000" y="1651000"/>
            <a:ext cx="5715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0" y="1841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核心评审关键问题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2540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6670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2667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价值代表性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31115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所选的北极星指标是否真的能精准锚定业务核心？能否反映用户的真实价值，以及平台长期的增长方向？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2540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71000" y="26670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652000" y="2667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SMART原则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71000" y="31115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指标设定是否科学规范？是否满足具体、可度量、可实现、相关性强且有时限性的管理原则？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43815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508500"/>
            <a:ext cx="279400" cy="279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858000" y="4508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逻辑自洽性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49530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业务策略与指标之间的因果链条是否清晰？执行动作能否直接导向指标的达成，中间是否存在逻辑断点？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144000" y="43815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71000" y="4508500"/>
            <a:ext cx="279400" cy="279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652000" y="4508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完整性校验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271000" y="49530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当前的指标体系是否存在盲区？有没有遗漏那些影响业务健康度、关键转化环节或风险控制的重要维度？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课程总结与作业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6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为何需要指标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86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指标是衡量和管理业务的底层基础，为业务决策提供可量化的客观依据，是连接战略目标与日常执行的关键纽带，让模糊的业务状态变得清晰可见。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81400" y="1651000"/>
            <a:ext cx="266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81400" y="1651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7084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什么是好指标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08400" y="2286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指标是量化的业务目标，优秀的指标必须严格遵循SMART原则（具体、可衡量、可达成、相关性、时限性），确保目标清晰、方向一致且具备落地执行的可能性。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00800" y="1651000"/>
            <a:ext cx="266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00800" y="1651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278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How · 如何科学构建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27800" y="2286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通过北极星指标锚定核心方向，结合OSM模型拆解业务逻辑，再利用指标分层体系与指标字典工具，将抽象业务需求转化为可落地、可监控的系统化指标管理方案。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220200" y="1651000"/>
            <a:ext cx="26670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220200" y="1651000"/>
            <a:ext cx="2667000" cy="381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3472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核心启示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347200" y="2286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4532D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好的指标设计是数据分析成功的一半。精准的指标体系能将复杂的业务问题显性化，大幅提升后续分析的效率，帮助我们做出更快速、更准确的业务决策。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937000"/>
            <a:ext cx="5397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3937000"/>
            <a:ext cx="635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4127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实战设计：为业务场景定制指标体系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4699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选取一个你熟悉的业务场景（如电商商品转化、APP用户增长、内容平台运营等），运用本课所学的OSM模型与指标分层方法，设计一套完整的指标体系。要求明确核心北极星指标、关键过程指标的维度拆解方式，以及核心指标的具体计算逻辑，形成一份可落地的指标方案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80901">
            <a:off x="5143500" y="5073668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477000" y="3937000"/>
            <a:ext cx="5397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3937000"/>
            <a:ext cx="63500" cy="2286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731000" y="4127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工具调研：主流BI的指标管理逻辑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731000" y="4699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调研Tableau、Power BI等主流数据分析工具，重点了解它们在指标管理（如计算字段定义、动态参数设置、共享指标库）和数据可视化方面的核心功能。思考这些工具是如何辅助业务人员进行指标的实时监控、动态分析与决策支持的，并总结出工具在指标落地应用中的优势与特点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6532</Words>
  <Application>WPS 演示</Application>
  <PresentationFormat/>
  <Paragraphs>405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没事找事</cp:lastModifiedBy>
  <cp:revision>1</cp:revision>
  <dcterms:created xsi:type="dcterms:W3CDTF">2026-06-01T02:07:50Z</dcterms:created>
  <dcterms:modified xsi:type="dcterms:W3CDTF">2026-06-01T02:07:50Z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{"Label":"1","ContentProducer":"001191110102MACQD9K64010000","ProduceID":"7645644056299605181","ReservedCode1":"","ContentPropagator":"","PropagateID":"","ReservedCode2":""}</vt:lpwstr>
  </property>
  <property fmtid="{D5CDD505-2E9C-101B-9397-08002B2CF9AE}" pid="3" name="ICV">
    <vt:lpwstr>A9459344D5654482BE19E51611176E74_12</vt:lpwstr>
  </property>
  <property fmtid="{D5CDD505-2E9C-101B-9397-08002B2CF9AE}" pid="4" name="KSOProductBuildVer">
    <vt:lpwstr>2052-12.1.0.20784</vt:lpwstr>
  </property>
</Properties>
</file>