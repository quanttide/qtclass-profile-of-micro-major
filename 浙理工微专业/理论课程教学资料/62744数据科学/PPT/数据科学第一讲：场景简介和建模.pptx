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数据科学》微专业的第一堂课。今天，我们将一起探索数据科学的奇妙世界，了解它是什么，以及它如何从一个抽象的业务问题，一步步转化为数据驱动的解决方案。这节课将为大家打下坚实的基础，让我们一起开始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六个部分。首先，我们会通过一些身边的例子，带大家初步认识数据科学。接着，深入探讨数据科学的定义、生命周期及其与相关领域的关系。然后，通过一个真实案例，学习如何分析业务场景。之后，我们会介绍建模的基础知识。最后是课堂研讨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开始之前，我们先来做一个简单的思考。大家可以想一想，昨天到今天，你享受了哪些智能服务？无论是刷视频、网购，还是用地图导航，这些体验的背后，都有数据科学的影子。它已经渗透到我们生活的方方面面，而这正是我们这门课要探索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究竟什么是数据科学？简单来说，它就是用数据来解决问题。它的核心目标是从数据中发现知识和洞察。一个经典的维恩图很好地解释了它的构成：它是统计学、计算机科学和业务知识三者的交集。这意味着，一个优秀的数据科学家，不仅要懂技术，还要懂业务，更要有扎实的理论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科学的应用无处不在。从电商的“猜你喜欢”，到金融领域的反欺诈，再到医疗诊断和城市交通管理，它正在深刻地改变着各个行业。这些案例展示了数据科学如何通过分析数据，创造巨大的商业价值和社会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应用，我们再来看看一个数据科学项目是如何运作的。这就是数据科学生命周期。它始于一个明确的业务问题，经过数据采集、繁琐的数据清洗，然后是探索分析、特征工程，接着进入建模、评估阶段，最后将模型部署上线并持续监控。值得注意的是，数据清洗和预处理通常是最耗时的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人会混淆数据科学、数据分析和数据工程。这里有一个形象的比喻：数据工程师像建筑师，负责搭建数据基础；数据分析师像故事讲述者，负责解释过去；而数据科学家则像科学家，不仅解释过去，更要预测未来。三者紧密协作，共同构成了数据价值创造的完整链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更详细地对比了三者的区别。从核心任务、关注的问题、使用的工具到最终的产出物，我们可以清晰地看到它们各自的侧重点。数据工程关注“数据管道”，数据分析关注“报告”，而数据科学则关注“预测模型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成为一名数据科学家需要具备哪些技能呢？从2026年的视角来看，技术上，Python和SQL是必备的，同时还要掌握统计学、机器学习等知识。但更重要的是软技能，比如理解业务、有效沟通和解决问题的能力。这是一个要求全面发展的角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三部分，通过一个真实的案例——“中国价格项目”，来学习如何分析业务场景。传统的CPI数据存在滞后、粗糙等问题。而数据科学的解决方案，就是利用海量的电商数据，构建一个更及时、更精细的线上价格指数，从而更好地反映通胀水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案例的核心，在于如何将一个模糊的业务问题，转化为一个清晰的数据问题。这里介绍一个四步法：首先明确业务目标，然后定义所需的数据，接着确定分析方法，最后设计评估指标。通过这四步，我们就能将一个宏大的目标，拆解成可执行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我们的目标定义得更清晰，我们可以使用经典的SMART原则。一个好的目标应该是具体的、可衡量的、可实现的、相关的，并且有明确的时间限制。比如，“提升用户体验”就不是一个好目标，而“在本季度内将App的搜索点击率提升10%”就是一个符合SMART原则的好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四部分，建模基础。首先，什么是模型？简单来说，模型就是对现实世界的简化。就像地图简化了城市一样，数据科学中的模型通过数学公式或算法，简化了复杂的数据关系，帮助我们进行预测和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建模是一个系统工程，遵循着一个基本流程。从问题定义开始，经过数据收集、预处理、特征工程，然后选择模型进行训练和评估。如果模型表现不佳，我们需要回到前面的步骤进行调整。模型上线后，还需要持续监控和迭代。这是一个循环往复、不断优化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科学的建模任务可以分为几大类。最常见的是分类，比如识别垃圾邮件；回归，比如预测房价；聚类，比如给用户分群；以及推荐，比如“猜你喜欢”。理解这些任务类型，有助于我们选择合适的模型来解决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建好后，如何评价它的好坏呢？对于分类模型，我们常用混淆矩阵来分析。基于混淆矩阵，我们可以计算出准确率、精确率、召回率和F1值等指标。精确率关注的是“宁缺毋滥”，而召回率关注的是“宁可错杀，不可放过”。在不同场景下，我们需要权衡这两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之后，我们需要动手实践。现在是课堂研讨时间。大家可以分组讨论两个议题。第一个是选择一个你熟悉的场景，练习如何定义数据问题。第二个是回到我们的核心案例，设计一个完整的建模流程。希望大家积极思考，踊跃发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来总结一下今天课程的核心知识点。我们理解了数据科学的定义和核心思维，了解了数据科学家所需的技能，掌握了从业务问题到数据洞察的核心流程，以及SMART原则和建模的基本概念。这些都是后续学习的重要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展望未来，我们将围绕“中国价格项目”这个案例，深入学习指标定义、统计分析和机器学习算法。希望大家能通过这门课，真正建立起数据驱动的思维方式。课后请大家完成两道作业题，巩固今天所学。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54000" y="2286000"/>
            <a:ext cx="1168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数据科学第一讲：场景简介和建模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064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0F5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从业务问题到数据驱动的解决方案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762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8" name="Connector 8"/>
          <p:cNvCxnSpPr/>
          <p:nvPr/>
        </p:nvCxnSpPr>
        <p:spPr>
          <a:xfrm rot="5331254">
            <a:off x="5778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0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1854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导入：数据科学初探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从身边的案例出发，初步认识数据科学的定义、核心价值，以及它在现代商业和生活中无处不在的广泛应用场景。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72000" y="180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97500" y="1854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数据科学全景图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540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深入剖析数据科学的标准生命周期，厘清其与传统数据分析、数据工程的本质区别，建立完整的学科知识框架。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91500" y="1803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17000" y="1854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业务问题转化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2540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通过真实核心案例进行深度剖析，掌握将模糊的业务痛点转化为可执行的数据问题的方法论，打通业务与技术的壁垒。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089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78000" y="4140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核心建模方法论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4762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学习数据建模的基础流程，了解常见的任务类型分类，以及如何科学地选择模型评估指标来验证算法的有效性。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815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381500" y="393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572000" y="4089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397500" y="4140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实战分组研讨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72000" y="4762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以小组为单位，针对预设的业务挑战进行实战演练。将理论知识应用于实际问题解决，在讨论与协作中深化理解。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01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001000" y="393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191500" y="4089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17000" y="4140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回顾与未来展望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191500" y="4762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系统回顾本课程的核心知识点，总结关键方法论。同时对数据科学的未来发展趋势进行探讨，为后续深入学习指明方向。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导入：欢迎来到数据科学的世界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87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请大家回想一下，在过去的24小时里，你接触到了哪些看似习以为常，实则由复杂算法与模型驱动的智能服务？从指尖滑动的内容流到出行的最优路线，数据科学早已渗透进我们生活的每一个细节之中。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2032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25500" y="298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短视频推荐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5500" y="34925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无需刻意搜索，屏幕自动呈现你感兴趣的内容。精准的个性化分发背后，是基于用户行为的实时计算。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21000" y="2794000"/>
            <a:ext cx="2032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921000" y="2794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984500" y="298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智能购物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984500" y="34925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“猜你喜欢”不再是玄学，而是通过历史偏好与相似人群分析，为你提前筛选潜在需求的智能服务。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0" y="2794000"/>
            <a:ext cx="2032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080000" y="2794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143500" y="298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路线规划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143500" y="34925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毫秒级计算实时路况，避开拥堵与事故，动态生成最优路径，让每一次出行都成为数据驱动的效率实践。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2794000"/>
            <a:ext cx="2032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239000" y="2794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302500" y="298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人脸识别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02500" y="34925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相册自动归类人物、刷脸支付解锁设备，计算机视觉技术赋予了机器“看懂”世界的能力。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98000" y="2794000"/>
            <a:ext cx="2032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398000" y="2794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461500" y="298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语音助手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461500" y="3492500"/>
            <a:ext cx="190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听懂自然语言指令并精准执行，背后是语音识别与自然语言处理（NLP）技术的深度融合。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508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5181600"/>
            <a:ext cx="10033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这些无处不在的智能体验，背后有着同一个核心引擎 ——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。它不仅是代码与算法的技术堆叠，更是让海量无序数据转化为可执行价值、让服务真正“懂”得用户的底层逻辑。这也是我们接下来的课程中，将要共同探索和掌握的核心能力。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什么是数据科学？—— 一个融合的学科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510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通俗来说，数据科学是一门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用数据解决实际问题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的交叉学科。它不只是一系列技术的堆砌，更是一种从纷繁复杂的信息中挖掘价值的思维方式。通过科学的方法，将原始、杂乱的数据转化为清晰、可执行的行动指南，是连接数据与决策的桥梁。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65623">
            <a:off x="5588000" y="2343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13500" y="1651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其核心目标是从海量、高维且动态变化的复杂数据中，提取出有价值的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知识（Knowledge）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洞察（Insight）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。这一过程不仅是发现数据背后的规律，更在于将这些发现转化为商业价值或社会影响力，让数据真正成为驱动发展的核心资产。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5814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06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提供数据分析的底层理论基石，帮助识别数据中的潜在模式、相关性与发展趋势。它教会我们如何从不确定性中寻找确定性，为后续的业务判断提供数学层面的严谨支撑。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429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35814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计算机科学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406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赋予处理海量复杂数据的硬核技术能力，利用Python、R、SQL等工具进行高效的数据清洗、模型构建与算力支撑。将抽象的算法逻辑落地，让大规模数据的实时处理与深度挖掘成为可能。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3429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91500" y="35814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业务知识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406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赋予数据真实的商业与现实意义，让技术成果回归具体的业务场景。只有深刻理解业务痛点、行业规则与业务目标，才能将冰冷的数据转化为可落地的策略，实现技术与业务的同频共振。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33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4356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</a:t>
            </a:r>
            <a:r>
              <a:rPr lang="en-US" sz="1300" b="0" i="0" u="none" strike="noStrike">
                <a:solidFill>
                  <a:srgbClr val="FFFFFF">
                    <a:alpha val="9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数据科学正是这三者的有机融合 —— 统计学提供分析方法，计算机科学提供技术工具，业务知识提供应用方向。三者交汇之处，便是用数据创造价值、驱动决策的核心地带，也是数据科学真正的魅力所在。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数据科学的应用场景：无处不在的力量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63500" cy="234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526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电商推荐系统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基于海量用户行为数据构建智能模型，实现“猜你喜欢”的个性化推荐。通过精准匹配用户兴趣与商品特征，有效降低信息获取成本，让购物体验更具针对性。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47625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33401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实战成果：亚马逊推荐系统贡献超 35% 的平台销售额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63500" cy="234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17526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金融风控与反欺诈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实时捕捉异常交易模式，利用机器学习识别复杂的欺诈行为。系统毫秒级分析交易上下文与历史画像，在保障资金安全的同时，为信贷审批和交易结算提供智能决策支持。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302000"/>
            <a:ext cx="47625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33401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实战成果：Visa AI 系统每年成功拦截数十亿美元欺诈损失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63500" cy="234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2926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智慧医疗与精准诊断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826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深度学习赋能医学影像分析，辅助医生快速定位病灶。从CT影像到病理切片，算法能发现人眼难以察觉的细微特征，大幅缩短诊断周期，让疑难病症的早期发现成为可能。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778500"/>
            <a:ext cx="47625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143000" y="5816600"/>
            <a:ext cx="4508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实战成果：某三甲医院应用后心血管急救成功率提升 12%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4191000"/>
            <a:ext cx="63500" cy="234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42926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智能交通与城市规划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4826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汇聚多维动态数据，构建城市交通数字孪生体。通过实时路况预测与信号灯自适应调控，打破传统“车看灯”模式，让城市路网的通行效率实现质的飞跃。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5778500"/>
            <a:ext cx="47625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5816600"/>
            <a:ext cx="4508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实战成果：杭州城市大脑使部分区域通行效率提升 15%-20%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数据科学概述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18288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413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明确业务目标与核心问题，将模糊的业务需求转化为可执行、可量化的数据科学任务，为后续工作确立正确方向。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19500" y="1778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254500" y="18288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2413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从数据库、API、日志文件等多源异构渠道，系统性收集原始数据，构建项目的基础数据资产，确保数据的全面性。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85000" y="18288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数据清洗预处理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413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处理缺失、异常与重复值，统一数据格式。这是最耗时的环节，通常占据项目60%-80%的时间，直接决定模型质量。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651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953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80500" y="1778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715500" y="18288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探索性分析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0500" y="2413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利用可视化与统计方法挖掘数据规律，识别变量间潜在关联与趋势，验证初始假设，为特征工程提供重要洞察。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93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393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89000" y="4064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524000" y="41148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特征工程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" y="4699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提取、转换并构造对模型预测最具价值的输入变量。通过降维或组合特征，有效提升算法对关键信息的捕捉能力。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492500" y="393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3492500" y="393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3619500" y="4064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254500" y="41148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模型选择与训练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619500" y="4699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根据业务场景选择合适的算法模型，使用标记好的训练数据集进行参数学习与迭代优化，让模型具备解决问题的能力。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393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223000" y="393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350000" y="4064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985000" y="41148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模型评估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350000" y="4699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利用独立的测试数据检验模型泛化能力，通过准确率、召回率等指标判断模型表现，识别过拟合或欠拟合问题。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953500" y="393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8953500" y="393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080500" y="4064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715500" y="41148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部署与监控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080500" y="4699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将训练好的模型集成到实际业务系统中，同时建立长效监控机制，持续跟踪模型效果并根据新数据进行迭代更新。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数据科学与相关领域的关系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87500"/>
            <a:ext cx="1028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在数字化转型的浪潮中，很多人会混淆这三个核心角色：数据工程、数据分析与数据科学。它们究竟分工何在？又是如何共同推动业务价值的？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035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035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数据工程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302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数据世界的“建筑师”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937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负责搭建数据的“高速公路”与“数字仓库”。通过构建稳定的管道与数据库，解决数据的采集、清洗与存储问题，为上层应用提供高质量、高可用的原材料。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6035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6035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72000" y="27940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3302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数据价值的“讲述者”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3937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基于现有数据进行探索与解读。通过统计方法和可视化工具，回答“发生了什么”和“为什么发生”，将枯燥的数据转化为业务人员能理解的故事，支持基于事实的决策。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6035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6035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91500" y="27940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3302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未知未来的“预言家”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3937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结合算法与业务场景的深度挖掘。不仅复盘历史，更利用机器学习等技术预测“将会发生什么”，并通过建模给出“应该怎么做”的最优策略，驱动前瞻性业务创新。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524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6134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541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协同共生：</a:t>
            </a:r>
            <a:r>
              <a:rPr lang="en-US" sz="1300" b="0" i="0" u="none" strike="noStrike">
                <a:solidFill>
                  <a:srgbClr val="1541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三者不是孤立的，而是紧密衔接的闭环。数据工程是地基，数据分析是透视镜，数据科学是引擎，共同构成了从数据获取、理解到价值创造的完整链条。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数据科学、数据分析、数据工程详细对比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052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数据工程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3124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603500"/>
            <a:ext cx="287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核心任务：构建基础设施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" y="2921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搭建并维护底层数据架构，确保数据从源头到存储的高效、稳定流转，是数据应用的基石。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683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关注：如何获取与存储？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解决数据的可靠性、可扩展性与时效性问题，让数据“进得来、存得下、取得出”。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974">
            <a:off x="952513" y="4692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4826000"/>
            <a:ext cx="3124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关键工具：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SQL, Python, Spark, Hadoop, Airflow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自动化数据管道、数据仓库、数据湖、高可用数据库集群。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1651000"/>
            <a:ext cx="35052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450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35500" y="18415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2540000"/>
            <a:ext cx="3124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62500" y="2603500"/>
            <a:ext cx="287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核心任务：描述与解释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762500" y="2921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对现有历史数据进行探索与总结，将复杂的数据转化为易于理解的信息，辅助业务决策。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3683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关注：发生了什么？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分析业务现状、识别关键趋势、定位问题根源，回答“过去的结果是什么”及“背后原因”。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974">
            <a:off x="4635513" y="4692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635500" y="4826000"/>
            <a:ext cx="3124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关键工具：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SQL, Excel, Tableau, Power BI, Pandas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静态业务报告、交互式仪表盘、趋势图表、归因分析结论。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0" y="1651000"/>
            <a:ext cx="35052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280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18500" y="18415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18500" y="2540000"/>
            <a:ext cx="3124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45500" y="2603500"/>
            <a:ext cx="287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核心任务：预测与洞察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445500" y="2921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运用高级算法挖掘数据潜在价值，从海量信息中提取知识，预测未来趋势并指导行动。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18500" y="3683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关注：将会发生什么？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利用历史模式预测未来结果，解决不确定性问题，制定前瞻性策略与智能解决方案。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3974">
            <a:off x="8318513" y="4692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318500" y="4826000"/>
            <a:ext cx="3124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关键工具：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Python(Scikit-learn), R, 统计学, TensorFlow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核心产出：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预测模型、用户分类器、智能推荐系统、自动化决策算法。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数据科学家的角色与技能要求 (2026年视角)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技术硬技能 Hard Skills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" y="2476500"/>
            <a:ext cx="6604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778000" y="2476500"/>
            <a:ext cx="1587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(必备)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41400" y="31750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数据处理与算法建模的核心语言，构建从数据清洗到模型部署全流程的基础工具。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2413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41" r="41"/>
          <a:stretch>
            <a:fillRect/>
          </a:stretch>
        </p:blipFill>
        <p:spPr>
          <a:xfrm>
            <a:off x="3581400" y="2476500"/>
            <a:ext cx="6604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318000" y="2476500"/>
            <a:ext cx="1587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(必备)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81400" y="31750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高效提取业务数据库信息，执行复杂关联查询，是获取高质量分析素材的关键。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814">
            <a:off x="952508" y="405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52500" y="4191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41400" y="4254500"/>
            <a:ext cx="234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理论与算法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41400" y="4635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扎实的统计学与概率论基础，掌握回归、分类、聚类等经典机器学习算法，能够科学验证模型假设并解决实际预测问题。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92500" y="4191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581400" y="4254500"/>
            <a:ext cx="234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工具与工程化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581400" y="4635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熟练运用Pandas、Matplotlib进行数据清洗与可视化；熟悉Hadoop/Spark等大数据技术栈，应对海量非结构化数据场景。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90177">
            <a:off x="40640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1651000"/>
            <a:ext cx="5334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67500" y="17780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业务软技能 Soft Skills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67500" y="2413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6400" y="2476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37400" y="2476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业务理解力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756400" y="2921000"/>
            <a:ext cx="2311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将业务目标和痛点转化为可执行的数据问题，理解业务指标背后的真实逻辑，确保分析方向与业务战略一致。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71000" y="2413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EFF6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9900" y="2476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40900" y="2476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沟通表达力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359900" y="2921000"/>
            <a:ext cx="2311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用非技术语言向决策者解释复杂模型，将晦涩的数据洞察转化为直观的业务建议，推动数据成果的落地应用。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67500" y="4064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7ED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6400" y="41656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137400" y="41656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探索与思辨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756400" y="45974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保持好奇心挖掘数据中的异常值与关联，用批判性思维独立验证业务假设，不满足于表面结果，发现数据背后未被察觉的商业故事。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271000" y="4064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AF5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59900" y="41656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9740900" y="41656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问题解决力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359900" y="45974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面对模糊复杂的业务挑战，能够拆解问题结构，设计合理的数据实验方案，通过数据驱动的方式找到切实可行的优化路径。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业务场景分析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374151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核心案例：China's Prices Project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经济学研究的关键挑战：如何突破传统统计的局限性，获得对通胀水平更精准、即时的洞察？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7305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8956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时效性差：滞后的决策依据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365500"/>
            <a:ext cx="311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传统CPI数据多为月度或季度发布，存在显著的时间延迟。当数据公开时，市场实际情况已发生变化，无法满足对经济趋势的敏捷研判需求。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7305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27305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97400" y="28956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颗粒度粗：宏观掩盖细节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97400" y="3365500"/>
            <a:ext cx="311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作为一个宏观平均指数，传统CPI无法反映不同细分品类、地域、销售渠道间的价格差异。对于需要精准市场定位的商业策略而言，这种模糊的指标参考价值有限。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64500" y="27305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8FAFC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64500" y="27305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55000" y="28956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成本高昂：采样效率瓶颈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3365500"/>
            <a:ext cx="311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依赖线下人工实地采集数据，不仅产生了大量的人力与时间成本，而且受限于人力规模，样本的覆盖面和更新频率难以支撑高频、全量的市场价格监测。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762500"/>
            <a:ext cx="10731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2500" y="4889500"/>
            <a:ext cx="520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数据科学方案：构建高频线上价格指数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397500"/>
            <a:ext cx="520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利用淘宝、京东等主流电商平台的海量实时交易数据，替代传统人工采样。通过对商品价格、销量等微观数据的实时捕捉，构建能反映即时市场动态的线上价格指数，让通胀感知从“按批次”变为“实时流”。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70107">
            <a:off x="5619750" y="5613428"/>
            <a:ext cx="146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604000" y="48895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核心价值：微观视角的精准决策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5397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突破宏观数据的局限性，为经济研究机构、零售企业提供细分品类与品牌的精准价格参照。不仅能大幅降低数据获取成本，更能为供应链调整、定价策略优化提供毫秒级的市场价格反馈机制。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核心方法论：将业务问题转化为数据问题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922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54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这是数据科学项目中最关键也最具挑战性的一步。一个模糊的业务需求必须被转化为一个清晰、可执行的数据任务，通过科学的拆解将抽象目标落地为具体的技术方案。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2641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349500"/>
            <a:ext cx="26416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4765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明确业务目标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2946400"/>
            <a:ext cx="238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我们最终要解决什么业务问题？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530600"/>
            <a:ext cx="2387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例如：构建能及时反映线上通胀水平的每日价格指数，直接对齐业务端的市场趋势监控需求。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2349500"/>
            <a:ext cx="2641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30600" y="2349500"/>
            <a:ext cx="26416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57600" y="24765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定义数据需求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2946400"/>
            <a:ext cx="238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为了实现目标需要哪些数据？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0" y="3530600"/>
            <a:ext cx="2387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例如：明确所需的商品唯一标识、分类体系、历史成交价格、销量以及时间戳等核心字段。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99200" y="2349500"/>
            <a:ext cx="2641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99200" y="2349500"/>
            <a:ext cx="26416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26200" y="24765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确定分析方法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26200" y="2946400"/>
            <a:ext cx="238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属于什么类型的问题与模型？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26200" y="3530600"/>
            <a:ext cx="2387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例如：判定为时间序列分析问题，采用回归模型构建指数，捕捉随时间变化的价格波动规律。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67800" y="2349500"/>
            <a:ext cx="2641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067800" y="2349500"/>
            <a:ext cx="26416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194800" y="2476500"/>
            <a:ext cx="238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设计评估指标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94800" y="2946400"/>
            <a:ext cx="238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如何衡量方案的优劣？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94800" y="3530600"/>
            <a:ext cx="2387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例如：设定与官方CPI的相关性系数、数据更新的时效性以及价格采样的准确性作为核心标准。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4572000"/>
            <a:ext cx="10922000" cy="1651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4572000"/>
            <a:ext cx="508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4699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从抽象到落地：让业务目标可被量化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52070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四个步骤构成了数据科学项目的核心骨架。通过明确目标、定义数据、选择方法和设定指标，我们将原本不可控的业务需求，转化为了一个逻辑严密、可执行、可验证的数据工程。这不仅是技术实现的基础，更是确保最终交付成果能真正解决业务痛点、创造商业价值的关键路径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问题定义的SMART原则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5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57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87500" y="1841500"/>
            <a:ext cx="260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Specific (具体的)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413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目标必须明确具体，拒绝模糊表述，清晰界定问题的核心对象与范围，避免歧义。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048000"/>
            <a:ext cx="330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0861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正例：将电商App的商品搜索点击率提升10%，而非笼统的“提升用户体验”。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1651000"/>
            <a:ext cx="355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72000" y="1778000"/>
            <a:ext cx="57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70500" y="1841500"/>
            <a:ext cx="260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Measurable (可衡量的)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2413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目标必须具备可量化的指标，让结果可观测、可对比，通过客观数据反映执行效果。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3048000"/>
            <a:ext cx="330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35500" y="30861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正例：将推荐系统的点击率从2%提升到5%，用具体的数值变化定义目标达成。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28000" y="1651000"/>
            <a:ext cx="355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255000" y="1778000"/>
            <a:ext cx="57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1841500"/>
            <a:ext cx="260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Achievable (可实现的)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55000" y="2413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目标需立足现实资源与技术条件，既具有挑战性又具备落地可行性，避免设定无法达成的空想。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3048000"/>
            <a:ext cx="330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18500" y="30861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正例：在一个季度内，将推荐系统的准确率提升5%，符合当前模型优化的迭代速度。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4064000"/>
            <a:ext cx="5270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9000" y="4191000"/>
            <a:ext cx="57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651000" y="4254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Relevant (相关的)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9000" y="4826000"/>
            <a:ext cx="5016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设定的目标必须与核心业务战略方向保持高度一致，确保每一次行动和资源投入都能直接服务于业务增长，避免偏离主航道。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89000" y="5524500"/>
            <a:ext cx="50165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52500" y="55626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正例：为卖鞋垂直电商网站构建个性化鞋款推荐系统，精准服务主营业务场景，直接促进GMV提升。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159500" y="4064000"/>
            <a:ext cx="5524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159500" y="4064000"/>
            <a:ext cx="5524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286500" y="4191000"/>
            <a:ext cx="57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048500" y="4254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Time-bound (有时限的)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286500" y="4826000"/>
            <a:ext cx="527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目标必须设定明确的截止期限与关键里程碑，通过时间约束倒逼执行效率，让计划有节奏地推进，便于过程管控和结果复盘。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286500" y="5524500"/>
            <a:ext cx="52705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350000" y="5562600"/>
            <a:ext cx="514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正例：在2026年底前，实现特定物流园区内的L4级自动驾驶试点运营，为后续全面推广确立明确的时间节点。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建模基础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什么是模型？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模型是对现实世界的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简化表示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。它通过捕捉事物的核心特征和内在运行规律，有策略地忽略次要细节，从而将复杂的现实问题抽象化。这种抽象能力让我们能够更高效地理解现象、解释成因，并对未来的发展趋势做出合理预测。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0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87500" y="36195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生活中的隐喻：地图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254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张城市地图就是最直观的模型案例。它并非真实城市的等比复刻，而是过滤掉了建筑内部结构、植被种类等无关信息，仅保留道路网络、交通枢纽和关键地标。这种“去伪存真”的简化，让我们无需了解城市的每一个细节，就能精准地规划路线，从A点到达B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3429000"/>
            <a:ext cx="5207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3429000"/>
            <a:ext cx="520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61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48500" y="36195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科学的语言：公式与算法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254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在数据科学领域，模型通常表现为严谨的数学公式或算法逻辑。例如基础的线性回归方程 `y = ax + b`，它量化了变量间的趋势。通过拟合历史数据，模型学会了数据背后的模式，忽略随机噪声，从而帮助我们对未知情况做出科学的预测和理性的决策。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建模的基本流程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84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841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25500" y="180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5500" y="22860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" y="27305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明确业务核心目标与建模对象，精准界定问题边界与成功指标。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705100" y="1651000"/>
            <a:ext cx="184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705100" y="1651000"/>
            <a:ext cx="1841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768600" y="180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768600" y="22860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数据收集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768600" y="27305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采集多源异构的相关数据，保证样本覆盖度与数据的真实代表性。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48200" y="1651000"/>
            <a:ext cx="184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48200" y="1651000"/>
            <a:ext cx="1841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711700" y="180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11700" y="22860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数据预处理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711700" y="27305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清洗异常与缺失值，完成数据归一化，为模型输入高质量数据。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91300" y="1651000"/>
            <a:ext cx="184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91300" y="1651000"/>
            <a:ext cx="1841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54800" y="180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54800" y="22860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特征工程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54800" y="27305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构造、筛选高价值特征，挖掘数据深层信息，提升模型预测精度。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534400" y="1651000"/>
            <a:ext cx="184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534400" y="1651000"/>
            <a:ext cx="1841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597900" y="180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597900" y="22860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模型选择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597900" y="27305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结合业务场景复杂度，挑选合适的算法模型与技术实现框架。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3810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62000" y="3810000"/>
            <a:ext cx="2413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63600" y="3962400"/>
            <a:ext cx="57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524000" y="3987800"/>
            <a:ext cx="158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3600" y="4445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将处理好的数据输入模型，通过超参数调优与迭代计算，让模型学习数据中的内在规律，生成初步的预测模型。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365500" y="3810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3365500" y="3810000"/>
            <a:ext cx="2413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3467100" y="3962400"/>
            <a:ext cx="57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127500" y="3987800"/>
            <a:ext cx="158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模型评估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3467100" y="4445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利用测试集验证模型效果，若未达标则回溯至特征工程或模型选择环节重新优化，确保模型具备业务可用的精度。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5969000" y="3810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5969000" y="3810000"/>
            <a:ext cx="2413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070600" y="3962400"/>
            <a:ext cx="57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731000" y="3987800"/>
            <a:ext cx="158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模型部署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070600" y="4445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将训练成熟的模型封装为API或服务，无缝集成到业务系统中，实现从离线开发到线上实际业务场景的应用落地。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572500" y="3810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572500" y="3810000"/>
            <a:ext cx="2413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674100" y="3962400"/>
            <a:ext cx="57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334500" y="3987800"/>
            <a:ext cx="158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监控与迭代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674100" y="4445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持续追踪线上模型的表现与数据漂移，基于新业务数据定期对模型进行重训练与更新，确保持续产出业务价值。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762000" y="5651500"/>
            <a:ext cx="11049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1016000" y="5740400"/>
            <a:ext cx="1054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核心理念：</a:t>
            </a:r>
            <a:r>
              <a:rPr lang="en-US" sz="13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并非单向的流水线作业，而是一个动态闭环的优化系统。在整个生命周期中，“评估-反馈-迭代”是关键，从特征工程到最终上线后的监控，每一个环节都需要根据实际结果不断调整，以适应变化的业务环境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常见的建模任务类型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 (Classification)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6035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预测样本属于哪个预定义的类别（离散标签），是有监督学习中最基础的任务之一，通过学习已知类别样本的特征，对未知样本进行判断。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810000"/>
            <a:ext cx="2349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90600" y="3848100"/>
            <a:ext cx="2159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56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区分事物本质，精准识别样本的类别归属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4699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90600" y="47625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垃圾邮件识别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自动判断邮件是“垃圾广告”还是“正常沟通”，帮助用户高效过滤无效信息，提升沟通效率。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1651000"/>
            <a:ext cx="2603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492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619500" y="1841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 (Regression)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26035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基于历史数据预测样本的连续数值输出，变量之间呈现连续的函数关系，而非离散的类别划分，是对趋势和量级的量化预测。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19500" y="3810000"/>
            <a:ext cx="2349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721100" y="3848100"/>
            <a:ext cx="2159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56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量化趋势变化，实现精准的数值估值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19500" y="4699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721100" y="47625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房价趋势预测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结合房屋面积、地段、房龄等多维特征，建立数学模型推算房屋的市场合理价格，辅助交易决策。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651000"/>
            <a:ext cx="2603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1841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聚类 (Clustering)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26035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无监督学习的典型任务，无需预定义标签，将具有相似特征的样本自动归并为若干群组，组内相似度高，组间特征差异显著。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810000"/>
            <a:ext cx="2349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51600" y="3848100"/>
            <a:ext cx="2159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56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挖掘数据内在结构，发现隐藏群体规律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699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51600" y="47625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用户价值分群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分析电商用户的消费频次、品类偏好和客单价，划分出高价值、潜力、普通等不同群体，指导精细化运营。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953500" y="1651000"/>
            <a:ext cx="2603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953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080500" y="1841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 (Recommendation)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080500" y="26035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基于用户历史行为、个人偏好或物品特征，通过算法主动为用户匹配可能感兴趣的内容或商品，是个性化服务的核心技术。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80500" y="3810000"/>
            <a:ext cx="2349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182100" y="3848100"/>
            <a:ext cx="2159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56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实现千人千面，提升体验与业务转化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080500" y="4699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182100" y="47625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猜你喜欢推荐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电商平台根据用户浏览足迹、加购和购买记录，实时推送符合其兴趣的商品，有效提升用户的购物体验和成交率。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模型评估的基本概念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5654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03400"/>
            <a:ext cx="2311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真正例 (TP)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实际类别为正，模型预测结果也为正。代表了模型正确识别出的正样本，是模型性能的核心正向指标。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41700" y="165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441700" y="1651000"/>
            <a:ext cx="25654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68700" y="1803400"/>
            <a:ext cx="2311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假正例 (FP)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68700" y="22860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实际类别为负，模型却预测为正。这是一种“误报”，即把本不属于目标的样本错误地判定为目标。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21400" y="165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21400" y="1651000"/>
            <a:ext cx="25654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48400" y="1803400"/>
            <a:ext cx="2311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真负例 (TN)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48400" y="22860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实际类别为负，模型预测结果也为负。代表了模型正确排除了负样本，体现了模型的“精准排除”能力。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01100" y="1651000"/>
            <a:ext cx="2565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01100" y="1651000"/>
            <a:ext cx="25654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928100" y="1803400"/>
            <a:ext cx="2311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假负例 (FN)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28100" y="22860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实际类别为正，模型却预测为负。这是一种“漏报”，即目标样本被模型错误地遗漏了，在风控场景中需重点关注。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873500"/>
            <a:ext cx="2565400" cy="2349500"/>
          </a:xfrm>
          <a:prstGeom prst="roundRect">
            <a:avLst>
              <a:gd name="adj" fmla="val 0"/>
            </a:avLst>
          </a:prstGeom>
          <a:solidFill>
            <a:srgbClr val="F0FDF4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89000" y="4000500"/>
            <a:ext cx="2311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 Accuracy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9000" y="4445000"/>
            <a:ext cx="23114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44831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(TP + TN) / 总样本数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" y="5207000"/>
            <a:ext cx="2311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反映模型整体的预测正确性。适用于正负样本分布均衡的场景，是最直观但也最容易产生误导的基础指标。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441700" y="3873500"/>
            <a:ext cx="2565400" cy="2349500"/>
          </a:xfrm>
          <a:prstGeom prst="roundRect">
            <a:avLst>
              <a:gd name="adj" fmla="val 0"/>
            </a:avLst>
          </a:prstGeom>
          <a:solidFill>
            <a:srgbClr val="FFF7ED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568700" y="4000500"/>
            <a:ext cx="2311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精确率 Precision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568700" y="4445000"/>
            <a:ext cx="2311400" cy="5715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3632200" y="44831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TP / (TP + FP)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568700" y="5207000"/>
            <a:ext cx="2311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关注“宁缺毋滥”。在预测为正的样本中，真正为正的比例。核心是减少误报，如垃圾邮件过滤需高精确率。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21400" y="3873500"/>
            <a:ext cx="2565400" cy="2349500"/>
          </a:xfrm>
          <a:prstGeom prst="roundRect">
            <a:avLst>
              <a:gd name="adj" fmla="val 0"/>
            </a:avLst>
          </a:prstGeom>
          <a:solidFill>
            <a:srgbClr val="EFF6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248400" y="4000500"/>
            <a:ext cx="2311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召回率 Recall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48400" y="4445000"/>
            <a:ext cx="2311400" cy="571500"/>
          </a:xfrm>
          <a:prstGeom prst="roundRect">
            <a:avLst>
              <a:gd name="adj" fmla="val 0"/>
            </a:avLst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311900" y="44831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TP / (TP + FN)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48400" y="5207000"/>
            <a:ext cx="2311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关注“宁可错杀”。所有真实正样本中被正确预测的比例。核心是减少漏报，如疾病筛查需高召回率。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801100" y="3873500"/>
            <a:ext cx="2565400" cy="2349500"/>
          </a:xfrm>
          <a:prstGeom prst="roundRect">
            <a:avLst>
              <a:gd name="adj" fmla="val 0"/>
            </a:avLst>
          </a:prstGeom>
          <a:solidFill>
            <a:srgbClr val="F5F3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928100" y="4000500"/>
            <a:ext cx="2311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F1 值 F1-Score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928100" y="4445000"/>
            <a:ext cx="2311400" cy="571500"/>
          </a:xfrm>
          <a:prstGeom prst="roundRect">
            <a:avLst>
              <a:gd name="adj" fmla="val 0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991600" y="4483100"/>
            <a:ext cx="218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D28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* P * R / (P + R)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928100" y="5207000"/>
            <a:ext cx="2311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精确率与召回率的调和平均值。用于平衡两者的矛盾，当需要同时兼顾查准和查全时，是最佳的综合衡量标准。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课堂研讨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" cy="457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场景识别与问题定义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请从短视频、在线音乐、外卖等熟悉的业务场景中任选其一，分组进行深度剖析。核心是将抽象的业务困扰转化为可落地的数据问题，完成从业务视角到技术视角的切换。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429000"/>
            <a:ext cx="16256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492500"/>
            <a:ext cx="14986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痛点洞察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3937000"/>
            <a:ext cx="1498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该业务场景下用户、运营或产品侧存在哪些难以解决的核心阻碍与关键问题？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30500" y="3429000"/>
            <a:ext cx="16256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794000" y="3492500"/>
            <a:ext cx="14986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问题转化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794000" y="3937000"/>
            <a:ext cx="1498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如何将定性的业务描述，翻译为可量化、可通过数据计算来回答的具体问题？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81500" y="3429000"/>
            <a:ext cx="16256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45000" y="3492500"/>
            <a:ext cx="14986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路径匹配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3937000"/>
            <a:ext cx="1498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判断属于分类、回归、聚类还是推荐任务？选定最适合解决该问题的建模技术路径。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207000"/>
            <a:ext cx="5016500" cy="889000"/>
          </a:xfrm>
          <a:prstGeom prst="roundRect">
            <a:avLst>
              <a:gd name="adj" fmla="val 0"/>
            </a:avLst>
          </a:prstGeom>
          <a:solidFill>
            <a:srgbClr val="DCFCE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143000" y="53086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研讨目标：</a:t>
            </a:r>
            <a:r>
              <a:rPr lang="en-US" sz="1200" b="0" i="0" u="none" strike="noStrike">
                <a:solidFill>
                  <a:srgbClr val="166534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不只是发现问题，更要学会用数据思维拆解问题，建立业务需求与算法模型之间的有效连接。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90450">
            <a:off x="38735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7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350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1651000"/>
            <a:ext cx="50800" cy="457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1841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建模流程设计实战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24130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回归核心案例</a:t>
            </a:r>
            <a:r>
              <a:rPr lang="en-US" sz="1300" b="1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China's Prices Project</a:t>
            </a: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，模拟真实数据项目的执行环境。请团队协作，设计一套从数据源头到最终结果产出的完整且可执行的建模作业SOP。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3429000"/>
            <a:ext cx="2349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67500" y="3492500"/>
            <a:ext cx="2222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数据收集规划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67500" y="38735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明确需要采集的核心电商数据字段（如商品价格、销量等），定义数据来源渠道与时间周期，确保数据的代表性。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080500" y="3429000"/>
            <a:ext cx="2349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144000" y="3492500"/>
            <a:ext cx="2222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预处理策略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44000" y="38735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预判原始数据的质量问题（缺失、异常、重复），制定清洗规则与标准化处理方案，为后续建模打好基础。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604000" y="4953000"/>
            <a:ext cx="2349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67500" y="5016500"/>
            <a:ext cx="2222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特征工程构造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67500" y="53975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除基础价格外，通过业务逻辑衍生出价格指数、品牌权重等高阶特征，挖掘数据背后的隐藏价值。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080500" y="4953000"/>
            <a:ext cx="2349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144000" y="5016500"/>
            <a:ext cx="2222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模型验证逻辑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144000" y="53975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选择指数计算方法，设计对比实验与误差分析，科学证明最终价格指数的准确性与业务有效性。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课堂小结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数据科学的定义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一门融合统计学、计算机科学与业务领域知识的交叉学科。它不仅仅是技术的堆砌，更是通过数据视角解决实际商业问题的系统性方法。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19600" y="1651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196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10100" y="18415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核心思维：数据驱动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10100" y="23495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拒绝凭经验“拍脑袋”决策，坚持让客观数据成为判断依据。在业务中，通过量化指标验证假设，以数据洞察指导策略调整，实现业务增长的可追溯与可优化。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77200" y="1651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772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267700" y="18415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关键技能模型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67700" y="23495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技术硬技能与业务软技能缺一不可。硬技能涵盖Python/SQL数据处理、统计学基础；软技能则要求深刻理解业务逻辑、商业价值，并具备优秀的沟通与协作能力。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42545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业务价值落地流程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7625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遵循标准闭环：业务问题拆解 → 转化为数据问题 → 数据清洗与处理 → 算法建模分析 → 产出价值洞察。每一步都以前一步为基础，最终形成可执行的业务建议。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19600" y="4064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419600" y="406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610100" y="42545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转化与执行原则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10100" y="47625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掌握业务问题转数据问题的四步法，同时在设定目标时严格遵循SMART原则（具体、可衡量、可实现、相关性、时限性），确保数据分析工作的目标清晰、结果有效。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77200" y="4064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077200" y="406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267700" y="42545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建模基础认知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67700" y="4762500"/>
            <a:ext cx="3086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理解模型本质与构建流程，熟悉分类、回归、聚类、推荐等核心任务场景。掌握准确率、召回率、AUC等评估指标，能够根据实际业务场景选择合适的模型并客观评价效果。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课程展望与作业布置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905000"/>
          </a:xfrm>
          <a:prstGeom prst="roundRect">
            <a:avLst>
              <a:gd name="adj" fmla="val 0"/>
            </a:avLst>
          </a:prstGeom>
          <a:solidFill>
            <a:srgbClr val="F8FAF9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核心案例：China's Prices Project —— 贯穿全课程的数据科学实践主线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讲是后续深入学习的基石，我们将从基础概念延伸至指标定义、统计分析与机器学习算法的综合应用。数据科学不仅是技术工具的掌握，更在于建立“用数据说话”的决策思维。希望大家通过这个真实案例，理解如何将复杂的商业问题转化为可量化的数据模型，为后续解决实际业务挑战打下坚实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270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873500"/>
            <a:ext cx="476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深度思辨：定义与边界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请结合一个具体的业务或生活案例，用自己的语言解释“数据科学”与“数据分析”的核心区别。思考二者在解决问题的路径、目标产出以及对技术能力的要求上有何本质不同。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461000"/>
            <a:ext cx="47625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54991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提示：</a:t>
            </a: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重点在于理解“科学”的探索性与“分析”的验证性差异。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1906">
            <a:off x="4978400" y="4946667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350000" y="3683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3683000"/>
            <a:ext cx="5270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3873500"/>
            <a:ext cx="476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实战演练：业务场景重构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445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选取一个你熟悉的行业或业务场景（如电商、教育、物流等），详细拆解其中一个可落地的数据科学应用方向，并严格遵循 SMART 原则为其制定具体、可衡量的项目目标。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5461000"/>
            <a:ext cx="47625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731000" y="54991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提示：</a:t>
            </a: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确保目标具备明确的时效性与可达成性，体现业务价值。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8826</Words>
  <Application>WPS 演示</Application>
  <PresentationFormat/>
  <Paragraphs>589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没事找事</cp:lastModifiedBy>
  <cp:revision>1</cp:revision>
  <dcterms:created xsi:type="dcterms:W3CDTF">2026-06-01T02:07:49Z</dcterms:created>
  <dcterms:modified xsi:type="dcterms:W3CDTF">2026-06-01T02:07:49Z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{"Label":"1","ContentProducer":"001191110102MACQD9K64010000","ProduceID":"7644463264886541515","ReservedCode1":"","ContentPropagator":"","PropagateID":"","ReservedCode2":""}</vt:lpwstr>
  </property>
  <property fmtid="{D5CDD505-2E9C-101B-9397-08002B2CF9AE}" pid="3" name="ICV">
    <vt:lpwstr>9B4EBAA25DAF40418A37BF4184750266_12</vt:lpwstr>
  </property>
  <property fmtid="{D5CDD505-2E9C-101B-9397-08002B2CF9AE}" pid="4" name="KSOProductBuildVer">
    <vt:lpwstr>2052-12.1.0.20784</vt:lpwstr>
  </property>
</Properties>
</file>