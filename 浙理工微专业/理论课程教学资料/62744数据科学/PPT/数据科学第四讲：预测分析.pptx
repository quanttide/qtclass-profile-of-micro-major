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大家好，欢迎来到数据科学第四讲。今天，我们将一起探索数据科学中最激动人心的领域之一——预测分析。从天气预报到电商推荐，预测无处不在。这节课，我们将学习如何利用数据开启预测未来之门。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本次课程将分为七个部分。我们将从预测分析的基本概念入手，学习回归和分类两大问题类型，深入了解几种常见的预测模型，并掌握模型构建的完整流程。最后通过案例和研讨来巩固所学。</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其实，预测分析并不遥远，它就在我们身边。天气预报、电商推荐、短视频推送，背后都是预测模型在工作。预测分析的本质，就是用历史数据来预测未来，将数据转化为前瞻性的洞察。</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预测问题可以分为两大类：回归和分类。回归用于预测连续的数值，比如房价；而分类用于预测离散的类别，比如判断一封邮件是不是垃圾邮件。理解这两者的区别是选择正确模型的第一步。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如何判断一个回归模型的好坏？我们主要看三个指标：MSE和RMSE衡量预测的误差，值越小越好；而R²衡量模型对数据规律的解释能力，越接近1越好。</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对于分类模型，我们需要更精细的评估。混淆矩阵是基础，它告诉我们模型在哪些地方犯了错。基于此，我们定义了准确率、精确率、召回率和F1值。精确率关注“预测得准不准”，召回率关注“查得全不全”，而F1值则是两者的综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们学习几种常见的预测模型。首先是线性回归，它是最简单的回归模型，核心是寻找数据的最佳拟合直线，优点是简单易懂且解释性强。然后是逻辑回归，别看名字里有“回归”，它其实是个分类模型，通过Sigmoid函数输出概率，特别适合处理二分类问题，比如预测用户是否点击广告或患者是否患病。</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决策树是一种非常直观的模型，它像一个流程图一样做决策。但它的缺点是容易过拟合。为了解决这个问题，我们引入了随机森林。它通过构建多棵决策树并综合它们的结果，大大提高了预测精度和稳定性，是数据科学竞赛中的“万金油”模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当数据带有时间顺序时，我们需要使用时间序列预测方法。经典的ARIMA模型和强大的LSTM神经网络都是处理这类问题的利器，广泛应用于销量预测、股价预测等场景。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面对这么多模型，我们该如何选择？这张表格提供了一个基本的选择策略。简单来说，如果数据是线性的，优先考虑线性模型；如果是非线性的，随机森林通常是个好选择；如果需要解释，决策树或线性回归更合适；如果是时间序列数据，则需要专门的模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构建模型不是一蹴而就的，需要遵循一个完整的流程。首先是数据准备，记住“垃圾进，垃圾出”，数据质量是基础。然后是至关重要的特征工程，好的特征往往比复杂的算法更有效。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流程的后半部分包括模型训练、评估、调参和部署。我们需要将数据分为训练集和测试集，用训练集学习，用测试集评估。通过调参优化模型，最后将模型部署到实际业务中，真正产生价值。</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理论学完了，我们来看一个实战案例：预测加州房价。这个案例带领我们走完了一个完整的预测分析流程，从加载数据、预处理、模型训练到评估。大家可以看到，整个过程都可以通过几行Python代码实现。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最后，我们将预测结果可视化。这张图展示了真实房价和预测房价的关系。理想情况下，所有点都应该落在红色的对角线上。通过观察，我们可以直观地看到模型的预测效果和误差模式。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现在是课堂研讨时间。第一个议题是模型选择。假设你要做电商销量预测，你会如何选择模型？这需要综合考虑数据特点、业务需求和模型特性。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个议题是关于结果评估。一个准确率95%的疾病预测模型，真的好吗？这个问题提醒我们，在数据不平衡的情况下，准确率可能具有欺骗性。我们必须深入分析混淆矩阵，关注精确率和召回率，尤其是在像疾病诊断这样的关键场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最后，我们来总结一下。今天我们学习了预测分析的两大问题类型、核心评估指标、常见模型以及完整的模型构建流程。希望大家能掌握这些核心知识点。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课后请大家完成两道作业题。一道思考题，帮助大家深入理解评估指标。另一道实践题，希望大家动手尝试用随机森林模型来改进我们的房价预测，看看效果是否会更好。</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9" Type="http://schemas.openxmlformats.org/officeDocument/2006/relationships/image" Target="../media/image10.svg"/><Relationship Id="rId8" Type="http://schemas.openxmlformats.org/officeDocument/2006/relationships/image" Target="../media/image9.png"/><Relationship Id="rId7" Type="http://schemas.openxmlformats.org/officeDocument/2006/relationships/image" Target="../media/image8.svg"/><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3" Type="http://schemas.openxmlformats.org/officeDocument/2006/relationships/image" Target="../media/image4.svg"/><Relationship Id="rId2" Type="http://schemas.openxmlformats.org/officeDocument/2006/relationships/image" Target="../media/image3.png"/><Relationship Id="rId15" Type="http://schemas.openxmlformats.org/officeDocument/2006/relationships/notesSlide" Target="../notesSlides/notesSlide3.xml"/><Relationship Id="rId14" Type="http://schemas.openxmlformats.org/officeDocument/2006/relationships/slideLayout" Target="../slideLayouts/slideLayout12.xml"/><Relationship Id="rId13" Type="http://schemas.openxmlformats.org/officeDocument/2006/relationships/image" Target="../media/image14.svg"/><Relationship Id="rId12" Type="http://schemas.openxmlformats.org/officeDocument/2006/relationships/image" Target="../media/image13.png"/><Relationship Id="rId11" Type="http://schemas.openxmlformats.org/officeDocument/2006/relationships/image" Target="../media/image12.svg"/><Relationship Id="rId10" Type="http://schemas.openxmlformats.org/officeDocument/2006/relationships/image" Target="../media/image11.png"/><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2.xml"/><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9" Type="http://schemas.openxmlformats.org/officeDocument/2006/relationships/notesSlide" Target="../notesSlides/notesSlide14.xml"/><Relationship Id="rId8" Type="http://schemas.openxmlformats.org/officeDocument/2006/relationships/slideLayout" Target="../slideLayouts/slideLayout12.xml"/><Relationship Id="rId7" Type="http://schemas.openxmlformats.org/officeDocument/2006/relationships/image" Target="../media/image22.svg"/><Relationship Id="rId6" Type="http://schemas.openxmlformats.org/officeDocument/2006/relationships/image" Target="../media/image21.png"/><Relationship Id="rId5" Type="http://schemas.openxmlformats.org/officeDocument/2006/relationships/image" Target="../media/image20.svg"/><Relationship Id="rId4" Type="http://schemas.openxmlformats.org/officeDocument/2006/relationships/image" Target="../media/image19.png"/><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2.xml"/><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gradFill rotWithShape="1">
            <a:gsLst>
              <a:gs pos="0">
                <a:srgbClr val="000000">
                  <a:alpha val="40000"/>
                </a:srgbClr>
              </a:gs>
              <a:gs pos="100000">
                <a:srgbClr val="000000">
                  <a:alpha val="75000"/>
                </a:srgbClr>
              </a:gs>
            </a:gsLst>
            <a:lin ang="5400000"/>
          </a:gra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413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数据科学第四讲：预测分析</a:t>
            </a:r>
            <a:endParaRPr lang="en-US" sz="1100"/>
          </a:p>
        </p:txBody>
      </p:sp>
      <p:sp>
        <p:nvSpPr>
          <p:cNvPr id="4" name="AutoShape 4"/>
          <p:cNvSpPr/>
          <p:nvPr/>
        </p:nvSpPr>
        <p:spPr>
          <a:xfrm>
            <a:off x="0" y="3683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0"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开启预测未来之门</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课程大纲</a:t>
            </a:r>
            <a:endParaRPr lang="en-US" sz="1100"/>
          </a:p>
        </p:txBody>
      </p:sp>
      <p:sp>
        <p:nvSpPr>
          <p:cNvPr id="4" name="AutoShape 4"/>
          <p:cNvSpPr/>
          <p:nvPr/>
        </p:nvSpPr>
        <p:spPr>
          <a:xfrm>
            <a:off x="762000" y="1651000"/>
            <a:ext cx="3429000" cy="1968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4290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03400"/>
            <a:ext cx="698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C55E">
                    <a:alpha val="2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7" name="AutoShape 7"/>
          <p:cNvSpPr/>
          <p:nvPr/>
        </p:nvSpPr>
        <p:spPr>
          <a:xfrm>
            <a:off x="1714500" y="1841500"/>
            <a:ext cx="2349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课程导入</a:t>
            </a:r>
            <a:endParaRPr lang="en-US" sz="1100"/>
          </a:p>
        </p:txBody>
      </p:sp>
      <p:sp>
        <p:nvSpPr>
          <p:cNvPr id="8" name="AutoShape 8"/>
          <p:cNvSpPr/>
          <p:nvPr/>
        </p:nvSpPr>
        <p:spPr>
          <a:xfrm>
            <a:off x="952500" y="2540000"/>
            <a:ext cx="3111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开启预测未来之门，建立对预测分析的基本认知，了解课程核心目标与学习路径。</a:t>
            </a:r>
            <a:endParaRPr lang="en-US" sz="1100"/>
          </a:p>
        </p:txBody>
      </p:sp>
      <p:sp>
        <p:nvSpPr>
          <p:cNvPr id="9" name="AutoShape 9"/>
          <p:cNvSpPr/>
          <p:nvPr/>
        </p:nvSpPr>
        <p:spPr>
          <a:xfrm>
            <a:off x="4445000" y="1651000"/>
            <a:ext cx="3429000" cy="1968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4445000" y="1651000"/>
            <a:ext cx="34290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4635500" y="1803400"/>
            <a:ext cx="698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C55E">
                    <a:alpha val="2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2" name="AutoShape 12"/>
          <p:cNvSpPr/>
          <p:nvPr/>
        </p:nvSpPr>
        <p:spPr>
          <a:xfrm>
            <a:off x="5397500" y="1841500"/>
            <a:ext cx="2349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预测问题类型</a:t>
            </a:r>
            <a:endParaRPr lang="en-US" sz="1100"/>
          </a:p>
        </p:txBody>
      </p:sp>
      <p:sp>
        <p:nvSpPr>
          <p:cNvPr id="13" name="AutoShape 13"/>
          <p:cNvSpPr/>
          <p:nvPr/>
        </p:nvSpPr>
        <p:spPr>
          <a:xfrm>
            <a:off x="4635500" y="2540000"/>
            <a:ext cx="3111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深入剖析预测分析的两大核心范式——回归与分类，明确不同业务场景下的问题界定标准。</a:t>
            </a:r>
            <a:endParaRPr lang="en-US" sz="1100"/>
          </a:p>
        </p:txBody>
      </p:sp>
      <p:sp>
        <p:nvSpPr>
          <p:cNvPr id="14" name="AutoShape 14"/>
          <p:cNvSpPr/>
          <p:nvPr/>
        </p:nvSpPr>
        <p:spPr>
          <a:xfrm>
            <a:off x="8128000" y="1651000"/>
            <a:ext cx="3429000" cy="1968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8128000" y="1651000"/>
            <a:ext cx="34290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8318500" y="1803400"/>
            <a:ext cx="698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C55E">
                    <a:alpha val="2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7" name="AutoShape 17"/>
          <p:cNvSpPr/>
          <p:nvPr/>
        </p:nvSpPr>
        <p:spPr>
          <a:xfrm>
            <a:off x="9080500" y="1841500"/>
            <a:ext cx="2349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常见预测模型</a:t>
            </a:r>
            <a:endParaRPr lang="en-US" sz="1100"/>
          </a:p>
        </p:txBody>
      </p:sp>
      <p:sp>
        <p:nvSpPr>
          <p:cNvPr id="18" name="AutoShape 18"/>
          <p:cNvSpPr/>
          <p:nvPr/>
        </p:nvSpPr>
        <p:spPr>
          <a:xfrm>
            <a:off x="8318500" y="2540000"/>
            <a:ext cx="3111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从基础的线性回归模型进阶到强大的随机森林算法，掌握不同模型的适用条件与算法原理。</a:t>
            </a:r>
            <a:endParaRPr lang="en-US" sz="1100"/>
          </a:p>
        </p:txBody>
      </p:sp>
      <p:sp>
        <p:nvSpPr>
          <p:cNvPr id="19" name="AutoShape 19"/>
          <p:cNvSpPr/>
          <p:nvPr/>
        </p:nvSpPr>
        <p:spPr>
          <a:xfrm>
            <a:off x="762000" y="3810000"/>
            <a:ext cx="3429000" cy="1968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762000" y="3810000"/>
            <a:ext cx="34290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952500" y="3962400"/>
            <a:ext cx="698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C55E">
                    <a:alpha val="2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22" name="AutoShape 22"/>
          <p:cNvSpPr/>
          <p:nvPr/>
        </p:nvSpPr>
        <p:spPr>
          <a:xfrm>
            <a:off x="1714500" y="4000500"/>
            <a:ext cx="2349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模型构建流程</a:t>
            </a:r>
            <a:endParaRPr lang="en-US" sz="1100"/>
          </a:p>
        </p:txBody>
      </p:sp>
      <p:sp>
        <p:nvSpPr>
          <p:cNvPr id="23" name="AutoShape 23"/>
          <p:cNvSpPr/>
          <p:nvPr/>
        </p:nvSpPr>
        <p:spPr>
          <a:xfrm>
            <a:off x="952500" y="4635500"/>
            <a:ext cx="3111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梳理从数据清洗、特征工程、模型训练到最终部署上线的标准化工作流，建立工程化思维。</a:t>
            </a:r>
            <a:endParaRPr lang="en-US" sz="1100"/>
          </a:p>
        </p:txBody>
      </p:sp>
      <p:sp>
        <p:nvSpPr>
          <p:cNvPr id="24" name="AutoShape 24"/>
          <p:cNvSpPr/>
          <p:nvPr/>
        </p:nvSpPr>
        <p:spPr>
          <a:xfrm>
            <a:off x="4445000" y="3810000"/>
            <a:ext cx="3429000" cy="1968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4445000" y="3810000"/>
            <a:ext cx="34290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4635500" y="3962400"/>
            <a:ext cx="698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C55E">
                    <a:alpha val="2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sp>
        <p:nvSpPr>
          <p:cNvPr id="27" name="AutoShape 27"/>
          <p:cNvSpPr/>
          <p:nvPr/>
        </p:nvSpPr>
        <p:spPr>
          <a:xfrm>
            <a:off x="5397500" y="4000500"/>
            <a:ext cx="2349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案例分析</a:t>
            </a:r>
            <a:endParaRPr lang="en-US" sz="1100"/>
          </a:p>
        </p:txBody>
      </p:sp>
      <p:sp>
        <p:nvSpPr>
          <p:cNvPr id="28" name="AutoShape 28"/>
          <p:cNvSpPr/>
          <p:nvPr/>
        </p:nvSpPr>
        <p:spPr>
          <a:xfrm>
            <a:off x="4635500" y="4635500"/>
            <a:ext cx="3111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结合真实行业业务场景，从理论走向实践，通过具体案例演示如何将预测模型应用于实际决策。</a:t>
            </a:r>
            <a:endParaRPr lang="en-US" sz="1100"/>
          </a:p>
        </p:txBody>
      </p:sp>
      <p:sp>
        <p:nvSpPr>
          <p:cNvPr id="29" name="AutoShape 29"/>
          <p:cNvSpPr/>
          <p:nvPr/>
        </p:nvSpPr>
        <p:spPr>
          <a:xfrm>
            <a:off x="8128000" y="3810000"/>
            <a:ext cx="3429000" cy="1968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8128000" y="3810000"/>
            <a:ext cx="34290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8318500" y="3962400"/>
            <a:ext cx="698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C55E">
                    <a:alpha val="2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06</a:t>
            </a:r>
            <a:endParaRPr lang="en-US" sz="1100"/>
          </a:p>
        </p:txBody>
      </p:sp>
      <p:sp>
        <p:nvSpPr>
          <p:cNvPr id="32" name="AutoShape 32"/>
          <p:cNvSpPr/>
          <p:nvPr/>
        </p:nvSpPr>
        <p:spPr>
          <a:xfrm>
            <a:off x="9080500" y="4000500"/>
            <a:ext cx="2349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课堂研讨</a:t>
            </a:r>
            <a:endParaRPr lang="en-US" sz="1100"/>
          </a:p>
        </p:txBody>
      </p:sp>
      <p:sp>
        <p:nvSpPr>
          <p:cNvPr id="33" name="AutoShape 33"/>
          <p:cNvSpPr/>
          <p:nvPr/>
        </p:nvSpPr>
        <p:spPr>
          <a:xfrm>
            <a:off x="8318500" y="4635500"/>
            <a:ext cx="3111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针对预测模型的局限性与应用挑战展开深度研讨，共同探讨在复杂环境下的模型优化策略。</a:t>
            </a:r>
            <a:endParaRPr lang="en-US" sz="1100"/>
          </a:p>
        </p:txBody>
      </p:sp>
      <p:sp>
        <p:nvSpPr>
          <p:cNvPr id="34" name="AutoShape 34"/>
          <p:cNvSpPr/>
          <p:nvPr/>
        </p:nvSpPr>
        <p:spPr>
          <a:xfrm>
            <a:off x="762000" y="5842000"/>
            <a:ext cx="10795000" cy="9525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p>
        </p:txBody>
      </p:sp>
      <p:sp>
        <p:nvSpPr>
          <p:cNvPr id="35" name="AutoShape 35"/>
          <p:cNvSpPr/>
          <p:nvPr/>
        </p:nvSpPr>
        <p:spPr>
          <a:xfrm>
            <a:off x="762000" y="5842000"/>
            <a:ext cx="50800" cy="952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36" name="AutoShape 36"/>
          <p:cNvSpPr/>
          <p:nvPr/>
        </p:nvSpPr>
        <p:spPr>
          <a:xfrm>
            <a:off x="952500" y="58801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C55E">
                    <a:alpha val="3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07</a:t>
            </a:r>
            <a:endParaRPr lang="en-US" sz="1100"/>
          </a:p>
        </p:txBody>
      </p:sp>
      <p:sp>
        <p:nvSpPr>
          <p:cNvPr id="37" name="AutoShape 37"/>
          <p:cNvSpPr/>
          <p:nvPr/>
        </p:nvSpPr>
        <p:spPr>
          <a:xfrm>
            <a:off x="1905000" y="5905500"/>
            <a:ext cx="254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课堂小结与作业</a:t>
            </a:r>
            <a:endParaRPr lang="en-US" sz="1100"/>
          </a:p>
        </p:txBody>
      </p:sp>
      <p:cxnSp>
        <p:nvCxnSpPr>
          <p:cNvPr id="38" name="Connector 38"/>
          <p:cNvCxnSpPr/>
          <p:nvPr/>
        </p:nvCxnSpPr>
        <p:spPr>
          <a:xfrm rot="5337502">
            <a:off x="4222750" y="6311958"/>
            <a:ext cx="698500" cy="12700"/>
          </a:xfrm>
          <a:prstGeom prst="straightConnector1">
            <a:avLst/>
          </a:prstGeom>
          <a:solidFill>
            <a:srgbClr val="DEE0E3">
              <a:alpha val="100000"/>
            </a:srgbClr>
          </a:solidFill>
          <a:ln w="12700" cap="flat" cmpd="sng">
            <a:solidFill>
              <a:srgbClr val="22C55E">
                <a:alpha val="25000"/>
              </a:srgbClr>
            </a:solidFill>
            <a:prstDash val="solid"/>
            <a:round/>
            <a:headEnd type="none" w="med" len="med"/>
            <a:tailEnd type="none" w="med" len="med"/>
          </a:ln>
        </p:spPr>
      </p:cxnSp>
      <p:sp>
        <p:nvSpPr>
          <p:cNvPr id="39" name="AutoShape 39"/>
          <p:cNvSpPr/>
          <p:nvPr/>
        </p:nvSpPr>
        <p:spPr>
          <a:xfrm>
            <a:off x="4762500" y="5969000"/>
            <a:ext cx="6667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系统回顾课程核心知识点，通过课后练习巩固模型构建技能，为后续深入学习打下坚实基础。</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我们身边的预测</a:t>
            </a:r>
            <a:endParaRPr lang="en-US" sz="1100"/>
          </a:p>
        </p:txBody>
      </p:sp>
      <p:sp>
        <p:nvSpPr>
          <p:cNvPr id="4" name="AutoShape 4"/>
          <p:cNvSpPr/>
          <p:nvPr/>
        </p:nvSpPr>
        <p:spPr>
          <a:xfrm>
            <a:off x="762000" y="1651000"/>
            <a:ext cx="3378200" cy="1714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0800" cy="1714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1778000"/>
            <a:ext cx="304800" cy="304800"/>
          </a:xfrm>
          <a:prstGeom prst="rect">
            <a:avLst/>
          </a:prstGeom>
        </p:spPr>
      </p:pic>
      <p:sp>
        <p:nvSpPr>
          <p:cNvPr id="7" name="AutoShape 7"/>
          <p:cNvSpPr/>
          <p:nvPr/>
        </p:nvSpPr>
        <p:spPr>
          <a:xfrm>
            <a:off x="1397000" y="1752600"/>
            <a:ext cx="254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天气预报</a:t>
            </a:r>
            <a:endParaRPr lang="en-US" sz="1100"/>
          </a:p>
        </p:txBody>
      </p:sp>
      <p:sp>
        <p:nvSpPr>
          <p:cNvPr id="8" name="AutoShape 8"/>
          <p:cNvSpPr/>
          <p:nvPr/>
        </p:nvSpPr>
        <p:spPr>
          <a:xfrm>
            <a:off x="952500" y="22225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基于气象数据模型，精准预测未来的阴晴雨雪，让我们提前规划出行与生活安排，规避天气带来的不便。</a:t>
            </a:r>
            <a:endParaRPr lang="en-US" sz="1100"/>
          </a:p>
        </p:txBody>
      </p:sp>
      <p:sp>
        <p:nvSpPr>
          <p:cNvPr id="9" name="AutoShape 9"/>
          <p:cNvSpPr/>
          <p:nvPr/>
        </p:nvSpPr>
        <p:spPr>
          <a:xfrm>
            <a:off x="4394200" y="1651000"/>
            <a:ext cx="3378200" cy="1714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4394200" y="1651000"/>
            <a:ext cx="50800" cy="1714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84700" y="1778000"/>
            <a:ext cx="304800" cy="304800"/>
          </a:xfrm>
          <a:prstGeom prst="rect">
            <a:avLst/>
          </a:prstGeom>
        </p:spPr>
      </p:pic>
      <p:sp>
        <p:nvSpPr>
          <p:cNvPr id="12" name="AutoShape 12"/>
          <p:cNvSpPr/>
          <p:nvPr/>
        </p:nvSpPr>
        <p:spPr>
          <a:xfrm>
            <a:off x="5029200" y="1752600"/>
            <a:ext cx="254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电商推荐</a:t>
            </a:r>
            <a:endParaRPr lang="en-US" sz="1100"/>
          </a:p>
        </p:txBody>
      </p:sp>
      <p:sp>
        <p:nvSpPr>
          <p:cNvPr id="13" name="AutoShape 13"/>
          <p:cNvSpPr/>
          <p:nvPr/>
        </p:nvSpPr>
        <p:spPr>
          <a:xfrm>
            <a:off x="4584700" y="22225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深度挖掘用户历史行为，预测潜在的商品偏好，在海量商品中为你“量身定制”，让购物体验更加贴心高效。</a:t>
            </a:r>
            <a:endParaRPr lang="en-US" sz="1100"/>
          </a:p>
        </p:txBody>
      </p:sp>
      <p:sp>
        <p:nvSpPr>
          <p:cNvPr id="14" name="AutoShape 14"/>
          <p:cNvSpPr/>
          <p:nvPr/>
        </p:nvSpPr>
        <p:spPr>
          <a:xfrm>
            <a:off x="8026400" y="1651000"/>
            <a:ext cx="3378200" cy="1714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8026400" y="1651000"/>
            <a:ext cx="50800" cy="1714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16900" y="1778000"/>
            <a:ext cx="304800" cy="304800"/>
          </a:xfrm>
          <a:prstGeom prst="rect">
            <a:avLst/>
          </a:prstGeom>
        </p:spPr>
      </p:pic>
      <p:sp>
        <p:nvSpPr>
          <p:cNvPr id="17" name="AutoShape 17"/>
          <p:cNvSpPr/>
          <p:nvPr/>
        </p:nvSpPr>
        <p:spPr>
          <a:xfrm>
            <a:off x="8661400" y="1752600"/>
            <a:ext cx="254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短视频推送</a:t>
            </a:r>
            <a:endParaRPr lang="en-US" sz="1100"/>
          </a:p>
        </p:txBody>
      </p:sp>
      <p:sp>
        <p:nvSpPr>
          <p:cNvPr id="18" name="AutoShape 18"/>
          <p:cNvSpPr/>
          <p:nvPr/>
        </p:nvSpPr>
        <p:spPr>
          <a:xfrm>
            <a:off x="8216900" y="22225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实时捕捉观看习惯与兴趣动态，智能预测内容喜好，实现毫秒级的个性化分发，让每一次滑动都充满惊喜。</a:t>
            </a:r>
            <a:endParaRPr lang="en-US" sz="1100"/>
          </a:p>
        </p:txBody>
      </p:sp>
      <p:sp>
        <p:nvSpPr>
          <p:cNvPr id="19" name="AutoShape 19"/>
          <p:cNvSpPr/>
          <p:nvPr/>
        </p:nvSpPr>
        <p:spPr>
          <a:xfrm>
            <a:off x="762000" y="3556000"/>
            <a:ext cx="3378200" cy="1587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762000" y="3556000"/>
            <a:ext cx="50800" cy="1587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2500" y="3683000"/>
            <a:ext cx="304800" cy="304800"/>
          </a:xfrm>
          <a:prstGeom prst="rect">
            <a:avLst/>
          </a:prstGeom>
        </p:spPr>
      </p:pic>
      <p:sp>
        <p:nvSpPr>
          <p:cNvPr id="22" name="AutoShape 22"/>
          <p:cNvSpPr/>
          <p:nvPr/>
        </p:nvSpPr>
        <p:spPr>
          <a:xfrm>
            <a:off x="1397000" y="3657600"/>
            <a:ext cx="254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金融分析</a:t>
            </a:r>
            <a:endParaRPr lang="en-US" sz="1100"/>
          </a:p>
        </p:txBody>
      </p:sp>
      <p:sp>
        <p:nvSpPr>
          <p:cNvPr id="23" name="AutoShape 23"/>
          <p:cNvSpPr/>
          <p:nvPr/>
        </p:nvSpPr>
        <p:spPr>
          <a:xfrm>
            <a:off x="952500" y="4127500"/>
            <a:ext cx="3048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综合宏观经济与交易数据，预测市场趋势与资产涨跌，为投资组合调整和风险控制提供关键的决策依据。</a:t>
            </a:r>
            <a:endParaRPr lang="en-US" sz="1100"/>
          </a:p>
        </p:txBody>
      </p:sp>
      <p:sp>
        <p:nvSpPr>
          <p:cNvPr id="24" name="AutoShape 24"/>
          <p:cNvSpPr/>
          <p:nvPr/>
        </p:nvSpPr>
        <p:spPr>
          <a:xfrm>
            <a:off x="4394200" y="3556000"/>
            <a:ext cx="3378200" cy="1587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4394200" y="3556000"/>
            <a:ext cx="50800" cy="1587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584700" y="3683000"/>
            <a:ext cx="304800" cy="304800"/>
          </a:xfrm>
          <a:prstGeom prst="rect">
            <a:avLst/>
          </a:prstGeom>
        </p:spPr>
      </p:pic>
      <p:sp>
        <p:nvSpPr>
          <p:cNvPr id="27" name="AutoShape 27"/>
          <p:cNvSpPr/>
          <p:nvPr/>
        </p:nvSpPr>
        <p:spPr>
          <a:xfrm>
            <a:off x="5029200" y="3657600"/>
            <a:ext cx="254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企业管理</a:t>
            </a:r>
            <a:endParaRPr lang="en-US" sz="1100"/>
          </a:p>
        </p:txBody>
      </p:sp>
      <p:sp>
        <p:nvSpPr>
          <p:cNvPr id="28" name="AutoShape 28"/>
          <p:cNvSpPr/>
          <p:nvPr/>
        </p:nvSpPr>
        <p:spPr>
          <a:xfrm>
            <a:off x="4584700" y="4127500"/>
            <a:ext cx="3048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结合过往业绩与市场反馈，科学预测下季度销量，帮助企业合理调配资源，优化库存周转与生产计划。</a:t>
            </a:r>
            <a:endParaRPr lang="en-US" sz="1100"/>
          </a:p>
        </p:txBody>
      </p:sp>
      <p:sp>
        <p:nvSpPr>
          <p:cNvPr id="29" name="AutoShape 29"/>
          <p:cNvSpPr/>
          <p:nvPr/>
        </p:nvSpPr>
        <p:spPr>
          <a:xfrm>
            <a:off x="8026400" y="3556000"/>
            <a:ext cx="3378200" cy="1587500"/>
          </a:xfrm>
          <a:prstGeom prst="roundRect">
            <a:avLst>
              <a:gd name="adj" fmla="val 0"/>
            </a:avLst>
          </a:prstGeom>
          <a:solidFill>
            <a:srgbClr val="22C55E">
              <a:alpha val="18000"/>
            </a:srgbClr>
          </a:solidFill>
          <a:ln w="25400" cap="flat" cmpd="sng">
            <a:noFill/>
            <a:prstDash val="solid"/>
            <a:round/>
          </a:ln>
        </p:spPr>
        <p:txBody>
          <a:bodyPr vert="horz" wrap="square" lIns="63500" tIns="63500" rIns="63500" bIns="63500" rtlCol="0" anchor="ctr"/>
          <a:lstStyle/>
          <a:p>
            <a:pPr algn="ctr">
              <a:defRPr/>
            </a:pPr>
          </a:p>
        </p:txBody>
      </p:sp>
      <p:pic>
        <p:nvPicPr>
          <p:cNvPr id="30" name="Picture 30"/>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216900" y="3683000"/>
            <a:ext cx="279400" cy="279400"/>
          </a:xfrm>
          <a:prstGeom prst="rect">
            <a:avLst/>
          </a:prstGeom>
        </p:spPr>
      </p:pic>
      <p:sp>
        <p:nvSpPr>
          <p:cNvPr id="31" name="AutoShape 31"/>
          <p:cNvSpPr/>
          <p:nvPr/>
        </p:nvSpPr>
        <p:spPr>
          <a:xfrm>
            <a:off x="8636000" y="3657600"/>
            <a:ext cx="254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核心问题</a:t>
            </a:r>
            <a:endParaRPr lang="en-US" sz="1100"/>
          </a:p>
        </p:txBody>
      </p:sp>
      <p:sp>
        <p:nvSpPr>
          <p:cNvPr id="32" name="AutoShape 32"/>
          <p:cNvSpPr/>
          <p:nvPr/>
        </p:nvSpPr>
        <p:spPr>
          <a:xfrm>
            <a:off x="8216900" y="4127500"/>
            <a:ext cx="3048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14532D"/>
                </a:solidFill>
                <a:latin typeface="Noto Sans SC" panose="020B0200000000000000" charset="-122"/>
                <a:ea typeface="Noto Sans SC" panose="020B0200000000000000" charset="-122"/>
                <a:cs typeface="Noto Sans SC" panose="020B0200000000000000" charset="-122"/>
                <a:sym typeface="Noto Sans SC" panose="020B0200000000000000" charset="-122"/>
              </a:rPr>
              <a:t>如何从纷繁复杂的数据洪流中，拨开迷雾洞察规律？这正是我们要探讨的——利用预测分析，把数据变成未来的答案。</a:t>
            </a:r>
            <a:endParaRPr lang="en-US" sz="1100"/>
          </a:p>
        </p:txBody>
      </p:sp>
      <p:sp>
        <p:nvSpPr>
          <p:cNvPr id="33" name="AutoShape 33"/>
          <p:cNvSpPr/>
          <p:nvPr/>
        </p:nvSpPr>
        <p:spPr>
          <a:xfrm>
            <a:off x="762000" y="5334000"/>
            <a:ext cx="11049000" cy="1206500"/>
          </a:xfrm>
          <a:prstGeom prst="roundRect">
            <a:avLst>
              <a:gd name="adj" fmla="val 0"/>
            </a:avLst>
          </a:prstGeom>
          <a:solidFill>
            <a:srgbClr val="F9FAFB">
              <a:alpha val="95000"/>
            </a:srgbClr>
          </a:solidFill>
          <a:ln w="25400" cap="flat" cmpd="sng">
            <a:noFill/>
            <a:prstDash val="solid"/>
            <a:round/>
          </a:ln>
        </p:spPr>
        <p:txBody>
          <a:bodyPr vert="horz" wrap="square" lIns="63500" tIns="63500" rIns="63500" bIns="63500" rtlCol="0" anchor="ctr"/>
          <a:lstStyle/>
          <a:p>
            <a:pPr algn="ctr">
              <a:defRPr/>
            </a:pPr>
          </a:p>
        </p:txBody>
      </p:sp>
      <p:sp>
        <p:nvSpPr>
          <p:cNvPr id="34" name="AutoShape 34"/>
          <p:cNvSpPr/>
          <p:nvPr/>
        </p:nvSpPr>
        <p:spPr>
          <a:xfrm>
            <a:off x="762000" y="5334000"/>
            <a:ext cx="11049000" cy="38100"/>
          </a:xfrm>
          <a:prstGeom prst="roundRect">
            <a:avLst>
              <a:gd name="adj" fmla="val 0"/>
            </a:avLst>
          </a:prstGeom>
          <a:solidFill>
            <a:srgbClr val="22C55E">
              <a:alpha val="70000"/>
            </a:srgbClr>
          </a:solidFill>
          <a:ln w="25400" cap="flat" cmpd="sng">
            <a:noFill/>
            <a:prstDash val="solid"/>
            <a:round/>
          </a:ln>
        </p:spPr>
        <p:txBody>
          <a:bodyPr vert="horz" wrap="square" lIns="63500" tIns="63500" rIns="63500" bIns="63500" rtlCol="0" anchor="ctr"/>
          <a:lstStyle/>
          <a:p>
            <a:pPr algn="ctr">
              <a:defRPr/>
            </a:pPr>
          </a:p>
        </p:txBody>
      </p:sp>
      <p:sp>
        <p:nvSpPr>
          <p:cNvPr id="35" name="AutoShape 35"/>
          <p:cNvSpPr/>
          <p:nvPr/>
        </p:nvSpPr>
        <p:spPr>
          <a:xfrm>
            <a:off x="952500" y="5410200"/>
            <a:ext cx="228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预测分析</a:t>
            </a:r>
            <a:b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Predictive Analytics</a:t>
            </a:r>
            <a:endParaRPr lang="en-US" sz="1100"/>
          </a:p>
        </p:txBody>
      </p:sp>
      <p:cxnSp>
        <p:nvCxnSpPr>
          <p:cNvPr id="36" name="Connector 36"/>
          <p:cNvCxnSpPr/>
          <p:nvPr/>
        </p:nvCxnSpPr>
        <p:spPr>
          <a:xfrm rot="5350892">
            <a:off x="2921000" y="5899195"/>
            <a:ext cx="8890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37" name="AutoShape 37"/>
          <p:cNvSpPr/>
          <p:nvPr/>
        </p:nvSpPr>
        <p:spPr>
          <a:xfrm>
            <a:off x="3556000" y="5435600"/>
            <a:ext cx="8064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它是一种融合历史数据、统计算法与机器学习技术的科学方法，核心在于挖掘数据背后的潜在模式，量化未来结果发生的可能性。通过预测分析，我们能够将传统的“事后总结”转变为主动的“前瞻决策”，让数据成为指引未来行动的智慧罗盘。</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01 预测问题的两大类型</a:t>
            </a:r>
            <a:endParaRPr lang="en-US" sz="1100"/>
          </a:p>
        </p:txBody>
      </p:sp>
      <p:sp>
        <p:nvSpPr>
          <p:cNvPr id="4" name="AutoShape 4"/>
          <p:cNvSpPr/>
          <p:nvPr/>
        </p:nvSpPr>
        <p:spPr>
          <a:xfrm>
            <a:off x="762000" y="1651000"/>
            <a:ext cx="5207000" cy="43180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20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8415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回归 (Regression)</a:t>
            </a:r>
            <a:endParaRPr lang="en-US" sz="1100"/>
          </a:p>
        </p:txBody>
      </p:sp>
      <p:sp>
        <p:nvSpPr>
          <p:cNvPr id="7" name="AutoShape 7"/>
          <p:cNvSpPr/>
          <p:nvPr/>
        </p:nvSpPr>
        <p:spPr>
          <a:xfrm>
            <a:off x="1016000" y="2413000"/>
            <a:ext cx="4699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核心是预测一个</a:t>
            </a:r>
            <a:r>
              <a:rPr lang="en-US" sz="14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连续变化</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的数值结果</a:t>
            </a:r>
            <a:endParaRPr lang="en-US" sz="1100"/>
          </a:p>
        </p:txBody>
      </p:sp>
      <p:sp>
        <p:nvSpPr>
          <p:cNvPr id="8" name="AutoShape 8"/>
          <p:cNvSpPr/>
          <p:nvPr/>
        </p:nvSpPr>
        <p:spPr>
          <a:xfrm>
            <a:off x="1016000" y="2921000"/>
            <a:ext cx="469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通过寻找自变量与因变量之间的函数关系，对未来的数值趋势进行量化推断。输出结果通常是一个具体的、可度量的数值，而非类别标签。</a:t>
            </a:r>
            <a:endParaRPr lang="en-US" sz="1100"/>
          </a:p>
        </p:txBody>
      </p:sp>
      <p:sp>
        <p:nvSpPr>
          <p:cNvPr id="9" name="AutoShape 9"/>
          <p:cNvSpPr/>
          <p:nvPr/>
        </p:nvSpPr>
        <p:spPr>
          <a:xfrm>
            <a:off x="1016000" y="3937000"/>
            <a:ext cx="2222500" cy="16510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016000" y="3937000"/>
            <a:ext cx="38100" cy="1651000"/>
          </a:xfrm>
          <a:prstGeom prst="roundRect">
            <a:avLst>
              <a:gd name="adj" fmla="val 0"/>
            </a:avLst>
          </a:prstGeom>
          <a:solidFill>
            <a:srgbClr val="22C55E">
              <a:alpha val="6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168400" y="4064000"/>
            <a:ext cx="203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房价估值预测</a:t>
            </a:r>
            <a:endParaRPr lang="en-US" sz="1100"/>
          </a:p>
        </p:txBody>
      </p:sp>
      <p:sp>
        <p:nvSpPr>
          <p:cNvPr id="12" name="AutoShape 12"/>
          <p:cNvSpPr/>
          <p:nvPr/>
        </p:nvSpPr>
        <p:spPr>
          <a:xfrm>
            <a:off x="1168400" y="4508500"/>
            <a:ext cx="203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基于面积、地段等特征，精准计算房屋的市场价格，如“250.8万元”，辅助定价决策。</a:t>
            </a:r>
            <a:endParaRPr lang="en-US" sz="1100"/>
          </a:p>
        </p:txBody>
      </p:sp>
      <p:sp>
        <p:nvSpPr>
          <p:cNvPr id="13" name="AutoShape 13"/>
          <p:cNvSpPr/>
          <p:nvPr/>
        </p:nvSpPr>
        <p:spPr>
          <a:xfrm>
            <a:off x="3429000" y="3937000"/>
            <a:ext cx="2222500" cy="16510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3429000" y="3937000"/>
            <a:ext cx="38100" cy="1651000"/>
          </a:xfrm>
          <a:prstGeom prst="roundRect">
            <a:avLst>
              <a:gd name="adj" fmla="val 0"/>
            </a:avLst>
          </a:prstGeom>
          <a:solidFill>
            <a:srgbClr val="22C55E">
              <a:alpha val="6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3581400" y="4064000"/>
            <a:ext cx="203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产品销量预估</a:t>
            </a:r>
            <a:endParaRPr lang="en-US" sz="1100"/>
          </a:p>
        </p:txBody>
      </p:sp>
      <p:sp>
        <p:nvSpPr>
          <p:cNvPr id="16" name="AutoShape 16"/>
          <p:cNvSpPr/>
          <p:nvPr/>
        </p:nvSpPr>
        <p:spPr>
          <a:xfrm>
            <a:off x="3581400" y="4508500"/>
            <a:ext cx="203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结合历史销售数据与市场趋势，预测未来产量，如“下月销量15000件”，优化库存管理。</a:t>
            </a:r>
            <a:endParaRPr lang="en-US" sz="1100"/>
          </a:p>
        </p:txBody>
      </p:sp>
      <p:sp>
        <p:nvSpPr>
          <p:cNvPr id="17" name="AutoShape 17"/>
          <p:cNvSpPr/>
          <p:nvPr/>
        </p:nvSpPr>
        <p:spPr>
          <a:xfrm>
            <a:off x="6223000" y="1651000"/>
            <a:ext cx="5207000" cy="43180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223000" y="1651000"/>
            <a:ext cx="520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6477000" y="18415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分类 (Classification)</a:t>
            </a:r>
            <a:endParaRPr lang="en-US" sz="1100"/>
          </a:p>
        </p:txBody>
      </p:sp>
      <p:sp>
        <p:nvSpPr>
          <p:cNvPr id="20" name="AutoShape 20"/>
          <p:cNvSpPr/>
          <p:nvPr/>
        </p:nvSpPr>
        <p:spPr>
          <a:xfrm>
            <a:off x="6477000" y="2413000"/>
            <a:ext cx="4699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核心是预测一个</a:t>
            </a:r>
            <a:r>
              <a:rPr lang="en-US" sz="14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离散互斥</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的类别标签</a:t>
            </a:r>
            <a:endParaRPr lang="en-US" sz="1100"/>
          </a:p>
        </p:txBody>
      </p:sp>
      <p:sp>
        <p:nvSpPr>
          <p:cNvPr id="21" name="AutoShape 21"/>
          <p:cNvSpPr/>
          <p:nvPr/>
        </p:nvSpPr>
        <p:spPr>
          <a:xfrm>
            <a:off x="6477000" y="2921000"/>
            <a:ext cx="469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将数据点划分到预先定义好的类别中。模型学习数据特征，输出属于不同类别的概率，并最终判定其归属，结果是定性的类别。</a:t>
            </a:r>
            <a:endParaRPr lang="en-US" sz="1100"/>
          </a:p>
        </p:txBody>
      </p:sp>
      <p:sp>
        <p:nvSpPr>
          <p:cNvPr id="22" name="AutoShape 22"/>
          <p:cNvSpPr/>
          <p:nvPr/>
        </p:nvSpPr>
        <p:spPr>
          <a:xfrm>
            <a:off x="6477000" y="3937000"/>
            <a:ext cx="2222500" cy="16510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6477000" y="3937000"/>
            <a:ext cx="38100" cy="1651000"/>
          </a:xfrm>
          <a:prstGeom prst="roundRect">
            <a:avLst>
              <a:gd name="adj" fmla="val 0"/>
            </a:avLst>
          </a:prstGeom>
          <a:solidFill>
            <a:srgbClr val="22C55E">
              <a:alpha val="6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6629400" y="4064000"/>
            <a:ext cx="203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垃圾邮件识别</a:t>
            </a:r>
            <a:endParaRPr lang="en-US" sz="1100"/>
          </a:p>
        </p:txBody>
      </p:sp>
      <p:sp>
        <p:nvSpPr>
          <p:cNvPr id="25" name="AutoShape 25"/>
          <p:cNvSpPr/>
          <p:nvPr/>
        </p:nvSpPr>
        <p:spPr>
          <a:xfrm>
            <a:off x="6629400" y="4508500"/>
            <a:ext cx="203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分析邮件内容特征，自动将邮件判定为“垃圾邮件”或“正常邮件”，提升沟通效率与安全性。</a:t>
            </a:r>
            <a:endParaRPr lang="en-US" sz="1100"/>
          </a:p>
        </p:txBody>
      </p:sp>
      <p:sp>
        <p:nvSpPr>
          <p:cNvPr id="26" name="AutoShape 26"/>
          <p:cNvSpPr/>
          <p:nvPr/>
        </p:nvSpPr>
        <p:spPr>
          <a:xfrm>
            <a:off x="8890000" y="3937000"/>
            <a:ext cx="2222500" cy="16510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8890000" y="3937000"/>
            <a:ext cx="38100" cy="1651000"/>
          </a:xfrm>
          <a:prstGeom prst="roundRect">
            <a:avLst>
              <a:gd name="adj" fmla="val 0"/>
            </a:avLst>
          </a:prstGeom>
          <a:solidFill>
            <a:srgbClr val="22C55E">
              <a:alpha val="6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9042400" y="4064000"/>
            <a:ext cx="203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用户流失预警</a:t>
            </a:r>
            <a:endParaRPr lang="en-US" sz="1100"/>
          </a:p>
        </p:txBody>
      </p:sp>
      <p:sp>
        <p:nvSpPr>
          <p:cNvPr id="29" name="AutoShape 29"/>
          <p:cNvSpPr/>
          <p:nvPr/>
        </p:nvSpPr>
        <p:spPr>
          <a:xfrm>
            <a:off x="9042400" y="4508500"/>
            <a:ext cx="203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根据用户近期行为数据，预测用户状态是“高风险流失”还是“稳定留存”，及时介入挽留。</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回归模型评估指标</a:t>
            </a:r>
            <a:endParaRPr lang="en-US" sz="1100"/>
          </a:p>
        </p:txBody>
      </p:sp>
      <p:sp>
        <p:nvSpPr>
          <p:cNvPr id="4" name="AutoShape 4"/>
          <p:cNvSpPr/>
          <p:nvPr/>
        </p:nvSpPr>
        <p:spPr>
          <a:xfrm>
            <a:off x="762000" y="1524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评估回归模型的好坏，核心在于量化预测值与真实值之间的偏差。通过一组科学的数学指标，我们可以客观地判断模型的预测精度与拟合优度，从而为模型的选择和优化提供依据。</a:t>
            </a:r>
            <a:endParaRPr lang="en-US" sz="1100"/>
          </a:p>
        </p:txBody>
      </p:sp>
      <p:sp>
        <p:nvSpPr>
          <p:cNvPr id="5" name="AutoShape 5"/>
          <p:cNvSpPr/>
          <p:nvPr/>
        </p:nvSpPr>
        <p:spPr>
          <a:xfrm>
            <a:off x="762000" y="2667000"/>
            <a:ext cx="3492500" cy="2413000"/>
          </a:xfrm>
          <a:prstGeom prst="roundRect">
            <a:avLst>
              <a:gd name="adj" fmla="val 0"/>
            </a:avLst>
          </a:prstGeom>
          <a:solidFill>
            <a:srgbClr val="FFFFFF">
              <a:alpha val="92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762000" y="2667000"/>
            <a:ext cx="3492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952500" y="2857500"/>
            <a:ext cx="3111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均方误差 (MSE)</a:t>
            </a:r>
            <a:endParaRPr lang="en-US" sz="1100"/>
          </a:p>
        </p:txBody>
      </p:sp>
      <p:sp>
        <p:nvSpPr>
          <p:cNvPr id="8" name="AutoShape 8"/>
          <p:cNvSpPr/>
          <p:nvPr/>
        </p:nvSpPr>
        <p:spPr>
          <a:xfrm>
            <a:off x="952500" y="3429000"/>
            <a:ext cx="3111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所有预测值与真实值差值的平方的平均数。它对预测偏差进行了平方放大，能有效反映误差的严重程度。</a:t>
            </a:r>
            <a:endParaRPr lang="en-US" sz="1100"/>
          </a:p>
        </p:txBody>
      </p:sp>
      <p:sp>
        <p:nvSpPr>
          <p:cNvPr id="9" name="AutoShape 9"/>
          <p:cNvSpPr/>
          <p:nvPr/>
        </p:nvSpPr>
        <p:spPr>
          <a:xfrm>
            <a:off x="952500" y="4381500"/>
            <a:ext cx="3111500" cy="6350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079500" y="4419600"/>
            <a:ext cx="2857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特点：数值越小越好，对异常值高度敏感。</a:t>
            </a:r>
            <a:endParaRPr lang="en-US" sz="1100"/>
          </a:p>
        </p:txBody>
      </p:sp>
      <p:sp>
        <p:nvSpPr>
          <p:cNvPr id="11" name="AutoShape 11"/>
          <p:cNvSpPr/>
          <p:nvPr/>
        </p:nvSpPr>
        <p:spPr>
          <a:xfrm>
            <a:off x="4445000" y="2667000"/>
            <a:ext cx="3492500" cy="2413000"/>
          </a:xfrm>
          <a:prstGeom prst="roundRect">
            <a:avLst>
              <a:gd name="adj" fmla="val 0"/>
            </a:avLst>
          </a:prstGeom>
          <a:solidFill>
            <a:srgbClr val="FFFFFF">
              <a:alpha val="92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4445000" y="2667000"/>
            <a:ext cx="3492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4635500" y="2857500"/>
            <a:ext cx="3111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均方根误差 (RMSE)</a:t>
            </a:r>
            <a:endParaRPr lang="en-US" sz="1100"/>
          </a:p>
        </p:txBody>
      </p:sp>
      <p:sp>
        <p:nvSpPr>
          <p:cNvPr id="14" name="AutoShape 14"/>
          <p:cNvSpPr/>
          <p:nvPr/>
        </p:nvSpPr>
        <p:spPr>
          <a:xfrm>
            <a:off x="4635500" y="3429000"/>
            <a:ext cx="3111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对均方误差 (MSE) 开平方后的结果。它还原了误差的量纲，使评估结果在实际业务场景中更具可解释性。</a:t>
            </a:r>
            <a:endParaRPr lang="en-US" sz="1100"/>
          </a:p>
        </p:txBody>
      </p:sp>
      <p:sp>
        <p:nvSpPr>
          <p:cNvPr id="15" name="AutoShape 15"/>
          <p:cNvSpPr/>
          <p:nvPr/>
        </p:nvSpPr>
        <p:spPr>
          <a:xfrm>
            <a:off x="4635500" y="4381500"/>
            <a:ext cx="3111500" cy="6350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4762500" y="4419600"/>
            <a:ext cx="2857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特点：单位与原始数据一致，结果更直观。</a:t>
            </a:r>
            <a:endParaRPr lang="en-US" sz="1100"/>
          </a:p>
        </p:txBody>
      </p:sp>
      <p:sp>
        <p:nvSpPr>
          <p:cNvPr id="17" name="AutoShape 17"/>
          <p:cNvSpPr/>
          <p:nvPr/>
        </p:nvSpPr>
        <p:spPr>
          <a:xfrm>
            <a:off x="8128000" y="2667000"/>
            <a:ext cx="3492500" cy="2413000"/>
          </a:xfrm>
          <a:prstGeom prst="roundRect">
            <a:avLst>
              <a:gd name="adj" fmla="val 0"/>
            </a:avLst>
          </a:prstGeom>
          <a:solidFill>
            <a:srgbClr val="FFFFFF">
              <a:alpha val="92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8128000" y="2667000"/>
            <a:ext cx="3492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8318500" y="2857500"/>
            <a:ext cx="3111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决定系数 (R²)</a:t>
            </a:r>
            <a:endParaRPr lang="en-US" sz="1100"/>
          </a:p>
        </p:txBody>
      </p:sp>
      <p:sp>
        <p:nvSpPr>
          <p:cNvPr id="20" name="AutoShape 20"/>
          <p:cNvSpPr/>
          <p:nvPr/>
        </p:nvSpPr>
        <p:spPr>
          <a:xfrm>
            <a:off x="8318500" y="3429000"/>
            <a:ext cx="3111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衡量模型对数据变异的解释程度，即因变量的变化中有多少比例是由自变量引起的。</a:t>
            </a:r>
            <a:endParaRPr lang="en-US" sz="1100"/>
          </a:p>
        </p:txBody>
      </p:sp>
      <p:sp>
        <p:nvSpPr>
          <p:cNvPr id="21" name="AutoShape 21"/>
          <p:cNvSpPr/>
          <p:nvPr/>
        </p:nvSpPr>
        <p:spPr>
          <a:xfrm>
            <a:off x="8318500" y="4381500"/>
            <a:ext cx="3111500" cy="6350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8445500" y="4419600"/>
            <a:ext cx="2857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特点：越接近1，模型拟合优度越高。</a:t>
            </a:r>
            <a:endParaRPr lang="en-US" sz="1100"/>
          </a:p>
        </p:txBody>
      </p:sp>
      <p:sp>
        <p:nvSpPr>
          <p:cNvPr id="23" name="AutoShape 23"/>
          <p:cNvSpPr/>
          <p:nvPr/>
        </p:nvSpPr>
        <p:spPr>
          <a:xfrm>
            <a:off x="762000" y="5334000"/>
            <a:ext cx="10858500" cy="1143000"/>
          </a:xfrm>
          <a:prstGeom prst="roundRect">
            <a:avLst>
              <a:gd name="adj" fmla="val 0"/>
            </a:avLst>
          </a:prstGeom>
          <a:solidFill>
            <a:srgbClr val="F0FDF4">
              <a:alpha val="85000"/>
            </a:srgbClr>
          </a:solidFill>
          <a:ln w="12700" cap="flat" cmpd="sng">
            <a:solidFill>
              <a:srgbClr val="86EFAC">
                <a:alpha val="80000"/>
              </a:srgbClr>
            </a:solidFill>
            <a:prstDash val="solid"/>
            <a:round/>
          </a:ln>
        </p:spPr>
        <p:txBody>
          <a:bodyPr vert="horz" wrap="square" lIns="63500" tIns="63500" rIns="63500" bIns="63500" rtlCol="0" anchor="ctr"/>
          <a:lstStyle/>
          <a:p>
            <a:pPr algn="ctr">
              <a:defRPr/>
            </a:pPr>
          </a:p>
        </p:txBody>
      </p:sp>
      <p:sp>
        <p:nvSpPr>
          <p:cNvPr id="24" name="AutoShape 24"/>
          <p:cNvSpPr/>
          <p:nvPr/>
        </p:nvSpPr>
        <p:spPr>
          <a:xfrm>
            <a:off x="1016000" y="5435600"/>
            <a:ext cx="10350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核心逻辑：</a:t>
            </a: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误差类指标（MSE、RMSE）的数值越小，代表模型的预测精度越高；而决定系数 R² 则侧重于模型的解释能力，其值越接近 1，说明模型对数据内在规律的捕捉越充分，是衡量模型整体拟合效果的核心标准。</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分类模型评估指标</a:t>
            </a:r>
            <a:endParaRPr lang="en-US" sz="1100"/>
          </a:p>
        </p:txBody>
      </p:sp>
      <p:sp>
        <p:nvSpPr>
          <p:cNvPr id="4" name="AutoShape 4"/>
          <p:cNvSpPr/>
          <p:nvPr/>
        </p:nvSpPr>
        <p:spPr>
          <a:xfrm>
            <a:off x="762000" y="1524000"/>
            <a:ext cx="10668000" cy="1587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651000"/>
            <a:ext cx="48260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评估分类模型的核心在于分析预测结果的正误分布，这需要借助</a:t>
            </a:r>
            <a:r>
              <a:rPr lang="en-US" sz="1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混淆矩阵 (Confusion Matrix)</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。它将预测结果拆解为真正例(TP)、假反例(FN)、假正例(FP)和真反例(TN)四种关键组合，是计算各项性能指标的基础。</a:t>
            </a:r>
            <a:endParaRPr lang="en-US" sz="1100"/>
          </a:p>
        </p:txBody>
      </p:sp>
      <p:cxnSp>
        <p:nvCxnSpPr>
          <p:cNvPr id="6" name="Connector 6"/>
          <p:cNvCxnSpPr/>
          <p:nvPr/>
        </p:nvCxnSpPr>
        <p:spPr>
          <a:xfrm rot="5361804">
            <a:off x="5397500" y="2279685"/>
            <a:ext cx="11430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7" name="AutoShape 7"/>
          <p:cNvSpPr/>
          <p:nvPr/>
        </p:nvSpPr>
        <p:spPr>
          <a:xfrm>
            <a:off x="6159500" y="1714500"/>
            <a:ext cx="2476500" cy="571500"/>
          </a:xfrm>
          <a:prstGeom prst="roundRect">
            <a:avLst>
              <a:gd name="adj" fmla="val 0"/>
            </a:avLst>
          </a:prstGeom>
          <a:solidFill>
            <a:srgbClr val="22C55E">
              <a:alpha val="15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6223000" y="1739900"/>
            <a:ext cx="2349500" cy="533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TP (真正例) | FN (假反例)</a:t>
            </a:r>
            <a:endParaRPr lang="en-US" sz="1100"/>
          </a:p>
        </p:txBody>
      </p:sp>
      <p:sp>
        <p:nvSpPr>
          <p:cNvPr id="9" name="AutoShape 9"/>
          <p:cNvSpPr/>
          <p:nvPr/>
        </p:nvSpPr>
        <p:spPr>
          <a:xfrm>
            <a:off x="8763000" y="1714500"/>
            <a:ext cx="2476500" cy="571500"/>
          </a:xfrm>
          <a:prstGeom prst="roundRect">
            <a:avLst>
              <a:gd name="adj" fmla="val 0"/>
            </a:avLst>
          </a:prstGeom>
          <a:solidFill>
            <a:srgbClr val="F87171">
              <a:alpha val="15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8826500" y="1739900"/>
            <a:ext cx="2349500" cy="533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B91C1C"/>
                </a:solidFill>
                <a:latin typeface="Noto Sans SC" panose="020B0200000000000000" charset="-122"/>
                <a:ea typeface="Noto Sans SC" panose="020B0200000000000000" charset="-122"/>
                <a:cs typeface="Noto Sans SC" panose="020B0200000000000000" charset="-122"/>
                <a:sym typeface="Noto Sans SC" panose="020B0200000000000000" charset="-122"/>
              </a:rPr>
              <a:t>FP (假正例) | TN (真反例)</a:t>
            </a:r>
            <a:endParaRPr lang="en-US" sz="1100"/>
          </a:p>
        </p:txBody>
      </p:sp>
      <p:sp>
        <p:nvSpPr>
          <p:cNvPr id="11" name="AutoShape 11"/>
          <p:cNvSpPr/>
          <p:nvPr/>
        </p:nvSpPr>
        <p:spPr>
          <a:xfrm>
            <a:off x="6159500" y="2387600"/>
            <a:ext cx="508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通过这四个基础值，我们可以量化模型在不同维度的表现，从而判断模型是否满足业务对“查准”或“查全”的特定需求。</a:t>
            </a:r>
            <a:endParaRPr lang="en-US" sz="1100"/>
          </a:p>
        </p:txBody>
      </p:sp>
      <p:sp>
        <p:nvSpPr>
          <p:cNvPr id="12" name="AutoShape 12"/>
          <p:cNvSpPr/>
          <p:nvPr/>
        </p:nvSpPr>
        <p:spPr>
          <a:xfrm>
            <a:off x="762000" y="3302000"/>
            <a:ext cx="2565400" cy="1968500"/>
          </a:xfrm>
          <a:prstGeom prst="roundRect">
            <a:avLst>
              <a:gd name="adj" fmla="val 0"/>
            </a:avLst>
          </a:prstGeom>
          <a:solidFill>
            <a:srgbClr val="FFFFFF">
              <a:alpha val="93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762000" y="3302000"/>
            <a:ext cx="25654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889000" y="3454400"/>
            <a:ext cx="23114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准确率 Accuracy</a:t>
            </a:r>
            <a:endParaRPr lang="en-US" sz="1100"/>
          </a:p>
        </p:txBody>
      </p:sp>
      <p:sp>
        <p:nvSpPr>
          <p:cNvPr id="15" name="AutoShape 15"/>
          <p:cNvSpPr/>
          <p:nvPr/>
        </p:nvSpPr>
        <p:spPr>
          <a:xfrm>
            <a:off x="889000" y="3962400"/>
            <a:ext cx="23114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所有预测正确的样本占总样本的比例。它是对模型整体表现的直观概括，适用于类别分布均衡的场景。</a:t>
            </a:r>
            <a:endParaRPr lang="en-US" sz="1100"/>
          </a:p>
        </p:txBody>
      </p:sp>
      <p:sp>
        <p:nvSpPr>
          <p:cNvPr id="16" name="AutoShape 16"/>
          <p:cNvSpPr/>
          <p:nvPr/>
        </p:nvSpPr>
        <p:spPr>
          <a:xfrm>
            <a:off x="889000" y="4762500"/>
            <a:ext cx="2311400" cy="444500"/>
          </a:xfrm>
          <a:prstGeom prst="roundRect">
            <a:avLst>
              <a:gd name="adj" fmla="val 0"/>
            </a:avLst>
          </a:prstGeom>
          <a:solidFill>
            <a:srgbClr val="F0FDF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952500" y="4800600"/>
            <a:ext cx="21844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场景：初步判断模型效果</a:t>
            </a:r>
            <a:endParaRPr lang="en-US" sz="1100"/>
          </a:p>
        </p:txBody>
      </p:sp>
      <p:sp>
        <p:nvSpPr>
          <p:cNvPr id="18" name="AutoShape 18"/>
          <p:cNvSpPr/>
          <p:nvPr/>
        </p:nvSpPr>
        <p:spPr>
          <a:xfrm>
            <a:off x="3429000" y="3302000"/>
            <a:ext cx="2565400" cy="1968500"/>
          </a:xfrm>
          <a:prstGeom prst="roundRect">
            <a:avLst>
              <a:gd name="adj" fmla="val 0"/>
            </a:avLst>
          </a:prstGeom>
          <a:solidFill>
            <a:srgbClr val="FFFFFF">
              <a:alpha val="93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3429000" y="3302000"/>
            <a:ext cx="25654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3556000" y="3454400"/>
            <a:ext cx="23114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精确率 Precision</a:t>
            </a:r>
            <a:endParaRPr lang="en-US" sz="1100"/>
          </a:p>
        </p:txBody>
      </p:sp>
      <p:sp>
        <p:nvSpPr>
          <p:cNvPr id="21" name="AutoShape 21"/>
          <p:cNvSpPr/>
          <p:nvPr/>
        </p:nvSpPr>
        <p:spPr>
          <a:xfrm>
            <a:off x="3556000" y="3962400"/>
            <a:ext cx="23114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在所有预测为“正类”的样本中，真实为正类的比例。它关注预测结果的准确性，即“预测对的有多少是真的”。</a:t>
            </a:r>
            <a:endParaRPr lang="en-US" sz="1100"/>
          </a:p>
        </p:txBody>
      </p:sp>
      <p:sp>
        <p:nvSpPr>
          <p:cNvPr id="22" name="AutoShape 22"/>
          <p:cNvSpPr/>
          <p:nvPr/>
        </p:nvSpPr>
        <p:spPr>
          <a:xfrm>
            <a:off x="3556000" y="4762500"/>
            <a:ext cx="2311400" cy="444500"/>
          </a:xfrm>
          <a:prstGeom prst="roundRect">
            <a:avLst>
              <a:gd name="adj" fmla="val 0"/>
            </a:avLst>
          </a:prstGeom>
          <a:solidFill>
            <a:srgbClr val="FFF7ED">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3619500" y="4800600"/>
            <a:ext cx="21844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1" i="0" u="none" strike="noStrike">
                <a:solidFill>
                  <a:srgbClr val="EA580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核心：拒绝“冤枉好人”</a:t>
            </a:r>
            <a:endParaRPr lang="en-US" sz="1100"/>
          </a:p>
        </p:txBody>
      </p:sp>
      <p:sp>
        <p:nvSpPr>
          <p:cNvPr id="24" name="AutoShape 24"/>
          <p:cNvSpPr/>
          <p:nvPr/>
        </p:nvSpPr>
        <p:spPr>
          <a:xfrm>
            <a:off x="6096000" y="3302000"/>
            <a:ext cx="2565400" cy="1968500"/>
          </a:xfrm>
          <a:prstGeom prst="roundRect">
            <a:avLst>
              <a:gd name="adj" fmla="val 0"/>
            </a:avLst>
          </a:prstGeom>
          <a:solidFill>
            <a:srgbClr val="FFFFFF">
              <a:alpha val="93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6096000" y="3302000"/>
            <a:ext cx="25654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6223000" y="3454400"/>
            <a:ext cx="23114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召回率 Recall</a:t>
            </a:r>
            <a:endParaRPr lang="en-US" sz="1100"/>
          </a:p>
        </p:txBody>
      </p:sp>
      <p:sp>
        <p:nvSpPr>
          <p:cNvPr id="27" name="AutoShape 27"/>
          <p:cNvSpPr/>
          <p:nvPr/>
        </p:nvSpPr>
        <p:spPr>
          <a:xfrm>
            <a:off x="6223000" y="3962400"/>
            <a:ext cx="23114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在所有真实的“正类”样本中，被成功预测出来的比例。它衡量模型的查全能力，即“该抓的都抓到了吗”。</a:t>
            </a:r>
            <a:endParaRPr lang="en-US" sz="1100"/>
          </a:p>
        </p:txBody>
      </p:sp>
      <p:sp>
        <p:nvSpPr>
          <p:cNvPr id="28" name="AutoShape 28"/>
          <p:cNvSpPr/>
          <p:nvPr/>
        </p:nvSpPr>
        <p:spPr>
          <a:xfrm>
            <a:off x="6223000" y="4762500"/>
            <a:ext cx="2311400" cy="444500"/>
          </a:xfrm>
          <a:prstGeom prst="roundRect">
            <a:avLst>
              <a:gd name="adj" fmla="val 0"/>
            </a:avLst>
          </a:prstGeom>
          <a:solidFill>
            <a:srgbClr val="FFF1F2">
              <a:alpha val="100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6286500" y="4800600"/>
            <a:ext cx="21844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1" i="0" u="none" strike="noStrike">
                <a:solidFill>
                  <a:srgbClr val="E11D48"/>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核心：不要“放过坏人”</a:t>
            </a:r>
            <a:endParaRPr lang="en-US" sz="1100"/>
          </a:p>
        </p:txBody>
      </p:sp>
      <p:sp>
        <p:nvSpPr>
          <p:cNvPr id="30" name="AutoShape 30"/>
          <p:cNvSpPr/>
          <p:nvPr/>
        </p:nvSpPr>
        <p:spPr>
          <a:xfrm>
            <a:off x="8763000" y="3302000"/>
            <a:ext cx="2565400" cy="1968500"/>
          </a:xfrm>
          <a:prstGeom prst="roundRect">
            <a:avLst>
              <a:gd name="adj" fmla="val 0"/>
            </a:avLst>
          </a:prstGeom>
          <a:solidFill>
            <a:srgbClr val="FFFFFF">
              <a:alpha val="93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8763000" y="3302000"/>
            <a:ext cx="25654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32" name="AutoShape 32"/>
          <p:cNvSpPr/>
          <p:nvPr/>
        </p:nvSpPr>
        <p:spPr>
          <a:xfrm>
            <a:off x="8890000" y="3454400"/>
            <a:ext cx="23114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F1值 F1-Score</a:t>
            </a:r>
            <a:endParaRPr lang="en-US" sz="1100"/>
          </a:p>
        </p:txBody>
      </p:sp>
      <p:sp>
        <p:nvSpPr>
          <p:cNvPr id="33" name="AutoShape 33"/>
          <p:cNvSpPr/>
          <p:nvPr/>
        </p:nvSpPr>
        <p:spPr>
          <a:xfrm>
            <a:off x="8890000" y="3962400"/>
            <a:ext cx="23114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精确率和召回率的调和平均数。当两者存在冲突时（如精确率高则召回率低），F1值提供了一个平衡的综合度量。</a:t>
            </a:r>
            <a:endParaRPr lang="en-US" sz="1100"/>
          </a:p>
        </p:txBody>
      </p:sp>
      <p:sp>
        <p:nvSpPr>
          <p:cNvPr id="34" name="AutoShape 34"/>
          <p:cNvSpPr/>
          <p:nvPr/>
        </p:nvSpPr>
        <p:spPr>
          <a:xfrm>
            <a:off x="8890000" y="4762500"/>
            <a:ext cx="2311400" cy="444500"/>
          </a:xfrm>
          <a:prstGeom prst="roundRect">
            <a:avLst>
              <a:gd name="adj" fmla="val 0"/>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35" name="AutoShape 35"/>
          <p:cNvSpPr/>
          <p:nvPr/>
        </p:nvSpPr>
        <p:spPr>
          <a:xfrm>
            <a:off x="8953500" y="4800600"/>
            <a:ext cx="21844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1" i="0" u="none" strike="noStrike">
                <a:solidFill>
                  <a:srgbClr val="1D4ED8"/>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场景：类别不均衡/需平衡</a:t>
            </a:r>
            <a:endParaRPr lang="en-US" sz="1100"/>
          </a:p>
        </p:txBody>
      </p:sp>
      <p:sp>
        <p:nvSpPr>
          <p:cNvPr id="36" name="AutoShape 36"/>
          <p:cNvSpPr/>
          <p:nvPr/>
        </p:nvSpPr>
        <p:spPr>
          <a:xfrm>
            <a:off x="762000" y="5461000"/>
            <a:ext cx="10668000" cy="1079500"/>
          </a:xfrm>
          <a:prstGeom prst="roundRect">
            <a:avLst>
              <a:gd name="adj" fmla="val 0"/>
            </a:avLst>
          </a:prstGeom>
          <a:solidFill>
            <a:srgbClr val="22C55E">
              <a:alpha val="9000"/>
            </a:srgbClr>
          </a:solidFill>
          <a:ln w="25400" cap="flat" cmpd="sng">
            <a:noFill/>
            <a:prstDash val="solid"/>
            <a:round/>
          </a:ln>
        </p:spPr>
        <p:txBody>
          <a:bodyPr vert="horz" wrap="square" lIns="63500" tIns="63500" rIns="63500" bIns="63500" rtlCol="0" anchor="ctr"/>
          <a:lstStyle/>
          <a:p>
            <a:pPr algn="ctr">
              <a:defRPr/>
            </a:pPr>
          </a:p>
        </p:txBody>
      </p:sp>
      <p:sp>
        <p:nvSpPr>
          <p:cNvPr id="37" name="AutoShape 37"/>
          <p:cNvSpPr/>
          <p:nvPr/>
        </p:nvSpPr>
        <p:spPr>
          <a:xfrm>
            <a:off x="952500" y="5562600"/>
            <a:ext cx="10287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混淆矩阵是评估的起点，而这四个指标则是不同视角的放大镜。在实际业务中，我们需根据场景灵活选择：例如疾病筛查更看重召回率（宁可错杀不可漏网），而垃圾邮件拦截则更看重精确率（避免误删重要邮件）。理解这些指标的差异，是做出正确模型决策的关键。</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02 常见预测模型详解</a:t>
            </a:r>
            <a:endParaRPr lang="en-US" sz="1100"/>
          </a:p>
        </p:txBody>
      </p:sp>
      <p:sp>
        <p:nvSpPr>
          <p:cNvPr id="4" name="AutoShape 4"/>
          <p:cNvSpPr/>
          <p:nvPr/>
        </p:nvSpPr>
        <p:spPr>
          <a:xfrm>
            <a:off x="762000" y="1651000"/>
            <a:ext cx="5270500" cy="4572000"/>
          </a:xfrm>
          <a:prstGeom prst="roundRect">
            <a:avLst>
              <a:gd name="adj" fmla="val 0"/>
            </a:avLst>
          </a:prstGeom>
          <a:solidFill>
            <a:srgbClr val="FFFFFF">
              <a:alpha val="94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270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41500"/>
            <a:ext cx="4889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线性回归 (Linear Regression)</a:t>
            </a:r>
            <a:endParaRPr lang="en-US" sz="1100"/>
          </a:p>
        </p:txBody>
      </p:sp>
      <p:sp>
        <p:nvSpPr>
          <p:cNvPr id="7" name="AutoShape 7"/>
          <p:cNvSpPr/>
          <p:nvPr/>
        </p:nvSpPr>
        <p:spPr>
          <a:xfrm>
            <a:off x="952500" y="2540000"/>
            <a:ext cx="4889500" cy="1206500"/>
          </a:xfrm>
          <a:prstGeom prst="roundRect">
            <a:avLst>
              <a:gd name="adj" fmla="val 0"/>
            </a:avLst>
          </a:prstGeom>
          <a:solidFill>
            <a:srgbClr val="22C55E">
              <a:alpha val="9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079500" y="2603500"/>
            <a:ext cx="4635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假设特征与目标变量之间存在</a:t>
            </a:r>
            <a:r>
              <a:rPr lang="en-US" sz="1300" b="1" i="0" u="none" strike="noStrike">
                <a:solidFill>
                  <a:srgbClr val="16A34A"/>
                </a:solidFill>
                <a:latin typeface="Noto Sans SC" panose="020B0200000000000000" charset="-122"/>
                <a:ea typeface="Noto Sans SC" panose="020B0200000000000000" charset="-122"/>
                <a:cs typeface="Noto Sans SC" panose="020B0200000000000000" charset="-122"/>
                <a:sym typeface="Noto Sans SC" panose="020B0200000000000000" charset="-122"/>
              </a:rPr>
              <a:t>严格的线性关系</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，通过最小二乘法寻找一条最佳拟合直线，以最小化预测值与真实值的误差平方和。它是理解数据趋势最基础、最直观的统计模型。</a:t>
            </a:r>
            <a:endParaRPr lang="en-US" sz="1100"/>
          </a:p>
        </p:txBody>
      </p:sp>
      <p:sp>
        <p:nvSpPr>
          <p:cNvPr id="9" name="AutoShape 9"/>
          <p:cNvSpPr/>
          <p:nvPr/>
        </p:nvSpPr>
        <p:spPr>
          <a:xfrm>
            <a:off x="952500" y="3937000"/>
            <a:ext cx="2374900" cy="1079500"/>
          </a:xfrm>
          <a:prstGeom prst="roundRect">
            <a:avLst>
              <a:gd name="adj" fmla="val 0"/>
            </a:avLst>
          </a:prstGeom>
          <a:solidFill>
            <a:srgbClr val="F0FDF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016000" y="4000500"/>
            <a:ext cx="22479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核心优势</a:t>
            </a:r>
            <a:endParaRPr lang="en-US" sz="1100"/>
          </a:p>
          <a:p>
            <a:pPr marL="0" indent="0" algn="l">
              <a:lnSpc>
                <a:spcPct val="108000"/>
              </a:lnSpc>
            </a:pPr>
            <a:r>
              <a:rPr lang="en-US" sz="12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模型简单透明，结果易于向业务方解释；训练速度极快，计算资源消耗低。</a:t>
            </a:r>
            <a:endParaRPr lang="en-US" sz="12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3467100" y="3937000"/>
            <a:ext cx="2374900" cy="1079500"/>
          </a:xfrm>
          <a:prstGeom prst="roundRect">
            <a:avLst>
              <a:gd name="adj" fmla="val 0"/>
            </a:avLst>
          </a:prstGeom>
          <a:solidFill>
            <a:srgbClr val="FEF2F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3530600" y="4000500"/>
            <a:ext cx="22479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局限性</a:t>
            </a:r>
            <a:endParaRPr lang="en-US" sz="1100"/>
          </a:p>
          <a:p>
            <a:pPr marL="0" indent="0" algn="l">
              <a:lnSpc>
                <a:spcPct val="108000"/>
              </a:lnSpc>
            </a:pPr>
            <a:r>
              <a:rPr lang="en-US" sz="12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仅适用于线性分布数据；对异常值和共线性问题高度敏感，无法拟合非线性模式。</a:t>
            </a:r>
            <a:endParaRPr lang="en-US" sz="12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952500" y="5207000"/>
            <a:ext cx="4889500" cy="889000"/>
          </a:xfrm>
          <a:prstGeom prst="roundRect">
            <a:avLst>
              <a:gd name="adj" fmla="val 0"/>
            </a:avLst>
          </a:prstGeom>
          <a:solidFill>
            <a:srgbClr val="F3F4F6">
              <a:alpha val="9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1079500" y="5270500"/>
            <a:ext cx="4635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适用：</a:t>
            </a:r>
            <a:r>
              <a:rPr lang="en-US" sz="12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房价趋势预测、销量随时间变化分析、基于单一特征的简单因果推断等，需强可解释性的场景。</a:t>
            </a:r>
            <a:endParaRPr lang="en-US" sz="1100"/>
          </a:p>
        </p:txBody>
      </p:sp>
      <p:sp>
        <p:nvSpPr>
          <p:cNvPr id="15" name="AutoShape 15"/>
          <p:cNvSpPr/>
          <p:nvPr/>
        </p:nvSpPr>
        <p:spPr>
          <a:xfrm>
            <a:off x="6223000" y="1651000"/>
            <a:ext cx="5270500" cy="4572000"/>
          </a:xfrm>
          <a:prstGeom prst="roundRect">
            <a:avLst>
              <a:gd name="adj" fmla="val 0"/>
            </a:avLst>
          </a:prstGeom>
          <a:solidFill>
            <a:srgbClr val="FFFFFF">
              <a:alpha val="94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6223000" y="1651000"/>
            <a:ext cx="5270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6413500" y="1841500"/>
            <a:ext cx="4889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逻辑回归 (Logistic Regression)</a:t>
            </a:r>
            <a:endParaRPr lang="en-US" sz="1100"/>
          </a:p>
        </p:txBody>
      </p:sp>
      <p:sp>
        <p:nvSpPr>
          <p:cNvPr id="18" name="AutoShape 18"/>
          <p:cNvSpPr/>
          <p:nvPr/>
        </p:nvSpPr>
        <p:spPr>
          <a:xfrm>
            <a:off x="6413500" y="2540000"/>
            <a:ext cx="4889500" cy="1206500"/>
          </a:xfrm>
          <a:prstGeom prst="roundRect">
            <a:avLst>
              <a:gd name="adj" fmla="val 0"/>
            </a:avLst>
          </a:prstGeom>
          <a:solidFill>
            <a:srgbClr val="22C55E">
              <a:alpha val="9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6540500" y="2603500"/>
            <a:ext cx="4635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虽名为“回归”，本质是</a:t>
            </a:r>
            <a:r>
              <a:rPr lang="en-US" sz="1300" b="1" i="0" u="none" strike="noStrike">
                <a:solidFill>
                  <a:srgbClr val="16A34A"/>
                </a:solidFill>
                <a:latin typeface="Noto Sans SC" panose="020B0200000000000000" charset="-122"/>
                <a:ea typeface="Noto Sans SC" panose="020B0200000000000000" charset="-122"/>
                <a:cs typeface="Noto Sans SC" panose="020B0200000000000000" charset="-122"/>
                <a:sym typeface="Noto Sans SC" panose="020B0200000000000000" charset="-122"/>
              </a:rPr>
              <a:t>二分类模型</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 Sigmoid 函数将线性输出压缩至 (0, 1) 区间，将预测结果转化为事件发生的概率，概率大于阈值则归为正类。</a:t>
            </a:r>
            <a:endParaRPr lang="en-US" sz="1100"/>
          </a:p>
        </p:txBody>
      </p:sp>
      <p:sp>
        <p:nvSpPr>
          <p:cNvPr id="20" name="AutoShape 20"/>
          <p:cNvSpPr/>
          <p:nvPr/>
        </p:nvSpPr>
        <p:spPr>
          <a:xfrm>
            <a:off x="6413500" y="3937000"/>
            <a:ext cx="2374900" cy="1079500"/>
          </a:xfrm>
          <a:prstGeom prst="roundRect">
            <a:avLst>
              <a:gd name="adj" fmla="val 0"/>
            </a:avLst>
          </a:prstGeom>
          <a:solidFill>
            <a:srgbClr val="F0FDF4">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6477000" y="4000500"/>
            <a:ext cx="22479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核心优势</a:t>
            </a:r>
            <a:endParaRPr lang="en-US" sz="1100"/>
          </a:p>
          <a:p>
            <a:pPr marL="0" indent="0" algn="l">
              <a:lnSpc>
                <a:spcPct val="108000"/>
              </a:lnSpc>
            </a:pPr>
            <a:r>
              <a:rPr lang="en-US" sz="12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输出结果为概率，可衡量置信度；模型轻量，系数具备明确的业务解释意义。</a:t>
            </a:r>
            <a:endParaRPr lang="en-US" sz="12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2" name="AutoShape 22"/>
          <p:cNvSpPr/>
          <p:nvPr/>
        </p:nvSpPr>
        <p:spPr>
          <a:xfrm>
            <a:off x="8928100" y="3937000"/>
            <a:ext cx="2374900" cy="1079500"/>
          </a:xfrm>
          <a:prstGeom prst="roundRect">
            <a:avLst>
              <a:gd name="adj" fmla="val 0"/>
            </a:avLst>
          </a:prstGeom>
          <a:solidFill>
            <a:srgbClr val="FEF2F2">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8991600" y="4000500"/>
            <a:ext cx="22479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局限性</a:t>
            </a:r>
            <a:endParaRPr lang="en-US" sz="1100"/>
          </a:p>
          <a:p>
            <a:pPr marL="0" indent="0" algn="l">
              <a:lnSpc>
                <a:spcPct val="108000"/>
              </a:lnSpc>
            </a:pPr>
            <a:r>
              <a:rPr lang="en-US" sz="12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仅处理线性可分问题；难以捕捉特征间复杂的非线性交互；对类别不平衡数据效果差。</a:t>
            </a:r>
            <a:endParaRPr lang="en-US" sz="12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4" name="AutoShape 24"/>
          <p:cNvSpPr/>
          <p:nvPr/>
        </p:nvSpPr>
        <p:spPr>
          <a:xfrm>
            <a:off x="6413500" y="5207000"/>
            <a:ext cx="4889500" cy="889000"/>
          </a:xfrm>
          <a:prstGeom prst="roundRect">
            <a:avLst>
              <a:gd name="adj" fmla="val 0"/>
            </a:avLst>
          </a:prstGeom>
          <a:solidFill>
            <a:srgbClr val="F3F4F6">
              <a:alpha val="9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6540500" y="5270500"/>
            <a:ext cx="4635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适用：</a:t>
            </a:r>
            <a:r>
              <a:rPr lang="en-US" sz="12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互联网广告点击率预估(CTR)、医疗诊断中的患病风险预测、金融信贷的违约概率评估等二分类任务。</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常见预测模型详解</a:t>
            </a:r>
            <a:endParaRPr lang="en-US" sz="1100"/>
          </a:p>
        </p:txBody>
      </p:sp>
      <p:sp>
        <p:nvSpPr>
          <p:cNvPr id="4" name="AutoShape 4"/>
          <p:cNvSpPr/>
          <p:nvPr/>
        </p:nvSpPr>
        <p:spPr>
          <a:xfrm>
            <a:off x="762000" y="1651000"/>
            <a:ext cx="5207000" cy="4699000"/>
          </a:xfrm>
          <a:prstGeom prst="roundRect">
            <a:avLst>
              <a:gd name="adj" fmla="val 0"/>
            </a:avLst>
          </a:prstGeom>
          <a:solidFill>
            <a:srgbClr val="FFFFFF">
              <a:alpha val="92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20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8415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决策树 (Decision Tree)</a:t>
            </a:r>
            <a:endParaRPr lang="en-US" sz="1100"/>
          </a:p>
        </p:txBody>
      </p:sp>
      <p:sp>
        <p:nvSpPr>
          <p:cNvPr id="7" name="AutoShape 7"/>
          <p:cNvSpPr/>
          <p:nvPr/>
        </p:nvSpPr>
        <p:spPr>
          <a:xfrm>
            <a:off x="1016000" y="2540000"/>
            <a:ext cx="4699000" cy="10795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206500" y="2641600"/>
            <a:ext cx="431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核心原理如同倒置的树状结构，通过向数据连续提问“是/否”类问题，逐步对样本进行拆分，最终实现分类或回归任务。每一个内部节点代表一次特征测试，分支代表测试结果，叶节点代表最终的预测输出。</a:t>
            </a:r>
            <a:endParaRPr lang="en-US" sz="1100"/>
          </a:p>
        </p:txBody>
      </p:sp>
      <p:sp>
        <p:nvSpPr>
          <p:cNvPr id="9" name="AutoShape 9"/>
          <p:cNvSpPr/>
          <p:nvPr/>
        </p:nvSpPr>
        <p:spPr>
          <a:xfrm>
            <a:off x="1016000" y="3810000"/>
            <a:ext cx="1549400" cy="1460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117600" y="3873500"/>
            <a:ext cx="13462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直观易懂</a:t>
            </a:r>
            <a:endParaRPr lang="en-US" sz="1100"/>
          </a:p>
        </p:txBody>
      </p:sp>
      <p:sp>
        <p:nvSpPr>
          <p:cNvPr id="11" name="AutoShape 11"/>
          <p:cNvSpPr/>
          <p:nvPr/>
        </p:nvSpPr>
        <p:spPr>
          <a:xfrm>
            <a:off x="1117600" y="4254500"/>
            <a:ext cx="1346200" cy="9525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逻辑清晰可解释，无需复杂数据预处理，能很好地处理非线性关系。</a:t>
            </a:r>
            <a:endParaRPr lang="en-US" sz="1100"/>
          </a:p>
        </p:txBody>
      </p:sp>
      <p:sp>
        <p:nvSpPr>
          <p:cNvPr id="12" name="AutoShape 12"/>
          <p:cNvSpPr/>
          <p:nvPr/>
        </p:nvSpPr>
        <p:spPr>
          <a:xfrm>
            <a:off x="2692400" y="3810000"/>
            <a:ext cx="1549400" cy="1460500"/>
          </a:xfrm>
          <a:prstGeom prst="roundRect">
            <a:avLst>
              <a:gd name="adj" fmla="val 0"/>
            </a:avLst>
          </a:prstGeom>
          <a:solidFill>
            <a:srgbClr val="FEF2F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2794000" y="3873500"/>
            <a:ext cx="13462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易过拟合</a:t>
            </a:r>
            <a:endParaRPr lang="en-US" sz="1100"/>
          </a:p>
        </p:txBody>
      </p:sp>
      <p:sp>
        <p:nvSpPr>
          <p:cNvPr id="14" name="AutoShape 14"/>
          <p:cNvSpPr/>
          <p:nvPr/>
        </p:nvSpPr>
        <p:spPr>
          <a:xfrm>
            <a:off x="2794000" y="4254500"/>
            <a:ext cx="1346200" cy="9525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模型稳定性差，对异常值敏感，局部数据变化可能导致整体结构巨变。</a:t>
            </a:r>
            <a:endParaRPr lang="en-US" sz="1100"/>
          </a:p>
        </p:txBody>
      </p:sp>
      <p:sp>
        <p:nvSpPr>
          <p:cNvPr id="15" name="AutoShape 15"/>
          <p:cNvSpPr/>
          <p:nvPr/>
        </p:nvSpPr>
        <p:spPr>
          <a:xfrm>
            <a:off x="4368800" y="3810000"/>
            <a:ext cx="1549400" cy="1460500"/>
          </a:xfrm>
          <a:prstGeom prst="roundRect">
            <a:avLst>
              <a:gd name="adj" fmla="val 0"/>
            </a:avLst>
          </a:prstGeom>
          <a:solidFill>
            <a:srgbClr val="ECFD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4470400" y="3873500"/>
            <a:ext cx="13462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059669"/>
                </a:solidFill>
                <a:latin typeface="Noto Sans SC" panose="020B0200000000000000" charset="-122"/>
                <a:ea typeface="Noto Sans SC" panose="020B0200000000000000" charset="-122"/>
                <a:cs typeface="Noto Sans SC" panose="020B0200000000000000" charset="-122"/>
                <a:sym typeface="Noto Sans SC" panose="020B0200000000000000" charset="-122"/>
              </a:rPr>
              <a:t>高解释性</a:t>
            </a:r>
            <a:endParaRPr lang="en-US" sz="1100"/>
          </a:p>
        </p:txBody>
      </p:sp>
      <p:sp>
        <p:nvSpPr>
          <p:cNvPr id="17" name="AutoShape 17"/>
          <p:cNvSpPr/>
          <p:nvPr/>
        </p:nvSpPr>
        <p:spPr>
          <a:xfrm>
            <a:off x="4470400" y="4254500"/>
            <a:ext cx="1346200" cy="9525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适合需要向业务方清晰展示决策逻辑的分类与回归分析场景。</a:t>
            </a:r>
            <a:endParaRPr lang="en-US" sz="1100"/>
          </a:p>
        </p:txBody>
      </p:sp>
      <p:sp>
        <p:nvSpPr>
          <p:cNvPr id="18" name="AutoShape 18"/>
          <p:cNvSpPr/>
          <p:nvPr/>
        </p:nvSpPr>
        <p:spPr>
          <a:xfrm>
            <a:off x="1016000" y="5397500"/>
            <a:ext cx="4699000" cy="8255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1143000" y="5461000"/>
            <a:ext cx="4445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本质是一种基于规则的归纳学习算法，虽简单但构成了更复杂集成模型的基础，是理解机器学习决策过程的关键基石。</a:t>
            </a:r>
            <a:endParaRPr lang="en-US" sz="1100"/>
          </a:p>
        </p:txBody>
      </p:sp>
      <p:cxnSp>
        <p:nvCxnSpPr>
          <p:cNvPr id="20" name="Connector 20"/>
          <p:cNvCxnSpPr/>
          <p:nvPr/>
        </p:nvCxnSpPr>
        <p:spPr>
          <a:xfrm rot="5390708">
            <a:off x="3746500" y="3994159"/>
            <a:ext cx="4699000" cy="12700"/>
          </a:xfrm>
          <a:prstGeom prst="straightConnector1">
            <a:avLst/>
          </a:prstGeom>
          <a:solidFill>
            <a:srgbClr val="DEE0E3">
              <a:alpha val="100000"/>
            </a:srgbClr>
          </a:solidFill>
          <a:ln w="12700" cap="flat" cmpd="sng">
            <a:solidFill>
              <a:srgbClr val="D1D5DB">
                <a:alpha val="60000"/>
              </a:srgbClr>
            </a:solidFill>
            <a:prstDash val="dash"/>
            <a:round/>
            <a:headEnd type="none" w="med" len="med"/>
            <a:tailEnd type="none" w="med" len="med"/>
          </a:ln>
        </p:spPr>
      </p:cxnSp>
      <p:sp>
        <p:nvSpPr>
          <p:cNvPr id="21" name="AutoShape 21"/>
          <p:cNvSpPr/>
          <p:nvPr/>
        </p:nvSpPr>
        <p:spPr>
          <a:xfrm>
            <a:off x="6223000" y="1651000"/>
            <a:ext cx="5207000" cy="4699000"/>
          </a:xfrm>
          <a:prstGeom prst="roundRect">
            <a:avLst>
              <a:gd name="adj" fmla="val 0"/>
            </a:avLst>
          </a:prstGeom>
          <a:solidFill>
            <a:srgbClr val="FFFFFF">
              <a:alpha val="92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6223000" y="1651000"/>
            <a:ext cx="520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6477000" y="18415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随机森林 (Random Forest)</a:t>
            </a:r>
            <a:endParaRPr lang="en-US" sz="1100"/>
          </a:p>
        </p:txBody>
      </p:sp>
      <p:sp>
        <p:nvSpPr>
          <p:cNvPr id="24" name="AutoShape 24"/>
          <p:cNvSpPr/>
          <p:nvPr/>
        </p:nvSpPr>
        <p:spPr>
          <a:xfrm>
            <a:off x="6477000" y="2540000"/>
            <a:ext cx="4699000" cy="10795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6667500" y="2641600"/>
            <a:ext cx="431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经典的Bagging集成学习方法。通过随机抽样构建大量独立的决策树，对分类问题采用“少数服从多数”的投票机制，对回归问题则取所有树预测值的平均值，从而降低方差、提升模型鲁棒性。</a:t>
            </a:r>
            <a:endParaRPr lang="en-US" sz="1100"/>
          </a:p>
        </p:txBody>
      </p:sp>
      <p:sp>
        <p:nvSpPr>
          <p:cNvPr id="26" name="AutoShape 26"/>
          <p:cNvSpPr/>
          <p:nvPr/>
        </p:nvSpPr>
        <p:spPr>
          <a:xfrm>
            <a:off x="6477000" y="3810000"/>
            <a:ext cx="1549400" cy="1460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6578600" y="3873500"/>
            <a:ext cx="13462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精准稳定</a:t>
            </a:r>
            <a:endParaRPr lang="en-US" sz="1100"/>
          </a:p>
        </p:txBody>
      </p:sp>
      <p:sp>
        <p:nvSpPr>
          <p:cNvPr id="28" name="AutoShape 28"/>
          <p:cNvSpPr/>
          <p:nvPr/>
        </p:nvSpPr>
        <p:spPr>
          <a:xfrm>
            <a:off x="6578600" y="4254500"/>
            <a:ext cx="1346200" cy="9525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有效降低过拟合风险，对噪声和异常值具有较强的容忍度，泛化能力优异。</a:t>
            </a:r>
            <a:endParaRPr lang="en-US" sz="1100"/>
          </a:p>
        </p:txBody>
      </p:sp>
      <p:sp>
        <p:nvSpPr>
          <p:cNvPr id="29" name="AutoShape 29"/>
          <p:cNvSpPr/>
          <p:nvPr/>
        </p:nvSpPr>
        <p:spPr>
          <a:xfrm>
            <a:off x="8153400" y="3810000"/>
            <a:ext cx="1549400" cy="1460500"/>
          </a:xfrm>
          <a:prstGeom prst="roundRect">
            <a:avLst>
              <a:gd name="adj" fmla="val 0"/>
            </a:avLst>
          </a:prstGeom>
          <a:solidFill>
            <a:srgbClr val="FEF2F2">
              <a:alpha val="10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8255000" y="3873500"/>
            <a:ext cx="13462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黑盒模型</a:t>
            </a:r>
            <a:endParaRPr lang="en-US" sz="1100"/>
          </a:p>
        </p:txBody>
      </p:sp>
      <p:sp>
        <p:nvSpPr>
          <p:cNvPr id="31" name="AutoShape 31"/>
          <p:cNvSpPr/>
          <p:nvPr/>
        </p:nvSpPr>
        <p:spPr>
          <a:xfrm>
            <a:off x="8255000" y="4254500"/>
            <a:ext cx="1346200" cy="9525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模型结构复杂，失去了单树的直观可解释性，且训练与预测计算成本较高。</a:t>
            </a:r>
            <a:endParaRPr lang="en-US" sz="1100"/>
          </a:p>
        </p:txBody>
      </p:sp>
      <p:sp>
        <p:nvSpPr>
          <p:cNvPr id="32" name="AutoShape 32"/>
          <p:cNvSpPr/>
          <p:nvPr/>
        </p:nvSpPr>
        <p:spPr>
          <a:xfrm>
            <a:off x="9829800" y="3810000"/>
            <a:ext cx="1549400" cy="1460500"/>
          </a:xfrm>
          <a:prstGeom prst="roundRect">
            <a:avLst>
              <a:gd name="adj" fmla="val 0"/>
            </a:avLst>
          </a:prstGeom>
          <a:solidFill>
            <a:srgbClr val="ECFD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33" name="AutoShape 33"/>
          <p:cNvSpPr/>
          <p:nvPr/>
        </p:nvSpPr>
        <p:spPr>
          <a:xfrm>
            <a:off x="9931400" y="3873500"/>
            <a:ext cx="13462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059669"/>
                </a:solidFill>
                <a:latin typeface="Noto Sans SC" panose="020B0200000000000000" charset="-122"/>
                <a:ea typeface="Noto Sans SC" panose="020B0200000000000000" charset="-122"/>
                <a:cs typeface="Noto Sans SC" panose="020B0200000000000000" charset="-122"/>
                <a:sym typeface="Noto Sans SC" panose="020B0200000000000000" charset="-122"/>
              </a:rPr>
              <a:t>高性能预测</a:t>
            </a:r>
            <a:endParaRPr lang="en-US" sz="1100"/>
          </a:p>
        </p:txBody>
      </p:sp>
      <p:sp>
        <p:nvSpPr>
          <p:cNvPr id="34" name="AutoShape 34"/>
          <p:cNvSpPr/>
          <p:nvPr/>
        </p:nvSpPr>
        <p:spPr>
          <a:xfrm>
            <a:off x="9931400" y="4254500"/>
            <a:ext cx="1346200" cy="9525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适用于对预测精度要求高、数据维度复杂且无需强解释性的实际业务场景。</a:t>
            </a:r>
            <a:endParaRPr lang="en-US" sz="1100"/>
          </a:p>
        </p:txBody>
      </p:sp>
      <p:sp>
        <p:nvSpPr>
          <p:cNvPr id="35" name="AutoShape 35"/>
          <p:cNvSpPr/>
          <p:nvPr/>
        </p:nvSpPr>
        <p:spPr>
          <a:xfrm>
            <a:off x="6477000" y="5397500"/>
            <a:ext cx="4699000" cy="8255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36" name="AutoShape 36"/>
          <p:cNvSpPr/>
          <p:nvPr/>
        </p:nvSpPr>
        <p:spPr>
          <a:xfrm>
            <a:off x="6604000" y="5461000"/>
            <a:ext cx="4445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数据科学领域的“万金油”算法。通过组合多个弱学习器形成强学习器，在保持高效的同时提供了极佳的预测表现，广泛应用于各类竞赛与工业界落地项目。</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常见预测模型详解</a:t>
            </a:r>
            <a:endParaRPr lang="en-US" sz="1100"/>
          </a:p>
        </p:txBody>
      </p:sp>
      <p:sp>
        <p:nvSpPr>
          <p:cNvPr id="4" name="AutoShape 4"/>
          <p:cNvSpPr/>
          <p:nvPr/>
        </p:nvSpPr>
        <p:spPr>
          <a:xfrm>
            <a:off x="762000" y="1651000"/>
            <a:ext cx="3492500" cy="2413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492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41500"/>
            <a:ext cx="3111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核心原理</a:t>
            </a:r>
            <a:endParaRPr lang="en-US" sz="1100"/>
          </a:p>
        </p:txBody>
      </p:sp>
      <p:sp>
        <p:nvSpPr>
          <p:cNvPr id="7" name="AutoShape 7"/>
          <p:cNvSpPr/>
          <p:nvPr/>
        </p:nvSpPr>
        <p:spPr>
          <a:xfrm>
            <a:off x="952500" y="2413000"/>
            <a:ext cx="3111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专门针对</a:t>
            </a: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按时间顺序排列</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的序列数据进行建模。其核心逻辑是假设未来的数据状态并非独立存在，而是与历史数据存在内在的演变关联，通过量化历史数据的特征与规律，来推导未来的数值变化趋势。</a:t>
            </a:r>
            <a:endParaRPr lang="en-US" sz="1100"/>
          </a:p>
        </p:txBody>
      </p:sp>
      <p:sp>
        <p:nvSpPr>
          <p:cNvPr id="8" name="AutoShape 8"/>
          <p:cNvSpPr/>
          <p:nvPr/>
        </p:nvSpPr>
        <p:spPr>
          <a:xfrm>
            <a:off x="4445000" y="1651000"/>
            <a:ext cx="3492500" cy="2413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4445000" y="1651000"/>
            <a:ext cx="3492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4635500" y="1841500"/>
            <a:ext cx="3111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主流方法</a:t>
            </a:r>
            <a:endParaRPr lang="en-US" sz="1100"/>
          </a:p>
        </p:txBody>
      </p:sp>
      <p:sp>
        <p:nvSpPr>
          <p:cNvPr id="11" name="AutoShape 11"/>
          <p:cNvSpPr/>
          <p:nvPr/>
        </p:nvSpPr>
        <p:spPr>
          <a:xfrm>
            <a:off x="4635500" y="2413000"/>
            <a:ext cx="3111500" cy="825500"/>
          </a:xfrm>
          <a:prstGeom prst="roundRect">
            <a:avLst>
              <a:gd name="adj" fmla="val 0"/>
            </a:avLst>
          </a:prstGeom>
          <a:solidFill>
            <a:srgbClr val="22C55E">
              <a:alpha val="9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4762500" y="2438400"/>
            <a:ext cx="2857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ARIMA模型：</a:t>
            </a:r>
            <a:r>
              <a:rPr lang="en-US" sz="12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经典统计学方法，擅长捕捉线性趋势与季节性周期，适用于数据平稳且结构清晰的场景。</a:t>
            </a:r>
            <a:endParaRPr lang="en-US" sz="1100"/>
          </a:p>
        </p:txBody>
      </p:sp>
      <p:sp>
        <p:nvSpPr>
          <p:cNvPr id="13" name="AutoShape 13"/>
          <p:cNvSpPr/>
          <p:nvPr/>
        </p:nvSpPr>
        <p:spPr>
          <a:xfrm>
            <a:off x="4635500" y="3302000"/>
            <a:ext cx="3111500" cy="825500"/>
          </a:xfrm>
          <a:prstGeom prst="roundRect">
            <a:avLst>
              <a:gd name="adj" fmla="val 0"/>
            </a:avLst>
          </a:prstGeom>
          <a:solidFill>
            <a:srgbClr val="3B82F6">
              <a:alpha val="8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4762500" y="3327400"/>
            <a:ext cx="2857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1D4ED8"/>
                </a:solidFill>
                <a:latin typeface="Noto Sans SC" panose="020B0200000000000000" charset="-122"/>
                <a:ea typeface="Noto Sans SC" panose="020B0200000000000000" charset="-122"/>
                <a:cs typeface="Noto Sans SC" panose="020B0200000000000000" charset="-122"/>
                <a:sym typeface="Noto Sans SC" panose="020B0200000000000000" charset="-122"/>
              </a:rPr>
              <a:t>LSTM网络：</a:t>
            </a:r>
            <a:r>
              <a:rPr lang="en-US" sz="12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深度学习循环网络，突破时间记忆限制，精准拟合非线性数据的长期依赖关系。</a:t>
            </a:r>
            <a:endParaRPr lang="en-US" sz="1100"/>
          </a:p>
        </p:txBody>
      </p:sp>
      <p:sp>
        <p:nvSpPr>
          <p:cNvPr id="15" name="AutoShape 15"/>
          <p:cNvSpPr/>
          <p:nvPr/>
        </p:nvSpPr>
        <p:spPr>
          <a:xfrm>
            <a:off x="8128000" y="1651000"/>
            <a:ext cx="3492500" cy="2413000"/>
          </a:xfrm>
          <a:prstGeom prst="roundRect">
            <a:avLst>
              <a:gd name="adj" fmla="val 0"/>
            </a:avLst>
          </a:prstGeom>
          <a:solidFill>
            <a:srgbClr val="22C55E">
              <a:alpha val="92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8318500" y="1841500"/>
            <a:ext cx="3111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典型应用场景</a:t>
            </a:r>
            <a:endParaRPr lang="en-US" sz="1100"/>
          </a:p>
        </p:txBody>
      </p:sp>
      <p:sp>
        <p:nvSpPr>
          <p:cNvPr id="17" name="AutoShape 17"/>
          <p:cNvSpPr/>
          <p:nvPr/>
        </p:nvSpPr>
        <p:spPr>
          <a:xfrm>
            <a:off x="8318500" y="2413000"/>
            <a:ext cx="31115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FFFFFF">
                    <a:alpha val="98039"/>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覆盖金融市场股价预测、零售行业销量与库存规划、能源电力负荷调度，以及宏观经济指标预判等领域。帮助业务方将历史数据转化为前瞻性决策依据，有效降低市场波动带来的不确定性风险。</a:t>
            </a:r>
            <a:endParaRPr lang="en-US" sz="1100"/>
          </a:p>
        </p:txBody>
      </p:sp>
      <p:sp>
        <p:nvSpPr>
          <p:cNvPr id="18" name="AutoShape 18"/>
          <p:cNvSpPr/>
          <p:nvPr/>
        </p:nvSpPr>
        <p:spPr>
          <a:xfrm>
            <a:off x="762000" y="4318000"/>
            <a:ext cx="10858500" cy="20320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762000" y="4318000"/>
            <a:ext cx="2540000" cy="2032000"/>
          </a:xfrm>
          <a:prstGeom prst="roundRect">
            <a:avLst>
              <a:gd name="adj" fmla="val 0"/>
            </a:avLst>
          </a:prstGeom>
          <a:solidFill>
            <a:srgbClr val="F0FDF4">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4508500"/>
            <a:ext cx="406400" cy="406400"/>
          </a:xfrm>
          <a:prstGeom prst="rect">
            <a:avLst/>
          </a:prstGeom>
        </p:spPr>
      </p:pic>
      <p:sp>
        <p:nvSpPr>
          <p:cNvPr id="21" name="AutoShape 21"/>
          <p:cNvSpPr/>
          <p:nvPr/>
        </p:nvSpPr>
        <p:spPr>
          <a:xfrm>
            <a:off x="952500" y="5080000"/>
            <a:ext cx="2159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从历史到未来</a:t>
            </a:r>
            <a:endParaRPr lang="en-US" sz="1100"/>
          </a:p>
          <a:p>
            <a:pPr marL="0" indent="0" algn="l">
              <a:lnSpc>
                <a:spcPct val="108000"/>
              </a:lnSpc>
            </a:pPr>
            <a:r>
              <a:rPr lang="en-US" sz="1200" b="0" i="0" u="none" strike="noStrike">
                <a:solidFill>
                  <a:srgbClr val="374151">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让数据的时间维度产生价值，为决策提供科学预判。</a:t>
            </a:r>
            <a:endParaRPr lang="en-US" sz="1200" b="0" i="0" u="none" strike="noStrike">
              <a:solidFill>
                <a:srgbClr val="374151">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22" name="Connector 22"/>
          <p:cNvCxnSpPr/>
          <p:nvPr/>
        </p:nvCxnSpPr>
        <p:spPr>
          <a:xfrm rot="5373556">
            <a:off x="2603500" y="5327674"/>
            <a:ext cx="16510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23" name="AutoShape 23"/>
          <p:cNvSpPr/>
          <p:nvPr/>
        </p:nvSpPr>
        <p:spPr>
          <a:xfrm>
            <a:off x="3619500" y="4508500"/>
            <a:ext cx="7747000" cy="171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时间序列预测是将无序的历史观测数据转化为有序决策依据的关键技术。无论是依托数学统计的ARIMA模型，还是基于神经网络的LSTM算法，其核心目标都是通过对时间维度的深度解析，在充满动态变化的现实环境中找到确定性的发展规律。这不仅能帮助企业在市场竞争中抢占先机，更能在供应链管理、资源配置等关键环节实现降本增效，为业务的持续增长提供坚实的量化支持。</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模型选择策略总结</a:t>
            </a:r>
            <a:endParaRPr lang="en-US" sz="1100"/>
          </a:p>
        </p:txBody>
      </p:sp>
      <p:sp>
        <p:nvSpPr>
          <p:cNvPr id="4" name="AutoShape 4"/>
          <p:cNvSpPr/>
          <p:nvPr/>
        </p:nvSpPr>
        <p:spPr>
          <a:xfrm>
            <a:off x="762000" y="1651000"/>
            <a:ext cx="3378200" cy="1968500"/>
          </a:xfrm>
          <a:prstGeom prst="roundRect">
            <a:avLst>
              <a:gd name="adj" fmla="val 0"/>
            </a:avLst>
          </a:prstGeom>
          <a:solidFill>
            <a:srgbClr val="FFFFFF">
              <a:alpha val="92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3782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14400" y="1841500"/>
            <a:ext cx="1016000" cy="3048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914400" y="1841500"/>
            <a:ext cx="10160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回归问题</a:t>
            </a:r>
            <a:endParaRPr lang="en-US" sz="1100"/>
          </a:p>
        </p:txBody>
      </p:sp>
      <p:sp>
        <p:nvSpPr>
          <p:cNvPr id="8" name="AutoShape 8"/>
          <p:cNvSpPr/>
          <p:nvPr/>
        </p:nvSpPr>
        <p:spPr>
          <a:xfrm>
            <a:off x="914400" y="2286000"/>
            <a:ext cx="30734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数据呈现明显的线性关系，且各特征之间相互独立，不存在复杂的交互影响。</a:t>
            </a:r>
            <a:endParaRPr lang="en-US" sz="1100"/>
          </a:p>
        </p:txBody>
      </p:sp>
      <p:sp>
        <p:nvSpPr>
          <p:cNvPr id="9" name="AutoShape 9"/>
          <p:cNvSpPr/>
          <p:nvPr/>
        </p:nvSpPr>
        <p:spPr>
          <a:xfrm>
            <a:off x="914400" y="2984500"/>
            <a:ext cx="3073400" cy="5588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041400" y="3009900"/>
            <a:ext cx="28194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推荐：线性回归 (Linear Regression)</a:t>
            </a:r>
            <a:endParaRPr lang="en-US" sz="1100"/>
          </a:p>
        </p:txBody>
      </p:sp>
      <p:sp>
        <p:nvSpPr>
          <p:cNvPr id="11" name="AutoShape 11"/>
          <p:cNvSpPr/>
          <p:nvPr/>
        </p:nvSpPr>
        <p:spPr>
          <a:xfrm>
            <a:off x="4394200" y="1651000"/>
            <a:ext cx="3378200" cy="1968500"/>
          </a:xfrm>
          <a:prstGeom prst="roundRect">
            <a:avLst>
              <a:gd name="adj" fmla="val 0"/>
            </a:avLst>
          </a:prstGeom>
          <a:solidFill>
            <a:srgbClr val="FFFFFF">
              <a:alpha val="92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4394200" y="1651000"/>
            <a:ext cx="33782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4546600" y="1841500"/>
            <a:ext cx="1016000" cy="3048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4546600" y="1841500"/>
            <a:ext cx="10160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回归问题</a:t>
            </a:r>
            <a:endParaRPr lang="en-US" sz="1100"/>
          </a:p>
        </p:txBody>
      </p:sp>
      <p:sp>
        <p:nvSpPr>
          <p:cNvPr id="15" name="AutoShape 15"/>
          <p:cNvSpPr/>
          <p:nvPr/>
        </p:nvSpPr>
        <p:spPr>
          <a:xfrm>
            <a:off x="4546600" y="2286000"/>
            <a:ext cx="30734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变量间存在非线性趋势，且需要评估不同特征对结果影响的重要性权重。</a:t>
            </a:r>
            <a:endParaRPr lang="en-US" sz="1100"/>
          </a:p>
        </p:txBody>
      </p:sp>
      <p:sp>
        <p:nvSpPr>
          <p:cNvPr id="16" name="AutoShape 16"/>
          <p:cNvSpPr/>
          <p:nvPr/>
        </p:nvSpPr>
        <p:spPr>
          <a:xfrm>
            <a:off x="4546600" y="2984500"/>
            <a:ext cx="3073400" cy="5588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4673600" y="3009900"/>
            <a:ext cx="28194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推荐：随机森林 (Random Forest)</a:t>
            </a:r>
            <a:endParaRPr lang="en-US" sz="1100"/>
          </a:p>
        </p:txBody>
      </p:sp>
      <p:sp>
        <p:nvSpPr>
          <p:cNvPr id="18" name="AutoShape 18"/>
          <p:cNvSpPr/>
          <p:nvPr/>
        </p:nvSpPr>
        <p:spPr>
          <a:xfrm>
            <a:off x="8026400" y="1651000"/>
            <a:ext cx="3378200" cy="1968500"/>
          </a:xfrm>
          <a:prstGeom prst="roundRect">
            <a:avLst>
              <a:gd name="adj" fmla="val 0"/>
            </a:avLst>
          </a:prstGeom>
          <a:solidFill>
            <a:srgbClr val="FFFFFF">
              <a:alpha val="92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8026400" y="1651000"/>
            <a:ext cx="33782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8178800" y="1841500"/>
            <a:ext cx="1016000" cy="3048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8178800" y="1841500"/>
            <a:ext cx="10160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分类问题</a:t>
            </a:r>
            <a:endParaRPr lang="en-US" sz="1100"/>
          </a:p>
        </p:txBody>
      </p:sp>
      <p:sp>
        <p:nvSpPr>
          <p:cNvPr id="22" name="AutoShape 22"/>
          <p:cNvSpPr/>
          <p:nvPr/>
        </p:nvSpPr>
        <p:spPr>
          <a:xfrm>
            <a:off x="8178800" y="2286000"/>
            <a:ext cx="30734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目标结果仅包含两类，且数据样本在特征空间中呈现明显的线性可分边界。</a:t>
            </a:r>
            <a:endParaRPr lang="en-US" sz="1100"/>
          </a:p>
        </p:txBody>
      </p:sp>
      <p:sp>
        <p:nvSpPr>
          <p:cNvPr id="23" name="AutoShape 23"/>
          <p:cNvSpPr/>
          <p:nvPr/>
        </p:nvSpPr>
        <p:spPr>
          <a:xfrm>
            <a:off x="8178800" y="2984500"/>
            <a:ext cx="3073400" cy="5588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8305800" y="3009900"/>
            <a:ext cx="28194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推荐：逻辑回归 (Logistic Regression)</a:t>
            </a:r>
            <a:endParaRPr lang="en-US" sz="1100"/>
          </a:p>
        </p:txBody>
      </p:sp>
      <p:sp>
        <p:nvSpPr>
          <p:cNvPr id="25" name="AutoShape 25"/>
          <p:cNvSpPr/>
          <p:nvPr/>
        </p:nvSpPr>
        <p:spPr>
          <a:xfrm>
            <a:off x="762000" y="3873500"/>
            <a:ext cx="3378200" cy="1968500"/>
          </a:xfrm>
          <a:prstGeom prst="roundRect">
            <a:avLst>
              <a:gd name="adj" fmla="val 0"/>
            </a:avLst>
          </a:prstGeom>
          <a:solidFill>
            <a:srgbClr val="FFFFFF">
              <a:alpha val="92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26" name="AutoShape 26"/>
          <p:cNvSpPr/>
          <p:nvPr/>
        </p:nvSpPr>
        <p:spPr>
          <a:xfrm>
            <a:off x="762000" y="3873500"/>
            <a:ext cx="33782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914400" y="4064000"/>
            <a:ext cx="1016000" cy="3048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914400" y="4064000"/>
            <a:ext cx="10160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分类问题</a:t>
            </a:r>
            <a:endParaRPr lang="en-US" sz="1100"/>
          </a:p>
        </p:txBody>
      </p:sp>
      <p:sp>
        <p:nvSpPr>
          <p:cNvPr id="29" name="AutoShape 29"/>
          <p:cNvSpPr/>
          <p:nvPr/>
        </p:nvSpPr>
        <p:spPr>
          <a:xfrm>
            <a:off x="914400" y="4508500"/>
            <a:ext cx="30734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目标类别超过两个，且特征与结果之间存在复杂的非线性关系，边界模糊。</a:t>
            </a:r>
            <a:endParaRPr lang="en-US" sz="1100"/>
          </a:p>
        </p:txBody>
      </p:sp>
      <p:sp>
        <p:nvSpPr>
          <p:cNvPr id="30" name="AutoShape 30"/>
          <p:cNvSpPr/>
          <p:nvPr/>
        </p:nvSpPr>
        <p:spPr>
          <a:xfrm>
            <a:off x="914400" y="5207000"/>
            <a:ext cx="3073400" cy="5588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1041400" y="5232400"/>
            <a:ext cx="28194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推荐：随机森林 (Random Forest)</a:t>
            </a:r>
            <a:endParaRPr lang="en-US" sz="1100"/>
          </a:p>
        </p:txBody>
      </p:sp>
      <p:sp>
        <p:nvSpPr>
          <p:cNvPr id="32" name="AutoShape 32"/>
          <p:cNvSpPr/>
          <p:nvPr/>
        </p:nvSpPr>
        <p:spPr>
          <a:xfrm>
            <a:off x="4394200" y="3873500"/>
            <a:ext cx="3378200" cy="1968500"/>
          </a:xfrm>
          <a:prstGeom prst="roundRect">
            <a:avLst>
              <a:gd name="adj" fmla="val 0"/>
            </a:avLst>
          </a:prstGeom>
          <a:solidFill>
            <a:srgbClr val="FFFFFF">
              <a:alpha val="92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33" name="AutoShape 33"/>
          <p:cNvSpPr/>
          <p:nvPr/>
        </p:nvSpPr>
        <p:spPr>
          <a:xfrm>
            <a:off x="4394200" y="3873500"/>
            <a:ext cx="33782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34" name="AutoShape 34"/>
          <p:cNvSpPr/>
          <p:nvPr/>
        </p:nvSpPr>
        <p:spPr>
          <a:xfrm>
            <a:off x="4546600" y="4064000"/>
            <a:ext cx="1016000" cy="3048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p>
        </p:txBody>
      </p:sp>
      <p:sp>
        <p:nvSpPr>
          <p:cNvPr id="35" name="AutoShape 35"/>
          <p:cNvSpPr/>
          <p:nvPr/>
        </p:nvSpPr>
        <p:spPr>
          <a:xfrm>
            <a:off x="4546600" y="4064000"/>
            <a:ext cx="10160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分类问题</a:t>
            </a:r>
            <a:endParaRPr lang="en-US" sz="1100"/>
          </a:p>
        </p:txBody>
      </p:sp>
      <p:sp>
        <p:nvSpPr>
          <p:cNvPr id="36" name="AutoShape 36"/>
          <p:cNvSpPr/>
          <p:nvPr/>
        </p:nvSpPr>
        <p:spPr>
          <a:xfrm>
            <a:off x="4546600" y="4508500"/>
            <a:ext cx="30734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业务场景要求模型具备高透明度，需要清晰地向业务方解释决策背后的逻辑。</a:t>
            </a:r>
            <a:endParaRPr lang="en-US" sz="1100"/>
          </a:p>
        </p:txBody>
      </p:sp>
      <p:sp>
        <p:nvSpPr>
          <p:cNvPr id="37" name="AutoShape 37"/>
          <p:cNvSpPr/>
          <p:nvPr/>
        </p:nvSpPr>
        <p:spPr>
          <a:xfrm>
            <a:off x="4546600" y="5207000"/>
            <a:ext cx="3073400" cy="5588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38" name="AutoShape 38"/>
          <p:cNvSpPr/>
          <p:nvPr/>
        </p:nvSpPr>
        <p:spPr>
          <a:xfrm>
            <a:off x="4673600" y="5232400"/>
            <a:ext cx="28194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推荐：决策树 (Decision Tree)</a:t>
            </a:r>
            <a:endParaRPr lang="en-US" sz="1100"/>
          </a:p>
        </p:txBody>
      </p:sp>
      <p:sp>
        <p:nvSpPr>
          <p:cNvPr id="39" name="AutoShape 39"/>
          <p:cNvSpPr/>
          <p:nvPr/>
        </p:nvSpPr>
        <p:spPr>
          <a:xfrm>
            <a:off x="8026400" y="3873500"/>
            <a:ext cx="3378200" cy="1968500"/>
          </a:xfrm>
          <a:prstGeom prst="roundRect">
            <a:avLst>
              <a:gd name="adj" fmla="val 0"/>
            </a:avLst>
          </a:prstGeom>
          <a:solidFill>
            <a:srgbClr val="FFFFFF">
              <a:alpha val="92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40" name="AutoShape 40"/>
          <p:cNvSpPr/>
          <p:nvPr/>
        </p:nvSpPr>
        <p:spPr>
          <a:xfrm>
            <a:off x="8026400" y="3873500"/>
            <a:ext cx="33782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41" name="AutoShape 41"/>
          <p:cNvSpPr/>
          <p:nvPr/>
        </p:nvSpPr>
        <p:spPr>
          <a:xfrm>
            <a:off x="8178800" y="4064000"/>
            <a:ext cx="1016000" cy="3048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p>
        </p:txBody>
      </p:sp>
      <p:sp>
        <p:nvSpPr>
          <p:cNvPr id="42" name="AutoShape 42"/>
          <p:cNvSpPr/>
          <p:nvPr/>
        </p:nvSpPr>
        <p:spPr>
          <a:xfrm>
            <a:off x="8178800" y="4064000"/>
            <a:ext cx="10160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时序问题</a:t>
            </a:r>
            <a:endParaRPr lang="en-US" sz="1100"/>
          </a:p>
        </p:txBody>
      </p:sp>
      <p:sp>
        <p:nvSpPr>
          <p:cNvPr id="43" name="AutoShape 43"/>
          <p:cNvSpPr/>
          <p:nvPr/>
        </p:nvSpPr>
        <p:spPr>
          <a:xfrm>
            <a:off x="8178800" y="4508500"/>
            <a:ext cx="30734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数据随时间顺序排列，当前结果强烈依赖于历史数据，存在明显的时间依赖性。</a:t>
            </a:r>
            <a:endParaRPr lang="en-US" sz="1100"/>
          </a:p>
        </p:txBody>
      </p:sp>
      <p:sp>
        <p:nvSpPr>
          <p:cNvPr id="44" name="AutoShape 44"/>
          <p:cNvSpPr/>
          <p:nvPr/>
        </p:nvSpPr>
        <p:spPr>
          <a:xfrm>
            <a:off x="8178800" y="5207000"/>
            <a:ext cx="3073400" cy="5588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45" name="AutoShape 45"/>
          <p:cNvSpPr/>
          <p:nvPr/>
        </p:nvSpPr>
        <p:spPr>
          <a:xfrm>
            <a:off x="8305800" y="5232400"/>
            <a:ext cx="28194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推荐：ARIMA / LSTM 网络</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03 模型构建的完整流程</a:t>
            </a:r>
            <a:endParaRPr lang="en-US" sz="1100"/>
          </a:p>
        </p:txBody>
      </p:sp>
      <p:sp>
        <p:nvSpPr>
          <p:cNvPr id="4" name="AutoShape 4"/>
          <p:cNvSpPr/>
          <p:nvPr/>
        </p:nvSpPr>
        <p:spPr>
          <a:xfrm>
            <a:off x="762000" y="1651000"/>
            <a:ext cx="10668000" cy="10795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889000" y="1803400"/>
            <a:ext cx="1714500" cy="7620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889000" y="1841500"/>
            <a:ext cx="1714500" cy="698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数据准备</a:t>
            </a:r>
            <a:endParaRPr lang="en-US" sz="1100"/>
          </a:p>
          <a:p>
            <a:pPr marL="0" indent="0" algn="ctr">
              <a:lnSpc>
                <a:spcPct val="125000"/>
              </a:lnSpc>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采集与清洗</a:t>
            </a:r>
            <a:endPar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2603500" y="1905000"/>
            <a:ext cx="254000" cy="571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8" name="AutoShape 8"/>
          <p:cNvSpPr/>
          <p:nvPr/>
        </p:nvSpPr>
        <p:spPr>
          <a:xfrm>
            <a:off x="2857500" y="1803400"/>
            <a:ext cx="1714500" cy="7620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2857500" y="1841500"/>
            <a:ext cx="1714500" cy="698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特征工程</a:t>
            </a:r>
            <a:endParaRPr lang="en-US" sz="1100"/>
          </a:p>
          <a:p>
            <a:pPr marL="0" indent="0" algn="ctr">
              <a:lnSpc>
                <a:spcPct val="125000"/>
              </a:lnSpc>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提取有效信息</a:t>
            </a:r>
            <a:endPar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4572000" y="1905000"/>
            <a:ext cx="254000" cy="571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11" name="AutoShape 11"/>
          <p:cNvSpPr/>
          <p:nvPr/>
        </p:nvSpPr>
        <p:spPr>
          <a:xfrm>
            <a:off x="4826000" y="1803400"/>
            <a:ext cx="1714500" cy="7620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4826000" y="1841500"/>
            <a:ext cx="1714500" cy="698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模型训练</a:t>
            </a:r>
            <a:endParaRPr lang="en-US" sz="1100"/>
          </a:p>
          <a:p>
            <a:pPr marL="0" indent="0" algn="ctr">
              <a:lnSpc>
                <a:spcPct val="125000"/>
              </a:lnSpc>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算法拟合数据</a:t>
            </a:r>
            <a:endPar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6540500" y="1905000"/>
            <a:ext cx="254000" cy="571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14" name="AutoShape 14"/>
          <p:cNvSpPr/>
          <p:nvPr/>
        </p:nvSpPr>
        <p:spPr>
          <a:xfrm>
            <a:off x="6794500" y="1803400"/>
            <a:ext cx="1714500" cy="7620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794500" y="1841500"/>
            <a:ext cx="1714500" cy="698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模型评估</a:t>
            </a:r>
            <a:endParaRPr lang="en-US" sz="1100"/>
          </a:p>
          <a:p>
            <a:pPr marL="0" indent="0" algn="ctr">
              <a:lnSpc>
                <a:spcPct val="125000"/>
              </a:lnSpc>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验证预测效果</a:t>
            </a:r>
            <a:endPar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nvSpPr>
        <p:spPr>
          <a:xfrm>
            <a:off x="8509000" y="1905000"/>
            <a:ext cx="254000" cy="571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17" name="AutoShape 17"/>
          <p:cNvSpPr/>
          <p:nvPr/>
        </p:nvSpPr>
        <p:spPr>
          <a:xfrm>
            <a:off x="8763000" y="1803400"/>
            <a:ext cx="2349500" cy="7620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8763000" y="1841500"/>
            <a:ext cx="2349500" cy="698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调参与部署</a:t>
            </a:r>
            <a:endParaRPr lang="en-US" sz="1100"/>
          </a:p>
          <a:p>
            <a:pPr marL="0" indent="0" algn="ctr">
              <a:lnSpc>
                <a:spcPct val="125000"/>
              </a:lnSpc>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优化后落地应用</a:t>
            </a:r>
            <a:endPar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762000" y="3048000"/>
            <a:ext cx="5207000" cy="2921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762000" y="3048000"/>
            <a:ext cx="76200" cy="2921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1016000" y="31750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数据准备 (Data Preparation)</a:t>
            </a:r>
            <a:endParaRPr lang="en-US" sz="1100"/>
          </a:p>
        </p:txBody>
      </p:sp>
      <p:sp>
        <p:nvSpPr>
          <p:cNvPr id="22" name="AutoShape 22"/>
          <p:cNvSpPr/>
          <p:nvPr/>
        </p:nvSpPr>
        <p:spPr>
          <a:xfrm>
            <a:off x="1016000" y="3937000"/>
            <a:ext cx="469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核心任务是从多源异构的数据源中进行收集、清洗、去噪、缺失值处理和数据整合，形成高质量的结构化数据集。这是整个建模流程中耗时最长但最基础的工作。</a:t>
            </a:r>
            <a:endParaRPr lang="en-US" sz="1100"/>
          </a:p>
        </p:txBody>
      </p:sp>
      <p:sp>
        <p:nvSpPr>
          <p:cNvPr id="23" name="AutoShape 23"/>
          <p:cNvSpPr/>
          <p:nvPr/>
        </p:nvSpPr>
        <p:spPr>
          <a:xfrm>
            <a:off x="1016000" y="4953000"/>
            <a:ext cx="4699000" cy="9525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1143000" y="5016500"/>
            <a:ext cx="4445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15522E"/>
                </a:solidFill>
                <a:latin typeface="Noto Sans SC" panose="020B0200000000000000" charset="-122"/>
                <a:ea typeface="Noto Sans SC" panose="020B0200000000000000" charset="-122"/>
                <a:cs typeface="Noto Sans SC" panose="020B0200000000000000" charset="-122"/>
                <a:sym typeface="Noto Sans SC" panose="020B0200000000000000" charset="-122"/>
              </a:rPr>
              <a:t>“垃圾进，垃圾出”：</a:t>
            </a:r>
            <a:r>
              <a:rPr lang="en-US" sz="1300" b="0" i="0" u="none" strike="noStrike">
                <a:solidFill>
                  <a:srgbClr val="28323C"/>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数据的质量直接决定了模型性能的上限。如果输入的数据存在大量噪声或偏差，再优秀的算法也无法训练出可靠的预测模型。</a:t>
            </a:r>
            <a:endParaRPr lang="en-US" sz="1100"/>
          </a:p>
        </p:txBody>
      </p:sp>
      <p:cxnSp>
        <p:nvCxnSpPr>
          <p:cNvPr id="25" name="Connector 25"/>
          <p:cNvCxnSpPr/>
          <p:nvPr/>
        </p:nvCxnSpPr>
        <p:spPr>
          <a:xfrm rot="5385053">
            <a:off x="4699000" y="4502164"/>
            <a:ext cx="2921000" cy="12700"/>
          </a:xfrm>
          <a:prstGeom prst="straightConnector1">
            <a:avLst/>
          </a:prstGeom>
          <a:solidFill>
            <a:srgbClr val="DEE0E3">
              <a:alpha val="100000"/>
            </a:srgbClr>
          </a:solidFill>
          <a:ln w="12700" cap="flat" cmpd="sng">
            <a:solidFill>
              <a:srgbClr val="22C55E">
                <a:alpha val="25000"/>
              </a:srgbClr>
            </a:solidFill>
            <a:prstDash val="dash"/>
            <a:round/>
            <a:headEnd type="none" w="med" len="med"/>
            <a:tailEnd type="none" w="med" len="med"/>
          </a:ln>
        </p:spPr>
      </p:cxnSp>
      <p:sp>
        <p:nvSpPr>
          <p:cNvPr id="26" name="AutoShape 26"/>
          <p:cNvSpPr/>
          <p:nvPr/>
        </p:nvSpPr>
        <p:spPr>
          <a:xfrm>
            <a:off x="6350000" y="3048000"/>
            <a:ext cx="5207000" cy="2921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6350000" y="3048000"/>
            <a:ext cx="76200" cy="2921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6604000" y="31750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特征工程 (Feature Engineering)</a:t>
            </a:r>
            <a:endParaRPr lang="en-US" sz="1100"/>
          </a:p>
        </p:txBody>
      </p:sp>
      <p:sp>
        <p:nvSpPr>
          <p:cNvPr id="29" name="AutoShape 29"/>
          <p:cNvSpPr/>
          <p:nvPr/>
        </p:nvSpPr>
        <p:spPr>
          <a:xfrm>
            <a:off x="6604000" y="3937000"/>
            <a:ext cx="469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核心任务是通过领域知识和数据变换技术，从原始数据中提取、构造和选择对目标变量最具预测价值的特征。这是连接原始数据与模型输入的关键桥梁。</a:t>
            </a:r>
            <a:endParaRPr lang="en-US" sz="1100"/>
          </a:p>
        </p:txBody>
      </p:sp>
      <p:sp>
        <p:nvSpPr>
          <p:cNvPr id="30" name="AutoShape 30"/>
          <p:cNvSpPr/>
          <p:nvPr/>
        </p:nvSpPr>
        <p:spPr>
          <a:xfrm>
            <a:off x="6604000" y="4953000"/>
            <a:ext cx="4699000" cy="9525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6731000" y="5016500"/>
            <a:ext cx="4445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15522E"/>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关键效能：</a:t>
            </a:r>
            <a:r>
              <a:rPr lang="en-US" sz="1300" b="0" i="0" u="none" strike="noStrike">
                <a:solidFill>
                  <a:srgbClr val="28323C"/>
                </a:solidFill>
                <a:latin typeface="Noto Sans SC" panose="020B0200000000000000" charset="-122"/>
                <a:ea typeface="Noto Sans SC" panose="020B0200000000000000" charset="-122"/>
                <a:cs typeface="Noto Sans SC" panose="020B0200000000000000" charset="-122"/>
                <a:sym typeface="Noto Sans SC" panose="020B0200000000000000" charset="-122"/>
              </a:rPr>
              <a:t>一个经过精心设计的特征工程方案，往往比单纯选择复杂的深度学习算法更能显著提升模型的泛化能力和预测准确性。</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模型构建的完整流程</a:t>
            </a:r>
            <a:endParaRPr lang="en-US" sz="1100"/>
          </a:p>
        </p:txBody>
      </p:sp>
      <p:sp>
        <p:nvSpPr>
          <p:cNvPr id="4" name="AutoShape 4"/>
          <p:cNvSpPr/>
          <p:nvPr/>
        </p:nvSpPr>
        <p:spPr>
          <a:xfrm>
            <a:off x="762000" y="1651000"/>
            <a:ext cx="5270500" cy="22225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270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03400"/>
            <a:ext cx="63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C55E">
                    <a:alpha val="3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7" name="AutoShape 7"/>
          <p:cNvSpPr/>
          <p:nvPr/>
        </p:nvSpPr>
        <p:spPr>
          <a:xfrm>
            <a:off x="1714500" y="18415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模型训练</a:t>
            </a:r>
            <a:r>
              <a:rPr lang="en-US" sz="14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 Model Training</a:t>
            </a:r>
            <a:endParaRPr lang="en-US" sz="1100"/>
          </a:p>
        </p:txBody>
      </p:sp>
      <p:sp>
        <p:nvSpPr>
          <p:cNvPr id="8" name="AutoShape 8"/>
          <p:cNvSpPr/>
          <p:nvPr/>
        </p:nvSpPr>
        <p:spPr>
          <a:xfrm>
            <a:off x="952500" y="2540000"/>
            <a:ext cx="4889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核心任务：</a:t>
            </a:r>
            <a:r>
              <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选择合适的算法，利用标注好的训练数据来拟合模型参数，让模型学习数据中的潜在规律与特征。</a:t>
            </a:r>
            <a:endParaRPr lang="en-US" sz="1100"/>
          </a:p>
        </p:txBody>
      </p:sp>
      <p:sp>
        <p:nvSpPr>
          <p:cNvPr id="9" name="AutoShape 9"/>
          <p:cNvSpPr/>
          <p:nvPr/>
        </p:nvSpPr>
        <p:spPr>
          <a:xfrm>
            <a:off x="952500" y="3238500"/>
            <a:ext cx="4889500" cy="5080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079500" y="3276600"/>
            <a:ext cx="46355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关键动作：</a:t>
            </a:r>
            <a:r>
              <a:rPr lang="en-US" sz="1200" b="0" i="0" u="none" strike="noStrike">
                <a:solidFill>
                  <a:srgbClr val="15803D">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严格划分训练集与测试集，确保数据分布的代表性与独立性。</a:t>
            </a:r>
            <a:endParaRPr lang="en-US" sz="1100"/>
          </a:p>
        </p:txBody>
      </p:sp>
      <p:sp>
        <p:nvSpPr>
          <p:cNvPr id="11" name="AutoShape 11"/>
          <p:cNvSpPr/>
          <p:nvPr/>
        </p:nvSpPr>
        <p:spPr>
          <a:xfrm>
            <a:off x="6223000" y="1651000"/>
            <a:ext cx="5270500" cy="22225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223000" y="1651000"/>
            <a:ext cx="5270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413500" y="1803400"/>
            <a:ext cx="63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C55E">
                    <a:alpha val="3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14" name="AutoShape 14"/>
          <p:cNvSpPr/>
          <p:nvPr/>
        </p:nvSpPr>
        <p:spPr>
          <a:xfrm>
            <a:off x="7175500" y="18415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模型评估</a:t>
            </a:r>
            <a:r>
              <a:rPr lang="en-US" sz="14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 Model Evaluation</a:t>
            </a:r>
            <a:endParaRPr lang="en-US" sz="1100"/>
          </a:p>
        </p:txBody>
      </p:sp>
      <p:sp>
        <p:nvSpPr>
          <p:cNvPr id="15" name="AutoShape 15"/>
          <p:cNvSpPr/>
          <p:nvPr/>
        </p:nvSpPr>
        <p:spPr>
          <a:xfrm>
            <a:off x="6413500" y="2540000"/>
            <a:ext cx="4889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核心任务：</a:t>
            </a:r>
            <a:r>
              <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使用预留的测试集数据，对训练好的模型进行无偏性能验证，客观衡量模型的泛化能力与准确性。</a:t>
            </a:r>
            <a:endParaRPr lang="en-US" sz="1100"/>
          </a:p>
        </p:txBody>
      </p:sp>
      <p:sp>
        <p:nvSpPr>
          <p:cNvPr id="16" name="AutoShape 16"/>
          <p:cNvSpPr/>
          <p:nvPr/>
        </p:nvSpPr>
        <p:spPr>
          <a:xfrm>
            <a:off x="6413500" y="3238500"/>
            <a:ext cx="4889500" cy="5080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6540500" y="3276600"/>
            <a:ext cx="46355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关键动作：</a:t>
            </a:r>
            <a:r>
              <a:rPr lang="en-US" sz="1200" b="0" i="0" u="none" strike="noStrike">
                <a:solidFill>
                  <a:srgbClr val="15803D">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选择业务导向的评估指标，并引入交叉验证消除随机误差。</a:t>
            </a:r>
            <a:endParaRPr lang="en-US" sz="1100"/>
          </a:p>
        </p:txBody>
      </p:sp>
      <p:sp>
        <p:nvSpPr>
          <p:cNvPr id="18" name="AutoShape 18"/>
          <p:cNvSpPr/>
          <p:nvPr/>
        </p:nvSpPr>
        <p:spPr>
          <a:xfrm>
            <a:off x="762000" y="4064000"/>
            <a:ext cx="5270500" cy="22225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762000" y="4064000"/>
            <a:ext cx="5270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952500" y="4216400"/>
            <a:ext cx="63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C55E">
                    <a:alpha val="3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sp>
        <p:nvSpPr>
          <p:cNvPr id="21" name="AutoShape 21"/>
          <p:cNvSpPr/>
          <p:nvPr/>
        </p:nvSpPr>
        <p:spPr>
          <a:xfrm>
            <a:off x="1714500" y="42545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模型调参</a:t>
            </a:r>
            <a:r>
              <a:rPr lang="en-US" sz="14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 Hyperparameter Tuning</a:t>
            </a:r>
            <a:endParaRPr lang="en-US" sz="1100"/>
          </a:p>
        </p:txBody>
      </p:sp>
      <p:sp>
        <p:nvSpPr>
          <p:cNvPr id="22" name="AutoShape 22"/>
          <p:cNvSpPr/>
          <p:nvPr/>
        </p:nvSpPr>
        <p:spPr>
          <a:xfrm>
            <a:off x="952500" y="4953000"/>
            <a:ext cx="4889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核心任务：</a:t>
            </a:r>
            <a:r>
              <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通过网格搜索、贝叶斯优化等策略调整超参数，寻找模型在当前数据集下的最优配置组合。</a:t>
            </a:r>
            <a:endParaRPr lang="en-US" sz="1100"/>
          </a:p>
        </p:txBody>
      </p:sp>
      <p:sp>
        <p:nvSpPr>
          <p:cNvPr id="23" name="AutoShape 23"/>
          <p:cNvSpPr/>
          <p:nvPr/>
        </p:nvSpPr>
        <p:spPr>
          <a:xfrm>
            <a:off x="952500" y="5651500"/>
            <a:ext cx="4889500" cy="5080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1079500" y="5689600"/>
            <a:ext cx="46355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关键动作：</a:t>
            </a:r>
            <a:r>
              <a:rPr lang="en-US" sz="1200" b="0" i="0" u="none" strike="noStrike">
                <a:solidFill>
                  <a:srgbClr val="15803D">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平衡模型复杂度与性能，在避免过拟合的前提下追求最佳效果。</a:t>
            </a:r>
            <a:endParaRPr lang="en-US" sz="1100"/>
          </a:p>
        </p:txBody>
      </p:sp>
      <p:sp>
        <p:nvSpPr>
          <p:cNvPr id="25" name="AutoShape 25"/>
          <p:cNvSpPr/>
          <p:nvPr/>
        </p:nvSpPr>
        <p:spPr>
          <a:xfrm>
            <a:off x="6223000" y="4064000"/>
            <a:ext cx="5270500" cy="22225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6223000" y="4064000"/>
            <a:ext cx="5270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6413500" y="4216400"/>
            <a:ext cx="63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C55E">
                    <a:alpha val="3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06</a:t>
            </a:r>
            <a:endParaRPr lang="en-US" sz="1100"/>
          </a:p>
        </p:txBody>
      </p:sp>
      <p:sp>
        <p:nvSpPr>
          <p:cNvPr id="28" name="AutoShape 28"/>
          <p:cNvSpPr/>
          <p:nvPr/>
        </p:nvSpPr>
        <p:spPr>
          <a:xfrm>
            <a:off x="7175500" y="42545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模型部署</a:t>
            </a:r>
            <a:r>
              <a:rPr lang="en-US" sz="14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 Model Deployment</a:t>
            </a:r>
            <a:endParaRPr lang="en-US" sz="1100"/>
          </a:p>
        </p:txBody>
      </p:sp>
      <p:sp>
        <p:nvSpPr>
          <p:cNvPr id="29" name="AutoShape 29"/>
          <p:cNvSpPr/>
          <p:nvPr/>
        </p:nvSpPr>
        <p:spPr>
          <a:xfrm>
            <a:off x="6413500" y="4953000"/>
            <a:ext cx="4889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核心任务：</a:t>
            </a:r>
            <a:r>
              <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将优化后的模型封装上线，集成到业务系统中，实现自动化的实时预测与决策支持。</a:t>
            </a:r>
            <a:endParaRPr lang="en-US" sz="1100"/>
          </a:p>
        </p:txBody>
      </p:sp>
      <p:sp>
        <p:nvSpPr>
          <p:cNvPr id="30" name="AutoShape 30"/>
          <p:cNvSpPr/>
          <p:nvPr/>
        </p:nvSpPr>
        <p:spPr>
          <a:xfrm>
            <a:off x="6413500" y="5651500"/>
            <a:ext cx="4889500" cy="5080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6540500" y="5689600"/>
            <a:ext cx="46355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关键动作：</a:t>
            </a:r>
            <a:r>
              <a:rPr lang="en-US" sz="1200" b="0" i="0" u="none" strike="noStrike">
                <a:solidFill>
                  <a:srgbClr val="15803D">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确保系统的稳定性与低延迟，让算法模型真正赋能实际业务产生价值。</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04 案例分析：预测加州房价</a:t>
            </a:r>
            <a:endParaRPr lang="en-US" sz="1100"/>
          </a:p>
        </p:txBody>
      </p:sp>
      <p:sp>
        <p:nvSpPr>
          <p:cNvPr id="4" name="AutoShape 4"/>
          <p:cNvSpPr/>
          <p:nvPr/>
        </p:nvSpPr>
        <p:spPr>
          <a:xfrm>
            <a:off x="762000" y="1524000"/>
            <a:ext cx="10668000" cy="889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524000"/>
            <a:ext cx="50800" cy="889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587500"/>
            <a:ext cx="10287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本案例旨在利用加州房价公开数据集，构建标准的线性回归模型以预测地区房价中位数。通过这一实战流程，我们将完整演示从数据加载、清洗、划分，到模型训练与最终效果评估的全生命周期机器学习解决方案。</a:t>
            </a:r>
            <a:endParaRPr lang="en-US" sz="1100"/>
          </a:p>
        </p:txBody>
      </p:sp>
      <p:sp>
        <p:nvSpPr>
          <p:cNvPr id="7" name="AutoShape 7"/>
          <p:cNvSpPr/>
          <p:nvPr/>
        </p:nvSpPr>
        <p:spPr>
          <a:xfrm>
            <a:off x="762000" y="2667000"/>
            <a:ext cx="5270500" cy="18415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762000" y="2667000"/>
            <a:ext cx="52705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889000" y="2730500"/>
            <a:ext cx="5016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1: 加载工具与数据集</a:t>
            </a:r>
            <a:endParaRPr lang="en-US" sz="1100"/>
          </a:p>
        </p:txBody>
      </p:sp>
      <p:sp>
        <p:nvSpPr>
          <p:cNvPr id="10" name="AutoShape 10"/>
          <p:cNvSpPr/>
          <p:nvPr/>
        </p:nvSpPr>
        <p:spPr>
          <a:xfrm>
            <a:off x="889000" y="3175000"/>
            <a:ext cx="5016500" cy="571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952500" y="3200400"/>
            <a:ext cx="4889500" cy="5334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导入 Pandas 与 Scikit-learn 库，获取加州房价数据集并转换为 DataFrame，同时添加目标变量（房价中位数）。</a:t>
            </a:r>
            <a:endParaRPr lang="en-US" sz="1100"/>
          </a:p>
        </p:txBody>
      </p:sp>
      <p:sp>
        <p:nvSpPr>
          <p:cNvPr id="12" name="AutoShape 12"/>
          <p:cNvSpPr/>
          <p:nvPr/>
        </p:nvSpPr>
        <p:spPr>
          <a:xfrm>
            <a:off x="889000" y="3810000"/>
            <a:ext cx="5016500" cy="660400"/>
          </a:xfrm>
          <a:prstGeom prst="roundRect">
            <a:avLst>
              <a:gd name="adj" fmla="val 0"/>
            </a:avLst>
          </a:prstGeom>
          <a:solidFill>
            <a:srgbClr val="1F29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952500" y="3835400"/>
            <a:ext cx="4889500" cy="609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D1D5DB"/>
                </a:solidFill>
                <a:latin typeface="Consolas" panose="020B0609020204030204"/>
                <a:ea typeface="Consolas" panose="020B0609020204030204"/>
                <a:cs typeface="Consolas" panose="020B0609020204030204"/>
                <a:sym typeface="Consolas" panose="020B0609020204030204"/>
              </a:rPr>
              <a:t>housing = fetch_california_housing()</a:t>
            </a:r>
            <a:br>
              <a:rPr lang="en-US" sz="1100" b="0" i="0" u="none" strike="noStrike">
                <a:solidFill>
                  <a:srgbClr val="D1D5DB"/>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D1D5DB"/>
                </a:solidFill>
                <a:latin typeface="Consolas" panose="020B0609020204030204"/>
                <a:ea typeface="Consolas" panose="020B0609020204030204"/>
                <a:cs typeface="Consolas" panose="020B0609020204030204"/>
                <a:sym typeface="Consolas" panose="020B0609020204030204"/>
              </a:rPr>
              <a:t>df = pd.DataFrame(housing.data, columns=housing.feature_names)</a:t>
            </a:r>
            <a:br>
              <a:rPr lang="en-US" sz="1100" b="0" i="0" u="none" strike="noStrike">
                <a:solidFill>
                  <a:srgbClr val="D1D5DB"/>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D1D5DB"/>
                </a:solidFill>
                <a:latin typeface="Consolas" panose="020B0609020204030204"/>
                <a:ea typeface="Consolas" panose="020B0609020204030204"/>
                <a:cs typeface="Consolas" panose="020B0609020204030204"/>
                <a:sym typeface="Consolas" panose="020B0609020204030204"/>
              </a:rPr>
              <a:t>df['MedHouseVal'] = housing.target</a:t>
            </a:r>
            <a:endParaRPr lang="en-US" sz="1100"/>
          </a:p>
        </p:txBody>
      </p:sp>
      <p:sp>
        <p:nvSpPr>
          <p:cNvPr id="14" name="AutoShape 14"/>
          <p:cNvSpPr/>
          <p:nvPr/>
        </p:nvSpPr>
        <p:spPr>
          <a:xfrm>
            <a:off x="6159500" y="2667000"/>
            <a:ext cx="5270500" cy="18415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159500" y="2667000"/>
            <a:ext cx="52705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6286500" y="2730500"/>
            <a:ext cx="5016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2: 特征与标签分离及划分</a:t>
            </a:r>
            <a:endParaRPr lang="en-US" sz="1100"/>
          </a:p>
        </p:txBody>
      </p:sp>
      <p:sp>
        <p:nvSpPr>
          <p:cNvPr id="17" name="AutoShape 17"/>
          <p:cNvSpPr/>
          <p:nvPr/>
        </p:nvSpPr>
        <p:spPr>
          <a:xfrm>
            <a:off x="6286500" y="3175000"/>
            <a:ext cx="5016500" cy="571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350000" y="3200400"/>
            <a:ext cx="4889500" cy="5334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将数据分离为特征矩阵 X 和目标向量 y，按 8:2 的比例随机划分训练集与测试集，确保数据分布的代表性。</a:t>
            </a:r>
            <a:endParaRPr lang="en-US" sz="1100"/>
          </a:p>
        </p:txBody>
      </p:sp>
      <p:sp>
        <p:nvSpPr>
          <p:cNvPr id="19" name="AutoShape 19"/>
          <p:cNvSpPr/>
          <p:nvPr/>
        </p:nvSpPr>
        <p:spPr>
          <a:xfrm>
            <a:off x="6286500" y="3810000"/>
            <a:ext cx="5016500" cy="660400"/>
          </a:xfrm>
          <a:prstGeom prst="roundRect">
            <a:avLst>
              <a:gd name="adj" fmla="val 0"/>
            </a:avLst>
          </a:prstGeom>
          <a:solidFill>
            <a:srgbClr val="1F29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6350000" y="3835400"/>
            <a:ext cx="4889500" cy="609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D1D5DB"/>
                </a:solidFill>
                <a:latin typeface="Consolas" panose="020B0609020204030204"/>
                <a:ea typeface="Consolas" panose="020B0609020204030204"/>
                <a:cs typeface="Consolas" panose="020B0609020204030204"/>
                <a:sym typeface="Consolas" panose="020B0609020204030204"/>
              </a:rPr>
              <a:t>X, y = df.drop('MedHouseVal',1), df['MedHouseVal']</a:t>
            </a:r>
            <a:br>
              <a:rPr lang="en-US" sz="1100" b="0" i="0" u="none" strike="noStrike">
                <a:solidFill>
                  <a:srgbClr val="D1D5DB"/>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D1D5DB"/>
                </a:solidFill>
                <a:latin typeface="Consolas" panose="020B0609020204030204"/>
                <a:ea typeface="Consolas" panose="020B0609020204030204"/>
                <a:cs typeface="Consolas" panose="020B0609020204030204"/>
                <a:sym typeface="Consolas" panose="020B0609020204030204"/>
              </a:rPr>
              <a:t>X_train, X_test, y_train, y_test = train_test_split(</a:t>
            </a:r>
            <a:br>
              <a:rPr lang="en-US" sz="1100" b="0" i="0" u="none" strike="noStrike">
                <a:solidFill>
                  <a:srgbClr val="D1D5DB"/>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D1D5DB"/>
                </a:solidFill>
                <a:latin typeface="Consolas" panose="020B0609020204030204"/>
                <a:ea typeface="Consolas" panose="020B0609020204030204"/>
                <a:cs typeface="Consolas" panose="020B0609020204030204"/>
                <a:sym typeface="Consolas" panose="020B0609020204030204"/>
              </a:rPr>
              <a:t>X, y, test_size=0.2, random_state=42)</a:t>
            </a:r>
            <a:endParaRPr lang="en-US" sz="1100"/>
          </a:p>
        </p:txBody>
      </p:sp>
      <p:sp>
        <p:nvSpPr>
          <p:cNvPr id="21" name="AutoShape 21"/>
          <p:cNvSpPr/>
          <p:nvPr/>
        </p:nvSpPr>
        <p:spPr>
          <a:xfrm>
            <a:off x="762000" y="4635500"/>
            <a:ext cx="5270500" cy="18415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762000" y="4635500"/>
            <a:ext cx="52705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889000" y="4699000"/>
            <a:ext cx="5016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3: 训练线性回归模型</a:t>
            </a:r>
            <a:endParaRPr lang="en-US" sz="1100"/>
          </a:p>
        </p:txBody>
      </p:sp>
      <p:sp>
        <p:nvSpPr>
          <p:cNvPr id="24" name="AutoShape 24"/>
          <p:cNvSpPr/>
          <p:nvPr/>
        </p:nvSpPr>
        <p:spPr>
          <a:xfrm>
            <a:off x="889000" y="5143500"/>
            <a:ext cx="5016500" cy="571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952500" y="5168900"/>
            <a:ext cx="4889500" cy="5334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初始化线性回归算法，利用训练集数据拟合模型参数，建立特征与房价之间的线性映射关系。</a:t>
            </a:r>
            <a:endParaRPr lang="en-US" sz="1100"/>
          </a:p>
        </p:txBody>
      </p:sp>
      <p:sp>
        <p:nvSpPr>
          <p:cNvPr id="26" name="AutoShape 26"/>
          <p:cNvSpPr/>
          <p:nvPr/>
        </p:nvSpPr>
        <p:spPr>
          <a:xfrm>
            <a:off x="889000" y="5778500"/>
            <a:ext cx="5016500" cy="660400"/>
          </a:xfrm>
          <a:prstGeom prst="roundRect">
            <a:avLst>
              <a:gd name="adj" fmla="val 0"/>
            </a:avLst>
          </a:prstGeom>
          <a:solidFill>
            <a:srgbClr val="1F29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952500" y="5803900"/>
            <a:ext cx="4889500" cy="609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D1D5DB"/>
                </a:solidFill>
                <a:latin typeface="Consolas" panose="020B0609020204030204"/>
                <a:ea typeface="Consolas" panose="020B0609020204030204"/>
                <a:cs typeface="Consolas" panose="020B0609020204030204"/>
                <a:sym typeface="Consolas" panose="020B0609020204030204"/>
              </a:rPr>
              <a:t>from sklearn.linear_model import LinearRegression</a:t>
            </a:r>
            <a:br>
              <a:rPr lang="en-US" sz="1100" b="0" i="0" u="none" strike="noStrike">
                <a:solidFill>
                  <a:srgbClr val="D1D5DB"/>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D1D5DB"/>
                </a:solidFill>
                <a:latin typeface="Consolas" panose="020B0609020204030204"/>
                <a:ea typeface="Consolas" panose="020B0609020204030204"/>
                <a:cs typeface="Consolas" panose="020B0609020204030204"/>
                <a:sym typeface="Consolas" panose="020B0609020204030204"/>
              </a:rPr>
              <a:t>model = LinearRegression()</a:t>
            </a:r>
            <a:br>
              <a:rPr lang="en-US" sz="1100" b="0" i="0" u="none" strike="noStrike">
                <a:solidFill>
                  <a:srgbClr val="D1D5DB"/>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D1D5DB"/>
                </a:solidFill>
                <a:latin typeface="Consolas" panose="020B0609020204030204"/>
                <a:ea typeface="Consolas" panose="020B0609020204030204"/>
                <a:cs typeface="Consolas" panose="020B0609020204030204"/>
                <a:sym typeface="Consolas" panose="020B0609020204030204"/>
              </a:rPr>
              <a:t>model.fit(X_train, y_train)</a:t>
            </a:r>
            <a:endParaRPr lang="en-US" sz="1100"/>
          </a:p>
        </p:txBody>
      </p:sp>
      <p:sp>
        <p:nvSpPr>
          <p:cNvPr id="28" name="AutoShape 28"/>
          <p:cNvSpPr/>
          <p:nvPr/>
        </p:nvSpPr>
        <p:spPr>
          <a:xfrm>
            <a:off x="6159500" y="4635500"/>
            <a:ext cx="5270500" cy="18415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6159500" y="4635500"/>
            <a:ext cx="52705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6286500" y="4699000"/>
            <a:ext cx="5016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4: 模型效果评估</a:t>
            </a:r>
            <a:endParaRPr lang="en-US" sz="1100"/>
          </a:p>
        </p:txBody>
      </p:sp>
      <p:sp>
        <p:nvSpPr>
          <p:cNvPr id="31" name="AutoShape 31"/>
          <p:cNvSpPr/>
          <p:nvPr/>
        </p:nvSpPr>
        <p:spPr>
          <a:xfrm>
            <a:off x="6286500" y="5143500"/>
            <a:ext cx="5016500" cy="571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32" name="AutoShape 32"/>
          <p:cNvSpPr/>
          <p:nvPr/>
        </p:nvSpPr>
        <p:spPr>
          <a:xfrm>
            <a:off x="6350000" y="5168900"/>
            <a:ext cx="4889500" cy="5334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在测试集上进行预测，通过 RMSE（均方根误差）衡量预测精度，R² 分数评估模型对数据的解释能力。</a:t>
            </a:r>
            <a:endParaRPr lang="en-US" sz="1100"/>
          </a:p>
        </p:txBody>
      </p:sp>
      <p:sp>
        <p:nvSpPr>
          <p:cNvPr id="33" name="AutoShape 33"/>
          <p:cNvSpPr/>
          <p:nvPr/>
        </p:nvSpPr>
        <p:spPr>
          <a:xfrm>
            <a:off x="6286500" y="5778500"/>
            <a:ext cx="5016500" cy="660400"/>
          </a:xfrm>
          <a:prstGeom prst="roundRect">
            <a:avLst>
              <a:gd name="adj" fmla="val 0"/>
            </a:avLst>
          </a:prstGeom>
          <a:solidFill>
            <a:srgbClr val="1F29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34" name="AutoShape 34"/>
          <p:cNvSpPr/>
          <p:nvPr/>
        </p:nvSpPr>
        <p:spPr>
          <a:xfrm>
            <a:off x="6350000" y="5803900"/>
            <a:ext cx="4889500" cy="609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D1D5DB"/>
                </a:solidFill>
                <a:latin typeface="Consolas" panose="020B0609020204030204"/>
                <a:ea typeface="Consolas" panose="020B0609020204030204"/>
                <a:cs typeface="Consolas" panose="020B0609020204030204"/>
                <a:sym typeface="Consolas" panose="020B0609020204030204"/>
              </a:rPr>
              <a:t>y_pred = model.predict(X_test)</a:t>
            </a:r>
            <a:br>
              <a:rPr lang="en-US" sz="1100" b="0" i="0" u="none" strike="noStrike">
                <a:solidFill>
                  <a:srgbClr val="D1D5DB"/>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D1D5DB"/>
                </a:solidFill>
                <a:latin typeface="Consolas" panose="020B0609020204030204"/>
                <a:ea typeface="Consolas" panose="020B0609020204030204"/>
                <a:cs typeface="Consolas" panose="020B0609020204030204"/>
                <a:sym typeface="Consolas" panose="020B0609020204030204"/>
              </a:rPr>
              <a:t>rmse = np.sqrt(mean_squared_error(y_test, y_pred))</a:t>
            </a:r>
            <a:br>
              <a:rPr lang="en-US" sz="1100" b="0" i="0" u="none" strike="noStrike">
                <a:solidFill>
                  <a:srgbClr val="D1D5DB"/>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D1D5DB"/>
                </a:solidFill>
                <a:latin typeface="Consolas" panose="020B0609020204030204"/>
                <a:ea typeface="Consolas" panose="020B0609020204030204"/>
                <a:cs typeface="Consolas" panose="020B0609020204030204"/>
                <a:sym typeface="Consolas" panose="020B0609020204030204"/>
              </a:rPr>
              <a:t>print(f"RMSE: {rmse:.2f}, R²: {r2_score(y_test,y_pred):.2f}")</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案例分析：预测加州房价 - 结果可视化</a:t>
            </a:r>
            <a:endParaRPr lang="en-US" sz="1100"/>
          </a:p>
        </p:txBody>
      </p:sp>
      <p:sp>
        <p:nvSpPr>
          <p:cNvPr id="4" name="AutoShape 4"/>
          <p:cNvSpPr/>
          <p:nvPr/>
        </p:nvSpPr>
        <p:spPr>
          <a:xfrm>
            <a:off x="762000" y="1651000"/>
            <a:ext cx="5334000" cy="2984500"/>
          </a:xfrm>
          <a:prstGeom prst="roundRect">
            <a:avLst>
              <a:gd name="adj" fmla="val 0"/>
            </a:avLst>
          </a:prstGeom>
          <a:solidFill>
            <a:srgbClr val="1F2937">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3340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415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5: 核心可视化代码实现</a:t>
            </a:r>
            <a:endParaRPr lang="en-US" sz="1100"/>
          </a:p>
        </p:txBody>
      </p:sp>
      <p:sp>
        <p:nvSpPr>
          <p:cNvPr id="7" name="AutoShape 7"/>
          <p:cNvSpPr/>
          <p:nvPr/>
        </p:nvSpPr>
        <p:spPr>
          <a:xfrm>
            <a:off x="952500" y="2413000"/>
            <a:ext cx="4953000" cy="2032000"/>
          </a:xfrm>
          <a:prstGeom prst="roundRect">
            <a:avLst>
              <a:gd name="adj" fmla="val 0"/>
            </a:avLst>
          </a:prstGeom>
          <a:solidFill>
            <a:srgbClr val="111827">
              <a:alpha val="95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079500" y="2476500"/>
            <a:ext cx="4699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solidFill>
                <a:latin typeface="Consolas" panose="020B0609020204030204"/>
                <a:ea typeface="Consolas" panose="020B0609020204030204"/>
                <a:cs typeface="Consolas" panose="020B0609020204030204"/>
                <a:sym typeface="Consolas" panose="020B0609020204030204"/>
              </a:rPr>
              <a:t>import matplotlib.pyplot as plt</a:t>
            </a:r>
            <a:br>
              <a:rPr lang="en-US" sz="1200" b="0" i="0" u="none" strike="noStrike">
                <a:solidFill>
                  <a:srgbClr val="D1D5DB"/>
                </a:solidFill>
                <a:latin typeface="Consolas" panose="020B0609020204030204"/>
                <a:ea typeface="Consolas" panose="020B0609020204030204"/>
                <a:cs typeface="Consolas" panose="020B0609020204030204"/>
                <a:sym typeface="Consolas" panose="020B0609020204030204"/>
              </a:rPr>
            </a:br>
            <a:r>
              <a:rPr lang="en-US" sz="1200" b="0" i="0" u="none" strike="noStrike">
                <a:solidFill>
                  <a:srgbClr val="D1D5DB"/>
                </a:solidFill>
                <a:latin typeface="Consolas" panose="020B0609020204030204"/>
                <a:ea typeface="Consolas" panose="020B0609020204030204"/>
                <a:cs typeface="Consolas" panose="020B0609020204030204"/>
                <a:sym typeface="Consolas" panose="020B0609020204030204"/>
              </a:rPr>
              <a:t>plt.figure(figsize=(10, 6))</a:t>
            </a:r>
            <a:br>
              <a:rPr lang="en-US" sz="1200" b="0" i="0" u="none" strike="noStrike">
                <a:solidFill>
                  <a:srgbClr val="D1D5DB"/>
                </a:solidFill>
                <a:latin typeface="Consolas" panose="020B0609020204030204"/>
                <a:ea typeface="Consolas" panose="020B0609020204030204"/>
                <a:cs typeface="Consolas" panose="020B0609020204030204"/>
                <a:sym typeface="Consolas" panose="020B0609020204030204"/>
              </a:rPr>
            </a:br>
            <a:r>
              <a:rPr lang="en-US" sz="1200" b="0" i="0" u="none" strike="noStrike">
                <a:solidFill>
                  <a:srgbClr val="D1D5DB"/>
                </a:solidFill>
                <a:latin typeface="Consolas" panose="020B0609020204030204"/>
                <a:ea typeface="Consolas" panose="020B0609020204030204"/>
                <a:cs typeface="Consolas" panose="020B0609020204030204"/>
                <a:sym typeface="Consolas" panose="020B0609020204030204"/>
              </a:rPr>
              <a:t>plt.scatter(y_test, y_pred, alpha=0.5, color='teal')</a:t>
            </a:r>
            <a:br>
              <a:rPr lang="en-US" sz="1200" b="0" i="0" u="none" strike="noStrike">
                <a:solidFill>
                  <a:srgbClr val="D1D5DB"/>
                </a:solidFill>
                <a:latin typeface="Consolas" panose="020B0609020204030204"/>
                <a:ea typeface="Consolas" panose="020B0609020204030204"/>
                <a:cs typeface="Consolas" panose="020B0609020204030204"/>
                <a:sym typeface="Consolas" panose="020B0609020204030204"/>
              </a:rPr>
            </a:br>
            <a:r>
              <a:rPr lang="en-US" sz="1200" b="0" i="0" u="none" strike="noStrike">
                <a:solidFill>
                  <a:srgbClr val="D1D5DB"/>
                </a:solidFill>
                <a:latin typeface="Consolas" panose="020B0609020204030204"/>
                <a:ea typeface="Consolas" panose="020B0609020204030204"/>
                <a:cs typeface="Consolas" panose="020B0609020204030204"/>
                <a:sym typeface="Consolas" panose="020B0609020204030204"/>
              </a:rPr>
              <a:t># 绘制完美预测参考线 (红色虚线)</a:t>
            </a:r>
            <a:br>
              <a:rPr lang="en-US" sz="1200" b="0" i="0" u="none" strike="noStrike">
                <a:solidFill>
                  <a:srgbClr val="D1D5DB"/>
                </a:solidFill>
                <a:latin typeface="Consolas" panose="020B0609020204030204"/>
                <a:ea typeface="Consolas" panose="020B0609020204030204"/>
                <a:cs typeface="Consolas" panose="020B0609020204030204"/>
                <a:sym typeface="Consolas" panose="020B0609020204030204"/>
              </a:rPr>
            </a:br>
            <a:r>
              <a:rPr lang="en-US" sz="1200" b="0" i="0" u="none" strike="noStrike">
                <a:solidFill>
                  <a:srgbClr val="D1D5DB"/>
                </a:solidFill>
                <a:latin typeface="Consolas" panose="020B0609020204030204"/>
                <a:ea typeface="Consolas" panose="020B0609020204030204"/>
                <a:cs typeface="Consolas" panose="020B0609020204030204"/>
                <a:sym typeface="Consolas" panose="020B0609020204030204"/>
              </a:rPr>
              <a:t>plt.plot([y.min(), y.max()], [y.min(), y.max()], 'r--', lw=2)</a:t>
            </a:r>
            <a:br>
              <a:rPr lang="en-US" sz="1200" b="0" i="0" u="none" strike="noStrike">
                <a:solidFill>
                  <a:srgbClr val="D1D5DB"/>
                </a:solidFill>
                <a:latin typeface="Consolas" panose="020B0609020204030204"/>
                <a:ea typeface="Consolas" panose="020B0609020204030204"/>
                <a:cs typeface="Consolas" panose="020B0609020204030204"/>
                <a:sym typeface="Consolas" panose="020B0609020204030204"/>
              </a:rPr>
            </a:br>
            <a:r>
              <a:rPr lang="en-US" sz="1200" b="0" i="0" u="none" strike="noStrike">
                <a:solidFill>
                  <a:srgbClr val="D1D5DB"/>
                </a:solidFill>
                <a:latin typeface="Consolas" panose="020B0609020204030204"/>
                <a:ea typeface="Consolas" panose="020B0609020204030204"/>
                <a:cs typeface="Consolas" panose="020B0609020204030204"/>
                <a:sym typeface="Consolas" panose="020B0609020204030204"/>
              </a:rPr>
              <a:t>plt.xlabel('真实房价 (万美元)')</a:t>
            </a:r>
            <a:br>
              <a:rPr lang="en-US" sz="1200" b="0" i="0" u="none" strike="noStrike">
                <a:solidFill>
                  <a:srgbClr val="D1D5DB"/>
                </a:solidFill>
                <a:latin typeface="Consolas" panose="020B0609020204030204"/>
                <a:ea typeface="Consolas" panose="020B0609020204030204"/>
                <a:cs typeface="Consolas" panose="020B0609020204030204"/>
                <a:sym typeface="Consolas" panose="020B0609020204030204"/>
              </a:rPr>
            </a:br>
            <a:r>
              <a:rPr lang="en-US" sz="1200" b="0" i="0" u="none" strike="noStrike">
                <a:solidFill>
                  <a:srgbClr val="D1D5DB"/>
                </a:solidFill>
                <a:latin typeface="Consolas" panose="020B0609020204030204"/>
                <a:ea typeface="Consolas" panose="020B0609020204030204"/>
                <a:cs typeface="Consolas" panose="020B0609020204030204"/>
                <a:sym typeface="Consolas" panose="020B0609020204030204"/>
              </a:rPr>
              <a:t>plt.ylabel('预测房价 (万美元)')</a:t>
            </a:r>
            <a:br>
              <a:rPr lang="en-US" sz="1200" b="0" i="0" u="none" strike="noStrike">
                <a:solidFill>
                  <a:srgbClr val="D1D5DB"/>
                </a:solidFill>
                <a:latin typeface="Consolas" panose="020B0609020204030204"/>
                <a:ea typeface="Consolas" panose="020B0609020204030204"/>
                <a:cs typeface="Consolas" panose="020B0609020204030204"/>
                <a:sym typeface="Consolas" panose="020B0609020204030204"/>
              </a:rPr>
            </a:br>
            <a:r>
              <a:rPr lang="en-US" sz="1200" b="0" i="0" u="none" strike="noStrike">
                <a:solidFill>
                  <a:srgbClr val="D1D5DB"/>
                </a:solidFill>
                <a:latin typeface="Consolas" panose="020B0609020204030204"/>
                <a:ea typeface="Consolas" panose="020B0609020204030204"/>
                <a:cs typeface="Consolas" panose="020B0609020204030204"/>
                <a:sym typeface="Consolas" panose="020B0609020204030204"/>
              </a:rPr>
              <a:t>plt.title('线性回归模型预测 vs 真实值对比')</a:t>
            </a:r>
            <a:br>
              <a:rPr lang="en-US" sz="1200" b="0" i="0" u="none" strike="noStrike">
                <a:solidFill>
                  <a:srgbClr val="D1D5DB"/>
                </a:solidFill>
                <a:latin typeface="Consolas" panose="020B0609020204030204"/>
                <a:ea typeface="Consolas" panose="020B0609020204030204"/>
                <a:cs typeface="Consolas" panose="020B0609020204030204"/>
                <a:sym typeface="Consolas" panose="020B0609020204030204"/>
              </a:rPr>
            </a:br>
            <a:r>
              <a:rPr lang="en-US" sz="1200" b="0" i="0" u="none" strike="noStrike">
                <a:solidFill>
                  <a:srgbClr val="D1D5DB"/>
                </a:solidFill>
                <a:latin typeface="Consolas" panose="020B0609020204030204"/>
                <a:ea typeface="Consolas" panose="020B0609020204030204"/>
                <a:cs typeface="Consolas" panose="020B0609020204030204"/>
                <a:sym typeface="Consolas" panose="020B0609020204030204"/>
              </a:rPr>
              <a:t>plt.show()</a:t>
            </a:r>
            <a:endParaRPr lang="en-US" sz="1100"/>
          </a:p>
        </p:txBody>
      </p:sp>
      <p:sp>
        <p:nvSpPr>
          <p:cNvPr id="9" name="AutoShape 9"/>
          <p:cNvSpPr/>
          <p:nvPr/>
        </p:nvSpPr>
        <p:spPr>
          <a:xfrm>
            <a:off x="6350000" y="1651000"/>
            <a:ext cx="5334000" cy="29845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6350000" y="1651000"/>
            <a:ext cx="53340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6540500" y="18415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直观结果：预测误差模式洞察</a:t>
            </a:r>
            <a:endParaRPr lang="en-US" sz="1100"/>
          </a:p>
        </p:txBody>
      </p:sp>
      <p:sp>
        <p:nvSpPr>
          <p:cNvPr id="12" name="AutoShape 12"/>
          <p:cNvSpPr/>
          <p:nvPr/>
        </p:nvSpPr>
        <p:spPr>
          <a:xfrm>
            <a:off x="6540500" y="2413000"/>
            <a:ext cx="2476500" cy="13970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67500" y="2514600"/>
            <a:ext cx="279400" cy="279400"/>
          </a:xfrm>
          <a:prstGeom prst="rect">
            <a:avLst/>
          </a:prstGeom>
        </p:spPr>
      </p:pic>
      <p:sp>
        <p:nvSpPr>
          <p:cNvPr id="14" name="AutoShape 14"/>
          <p:cNvSpPr/>
          <p:nvPr/>
        </p:nvSpPr>
        <p:spPr>
          <a:xfrm>
            <a:off x="7048500" y="2489200"/>
            <a:ext cx="190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拟合优度判断</a:t>
            </a:r>
            <a:endParaRPr lang="en-US" sz="1100"/>
          </a:p>
        </p:txBody>
      </p:sp>
      <p:sp>
        <p:nvSpPr>
          <p:cNvPr id="15" name="AutoShape 15"/>
          <p:cNvSpPr/>
          <p:nvPr/>
        </p:nvSpPr>
        <p:spPr>
          <a:xfrm>
            <a:off x="6667500" y="2946400"/>
            <a:ext cx="2286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观察散点与红色对角线的贴合度。点越紧密围绕对角线，代表模型的预测精度越高，线性关系越强。</a:t>
            </a:r>
            <a:endParaRPr lang="en-US" sz="1100"/>
          </a:p>
        </p:txBody>
      </p:sp>
      <p:sp>
        <p:nvSpPr>
          <p:cNvPr id="16" name="AutoShape 16"/>
          <p:cNvSpPr/>
          <p:nvPr/>
        </p:nvSpPr>
        <p:spPr>
          <a:xfrm>
            <a:off x="9144000" y="2413000"/>
            <a:ext cx="2476500" cy="1397000"/>
          </a:xfrm>
          <a:prstGeom prst="roundRect">
            <a:avLst>
              <a:gd name="adj" fmla="val 0"/>
            </a:avLst>
          </a:prstGeom>
          <a:solidFill>
            <a:srgbClr val="F59E0B">
              <a:alpha val="8000"/>
            </a:srgbClr>
          </a:solidFill>
          <a:ln w="25400" cap="flat" cmpd="sng">
            <a:no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245600" y="2514600"/>
            <a:ext cx="279400" cy="279400"/>
          </a:xfrm>
          <a:prstGeom prst="rect">
            <a:avLst/>
          </a:prstGeom>
        </p:spPr>
      </p:pic>
      <p:sp>
        <p:nvSpPr>
          <p:cNvPr id="18" name="AutoShape 18"/>
          <p:cNvSpPr/>
          <p:nvPr/>
        </p:nvSpPr>
        <p:spPr>
          <a:xfrm>
            <a:off x="9626600" y="2489200"/>
            <a:ext cx="190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区间表现差异</a:t>
            </a:r>
            <a:endParaRPr lang="en-US" sz="1100"/>
          </a:p>
        </p:txBody>
      </p:sp>
      <p:sp>
        <p:nvSpPr>
          <p:cNvPr id="19" name="AutoShape 19"/>
          <p:cNvSpPr/>
          <p:nvPr/>
        </p:nvSpPr>
        <p:spPr>
          <a:xfrm>
            <a:off x="9245600" y="2946400"/>
            <a:ext cx="2286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中等价位房源预测误差较小；但在市场两端（极高价与极低价），误差呈现明显扩大趋势。</a:t>
            </a:r>
            <a:endParaRPr lang="en-US" sz="1100"/>
          </a:p>
        </p:txBody>
      </p:sp>
      <p:sp>
        <p:nvSpPr>
          <p:cNvPr id="20" name="AutoShape 20"/>
          <p:cNvSpPr/>
          <p:nvPr/>
        </p:nvSpPr>
        <p:spPr>
          <a:xfrm>
            <a:off x="762000" y="4826000"/>
            <a:ext cx="10922000" cy="16510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762000" y="4826000"/>
            <a:ext cx="50800" cy="1651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5016500"/>
            <a:ext cx="406400" cy="406400"/>
          </a:xfrm>
          <a:prstGeom prst="rect">
            <a:avLst/>
          </a:prstGeom>
        </p:spPr>
      </p:pic>
      <p:sp>
        <p:nvSpPr>
          <p:cNvPr id="23" name="AutoShape 23"/>
          <p:cNvSpPr/>
          <p:nvPr/>
        </p:nvSpPr>
        <p:spPr>
          <a:xfrm>
            <a:off x="1651000" y="5016500"/>
            <a:ext cx="9525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核心业务洞察与优化方向</a:t>
            </a:r>
            <a:endParaRPr lang="en-US" sz="1100"/>
          </a:p>
        </p:txBody>
      </p:sp>
      <p:sp>
        <p:nvSpPr>
          <p:cNvPr id="24" name="AutoShape 24"/>
          <p:cNvSpPr/>
          <p:nvPr/>
        </p:nvSpPr>
        <p:spPr>
          <a:xfrm>
            <a:off x="1016000" y="5588000"/>
            <a:ext cx="10287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本次建模验证了线性回归在常规市场的适用性，中等价位预测稳健。但极值端的偏差揭示了单一线性模型的局限性——无法捕捉地段、学区、稀缺资源等复杂非线性特征。后续建议引入随机森林或梯度提升树模型，并结合更精细的地理经济特征，以提升对高端和低端市场的预测准确性，为差异化定价策略提供更可靠的数据支持。</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05 课堂研讨：挑战与思考</a:t>
            </a:r>
            <a:endParaRPr lang="en-US" sz="1100"/>
          </a:p>
        </p:txBody>
      </p:sp>
      <p:sp>
        <p:nvSpPr>
          <p:cNvPr id="4" name="AutoShape 4"/>
          <p:cNvSpPr/>
          <p:nvPr/>
        </p:nvSpPr>
        <p:spPr>
          <a:xfrm>
            <a:off x="762000" y="1524000"/>
            <a:ext cx="10668000" cy="1714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524000"/>
            <a:ext cx="76200" cy="1714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79500" y="1651000"/>
            <a:ext cx="1016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议题一：电商销量预测系统的模型选择策略</a:t>
            </a:r>
            <a:endParaRPr lang="en-US" sz="1100"/>
          </a:p>
        </p:txBody>
      </p:sp>
      <p:sp>
        <p:nvSpPr>
          <p:cNvPr id="7" name="AutoShape 7"/>
          <p:cNvSpPr/>
          <p:nvPr/>
        </p:nvSpPr>
        <p:spPr>
          <a:xfrm>
            <a:off x="1079500" y="2159000"/>
            <a:ext cx="10160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假设你需要为一个电商平台设计销量预测系统，请结合业务实际分析：这属于回归类预测问题，核心是通过历史销量、促销力度、广告投入、季节性及节假日等关键特征构建模型。请根据不同的业务场景和数据特点，选择最适合的算法并阐述其背后的决策逻辑。</a:t>
            </a:r>
            <a:endParaRPr lang="en-US" sz="1100"/>
          </a:p>
        </p:txBody>
      </p:sp>
      <p:sp>
        <p:nvSpPr>
          <p:cNvPr id="8" name="AutoShape 8"/>
          <p:cNvSpPr/>
          <p:nvPr/>
        </p:nvSpPr>
        <p:spPr>
          <a:xfrm>
            <a:off x="762000" y="3429000"/>
            <a:ext cx="3467100" cy="2540000"/>
          </a:xfrm>
          <a:prstGeom prst="roundRect">
            <a:avLst>
              <a:gd name="adj" fmla="val 0"/>
            </a:avLst>
          </a:prstGeom>
          <a:solidFill>
            <a:srgbClr val="FFFFFF">
              <a:alpha val="9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762000" y="3429000"/>
            <a:ext cx="34671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952500" y="36195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基础场景：小数据与简单关系</a:t>
            </a:r>
            <a:endParaRPr lang="en-US" sz="1100"/>
          </a:p>
        </p:txBody>
      </p:sp>
      <p:sp>
        <p:nvSpPr>
          <p:cNvPr id="11" name="AutoShape 11"/>
          <p:cNvSpPr/>
          <p:nvPr/>
        </p:nvSpPr>
        <p:spPr>
          <a:xfrm>
            <a:off x="952500" y="4191000"/>
            <a:ext cx="3086100" cy="5334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079500" y="4216400"/>
            <a:ext cx="2832100" cy="4826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线性回归 (Linear Regression)</a:t>
            </a:r>
            <a:endParaRPr lang="en-US" sz="1100"/>
          </a:p>
        </p:txBody>
      </p:sp>
      <p:sp>
        <p:nvSpPr>
          <p:cNvPr id="13" name="AutoShape 13"/>
          <p:cNvSpPr/>
          <p:nvPr/>
        </p:nvSpPr>
        <p:spPr>
          <a:xfrm>
            <a:off x="952500" y="4826000"/>
            <a:ext cx="30861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适用于数据样本量有限、特征与销量呈直观线性关系的场景。作为基准模型，它拥有极佳的可解释性，能清晰呈现各因子影响权重，适合业务初期快速上线与结果验证。</a:t>
            </a:r>
            <a:endParaRPr lang="en-US" sz="1100"/>
          </a:p>
        </p:txBody>
      </p:sp>
      <p:sp>
        <p:nvSpPr>
          <p:cNvPr id="14" name="AutoShape 14"/>
          <p:cNvSpPr/>
          <p:nvPr/>
        </p:nvSpPr>
        <p:spPr>
          <a:xfrm>
            <a:off x="4394200" y="3429000"/>
            <a:ext cx="3467100" cy="2540000"/>
          </a:xfrm>
          <a:prstGeom prst="roundRect">
            <a:avLst>
              <a:gd name="adj" fmla="val 0"/>
            </a:avLst>
          </a:prstGeom>
          <a:solidFill>
            <a:srgbClr val="FFFFFF">
              <a:alpha val="9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4394200" y="3429000"/>
            <a:ext cx="34671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4584700" y="36195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时序特征：周期与趋势明显</a:t>
            </a:r>
            <a:endParaRPr lang="en-US" sz="1100"/>
          </a:p>
        </p:txBody>
      </p:sp>
      <p:sp>
        <p:nvSpPr>
          <p:cNvPr id="17" name="AutoShape 17"/>
          <p:cNvSpPr/>
          <p:nvPr/>
        </p:nvSpPr>
        <p:spPr>
          <a:xfrm>
            <a:off x="4584700" y="4191000"/>
            <a:ext cx="3086100" cy="5334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4711700" y="4216400"/>
            <a:ext cx="2832100" cy="4826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时间序列 (ARIMA)</a:t>
            </a:r>
            <a:endParaRPr lang="en-US" sz="1100"/>
          </a:p>
        </p:txBody>
      </p:sp>
      <p:sp>
        <p:nvSpPr>
          <p:cNvPr id="19" name="AutoShape 19"/>
          <p:cNvSpPr/>
          <p:nvPr/>
        </p:nvSpPr>
        <p:spPr>
          <a:xfrm>
            <a:off x="4584700" y="4826000"/>
            <a:ext cx="30861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当销量随时间呈现显著的季节性波动（如大促）或长期增长趋势时的首选。能有效捕捉数据的时间依赖特性，对于库存周转、周期性补货计划的制定具有不可替代的指导意义。</a:t>
            </a:r>
            <a:endParaRPr lang="en-US" sz="1100"/>
          </a:p>
        </p:txBody>
      </p:sp>
      <p:sp>
        <p:nvSpPr>
          <p:cNvPr id="20" name="AutoShape 20"/>
          <p:cNvSpPr/>
          <p:nvPr/>
        </p:nvSpPr>
        <p:spPr>
          <a:xfrm>
            <a:off x="8026400" y="3429000"/>
            <a:ext cx="3467100" cy="2540000"/>
          </a:xfrm>
          <a:prstGeom prst="roundRect">
            <a:avLst>
              <a:gd name="adj" fmla="val 0"/>
            </a:avLst>
          </a:prstGeom>
          <a:solidFill>
            <a:srgbClr val="FFFFFF">
              <a:alpha val="9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8026400" y="3429000"/>
            <a:ext cx="34671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8216900" y="36195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复杂场景：高维与非线性</a:t>
            </a:r>
            <a:endParaRPr lang="en-US" sz="1100"/>
          </a:p>
        </p:txBody>
      </p:sp>
      <p:sp>
        <p:nvSpPr>
          <p:cNvPr id="23" name="AutoShape 23"/>
          <p:cNvSpPr/>
          <p:nvPr/>
        </p:nvSpPr>
        <p:spPr>
          <a:xfrm>
            <a:off x="8216900" y="4191000"/>
            <a:ext cx="3086100" cy="5334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8343900" y="4216400"/>
            <a:ext cx="2832100" cy="4826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随机森林 / XGBoost</a:t>
            </a:r>
            <a:endParaRPr lang="en-US" sz="1100"/>
          </a:p>
        </p:txBody>
      </p:sp>
      <p:sp>
        <p:nvSpPr>
          <p:cNvPr id="25" name="AutoShape 25"/>
          <p:cNvSpPr/>
          <p:nvPr/>
        </p:nvSpPr>
        <p:spPr>
          <a:xfrm>
            <a:off x="8216900" y="4826000"/>
            <a:ext cx="30861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面对海量高维特征、促销与天气等因子交互复杂时的进阶方案。擅长拟合非线性复杂模式，能挖掘数据深层规律，在追求高精度预测、支持精细化运营决策的场景下表现优异。</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课堂研讨：挑战与思考</a:t>
            </a:r>
            <a:endParaRPr lang="en-US" sz="1100"/>
          </a:p>
        </p:txBody>
      </p:sp>
      <p:sp>
        <p:nvSpPr>
          <p:cNvPr id="4" name="AutoShape 4"/>
          <p:cNvSpPr/>
          <p:nvPr/>
        </p:nvSpPr>
        <p:spPr>
          <a:xfrm>
            <a:off x="762000" y="1524000"/>
            <a:ext cx="10668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议题二：预测结果评估</a:t>
            </a:r>
            <a:endParaRPr lang="en-US" sz="1100"/>
          </a:p>
        </p:txBody>
      </p:sp>
      <p:sp>
        <p:nvSpPr>
          <p:cNvPr id="5" name="AutoShape 5"/>
          <p:cNvSpPr/>
          <p:nvPr/>
        </p:nvSpPr>
        <p:spPr>
          <a:xfrm>
            <a:off x="762000" y="2159000"/>
            <a:ext cx="10668000" cy="952500"/>
          </a:xfrm>
          <a:prstGeom prst="roundRect">
            <a:avLst>
              <a:gd name="adj" fmla="val 0"/>
            </a:avLst>
          </a:prstGeom>
          <a:solidFill>
            <a:srgbClr val="F0FDF4">
              <a:alpha val="95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2222500"/>
            <a:ext cx="10160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某疾病预测模型在测试集上的准确率达到了95%，看似表现优异，但这个结果是否真的能有效辅助临床诊断？我们需要透过单纯的数字表象，深入分析数据分布与业务场景的实际逻辑。</a:t>
            </a:r>
            <a:endParaRPr lang="en-US" sz="1100"/>
          </a:p>
        </p:txBody>
      </p:sp>
      <p:sp>
        <p:nvSpPr>
          <p:cNvPr id="7" name="AutoShape 7"/>
          <p:cNvSpPr/>
          <p:nvPr/>
        </p:nvSpPr>
        <p:spPr>
          <a:xfrm>
            <a:off x="762000" y="3302000"/>
            <a:ext cx="5207000" cy="1968500"/>
          </a:xfrm>
          <a:prstGeom prst="roundRect">
            <a:avLst>
              <a:gd name="adj" fmla="val 0"/>
            </a:avLst>
          </a:prstGeom>
          <a:solidFill>
            <a:srgbClr val="FFFFFF">
              <a:alpha val="9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762000" y="3302000"/>
            <a:ext cx="52070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952500" y="3429000"/>
            <a:ext cx="4826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疑问一：95% 的准确率足够好吗？</a:t>
            </a:r>
            <a:endParaRPr lang="en-US" sz="1100"/>
          </a:p>
        </p:txBody>
      </p:sp>
      <p:sp>
        <p:nvSpPr>
          <p:cNvPr id="10" name="AutoShape 10"/>
          <p:cNvSpPr/>
          <p:nvPr/>
        </p:nvSpPr>
        <p:spPr>
          <a:xfrm>
            <a:off x="952500" y="3937000"/>
            <a:ext cx="4826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答案是不一定。这取决于数据集的类别分布。例如，若疾病实际患病率仅为5%，模型简单地将所有样本预测为“健康”，也能轻松达到95%的准确率。这种“看似高分”的模型在实际应用中无法识别任何患者，毫无临床价值。</a:t>
            </a:r>
            <a:endParaRPr lang="en-US" sz="1100"/>
          </a:p>
        </p:txBody>
      </p:sp>
      <p:sp>
        <p:nvSpPr>
          <p:cNvPr id="11" name="AutoShape 11"/>
          <p:cNvSpPr/>
          <p:nvPr/>
        </p:nvSpPr>
        <p:spPr>
          <a:xfrm>
            <a:off x="6223000" y="3302000"/>
            <a:ext cx="5207000" cy="1968500"/>
          </a:xfrm>
          <a:prstGeom prst="roundRect">
            <a:avLst>
              <a:gd name="adj" fmla="val 0"/>
            </a:avLst>
          </a:prstGeom>
          <a:solidFill>
            <a:srgbClr val="FFFFFF">
              <a:alpha val="9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6223000" y="3302000"/>
            <a:ext cx="52070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413500" y="3429000"/>
            <a:ext cx="4826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疑问二：关键评估维度是什么？</a:t>
            </a:r>
            <a:endParaRPr lang="en-US" sz="1100"/>
          </a:p>
        </p:txBody>
      </p:sp>
      <p:sp>
        <p:nvSpPr>
          <p:cNvPr id="14" name="AutoShape 14"/>
          <p:cNvSpPr/>
          <p:nvPr/>
        </p:nvSpPr>
        <p:spPr>
          <a:xfrm>
            <a:off x="6413500" y="3937000"/>
            <a:ext cx="4826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必须结合混淆矩阵，重点计算精确率与召回率。在疾病诊断的高风险场景下，召回率是核心指标——即尽可能多地识别出患者，避免因“漏诊”而延误治疗。这是比单纯准确率更具现实意义的业务标准。</a:t>
            </a:r>
            <a:endParaRPr lang="en-US" sz="1100"/>
          </a:p>
        </p:txBody>
      </p:sp>
      <p:sp>
        <p:nvSpPr>
          <p:cNvPr id="15" name="AutoShape 15"/>
          <p:cNvSpPr/>
          <p:nvPr/>
        </p:nvSpPr>
        <p:spPr>
          <a:xfrm>
            <a:off x="762000" y="5461000"/>
            <a:ext cx="10668000" cy="1143000"/>
          </a:xfrm>
          <a:prstGeom prst="roundRect">
            <a:avLst>
              <a:gd name="adj" fmla="val 0"/>
            </a:avLst>
          </a:prstGeom>
          <a:solidFill>
            <a:srgbClr val="22C55E">
              <a:alpha val="15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1016000" y="5562600"/>
            <a:ext cx="10160000" cy="9398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洞察：脱离数据分布谈准确率是片面的。在医疗、风控等关键领域，单纯的高准确率不代表模型有效，必须结合业务场景，通过混淆矩阵分析真实性能，优先保障核心业务指标（如诊断的召回率），才能让技术真正服务于实际需求。</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889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06 课堂小结与作业</a:t>
            </a:r>
            <a:endParaRPr lang="en-US" sz="1100"/>
          </a:p>
        </p:txBody>
      </p:sp>
      <p:sp>
        <p:nvSpPr>
          <p:cNvPr id="4" name="AutoShape 4"/>
          <p:cNvSpPr/>
          <p:nvPr/>
        </p:nvSpPr>
        <p:spPr>
          <a:xfrm>
            <a:off x="762000" y="1651000"/>
            <a:ext cx="3467100" cy="22225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0800" cy="2222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778000"/>
            <a:ext cx="311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核心：预测分析</a:t>
            </a:r>
            <a:endParaRPr lang="en-US" sz="1100"/>
          </a:p>
        </p:txBody>
      </p:sp>
      <p:sp>
        <p:nvSpPr>
          <p:cNvPr id="7" name="AutoShape 7"/>
          <p:cNvSpPr/>
          <p:nvPr/>
        </p:nvSpPr>
        <p:spPr>
          <a:xfrm>
            <a:off x="952500" y="2286000"/>
            <a:ext cx="31115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数据科学的核心应用领域，核心逻辑是利用历史数据构建模型，通过学习数据中的规律和模式，来对未来未知的结果进行科学的推断与预测，辅助业务决策。</a:t>
            </a:r>
            <a:endParaRPr lang="en-US" sz="1100"/>
          </a:p>
        </p:txBody>
      </p:sp>
      <p:sp>
        <p:nvSpPr>
          <p:cNvPr id="8" name="AutoShape 8"/>
          <p:cNvSpPr/>
          <p:nvPr/>
        </p:nvSpPr>
        <p:spPr>
          <a:xfrm>
            <a:off x="4483100" y="1651000"/>
            <a:ext cx="3467100" cy="22225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4483100" y="1651000"/>
            <a:ext cx="50800" cy="2222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4673600" y="1778000"/>
            <a:ext cx="311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问题：两类预测任务</a:t>
            </a:r>
            <a:endParaRPr lang="en-US" sz="1100"/>
          </a:p>
        </p:txBody>
      </p:sp>
      <p:sp>
        <p:nvSpPr>
          <p:cNvPr id="11" name="AutoShape 11"/>
          <p:cNvSpPr/>
          <p:nvPr/>
        </p:nvSpPr>
        <p:spPr>
          <a:xfrm>
            <a:off x="4673600" y="2286000"/>
            <a:ext cx="31115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根据预测目标的性质分为两大类：</a:t>
            </a:r>
            <a:r>
              <a:rPr lang="en-US" sz="13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回归问题</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（目标是预测连续数值，如销量、股价）；</a:t>
            </a:r>
            <a:r>
              <a:rPr lang="en-US" sz="13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分类问题</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（目标是预测离散类别，如客户流失、疾病诊断）。</a:t>
            </a:r>
            <a:endParaRPr lang="en-US" sz="1100"/>
          </a:p>
        </p:txBody>
      </p:sp>
      <p:sp>
        <p:nvSpPr>
          <p:cNvPr id="12" name="AutoShape 12"/>
          <p:cNvSpPr/>
          <p:nvPr/>
        </p:nvSpPr>
        <p:spPr>
          <a:xfrm>
            <a:off x="8204200" y="1651000"/>
            <a:ext cx="3467100" cy="22225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8204200" y="1651000"/>
            <a:ext cx="50800" cy="2222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8394700" y="1778000"/>
            <a:ext cx="311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关键：模型评估体系</a:t>
            </a:r>
            <a:endParaRPr lang="en-US" sz="1100"/>
          </a:p>
        </p:txBody>
      </p:sp>
      <p:sp>
        <p:nvSpPr>
          <p:cNvPr id="15" name="AutoShape 15"/>
          <p:cNvSpPr/>
          <p:nvPr/>
        </p:nvSpPr>
        <p:spPr>
          <a:xfrm>
            <a:off x="8394700" y="2286000"/>
            <a:ext cx="31115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回归模型看误差（MSE、RMSE、R²）；分类模型依托混淆矩阵，重点关注精确率、召回率与F1值。合理的指标是判断模型效果、选择最优方案的重要依据。</a:t>
            </a:r>
            <a:endParaRPr lang="en-US" sz="1100"/>
          </a:p>
        </p:txBody>
      </p:sp>
      <p:sp>
        <p:nvSpPr>
          <p:cNvPr id="16" name="AutoShape 16"/>
          <p:cNvSpPr/>
          <p:nvPr/>
        </p:nvSpPr>
        <p:spPr>
          <a:xfrm>
            <a:off x="762000" y="4127500"/>
            <a:ext cx="5207000" cy="22225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762000" y="4127500"/>
            <a:ext cx="50800" cy="2222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952500" y="42545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工具：经典算法模型</a:t>
            </a:r>
            <a:endParaRPr lang="en-US" sz="1100"/>
          </a:p>
        </p:txBody>
      </p:sp>
      <p:sp>
        <p:nvSpPr>
          <p:cNvPr id="19" name="AutoShape 19"/>
          <p:cNvSpPr/>
          <p:nvPr/>
        </p:nvSpPr>
        <p:spPr>
          <a:xfrm>
            <a:off x="952500" y="4762500"/>
            <a:ext cx="46990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涵盖基础与进阶两类：基础模型包括线性回归、逻辑回归；进阶模型包含决策树、随机森林等树模型；针对时序数据则采用ARIMA等时间序列模型。根据数据特征与业务场景选择适配的模型是落地应用的关键。</a:t>
            </a:r>
            <a:endParaRPr lang="en-US" sz="1100"/>
          </a:p>
        </p:txBody>
      </p:sp>
      <p:sp>
        <p:nvSpPr>
          <p:cNvPr id="20" name="AutoShape 20"/>
          <p:cNvSpPr/>
          <p:nvPr/>
        </p:nvSpPr>
        <p:spPr>
          <a:xfrm>
            <a:off x="6223000" y="4127500"/>
            <a:ext cx="5448300" cy="22225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6223000" y="4127500"/>
            <a:ext cx="50800" cy="2222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6413500" y="4254500"/>
            <a:ext cx="5016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闭环：全流程工程化</a:t>
            </a:r>
            <a:endParaRPr lang="en-US" sz="1100"/>
          </a:p>
        </p:txBody>
      </p:sp>
      <p:sp>
        <p:nvSpPr>
          <p:cNvPr id="23" name="AutoShape 23"/>
          <p:cNvSpPr/>
          <p:nvPr/>
        </p:nvSpPr>
        <p:spPr>
          <a:xfrm>
            <a:off x="6413500" y="4762500"/>
            <a:ext cx="50165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遵循标准的六步工作流：数据清洗与准备 → 特征工程（提取有效信息） → 模型训练与验证 → 多维度评估 → 超参数调优 → 最终上线部署。标准化的流程能确保模型从实验原型平滑过渡到稳定的业务应用系统中。</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635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课后作业</a:t>
            </a:r>
            <a:endParaRPr lang="en-US" sz="1100"/>
          </a:p>
        </p:txBody>
      </p:sp>
      <p:sp>
        <p:nvSpPr>
          <p:cNvPr id="4" name="AutoShape 4"/>
          <p:cNvSpPr/>
          <p:nvPr/>
        </p:nvSpPr>
        <p:spPr>
          <a:xfrm>
            <a:off x="762000" y="1651000"/>
            <a:ext cx="5207000" cy="4445000"/>
          </a:xfrm>
          <a:prstGeom prst="roundRect">
            <a:avLst>
              <a:gd name="adj" fmla="val 0"/>
            </a:avLst>
          </a:prstGeom>
          <a:solidFill>
            <a:srgbClr val="FFFFFF">
              <a:alpha val="92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20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9050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思考题：评估指标的深度理解</a:t>
            </a:r>
            <a:endParaRPr lang="en-US" sz="1100"/>
          </a:p>
        </p:txBody>
      </p:sp>
      <p:cxnSp>
        <p:nvCxnSpPr>
          <p:cNvPr id="7" name="Connector 7"/>
          <p:cNvCxnSpPr/>
          <p:nvPr/>
        </p:nvCxnSpPr>
        <p:spPr>
          <a:xfrm rot="-9291">
            <a:off x="1016009" y="2660650"/>
            <a:ext cx="4699000" cy="12700"/>
          </a:xfrm>
          <a:prstGeom prst="straightConnector1">
            <a:avLst/>
          </a:prstGeom>
          <a:solidFill>
            <a:srgbClr val="DEE0E3">
              <a:alpha val="100000"/>
            </a:srgbClr>
          </a:solidFill>
          <a:ln w="12700" cap="flat" cmpd="sng">
            <a:solidFill>
              <a:srgbClr val="22C55E">
                <a:alpha val="15000"/>
              </a:srgbClr>
            </a:solidFill>
            <a:prstDash val="solid"/>
            <a:round/>
            <a:headEnd type="none" w="med" len="med"/>
            <a:tailEnd type="none" w="med" len="med"/>
          </a:ln>
        </p:spPr>
      </p:cxnSp>
      <p:sp>
        <p:nvSpPr>
          <p:cNvPr id="8" name="AutoShape 8"/>
          <p:cNvSpPr/>
          <p:nvPr/>
        </p:nvSpPr>
        <p:spPr>
          <a:xfrm>
            <a:off x="1016000" y="2921000"/>
            <a:ext cx="4699000" cy="279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在实际业务场景中，我们经常会遇到数据不平衡的情况（例如疾病筛查中患者远少于健康人）。请结合课程所学，用自己的话解释：为什么在这种情况下仅仅看准确率（Accuracy）是不够的？</a:t>
            </a:r>
            <a:endParaRPr lang="en-US" sz="1100"/>
          </a:p>
          <a:p>
            <a:pPr marL="0" indent="0" algn="l">
              <a:lnSpc>
                <a:spcPct val="125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同时，请分析精确率（Precision）和召回率（Recall）各自解决了什么核心问题？它们分别适用于什么样的业务决策场景？</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9" name="Connector 9"/>
          <p:cNvCxnSpPr/>
          <p:nvPr/>
        </p:nvCxnSpPr>
        <p:spPr>
          <a:xfrm rot="5390177">
            <a:off x="3937000" y="3867159"/>
            <a:ext cx="4445000" cy="12700"/>
          </a:xfrm>
          <a:prstGeom prst="straightConnector1">
            <a:avLst/>
          </a:prstGeom>
          <a:solidFill>
            <a:srgbClr val="DEE0E3">
              <a:alpha val="100000"/>
            </a:srgbClr>
          </a:solidFill>
          <a:ln w="12700" cap="flat" cmpd="sng">
            <a:solidFill>
              <a:srgbClr val="374151">
                <a:alpha val="10000"/>
              </a:srgbClr>
            </a:solidFill>
            <a:prstDash val="dash"/>
            <a:round/>
            <a:headEnd type="none" w="med" len="med"/>
            <a:tailEnd type="none" w="med" len="med"/>
          </a:ln>
        </p:spPr>
      </p:cxnSp>
      <p:sp>
        <p:nvSpPr>
          <p:cNvPr id="10" name="AutoShape 10"/>
          <p:cNvSpPr/>
          <p:nvPr/>
        </p:nvSpPr>
        <p:spPr>
          <a:xfrm>
            <a:off x="6350000" y="1651000"/>
            <a:ext cx="5207000" cy="4445000"/>
          </a:xfrm>
          <a:prstGeom prst="roundRect">
            <a:avLst>
              <a:gd name="adj" fmla="val 0"/>
            </a:avLst>
          </a:prstGeom>
          <a:solidFill>
            <a:srgbClr val="FFFFFF">
              <a:alpha val="92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6350000" y="1651000"/>
            <a:ext cx="520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604000" y="19050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实践题：加州房价模型优化实战</a:t>
            </a:r>
            <a:endParaRPr lang="en-US" sz="1100"/>
          </a:p>
        </p:txBody>
      </p:sp>
      <p:cxnSp>
        <p:nvCxnSpPr>
          <p:cNvPr id="13" name="Connector 13"/>
          <p:cNvCxnSpPr/>
          <p:nvPr/>
        </p:nvCxnSpPr>
        <p:spPr>
          <a:xfrm rot="-9291">
            <a:off x="6604009" y="2660650"/>
            <a:ext cx="4699000" cy="12700"/>
          </a:xfrm>
          <a:prstGeom prst="straightConnector1">
            <a:avLst/>
          </a:prstGeom>
          <a:solidFill>
            <a:srgbClr val="DEE0E3">
              <a:alpha val="100000"/>
            </a:srgbClr>
          </a:solidFill>
          <a:ln w="12700" cap="flat" cmpd="sng">
            <a:solidFill>
              <a:srgbClr val="22C55E">
                <a:alpha val="15000"/>
              </a:srgbClr>
            </a:solidFill>
            <a:prstDash val="solid"/>
            <a:round/>
            <a:headEnd type="none" w="med" len="med"/>
            <a:tailEnd type="none" w="med" len="med"/>
          </a:ln>
        </p:spPr>
      </p:cxnSp>
      <p:sp>
        <p:nvSpPr>
          <p:cNvPr id="14" name="AutoShape 14"/>
          <p:cNvSpPr/>
          <p:nvPr/>
        </p:nvSpPr>
        <p:spPr>
          <a:xfrm>
            <a:off x="6604000" y="2921000"/>
            <a:ext cx="4699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基于课程中的“加州房价预测”案例，请使用 Python 和 scikit-learn 库完成代码的完整复现。在此基础上，尝试引入新的算法模型进行优化实验。</a:t>
            </a:r>
            <a:endParaRPr lang="en-US" sz="1100"/>
          </a:p>
        </p:txBody>
      </p:sp>
      <p:sp>
        <p:nvSpPr>
          <p:cNvPr id="15" name="AutoShape 15"/>
          <p:cNvSpPr/>
          <p:nvPr/>
        </p:nvSpPr>
        <p:spPr>
          <a:xfrm>
            <a:off x="6604000" y="4699000"/>
            <a:ext cx="4699000" cy="12700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6794500" y="4826000"/>
            <a:ext cx="4381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核心挑战：</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a:t>
            </a:r>
            <a:r>
              <a:rPr lang="en-US" sz="1300" b="1" i="0" u="none" strike="noStrike">
                <a:solidFill>
                  <a:srgbClr val="16A34A"/>
                </a:solidFill>
                <a:latin typeface="Noto Sans SC" panose="020B0200000000000000" charset="-122"/>
                <a:ea typeface="Noto Sans SC" panose="020B0200000000000000" charset="-122"/>
                <a:cs typeface="Noto Sans SC" panose="020B0200000000000000" charset="-122"/>
                <a:sym typeface="Noto Sans SC" panose="020B0200000000000000" charset="-122"/>
              </a:rPr>
              <a:t>随机森林回归模型 (Random Forest Regressor)</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替代原有的线性回归模型。训练后对比两者的 RMSE 和 R² 指标，分析哪个模型的预测效果更优，并提交你的可运行代码及结果截图。</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8093</Words>
  <Application>WPS 演示</Application>
  <PresentationFormat/>
  <Paragraphs>485</Paragraphs>
  <Slides>18</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18</vt:i4>
      </vt:variant>
    </vt:vector>
  </HeadingPairs>
  <TitlesOfParts>
    <vt:vector size="28" baseType="lpstr">
      <vt:lpstr>Arial</vt:lpstr>
      <vt:lpstr>宋体</vt:lpstr>
      <vt:lpstr>Wingdings</vt:lpstr>
      <vt:lpstr>Arial</vt:lpstr>
      <vt:lpstr>Noto Sans SC</vt:lpstr>
      <vt:lpstr>Consolas</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没事找事</cp:lastModifiedBy>
  <cp:revision>1</cp:revision>
  <dcterms:created xsi:type="dcterms:W3CDTF">2026-06-01T02:07:47Z</dcterms:created>
  <dcterms:modified xsi:type="dcterms:W3CDTF">2026-06-01T02:07:47Z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{"Label":"1","ContentProducer":"001191110102MACQD9K64010000","ProduceID":"7645650342215060668","ReservedCode1":"","ContentPropagator":"","PropagateID":"","ReservedCode2":""}</vt:lpwstr>
  </property>
  <property fmtid="{D5CDD505-2E9C-101B-9397-08002B2CF9AE}" pid="3" name="ICV">
    <vt:lpwstr>F1BBD04067B2452C966A5BE4E162EF5F_12</vt:lpwstr>
  </property>
  <property fmtid="{D5CDD505-2E9C-101B-9397-08002B2CF9AE}" pid="4" name="KSOProductBuildVer">
    <vt:lpwstr>2052-12.1.0.20784</vt:lpwstr>
  </property>
</Properties>
</file>