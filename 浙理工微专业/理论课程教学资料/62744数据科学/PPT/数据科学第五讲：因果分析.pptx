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数据科学第五讲。今天，我们将探讨一个数据科学中更深层次的话题——因果分析。我们将学习如何从纷繁复杂的数据关联中，拨开迷雾，找到变量之间真正的因果关系，从而探索数据背后的真实故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本次课程将分为六个部分。我们将从一个有趣的问题“相关等于因果吗？”开始，然后深入探讨因果关系的定义、挑战和分析方法，并学习如何使用因果图来可视化我们的假设。最后通过案例和研讨来巩固所学。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让我们从一个有趣的现象开始。数据显示，冰淇淋销量和溺水事故数量之间存在极强的正相关。这是否意味着吃冰淇淋会导致溺水？显然不是。这个例子生动地告诉我们，数据中的相关性并不等同于因果关系。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谜底揭晓，真正的原因是“气温”。气温同时影响了冰淇淋销量和溺水事故，导致了两者之间的虚假关联。这个“气温”就是我们所说的“混淆变量”。这个案例告诉我们一个至关重要的道理：相关关系绝不等于因果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正式区分相关关系和因果关系。相关关系只描述变量间的关联程度，而因果关系则揭示了变量间的因果机制。因果关系强调原因必须发生在结果之前，并且存在反事实——如果原因没有发生，结果会有所不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在因果推断中，我们需要理解三种基本关系：混淆变量、中介变量和调节变量。混淆变量是导致虚假关联的元凶；中介变量揭示了因果作用的传递路径；而调节变量则告诉我们因果关系在不同条件下的强度变化。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什么因果推断如此困难？主要有三大挑战：混淆变量的存在，让我们难以分辨真伪；反向因果，让我们搞不清谁是因谁是果；以及选择偏差，让我们的分析样本不具代表性。这三大挑战是因果推断中最常见也最棘手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面对这些挑战，最好的解决方案是什么？答案是随机对照试验，也就是我们常说的A/B测试。通过随机分组，我们可以最大限度地平衡所有已知和未知的混淆变量，从而创造出具有可比性的实验组和对照组。这是因果推断的“金标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但现实中，我们并不总是能进行随机试验。这时，我们可以采用准实验设计，利用一些“自然实验”的机会。比如断点回归，利用分数线这样的断点来近似分组；或者双重差分，通过比较处理组和对照组在事件前后的变化差异来评估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数据科学中，最常见的场景是我们只有观察性数据。这时，我们需要通过统计方法来模拟实验。倾向得分匹配通过为实验组样本匹配相似的对照组样本来创造可比性。而回归控制则是在模型中直接控制所有已知的混淆变量，来估计处理的净效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如何选择合适的因果分析方法？这张表格总结了不同场景下的推荐方法。总的来说，方法的可靠性和可行性之间存在权衡。我们需要根据研究问题、数据可得性和资源限制，选择最合适的方法。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更好地思考和沟通因果关系，我们可以使用一个强大的工具——有向无环图，简称DAG。它就像一张因果关系的地图，用节点和箭头来表示变量之间的因果流向。绘制DAG能帮助我们清晰地梳理业务逻辑，并指导我们进行正确的数据分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绘制DAG的步骤很简单：首先识别所有相关变量，然后根据业务知识确定它们之间的因果关系，最后用箭头连接起来。理解DAG中的几种常见结构，如直接因果、间接因果和混淆结构，是正确解读因果图的关键。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用DAG来重新审视冰淇淋与溺水的案例。我们识别出三个关键变量：季节、冰淇淋销量和溺水事故。绘制出的DAG清晰地显示，季节是导致后两者变化的共同原因，而冰淇淋销量和溺水事故之间并没有直接的因果箭头。这完美地解释了为什么它们相关但非因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来看一个综合案例：分析价格变动对销量的影响。这是一个典型的因果推断问题，因为价格和销量之间可能存在混淆变量和反向因果。理想情况下，我们可以进行A/B测试。但在现实中，我们更多地使用回归控制等观察性研究方法，通过控制其他变量来估计价格的净效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现在是课堂研讨时间。请大家判断这三个关系是因果还是相关。教育与收入之间可能存在混淆变量；吸烟与肺癌是经过证实的强因果关系；而消防站数量与火灾损失则是典型的反向因果和混淆变量问题。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接下来，请大家动手实践。假设你要研究“广告投放对销量的影响”，请分组讨论并绘制一个完整的因果图。思考一下，除了广告和销量，还有哪些变量会影响它们？哪些是混淆变量，哪些是中介变量？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最后，我们来总结一下。今天我们学习了如何区分相关与因果，掌握了一系列因果推断的方法，并学会了使用DAG这个强大的工具。记住，从描述数据到解释数据，是数据分析师成长的关键一步。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课后请大家完成两道作业题。一道思考题，帮助大家巩固对相关和因果区别的理解。另一道实践题，希望大家能动手绘制一个属于自己的因果图，将今天所学应用到实际问题中。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3" Type="http://schemas.openxmlformats.org/officeDocument/2006/relationships/notesSlide" Target="../notesSlides/notesSlide8.xml"/><Relationship Id="rId12" Type="http://schemas.openxmlformats.org/officeDocument/2006/relationships/slideLayout" Target="../slideLayouts/slideLayout12.xml"/><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image" Target="../media/image20.svg"/><Relationship Id="rId8" Type="http://schemas.openxmlformats.org/officeDocument/2006/relationships/image" Target="../media/image19.png"/><Relationship Id="rId7" Type="http://schemas.openxmlformats.org/officeDocument/2006/relationships/image" Target="../media/image18.svg"/><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4.svg"/><Relationship Id="rId2" Type="http://schemas.openxmlformats.org/officeDocument/2006/relationships/image" Target="../media/image13.png"/><Relationship Id="rId13" Type="http://schemas.openxmlformats.org/officeDocument/2006/relationships/notesSlide" Target="../notesSlides/notesSlide12.xml"/><Relationship Id="rId12" Type="http://schemas.openxmlformats.org/officeDocument/2006/relationships/slideLayout" Target="../slideLayouts/slideLayout12.xml"/><Relationship Id="rId11" Type="http://schemas.openxmlformats.org/officeDocument/2006/relationships/image" Target="../media/image22.svg"/><Relationship Id="rId10" Type="http://schemas.openxmlformats.org/officeDocument/2006/relationships/image" Target="../media/image21.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140F">
              <a:alpha val="5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2413000"/>
            <a:ext cx="11430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数据科学第五讲：因果分析</a:t>
            </a:r>
            <a:endParaRPr lang="en-US" sz="1100"/>
          </a:p>
        </p:txBody>
      </p:sp>
      <p:sp>
        <p:nvSpPr>
          <p:cNvPr id="4" name="AutoShape 4"/>
          <p:cNvSpPr/>
          <p:nvPr/>
        </p:nvSpPr>
        <p:spPr>
          <a:xfrm>
            <a:off x="698500" y="4064000"/>
            <a:ext cx="10795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20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从“相关”到“因果”：探索数据背后的真实故事</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课程大纲</a:t>
            </a:r>
            <a:endParaRPr lang="en-US" sz="1100"/>
          </a:p>
        </p:txBody>
      </p:sp>
      <p:sp>
        <p:nvSpPr>
          <p:cNvPr id="4" name="AutoShape 4"/>
          <p:cNvSpPr/>
          <p:nvPr/>
        </p:nvSpPr>
        <p:spPr>
          <a:xfrm>
            <a:off x="762000" y="16510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841500" y="18796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课程导入</a:t>
            </a:r>
            <a:endParaRPr lang="en-US" sz="1100"/>
          </a:p>
        </p:txBody>
      </p:sp>
      <p:sp>
        <p:nvSpPr>
          <p:cNvPr id="8" name="AutoShape 8"/>
          <p:cNvSpPr/>
          <p:nvPr/>
        </p:nvSpPr>
        <p:spPr>
          <a:xfrm>
            <a:off x="952500" y="26670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相关等于因果吗？从日常常见的认知误区切入，引发对因果推断逻辑的深度思考，开启课程的核心探索之旅。</a:t>
            </a:r>
            <a:endParaRPr lang="en-US" sz="1100"/>
          </a:p>
        </p:txBody>
      </p:sp>
      <p:sp>
        <p:nvSpPr>
          <p:cNvPr id="9" name="AutoShape 9"/>
          <p:cNvSpPr/>
          <p:nvPr/>
        </p:nvSpPr>
        <p:spPr>
          <a:xfrm>
            <a:off x="4445000" y="16510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445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35500" y="1841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nvSpPr>
        <p:spPr>
          <a:xfrm>
            <a:off x="5524500" y="18796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因果关系概述</a:t>
            </a:r>
            <a:endParaRPr lang="en-US" sz="1100"/>
          </a:p>
        </p:txBody>
      </p:sp>
      <p:sp>
        <p:nvSpPr>
          <p:cNvPr id="13" name="AutoShape 13"/>
          <p:cNvSpPr/>
          <p:nvPr/>
        </p:nvSpPr>
        <p:spPr>
          <a:xfrm>
            <a:off x="4635500" y="26670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明确因果关系的科学定义，剖析现实世界中进行因果推断时面临的干扰与混杂挑战，建立系统性的因果分析基础框架。</a:t>
            </a:r>
            <a:endParaRPr lang="en-US" sz="1100"/>
          </a:p>
        </p:txBody>
      </p:sp>
      <p:sp>
        <p:nvSpPr>
          <p:cNvPr id="14" name="AutoShape 14"/>
          <p:cNvSpPr/>
          <p:nvPr/>
        </p:nvSpPr>
        <p:spPr>
          <a:xfrm>
            <a:off x="8128000" y="16510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128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318500" y="1841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nvSpPr>
        <p:spPr>
          <a:xfrm>
            <a:off x="9207500" y="18796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因果分析方法</a:t>
            </a:r>
            <a:endParaRPr lang="en-US" sz="1100"/>
          </a:p>
        </p:txBody>
      </p:sp>
      <p:sp>
        <p:nvSpPr>
          <p:cNvPr id="18" name="AutoShape 18"/>
          <p:cNvSpPr/>
          <p:nvPr/>
        </p:nvSpPr>
        <p:spPr>
          <a:xfrm>
            <a:off x="8318500" y="26670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深度对比实验性研究与观察性研究的本质差异，掌握从复杂数据中有效挖掘因果关联的核心技术与关键分析方法论。</a:t>
            </a:r>
            <a:endParaRPr lang="en-US" sz="1100"/>
          </a:p>
        </p:txBody>
      </p:sp>
      <p:sp>
        <p:nvSpPr>
          <p:cNvPr id="19" name="AutoShape 19"/>
          <p:cNvSpPr/>
          <p:nvPr/>
        </p:nvSpPr>
        <p:spPr>
          <a:xfrm>
            <a:off x="762000" y="40005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40005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4127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2" name="AutoShape 22"/>
          <p:cNvSpPr/>
          <p:nvPr/>
        </p:nvSpPr>
        <p:spPr>
          <a:xfrm>
            <a:off x="1841500" y="41656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因果关系图</a:t>
            </a:r>
            <a:endParaRPr lang="en-US" sz="1100"/>
          </a:p>
        </p:txBody>
      </p:sp>
      <p:sp>
        <p:nvSpPr>
          <p:cNvPr id="23" name="AutoShape 23"/>
          <p:cNvSpPr/>
          <p:nvPr/>
        </p:nvSpPr>
        <p:spPr>
          <a:xfrm>
            <a:off x="952500" y="4889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学习绘制专业的因果图（Causal Diagram），将抽象的业务因果假设转化为直观可视的图形结构，让逻辑关系一目了然。</a:t>
            </a:r>
            <a:endParaRPr lang="en-US" sz="1100"/>
          </a:p>
        </p:txBody>
      </p:sp>
      <p:sp>
        <p:nvSpPr>
          <p:cNvPr id="24" name="AutoShape 24"/>
          <p:cNvSpPr/>
          <p:nvPr/>
        </p:nvSpPr>
        <p:spPr>
          <a:xfrm>
            <a:off x="4445000" y="40005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445000" y="40005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635500" y="4127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7" name="AutoShape 27"/>
          <p:cNvSpPr/>
          <p:nvPr/>
        </p:nvSpPr>
        <p:spPr>
          <a:xfrm>
            <a:off x="5524500" y="41656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案例分析与研讨</a:t>
            </a:r>
            <a:endParaRPr lang="en-US" sz="1100"/>
          </a:p>
        </p:txBody>
      </p:sp>
      <p:sp>
        <p:nvSpPr>
          <p:cNvPr id="28" name="AutoShape 28"/>
          <p:cNvSpPr/>
          <p:nvPr/>
        </p:nvSpPr>
        <p:spPr>
          <a:xfrm>
            <a:off x="4635500" y="4889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结合真实的商业决策或社会科学场景案例，通过分组研讨的形式，运用所学因果分析工具解决实际问题，实现知识迁移。</a:t>
            </a:r>
            <a:endParaRPr lang="en-US" sz="1100"/>
          </a:p>
        </p:txBody>
      </p:sp>
      <p:sp>
        <p:nvSpPr>
          <p:cNvPr id="29" name="AutoShape 29"/>
          <p:cNvSpPr/>
          <p:nvPr/>
        </p:nvSpPr>
        <p:spPr>
          <a:xfrm>
            <a:off x="8128000" y="4000500"/>
            <a:ext cx="3429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128000" y="40005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318500" y="4127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32" name="AutoShape 32"/>
          <p:cNvSpPr/>
          <p:nvPr/>
        </p:nvSpPr>
        <p:spPr>
          <a:xfrm>
            <a:off x="9207500" y="41656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课堂小结与作业</a:t>
            </a:r>
            <a:endParaRPr lang="en-US" sz="1100"/>
          </a:p>
        </p:txBody>
      </p:sp>
      <p:sp>
        <p:nvSpPr>
          <p:cNvPr id="33" name="AutoShape 33"/>
          <p:cNvSpPr/>
          <p:nvPr/>
        </p:nvSpPr>
        <p:spPr>
          <a:xfrm>
            <a:off x="8318500" y="4889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系统回顾课程核心知识体系，通过针对性的课后练习巩固因果思维，引导大家在后续工作中独立开展科学的因果推断。</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一个有趣的现象：冰淇淋与溺水</a:t>
            </a:r>
            <a:endParaRPr lang="en-US" sz="1100"/>
          </a:p>
        </p:txBody>
      </p:sp>
      <p:sp>
        <p:nvSpPr>
          <p:cNvPr id="4" name="AutoShape 4"/>
          <p:cNvSpPr/>
          <p:nvPr/>
        </p:nvSpPr>
        <p:spPr>
          <a:xfrm>
            <a:off x="762000" y="1524000"/>
            <a:ext cx="10668000" cy="139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79500" y="1625600"/>
            <a:ext cx="7366000" cy="1193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夏天的街头，我们发现了一个令人惊讶的数据规律：冰淇淋的销量越高，溺水事故的数量竟然也随之增多。这看似毫无关联的两件事，在数据统计中却呈现出了极强的正相关趋势。</a:t>
            </a:r>
            <a:endParaRPr lang="en-US" sz="1100"/>
          </a:p>
        </p:txBody>
      </p:sp>
      <p:sp>
        <p:nvSpPr>
          <p:cNvPr id="7" name="AutoShape 7"/>
          <p:cNvSpPr/>
          <p:nvPr/>
        </p:nvSpPr>
        <p:spPr>
          <a:xfrm>
            <a:off x="8636000" y="1651000"/>
            <a:ext cx="2667000" cy="1143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699500" y="1714500"/>
            <a:ext cx="254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两者相关系数高达</a:t>
            </a:r>
            <a:endParaRPr lang="en-US" sz="1100"/>
          </a:p>
        </p:txBody>
      </p:sp>
      <p:sp>
        <p:nvSpPr>
          <p:cNvPr id="9" name="AutoShape 9"/>
          <p:cNvSpPr/>
          <p:nvPr/>
        </p:nvSpPr>
        <p:spPr>
          <a:xfrm>
            <a:off x="8699500" y="2095500"/>
            <a:ext cx="2540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0.85</a:t>
            </a:r>
            <a:endParaRPr lang="en-US" sz="1100"/>
          </a:p>
        </p:txBody>
      </p:sp>
      <p:sp>
        <p:nvSpPr>
          <p:cNvPr id="10" name="AutoShape 10"/>
          <p:cNvSpPr/>
          <p:nvPr/>
        </p:nvSpPr>
        <p:spPr>
          <a:xfrm>
            <a:off x="762000" y="3111500"/>
            <a:ext cx="5270500" cy="1460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111500"/>
            <a:ext cx="50800" cy="14605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32131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大胆的推断：因果倒置？</a:t>
            </a:r>
            <a:endParaRPr lang="en-US" sz="1100"/>
          </a:p>
        </p:txBody>
      </p:sp>
      <p:sp>
        <p:nvSpPr>
          <p:cNvPr id="13" name="AutoShape 13"/>
          <p:cNvSpPr/>
          <p:nvPr/>
        </p:nvSpPr>
        <p:spPr>
          <a:xfrm>
            <a:off x="1016000" y="36576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如果单纯看数据趋势，我们是否可以草率地得出结论：是因为人们吃了太多冰淇淋，才导致溺水风险显著增加？这个结论听起来似乎很有“数据支撑”。</a:t>
            </a:r>
            <a:endParaRPr lang="en-US" sz="1100"/>
          </a:p>
        </p:txBody>
      </p:sp>
      <p:sp>
        <p:nvSpPr>
          <p:cNvPr id="14" name="AutoShape 14"/>
          <p:cNvSpPr/>
          <p:nvPr/>
        </p:nvSpPr>
        <p:spPr>
          <a:xfrm>
            <a:off x="6223000" y="3111500"/>
            <a:ext cx="5270500" cy="1460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3111500"/>
            <a:ext cx="50800" cy="14605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32131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反向思考：需求拉动？</a:t>
            </a:r>
            <a:endParaRPr lang="en-US" sz="1100"/>
          </a:p>
        </p:txBody>
      </p:sp>
      <p:sp>
        <p:nvSpPr>
          <p:cNvPr id="17" name="AutoShape 17"/>
          <p:cNvSpPr/>
          <p:nvPr/>
        </p:nvSpPr>
        <p:spPr>
          <a:xfrm>
            <a:off x="6477000" y="3657600"/>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或者换个角度，是不是因为溺水事故频发，导致家属和救援人员需要大量购买冰淇淋来安抚情绪，从而意外促进了冰淇淋的市场销量？</a:t>
            </a:r>
            <a:endParaRPr lang="en-US" sz="1100"/>
          </a:p>
        </p:txBody>
      </p:sp>
      <p:sp>
        <p:nvSpPr>
          <p:cNvPr id="18" name="AutoShape 18"/>
          <p:cNvSpPr/>
          <p:nvPr/>
        </p:nvSpPr>
        <p:spPr>
          <a:xfrm>
            <a:off x="762000" y="4826000"/>
            <a:ext cx="10668000" cy="1587500"/>
          </a:xfrm>
          <a:prstGeom prst="roundRect">
            <a:avLst>
              <a:gd name="adj" fmla="val 0"/>
            </a:avLst>
          </a:prstGeom>
          <a:solidFill>
            <a:srgbClr val="22C55E">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079500" y="4953000"/>
            <a:ext cx="1003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显然，这两种推断都非常荒谬。那么问题到底出在哪里？</a:t>
            </a:r>
            <a:endParaRPr lang="en-US" sz="1100"/>
          </a:p>
        </p:txBody>
      </p:sp>
      <p:sp>
        <p:nvSpPr>
          <p:cNvPr id="20" name="AutoShape 20"/>
          <p:cNvSpPr/>
          <p:nvPr/>
        </p:nvSpPr>
        <p:spPr>
          <a:xfrm>
            <a:off x="1079500" y="5461000"/>
            <a:ext cx="1003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0FDF4">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为什么两组看似无关的数据会显示出如此紧密的关联？这其实是数据分析中一个经典的陷阱——“相关性不等于因果性”。在接下来的课程中，我们将一起探讨如何透过数据表象，找到背后真正的逻辑链条。</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破解谜团：隐藏的“第三变量”</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6002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答案揭晓：</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真正的幕后推手是“气温”（季节）。这个被忽略的环境因素，同时驱动了冰淇淋销量和溺水事故这两个看似毫不相干的事件发生，是连接两者的关键桥梁。</a:t>
            </a:r>
            <a:endParaRPr lang="en-US" sz="1100"/>
          </a:p>
        </p:txBody>
      </p:sp>
      <p:sp>
        <p:nvSpPr>
          <p:cNvPr id="7" name="AutoShape 7"/>
          <p:cNvSpPr/>
          <p:nvPr/>
        </p:nvSpPr>
        <p:spPr>
          <a:xfrm>
            <a:off x="762000" y="2921000"/>
            <a:ext cx="5207000" cy="1841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921000"/>
            <a:ext cx="5207000" cy="508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0734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冰淇淋销量上升的因果链</a:t>
            </a:r>
            <a:endParaRPr lang="en-US" sz="1100"/>
          </a:p>
        </p:txBody>
      </p:sp>
      <p:sp>
        <p:nvSpPr>
          <p:cNvPr id="10" name="AutoShape 10"/>
          <p:cNvSpPr/>
          <p:nvPr/>
        </p:nvSpPr>
        <p:spPr>
          <a:xfrm>
            <a:off x="952500" y="3581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夏季气温显著升高 → 体感炎热激发解暑需求 → 消费者更倾向于购买冷食甜品 → 市场对冰淇淋的需求爆发，直接导致销量大幅增加。这是一条基于生理需求的直接逻辑线。</a:t>
            </a:r>
            <a:endParaRPr lang="en-US" sz="1100"/>
          </a:p>
        </p:txBody>
      </p:sp>
      <p:sp>
        <p:nvSpPr>
          <p:cNvPr id="11" name="AutoShape 11"/>
          <p:cNvSpPr/>
          <p:nvPr/>
        </p:nvSpPr>
        <p:spPr>
          <a:xfrm>
            <a:off x="6223000" y="2921000"/>
            <a:ext cx="5207000" cy="1841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2921000"/>
            <a:ext cx="5207000" cy="508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30734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溺水事故增多的因果链</a:t>
            </a:r>
            <a:endParaRPr lang="en-US" sz="1100"/>
          </a:p>
        </p:txBody>
      </p:sp>
      <p:sp>
        <p:nvSpPr>
          <p:cNvPr id="14" name="AutoShape 14"/>
          <p:cNvSpPr/>
          <p:nvPr/>
        </p:nvSpPr>
        <p:spPr>
          <a:xfrm>
            <a:off x="6413500" y="3581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同样因夏季高温 → 公众消暑意愿强烈，选择游泳作为主要方式 → 水上活动参与人数急剧攀升 → 水域安全风险随之扩大，监管难度增加 → 最终表现为溺水意外事故的数量同步上升。</a:t>
            </a:r>
            <a:endParaRPr lang="en-US" sz="1100"/>
          </a:p>
        </p:txBody>
      </p:sp>
      <p:sp>
        <p:nvSpPr>
          <p:cNvPr id="15" name="AutoShape 15"/>
          <p:cNvSpPr/>
          <p:nvPr/>
        </p:nvSpPr>
        <p:spPr>
          <a:xfrm>
            <a:off x="762000" y="4953000"/>
            <a:ext cx="10668000" cy="1524000"/>
          </a:xfrm>
          <a:prstGeom prst="roundRect">
            <a:avLst>
              <a:gd name="adj" fmla="val 0"/>
            </a:avLst>
          </a:prstGeom>
          <a:solidFill>
            <a:srgbClr val="22C55E">
              <a:alpha val="9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5105400"/>
            <a:ext cx="5842000" cy="12192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79500" y="5168900"/>
            <a:ext cx="558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核心概念：混淆变量 (Confounder)</a:t>
            </a:r>
            <a:endParaRPr lang="en-US" sz="1100"/>
          </a:p>
        </p:txBody>
      </p:sp>
      <p:sp>
        <p:nvSpPr>
          <p:cNvPr id="18" name="AutoShape 18"/>
          <p:cNvSpPr/>
          <p:nvPr/>
        </p:nvSpPr>
        <p:spPr>
          <a:xfrm>
            <a:off x="1079500" y="5562600"/>
            <a:ext cx="558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0FDF4"/>
                </a:solidFill>
                <a:latin typeface="Noto Sans SC" panose="020B0200000000000000" charset="-122"/>
                <a:ea typeface="Noto Sans SC" panose="020B0200000000000000" charset="-122"/>
                <a:cs typeface="Noto Sans SC" panose="020B0200000000000000" charset="-122"/>
                <a:sym typeface="Noto Sans SC" panose="020B0200000000000000" charset="-122"/>
              </a:rPr>
              <a:t>它是一个同时影响“自变量”和“因变量”的第三方因素，会制造出两者间“看似因果，实则巧合”的虚假关联。在本案例中，气温就是那个被忽视的关键混淆变量。</a:t>
            </a:r>
            <a:endParaRPr lang="en-US" sz="1100"/>
          </a:p>
        </p:txBody>
      </p:sp>
      <p:cxnSp>
        <p:nvCxnSpPr>
          <p:cNvPr id="19" name="Connector 19"/>
          <p:cNvCxnSpPr/>
          <p:nvPr/>
        </p:nvCxnSpPr>
        <p:spPr>
          <a:xfrm rot="5359557">
            <a:off x="6445250" y="5676937"/>
            <a:ext cx="10795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20" name="AutoShape 20"/>
          <p:cNvSpPr/>
          <p:nvPr/>
        </p:nvSpPr>
        <p:spPr>
          <a:xfrm>
            <a:off x="7175500" y="5105400"/>
            <a:ext cx="4064000" cy="1219200"/>
          </a:xfrm>
          <a:prstGeom prst="roundRect">
            <a:avLst>
              <a:gd name="adj" fmla="val 0"/>
            </a:avLst>
          </a:prstGeom>
          <a:solidFill>
            <a:srgbClr val="FFFFFF">
              <a:alpha val="9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366000" y="5232400"/>
            <a:ext cx="368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数据分析的关键启示</a:t>
            </a:r>
            <a:endParaRPr lang="en-US" sz="1100"/>
          </a:p>
        </p:txBody>
      </p:sp>
      <p:sp>
        <p:nvSpPr>
          <p:cNvPr id="22" name="AutoShape 22"/>
          <p:cNvSpPr/>
          <p:nvPr/>
        </p:nvSpPr>
        <p:spPr>
          <a:xfrm>
            <a:off x="7366000" y="5626100"/>
            <a:ext cx="368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相关关系 ≠ 因果关系</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因果关系 vs. 相关关系</a:t>
            </a:r>
            <a:endParaRPr lang="en-US" sz="1100"/>
          </a:p>
        </p:txBody>
      </p:sp>
      <p:sp>
        <p:nvSpPr>
          <p:cNvPr id="4" name="AutoShape 4"/>
          <p:cNvSpPr/>
          <p:nvPr/>
        </p:nvSpPr>
        <p:spPr>
          <a:xfrm>
            <a:off x="762000" y="1651000"/>
            <a:ext cx="5207000" cy="44450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685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相关关系 (Correlation)</a:t>
            </a:r>
            <a:endParaRPr lang="en-US" sz="1100"/>
          </a:p>
        </p:txBody>
      </p:sp>
      <p:sp>
        <p:nvSpPr>
          <p:cNvPr id="7" name="AutoShape 7"/>
          <p:cNvSpPr/>
          <p:nvPr/>
        </p:nvSpPr>
        <p:spPr>
          <a:xfrm>
            <a:off x="1016000" y="2794000"/>
            <a:ext cx="46990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8575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两个或多个变量在数值上呈现出一起变化的趋势。它仅描述了变量间的同步变动状态，不涉及任何内在的逻辑推导。</a:t>
            </a:r>
            <a:endParaRPr lang="en-US" sz="1100"/>
          </a:p>
        </p:txBody>
      </p:sp>
      <p:sp>
        <p:nvSpPr>
          <p:cNvPr id="9" name="AutoShape 9"/>
          <p:cNvSpPr/>
          <p:nvPr/>
        </p:nvSpPr>
        <p:spPr>
          <a:xfrm>
            <a:off x="1016000" y="4064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核心本质是量化变量间的</a:t>
            </a: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关联程度</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。这种关联可能是偶然的、由第三方因素引起的，并不意味着一个变量的变化是另一个变量变化的原因。</a:t>
            </a:r>
            <a:endParaRPr lang="en-US" sz="1100"/>
          </a:p>
        </p:txBody>
      </p:sp>
      <p:sp>
        <p:nvSpPr>
          <p:cNvPr id="10" name="AutoShape 10"/>
          <p:cNvSpPr/>
          <p:nvPr/>
        </p:nvSpPr>
        <p:spPr>
          <a:xfrm>
            <a:off x="1016000" y="5143500"/>
            <a:ext cx="4699000" cy="8255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5232400"/>
            <a:ext cx="444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常见类型：</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正相关（同增同减）、负相关（此消彼长）、零相关（无明显趋势）。</a:t>
            </a:r>
            <a:endParaRPr lang="en-US" sz="1100"/>
          </a:p>
        </p:txBody>
      </p:sp>
      <p:sp>
        <p:nvSpPr>
          <p:cNvPr id="12" name="AutoShape 12"/>
          <p:cNvSpPr/>
          <p:nvPr/>
        </p:nvSpPr>
        <p:spPr>
          <a:xfrm>
            <a:off x="6223000" y="1651000"/>
            <a:ext cx="5207000" cy="44450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1651000"/>
            <a:ext cx="5207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19685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因果关系 (Causality)</a:t>
            </a:r>
            <a:endParaRPr lang="en-US" sz="1100"/>
          </a:p>
        </p:txBody>
      </p:sp>
      <p:sp>
        <p:nvSpPr>
          <p:cNvPr id="15" name="AutoShape 15"/>
          <p:cNvSpPr/>
          <p:nvPr/>
        </p:nvSpPr>
        <p:spPr>
          <a:xfrm>
            <a:off x="6477000" y="2794000"/>
            <a:ext cx="46990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04000" y="28575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一个变量（原因）的发生或变化，在逻辑和机制上直接</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导致</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了另一个变量（结果）的变化。这是一种具有方向性的逻辑推演。</a:t>
            </a:r>
            <a:endParaRPr lang="en-US" sz="1100"/>
          </a:p>
        </p:txBody>
      </p:sp>
      <p:sp>
        <p:nvSpPr>
          <p:cNvPr id="17" name="AutoShape 17"/>
          <p:cNvSpPr/>
          <p:nvPr/>
        </p:nvSpPr>
        <p:spPr>
          <a:xfrm>
            <a:off x="6477000" y="4064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核心本质是揭示变量间的</a:t>
            </a: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因果机制</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。重点在于解释“为什么”会发生，以及“如何发生”的过程，强调的是事物发展的内在驱动力。</a:t>
            </a:r>
            <a:endParaRPr lang="en-US" sz="1100"/>
          </a:p>
        </p:txBody>
      </p:sp>
      <p:sp>
        <p:nvSpPr>
          <p:cNvPr id="18" name="AutoShape 18"/>
          <p:cNvSpPr/>
          <p:nvPr/>
        </p:nvSpPr>
        <p:spPr>
          <a:xfrm>
            <a:off x="6477000" y="5143500"/>
            <a:ext cx="4699000" cy="825500"/>
          </a:xfrm>
          <a:prstGeom prst="roundRect">
            <a:avLst>
              <a:gd name="adj" fmla="val 0"/>
            </a:avLst>
          </a:prstGeom>
          <a:solidFill>
            <a:srgbClr val="F3F4F6">
              <a:alpha val="9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5232400"/>
            <a:ext cx="444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关键要素：</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明确的原因与结果、严格的时间先后顺序、可验证的反事实推断。</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因果推断的基本框架</a:t>
            </a:r>
            <a:endParaRPr lang="en-US" sz="1100"/>
          </a:p>
        </p:txBody>
      </p:sp>
      <p:sp>
        <p:nvSpPr>
          <p:cNvPr id="4" name="AutoShape 4"/>
          <p:cNvSpPr/>
          <p:nvPr/>
        </p:nvSpPr>
        <p:spPr>
          <a:xfrm>
            <a:off x="762000" y="1651000"/>
            <a:ext cx="3492500" cy="4318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混淆变量 (Confounder)</a:t>
            </a:r>
            <a:endParaRPr lang="en-US" sz="1100"/>
          </a:p>
        </p:txBody>
      </p:sp>
      <p:sp>
        <p:nvSpPr>
          <p:cNvPr id="7" name="AutoShape 7"/>
          <p:cNvSpPr/>
          <p:nvPr/>
        </p:nvSpPr>
        <p:spPr>
          <a:xfrm>
            <a:off x="952500" y="2667000"/>
            <a:ext cx="3111500" cy="825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743200"/>
            <a:ext cx="2857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C → A 且 C → B</a:t>
            </a:r>
            <a:endParaRPr lang="en-US" sz="1100"/>
          </a:p>
        </p:txBody>
      </p:sp>
      <p:sp>
        <p:nvSpPr>
          <p:cNvPr id="9" name="AutoShape 9"/>
          <p:cNvSpPr/>
          <p:nvPr/>
        </p:nvSpPr>
        <p:spPr>
          <a:xfrm>
            <a:off x="952500" y="3683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存在一个外部变量 C 同时影响原因 A 和结果 B，导致 A 与 B 之间出现统计学上的虚假关联，而非真实的因果关系。</a:t>
            </a:r>
            <a:endParaRPr lang="en-US" sz="1100"/>
          </a:p>
        </p:txBody>
      </p:sp>
      <p:sp>
        <p:nvSpPr>
          <p:cNvPr id="10" name="AutoShape 10"/>
          <p:cNvSpPr/>
          <p:nvPr/>
        </p:nvSpPr>
        <p:spPr>
          <a:xfrm>
            <a:off x="952500" y="4889500"/>
            <a:ext cx="3111500" cy="101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9784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实例：</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年龄（C）同时影响收入（A）和消费能力（B）。若忽略年龄，会误以为收入直接决定了消费，实则二者均受年龄驱动。</a:t>
            </a:r>
            <a:endParaRPr lang="en-US" sz="1100"/>
          </a:p>
        </p:txBody>
      </p:sp>
      <p:sp>
        <p:nvSpPr>
          <p:cNvPr id="12" name="AutoShape 12"/>
          <p:cNvSpPr/>
          <p:nvPr/>
        </p:nvSpPr>
        <p:spPr>
          <a:xfrm>
            <a:off x="4470400" y="1651000"/>
            <a:ext cx="3492500" cy="4318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4704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60900" y="1905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中介变量 (Mediator)</a:t>
            </a:r>
            <a:endParaRPr lang="en-US" sz="1100"/>
          </a:p>
        </p:txBody>
      </p:sp>
      <p:sp>
        <p:nvSpPr>
          <p:cNvPr id="15" name="AutoShape 15"/>
          <p:cNvSpPr/>
          <p:nvPr/>
        </p:nvSpPr>
        <p:spPr>
          <a:xfrm>
            <a:off x="4660900" y="2667000"/>
            <a:ext cx="3111500" cy="825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787900" y="2743200"/>
            <a:ext cx="2857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A → M → B</a:t>
            </a:r>
            <a:endParaRPr lang="en-US" sz="1100"/>
          </a:p>
        </p:txBody>
      </p:sp>
      <p:sp>
        <p:nvSpPr>
          <p:cNvPr id="17" name="AutoShape 17"/>
          <p:cNvSpPr/>
          <p:nvPr/>
        </p:nvSpPr>
        <p:spPr>
          <a:xfrm>
            <a:off x="4660900" y="3683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揭示了因果作用的内部机制：原因 A 并不直接影响结果 B，而是通过一个中间变量 M 作为传递桥梁，实现对结果的间接影响。</a:t>
            </a:r>
            <a:endParaRPr lang="en-US" sz="1100"/>
          </a:p>
        </p:txBody>
      </p:sp>
      <p:sp>
        <p:nvSpPr>
          <p:cNvPr id="18" name="AutoShape 18"/>
          <p:cNvSpPr/>
          <p:nvPr/>
        </p:nvSpPr>
        <p:spPr>
          <a:xfrm>
            <a:off x="4660900" y="4889500"/>
            <a:ext cx="3111500" cy="101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787900" y="49784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实例：</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运动（A）通过降低体重（M）来改善健康（B）。体重在这里是关键的中间环节，解释了运动产生健康收益的具体路径。</a:t>
            </a:r>
            <a:endParaRPr lang="en-US" sz="1100"/>
          </a:p>
        </p:txBody>
      </p:sp>
      <p:sp>
        <p:nvSpPr>
          <p:cNvPr id="20" name="AutoShape 20"/>
          <p:cNvSpPr/>
          <p:nvPr/>
        </p:nvSpPr>
        <p:spPr>
          <a:xfrm>
            <a:off x="8191500" y="1651000"/>
            <a:ext cx="3492500" cy="4318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1915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382000" y="19050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调节变量 (Moderator)</a:t>
            </a:r>
            <a:endParaRPr lang="en-US" sz="1100"/>
          </a:p>
        </p:txBody>
      </p:sp>
      <p:sp>
        <p:nvSpPr>
          <p:cNvPr id="23" name="AutoShape 23"/>
          <p:cNvSpPr/>
          <p:nvPr/>
        </p:nvSpPr>
        <p:spPr>
          <a:xfrm>
            <a:off x="8382000" y="2667000"/>
            <a:ext cx="3111500" cy="825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509000" y="2743200"/>
            <a:ext cx="2857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C 调节 (A → B)</a:t>
            </a:r>
            <a:endParaRPr lang="en-US" sz="1100"/>
          </a:p>
        </p:txBody>
      </p:sp>
      <p:sp>
        <p:nvSpPr>
          <p:cNvPr id="25" name="AutoShape 25"/>
          <p:cNvSpPr/>
          <p:nvPr/>
        </p:nvSpPr>
        <p:spPr>
          <a:xfrm>
            <a:off x="8382000" y="3683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关注因果关系的边界条件：变量 C 会改变原因 A 对结果 B 产生作用的强度，甚至是方向。不同的 C 水平下，A 对 B 的影响效果不同。</a:t>
            </a:r>
            <a:endParaRPr lang="en-US" sz="1100"/>
          </a:p>
        </p:txBody>
      </p:sp>
      <p:sp>
        <p:nvSpPr>
          <p:cNvPr id="26" name="AutoShape 26"/>
          <p:cNvSpPr/>
          <p:nvPr/>
        </p:nvSpPr>
        <p:spPr>
          <a:xfrm>
            <a:off x="8382000" y="4889500"/>
            <a:ext cx="3111500" cy="101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509000" y="49784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实例：</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药物（A）对病情（B）的疗效受年龄（C）调节。通常年轻患者对药物反应更敏感，而老年患者可能因代谢差异导致效果减弱。</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因果推断的三大挑战</a:t>
            </a:r>
            <a:endParaRPr lang="en-US" sz="1100"/>
          </a:p>
        </p:txBody>
      </p:sp>
      <p:sp>
        <p:nvSpPr>
          <p:cNvPr id="4" name="AutoShape 4"/>
          <p:cNvSpPr/>
          <p:nvPr/>
        </p:nvSpPr>
        <p:spPr>
          <a:xfrm>
            <a:off x="762000" y="1651000"/>
            <a:ext cx="34925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混淆变量的存在</a:t>
            </a:r>
            <a:endParaRPr lang="en-US" sz="1100"/>
          </a:p>
        </p:txBody>
      </p:sp>
      <p:sp>
        <p:nvSpPr>
          <p:cNvPr id="7" name="AutoShape 7"/>
          <p:cNvSpPr/>
          <p:nvPr/>
        </p:nvSpPr>
        <p:spPr>
          <a:xfrm>
            <a:off x="952500" y="2413000"/>
            <a:ext cx="311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Confounding</a:t>
            </a:r>
            <a:endParaRPr lang="en-US" sz="1100"/>
          </a:p>
        </p:txBody>
      </p:sp>
      <p:sp>
        <p:nvSpPr>
          <p:cNvPr id="8" name="AutoShape 8"/>
          <p:cNvSpPr/>
          <p:nvPr/>
        </p:nvSpPr>
        <p:spPr>
          <a:xfrm>
            <a:off x="952500" y="2984500"/>
            <a:ext cx="3111500" cy="12700"/>
          </a:xfrm>
          <a:prstGeom prst="roundRect">
            <a:avLst>
              <a:gd name="adj" fmla="val 0"/>
            </a:avLst>
          </a:prstGeom>
          <a:solidFill>
            <a:srgbClr val="22C55E">
              <a:alpha val="2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238500"/>
            <a:ext cx="3111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未被观测或控制的第三方变量，同时影响原因和结果，如同迷雾一般，导致我们无法看清变量间真正的因果效应，从而得出错误的关联结论。</a:t>
            </a:r>
            <a:endParaRPr lang="en-US" sz="1100"/>
          </a:p>
        </p:txBody>
      </p:sp>
      <p:sp>
        <p:nvSpPr>
          <p:cNvPr id="10" name="AutoShape 10"/>
          <p:cNvSpPr/>
          <p:nvPr/>
        </p:nvSpPr>
        <p:spPr>
          <a:xfrm>
            <a:off x="952500" y="4826000"/>
            <a:ext cx="3111500" cy="1016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953000"/>
            <a:ext cx="285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b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4155">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无法区分“巧合的相关”与“真正的因果”，干扰对核心驱动因素的识别。</a:t>
            </a:r>
            <a:endParaRPr lang="en-US" sz="1100"/>
          </a:p>
        </p:txBody>
      </p:sp>
      <p:sp>
        <p:nvSpPr>
          <p:cNvPr id="12" name="AutoShape 12"/>
          <p:cNvSpPr/>
          <p:nvPr/>
        </p:nvSpPr>
        <p:spPr>
          <a:xfrm>
            <a:off x="4470400" y="1651000"/>
            <a:ext cx="34925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4704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60900" y="19050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反向因果</a:t>
            </a:r>
            <a:endParaRPr lang="en-US" sz="1100"/>
          </a:p>
        </p:txBody>
      </p:sp>
      <p:sp>
        <p:nvSpPr>
          <p:cNvPr id="15" name="AutoShape 15"/>
          <p:cNvSpPr/>
          <p:nvPr/>
        </p:nvSpPr>
        <p:spPr>
          <a:xfrm>
            <a:off x="4660900" y="2413000"/>
            <a:ext cx="311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Reverse Causality</a:t>
            </a:r>
            <a:endParaRPr lang="en-US" sz="1100"/>
          </a:p>
        </p:txBody>
      </p:sp>
      <p:sp>
        <p:nvSpPr>
          <p:cNvPr id="16" name="AutoShape 16"/>
          <p:cNvSpPr/>
          <p:nvPr/>
        </p:nvSpPr>
        <p:spPr>
          <a:xfrm>
            <a:off x="4660900" y="2984500"/>
            <a:ext cx="3111500" cy="12700"/>
          </a:xfrm>
          <a:prstGeom prst="roundRect">
            <a:avLst>
              <a:gd name="adj" fmla="val 0"/>
            </a:avLst>
          </a:prstGeom>
          <a:solidFill>
            <a:srgbClr val="22C55E">
              <a:alpha val="2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60900" y="3238500"/>
            <a:ext cx="3111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我们直观上认为是 A 导致了 B，但现实逻辑中可能是 B 反过来导致了 A。因果方向的颠倒会让我们的干预措施完全失效，甚至产生相反的效果。</a:t>
            </a:r>
            <a:endParaRPr lang="en-US" sz="1100"/>
          </a:p>
        </p:txBody>
      </p:sp>
      <p:sp>
        <p:nvSpPr>
          <p:cNvPr id="18" name="AutoShape 18"/>
          <p:cNvSpPr/>
          <p:nvPr/>
        </p:nvSpPr>
        <p:spPr>
          <a:xfrm>
            <a:off x="4660900" y="4826000"/>
            <a:ext cx="3111500" cy="1016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787900" y="4953000"/>
            <a:ext cx="285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典型误区：</a:t>
            </a:r>
            <a:b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4155">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误将结果当原因。例如：是高收入带来高消费，还是高消费能力促成了高收入？</a:t>
            </a:r>
            <a:endParaRPr lang="en-US" sz="1100"/>
          </a:p>
        </p:txBody>
      </p:sp>
      <p:sp>
        <p:nvSpPr>
          <p:cNvPr id="20" name="AutoShape 20"/>
          <p:cNvSpPr/>
          <p:nvPr/>
        </p:nvSpPr>
        <p:spPr>
          <a:xfrm>
            <a:off x="8191500" y="1651000"/>
            <a:ext cx="34925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1915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382000" y="19050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选择偏差</a:t>
            </a:r>
            <a:endParaRPr lang="en-US" sz="1100"/>
          </a:p>
        </p:txBody>
      </p:sp>
      <p:sp>
        <p:nvSpPr>
          <p:cNvPr id="23" name="AutoShape 23"/>
          <p:cNvSpPr/>
          <p:nvPr/>
        </p:nvSpPr>
        <p:spPr>
          <a:xfrm>
            <a:off x="8382000" y="2413000"/>
            <a:ext cx="311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Selection Bias</a:t>
            </a:r>
            <a:endParaRPr lang="en-US" sz="1100"/>
          </a:p>
        </p:txBody>
      </p:sp>
      <p:sp>
        <p:nvSpPr>
          <p:cNvPr id="24" name="AutoShape 24"/>
          <p:cNvSpPr/>
          <p:nvPr/>
        </p:nvSpPr>
        <p:spPr>
          <a:xfrm>
            <a:off x="8382000" y="2984500"/>
            <a:ext cx="3111500" cy="12700"/>
          </a:xfrm>
          <a:prstGeom prst="roundRect">
            <a:avLst>
              <a:gd name="adj" fmla="val 0"/>
            </a:avLst>
          </a:prstGeom>
          <a:solidFill>
            <a:srgbClr val="22C55E">
              <a:alpha val="2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382000" y="3238500"/>
            <a:ext cx="3111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分析的数据样本并非来自随机选取，而是存在系统性偏差。这使得基于样本得出的结论无法推广到更广泛的总体，造成结论的外部有效性不足。</a:t>
            </a:r>
            <a:endParaRPr lang="en-US" sz="1100"/>
          </a:p>
        </p:txBody>
      </p:sp>
      <p:sp>
        <p:nvSpPr>
          <p:cNvPr id="26" name="AutoShape 26"/>
          <p:cNvSpPr/>
          <p:nvPr/>
        </p:nvSpPr>
        <p:spPr>
          <a:xfrm>
            <a:off x="8382000" y="4826000"/>
            <a:ext cx="3111500" cy="1016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509000" y="4953000"/>
            <a:ext cx="285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现实困境：</a:t>
            </a:r>
            <a:b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34155">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样本“幸存者偏差”。如：爱用学习APP的学生成绩好，可能只因他们本就更自律。</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02 黄金标准：随机对照试验 (RCT)</a:t>
            </a:r>
            <a:endParaRPr lang="en-US" sz="1100"/>
          </a:p>
        </p:txBody>
      </p:sp>
      <p:sp>
        <p:nvSpPr>
          <p:cNvPr id="4" name="AutoShape 4"/>
          <p:cNvSpPr/>
          <p:nvPr/>
        </p:nvSpPr>
        <p:spPr>
          <a:xfrm>
            <a:off x="762000" y="1524000"/>
            <a:ext cx="10668000" cy="1587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1676400"/>
            <a:ext cx="406400" cy="406400"/>
          </a:xfrm>
          <a:prstGeom prst="rect">
            <a:avLst/>
          </a:prstGeom>
        </p:spPr>
      </p:pic>
      <p:sp>
        <p:nvSpPr>
          <p:cNvPr id="7" name="AutoShape 7"/>
          <p:cNvSpPr/>
          <p:nvPr/>
        </p:nvSpPr>
        <p:spPr>
          <a:xfrm>
            <a:off x="1714500" y="1651000"/>
            <a:ext cx="927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核心原理：随机分组与因果推断的基石</a:t>
            </a:r>
            <a:endParaRPr lang="en-US" sz="1100"/>
          </a:p>
        </p:txBody>
      </p:sp>
      <p:sp>
        <p:nvSpPr>
          <p:cNvPr id="8" name="AutoShape 8"/>
          <p:cNvSpPr/>
          <p:nvPr/>
        </p:nvSpPr>
        <p:spPr>
          <a:xfrm>
            <a:off x="1079500" y="2159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将研究对象通过随机化方式分配至实验组与对照组，实验组接受目标干预，对照组则不接受干预或接受安慰剂。这种设计通过严格的组间对比，能够有效排除其他因素干扰，从而精准判断干预措施与结果之间的</a:t>
            </a: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因果效应</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，而非简单的相关性。</a:t>
            </a:r>
            <a:endParaRPr lang="en-US" sz="1100"/>
          </a:p>
        </p:txBody>
      </p:sp>
      <p:sp>
        <p:nvSpPr>
          <p:cNvPr id="9" name="AutoShape 9"/>
          <p:cNvSpPr/>
          <p:nvPr/>
        </p:nvSpPr>
        <p:spPr>
          <a:xfrm>
            <a:off x="762000" y="3302000"/>
            <a:ext cx="5270500" cy="171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302000"/>
            <a:ext cx="50800" cy="1714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454400"/>
            <a:ext cx="330200" cy="330200"/>
          </a:xfrm>
          <a:prstGeom prst="rect">
            <a:avLst/>
          </a:prstGeom>
        </p:spPr>
      </p:pic>
      <p:sp>
        <p:nvSpPr>
          <p:cNvPr id="12" name="AutoShape 12"/>
          <p:cNvSpPr/>
          <p:nvPr/>
        </p:nvSpPr>
        <p:spPr>
          <a:xfrm>
            <a:off x="1460500" y="34290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平衡不可控的混淆变量</a:t>
            </a:r>
            <a:endParaRPr lang="en-US" sz="1100"/>
          </a:p>
        </p:txBody>
      </p:sp>
      <p:sp>
        <p:nvSpPr>
          <p:cNvPr id="13" name="AutoShape 13"/>
          <p:cNvSpPr/>
          <p:nvPr/>
        </p:nvSpPr>
        <p:spPr>
          <a:xfrm>
            <a:off x="952500" y="3937000"/>
            <a:ext cx="488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在大样本下，随机分配能让年龄、健康状况、生活习惯等潜在干扰因素在两组间自然均匀分布。这从源头消除了系统性偏差，确保两组在干预前处于“同一起跑线”，是得出可信结论的前提。</a:t>
            </a:r>
            <a:endParaRPr lang="en-US" sz="1100"/>
          </a:p>
        </p:txBody>
      </p:sp>
      <p:sp>
        <p:nvSpPr>
          <p:cNvPr id="14" name="AutoShape 14"/>
          <p:cNvSpPr/>
          <p:nvPr/>
        </p:nvSpPr>
        <p:spPr>
          <a:xfrm>
            <a:off x="6223000" y="3302000"/>
            <a:ext cx="5270500" cy="171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3302000"/>
            <a:ext cx="50800" cy="1714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3454400"/>
            <a:ext cx="330200" cy="330200"/>
          </a:xfrm>
          <a:prstGeom prst="rect">
            <a:avLst/>
          </a:prstGeom>
        </p:spPr>
      </p:pic>
      <p:sp>
        <p:nvSpPr>
          <p:cNvPr id="17" name="AutoShape 17"/>
          <p:cNvSpPr/>
          <p:nvPr/>
        </p:nvSpPr>
        <p:spPr>
          <a:xfrm>
            <a:off x="6921500" y="34290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创造严格的组间可比性</a:t>
            </a:r>
            <a:endParaRPr lang="en-US" sz="1100"/>
          </a:p>
        </p:txBody>
      </p:sp>
      <p:sp>
        <p:nvSpPr>
          <p:cNvPr id="18" name="AutoShape 18"/>
          <p:cNvSpPr/>
          <p:nvPr/>
        </p:nvSpPr>
        <p:spPr>
          <a:xfrm>
            <a:off x="6413500" y="3937000"/>
            <a:ext cx="488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使实验组与对照组之间唯一的系统性差异就是“是否接受干预”。这种纯净的对比环境排除了其他混杂因子的干扰，让后续观察到的结果差异可以直接、科学地归因于干预措施本身，而非其他外部条件。</a:t>
            </a:r>
            <a:endParaRPr lang="en-US" sz="1100"/>
          </a:p>
        </p:txBody>
      </p:sp>
      <p:sp>
        <p:nvSpPr>
          <p:cNvPr id="19" name="AutoShape 19"/>
          <p:cNvSpPr/>
          <p:nvPr/>
        </p:nvSpPr>
        <p:spPr>
          <a:xfrm>
            <a:off x="762000" y="5207000"/>
            <a:ext cx="5270500" cy="1397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334000"/>
            <a:ext cx="279400" cy="279400"/>
          </a:xfrm>
          <a:prstGeom prst="rect">
            <a:avLst/>
          </a:prstGeom>
        </p:spPr>
      </p:pic>
      <p:sp>
        <p:nvSpPr>
          <p:cNvPr id="21" name="AutoShape 21"/>
          <p:cNvSpPr/>
          <p:nvPr/>
        </p:nvSpPr>
        <p:spPr>
          <a:xfrm>
            <a:off x="1397000" y="5334000"/>
            <a:ext cx="438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优势：因果推断的“金标准”</a:t>
            </a:r>
            <a:endParaRPr lang="en-US" sz="1100"/>
          </a:p>
        </p:txBody>
      </p:sp>
      <p:sp>
        <p:nvSpPr>
          <p:cNvPr id="22" name="AutoShape 22"/>
          <p:cNvSpPr/>
          <p:nvPr/>
        </p:nvSpPr>
        <p:spPr>
          <a:xfrm>
            <a:off x="952500" y="5715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研究逻辑严密，内部效度极高，是目前验证干预效果最可靠的方法。其结论具有权威性，被广泛应用于医学、社会科学等关键领域的决策依据。</a:t>
            </a:r>
            <a:endParaRPr lang="en-US" sz="1100"/>
          </a:p>
        </p:txBody>
      </p:sp>
      <p:sp>
        <p:nvSpPr>
          <p:cNvPr id="23" name="AutoShape 23"/>
          <p:cNvSpPr/>
          <p:nvPr/>
        </p:nvSpPr>
        <p:spPr>
          <a:xfrm>
            <a:off x="6223000" y="5207000"/>
            <a:ext cx="5270500" cy="1397000"/>
          </a:xfrm>
          <a:prstGeom prst="roundRect">
            <a:avLst>
              <a:gd name="adj" fmla="val 0"/>
            </a:avLst>
          </a:prstGeom>
          <a:solidFill>
            <a:srgbClr val="4B5563">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13500" y="5334000"/>
            <a:ext cx="279400" cy="279400"/>
          </a:xfrm>
          <a:prstGeom prst="rect">
            <a:avLst/>
          </a:prstGeom>
        </p:spPr>
      </p:pic>
      <p:sp>
        <p:nvSpPr>
          <p:cNvPr id="25" name="AutoShape 25"/>
          <p:cNvSpPr/>
          <p:nvPr/>
        </p:nvSpPr>
        <p:spPr>
          <a:xfrm>
            <a:off x="6858000" y="5334000"/>
            <a:ext cx="4381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局限：实施与伦理的双重挑战</a:t>
            </a:r>
            <a:endParaRPr lang="en-US" sz="1100"/>
          </a:p>
        </p:txBody>
      </p:sp>
      <p:sp>
        <p:nvSpPr>
          <p:cNvPr id="26" name="AutoShape 26"/>
          <p:cNvSpPr/>
          <p:nvPr/>
        </p:nvSpPr>
        <p:spPr>
          <a:xfrm>
            <a:off x="6413500" y="5715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执行周期长且经济成本高昂；部分场景下，剥夺对照组有效干预可能引发伦理争议；同时对样本规模、执行环境的标准化程度也有较高要求。</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退而求其次：准实验设计</a:t>
            </a:r>
            <a:endParaRPr lang="en-US" sz="1100"/>
          </a:p>
        </p:txBody>
      </p:sp>
      <p:sp>
        <p:nvSpPr>
          <p:cNvPr id="4" name="AutoShape 4"/>
          <p:cNvSpPr/>
          <p:nvPr/>
        </p:nvSpPr>
        <p:spPr>
          <a:xfrm>
            <a:off x="762000" y="1460500"/>
            <a:ext cx="10668000" cy="762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240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当随机对照试验不可行时，我们可以寻找一些“自然发生”的类似实验场景，通过巧妙的统计设计，从观测数据中推断出近似的因果关系，为决策提供依据。</a:t>
            </a:r>
            <a:endParaRPr lang="en-US" sz="1100"/>
          </a:p>
        </p:txBody>
      </p:sp>
      <p:sp>
        <p:nvSpPr>
          <p:cNvPr id="6" name="AutoShape 6"/>
          <p:cNvSpPr/>
          <p:nvPr/>
        </p:nvSpPr>
        <p:spPr>
          <a:xfrm>
            <a:off x="762000" y="2413000"/>
            <a:ext cx="5207000" cy="247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413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603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断点回归 (Regression Discontinuity)</a:t>
            </a:r>
            <a:endParaRPr lang="en-US" sz="1100"/>
          </a:p>
        </p:txBody>
      </p:sp>
      <p:sp>
        <p:nvSpPr>
          <p:cNvPr id="9" name="AutoShape 9"/>
          <p:cNvSpPr/>
          <p:nvPr/>
        </p:nvSpPr>
        <p:spPr>
          <a:xfrm>
            <a:off x="952500" y="3175000"/>
            <a:ext cx="48260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32385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利用连续变量的“临界断点”近似分组。例如分数线两侧的学生，仅因微小分数差异被分到不同组别，其余特征高度相似，从而模拟实验组与对照组的对比。</a:t>
            </a:r>
            <a:endParaRPr lang="en-US" sz="1100"/>
          </a:p>
        </p:txBody>
      </p:sp>
      <p:sp>
        <p:nvSpPr>
          <p:cNvPr id="11" name="AutoShape 11"/>
          <p:cNvSpPr/>
          <p:nvPr/>
        </p:nvSpPr>
        <p:spPr>
          <a:xfrm>
            <a:off x="952500" y="4254500"/>
            <a:ext cx="4826000" cy="635000"/>
          </a:xfrm>
          <a:prstGeom prst="roundRect">
            <a:avLst>
              <a:gd name="adj" fmla="val 0"/>
            </a:avLst>
          </a:prstGeom>
          <a:solidFill>
            <a:srgbClr val="F3F4F6">
              <a:alpha val="9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79500" y="4292600"/>
            <a:ext cx="457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典型应用：</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研究获得奖学金资格对学生未来职业发展的长期影响。</a:t>
            </a:r>
            <a:endParaRPr lang="en-US" sz="1100"/>
          </a:p>
        </p:txBody>
      </p:sp>
      <p:sp>
        <p:nvSpPr>
          <p:cNvPr id="13" name="AutoShape 13"/>
          <p:cNvSpPr/>
          <p:nvPr/>
        </p:nvSpPr>
        <p:spPr>
          <a:xfrm>
            <a:off x="6223000" y="2413000"/>
            <a:ext cx="5207000" cy="247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223000" y="2413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13500" y="2603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双重差分 (Difference-in-Differences)</a:t>
            </a:r>
            <a:endParaRPr lang="en-US" sz="1100"/>
          </a:p>
        </p:txBody>
      </p:sp>
      <p:sp>
        <p:nvSpPr>
          <p:cNvPr id="16" name="AutoShape 16"/>
          <p:cNvSpPr/>
          <p:nvPr/>
        </p:nvSpPr>
        <p:spPr>
          <a:xfrm>
            <a:off x="6413500" y="3175000"/>
            <a:ext cx="4826000" cy="952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32385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对比处理组与对照组在事件前后的变化差值。通过消除两组共有的时间趋势，精准分离出政策或外部事件带来的“净效应”，是评估干预有效性的核心方法。</a:t>
            </a:r>
            <a:endParaRPr lang="en-US" sz="1100"/>
          </a:p>
        </p:txBody>
      </p:sp>
      <p:sp>
        <p:nvSpPr>
          <p:cNvPr id="18" name="AutoShape 18"/>
          <p:cNvSpPr/>
          <p:nvPr/>
        </p:nvSpPr>
        <p:spPr>
          <a:xfrm>
            <a:off x="6413500" y="4254500"/>
            <a:ext cx="4826000" cy="635000"/>
          </a:xfrm>
          <a:prstGeom prst="roundRect">
            <a:avLst>
              <a:gd name="adj" fmla="val 0"/>
            </a:avLst>
          </a:prstGeom>
          <a:solidFill>
            <a:srgbClr val="F3F4F6">
              <a:alpha val="9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540500" y="4292600"/>
            <a:ext cx="4572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典型应用：</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评估某城市实施新交通限行政策前后，空气质量的实际改善幅度。</a:t>
            </a:r>
            <a:endParaRPr lang="en-US" sz="1100"/>
          </a:p>
        </p:txBody>
      </p:sp>
      <p:sp>
        <p:nvSpPr>
          <p:cNvPr id="20" name="AutoShape 20"/>
          <p:cNvSpPr/>
          <p:nvPr/>
        </p:nvSpPr>
        <p:spPr>
          <a:xfrm>
            <a:off x="762000" y="5080000"/>
            <a:ext cx="10668000" cy="1397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5181600"/>
            <a:ext cx="10287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两种准实验方法突破了传统实验的限制，核心在于利用现实世界的“自然断点”或“时间冲击”构建反事实。它们让研究人员在缺乏随机分配的社会科学领域，依然能做出高可信度的因果推断，为政策评估、商业策略优化提供了强有力的实证工具。</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现实世界：观察性研究的因果推断</a:t>
            </a:r>
            <a:endParaRPr lang="en-US" sz="1100"/>
          </a:p>
        </p:txBody>
      </p:sp>
      <p:sp>
        <p:nvSpPr>
          <p:cNvPr id="4" name="AutoShape 4"/>
          <p:cNvSpPr/>
          <p:nvPr/>
        </p:nvSpPr>
        <p:spPr>
          <a:xfrm>
            <a:off x="762000" y="1524000"/>
            <a:ext cx="10668000" cy="889000"/>
          </a:xfrm>
          <a:prstGeom prst="roundRect">
            <a:avLst>
              <a:gd name="adj" fmla="val 0"/>
            </a:avLst>
          </a:prstGeom>
          <a:solidFill>
            <a:srgbClr val="F0F9F3">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当我们只有常规收集的、非实验性的数据时，随机对照试验（RCT）往往不可行。此时，我们需要通过特定的统计方法进行观察性研究，在混杂因素中剥离出变量间真实的因果关系，从而做出可靠的推断。</a:t>
            </a:r>
            <a:endParaRPr lang="en-US" sz="1100"/>
          </a:p>
        </p:txBody>
      </p:sp>
      <p:sp>
        <p:nvSpPr>
          <p:cNvPr id="6" name="AutoShape 6"/>
          <p:cNvSpPr/>
          <p:nvPr/>
        </p:nvSpPr>
        <p:spPr>
          <a:xfrm>
            <a:off x="762000" y="2794000"/>
            <a:ext cx="5207000" cy="3302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794000"/>
            <a:ext cx="63500" cy="3302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984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倾向得分匹配 (Propensity Score Matching)</a:t>
            </a:r>
            <a:endParaRPr lang="en-US" sz="1100"/>
          </a:p>
        </p:txBody>
      </p:sp>
      <p:sp>
        <p:nvSpPr>
          <p:cNvPr id="9" name="AutoShape 9"/>
          <p:cNvSpPr/>
          <p:nvPr/>
        </p:nvSpPr>
        <p:spPr>
          <a:xfrm>
            <a:off x="1016000" y="3556000"/>
            <a:ext cx="4699000" cy="12065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143000" y="3619500"/>
            <a:ext cx="444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核心原理：</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先预测每个样本接受处理的概率（倾向得分），再为每个实验组样本匹配得分最接近的对照组样本。通过这种方式平衡两组的协变量分布，消除选择性偏差，创造近似随机分组的可比性。</a:t>
            </a:r>
            <a:endParaRPr lang="en-US" sz="1100"/>
          </a:p>
        </p:txBody>
      </p:sp>
      <p:sp>
        <p:nvSpPr>
          <p:cNvPr id="11" name="AutoShape 11"/>
          <p:cNvSpPr/>
          <p:nvPr/>
        </p:nvSpPr>
        <p:spPr>
          <a:xfrm>
            <a:off x="1016000" y="4889500"/>
            <a:ext cx="46990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43000" y="49784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应用示例：</a:t>
            </a:r>
            <a:r>
              <a:rPr lang="en-US" sz="1200" b="0" i="0" u="none" strike="noStrike">
                <a:solidFill>
                  <a:srgbClr val="156533">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研究信用卡使用对消费行为的影响时，为每个使用信用卡的用户匹配收入、年龄、地区等特征相似的非使用者，从而估计信用卡带来的真实消费增量。</a:t>
            </a:r>
            <a:endParaRPr lang="en-US" sz="1100"/>
          </a:p>
        </p:txBody>
      </p:sp>
      <p:cxnSp>
        <p:nvCxnSpPr>
          <p:cNvPr id="13" name="Connector 13"/>
          <p:cNvCxnSpPr/>
          <p:nvPr/>
        </p:nvCxnSpPr>
        <p:spPr>
          <a:xfrm rot="5386777">
            <a:off x="4508500" y="4438662"/>
            <a:ext cx="3302000" cy="12700"/>
          </a:xfrm>
          <a:prstGeom prst="straightConnector1">
            <a:avLst/>
          </a:prstGeom>
          <a:solidFill>
            <a:srgbClr val="DEE0E3">
              <a:alpha val="100000"/>
            </a:srgbClr>
          </a:solidFill>
          <a:ln w="12700" cap="flat" cmpd="sng">
            <a:solidFill>
              <a:srgbClr val="22C55E">
                <a:alpha val="25000"/>
              </a:srgbClr>
            </a:solidFill>
            <a:prstDash val="dash"/>
            <a:round/>
            <a:headEnd type="none" w="med" len="med"/>
            <a:tailEnd type="none" w="med" len="med"/>
          </a:ln>
        </p:spPr>
      </p:cxnSp>
      <p:sp>
        <p:nvSpPr>
          <p:cNvPr id="14" name="AutoShape 14"/>
          <p:cNvSpPr/>
          <p:nvPr/>
        </p:nvSpPr>
        <p:spPr>
          <a:xfrm>
            <a:off x="6350000" y="2794000"/>
            <a:ext cx="5207000" cy="3302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350000" y="2794000"/>
            <a:ext cx="63500" cy="3302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04000" y="2984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回归控制 (Regression Control)</a:t>
            </a:r>
            <a:endParaRPr lang="en-US" sz="1100"/>
          </a:p>
        </p:txBody>
      </p:sp>
      <p:sp>
        <p:nvSpPr>
          <p:cNvPr id="17" name="AutoShape 17"/>
          <p:cNvSpPr/>
          <p:nvPr/>
        </p:nvSpPr>
        <p:spPr>
          <a:xfrm>
            <a:off x="6604000" y="3556000"/>
            <a:ext cx="4699000" cy="12065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731000" y="3619500"/>
            <a:ext cx="444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核心原理：</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在回归模型中直接纳入所有可观测的混淆变量作为控制项。通过数学建模的方式，在统计上“剔除”这些变量的干扰，核心关注“处理”变量的回归系数，以此代表处理带来的净因果效应。</a:t>
            </a:r>
            <a:endParaRPr lang="en-US" sz="1100"/>
          </a:p>
        </p:txBody>
      </p:sp>
      <p:sp>
        <p:nvSpPr>
          <p:cNvPr id="19" name="AutoShape 19"/>
          <p:cNvSpPr/>
          <p:nvPr/>
        </p:nvSpPr>
        <p:spPr>
          <a:xfrm>
            <a:off x="6604000" y="4889500"/>
            <a:ext cx="46990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731000" y="49784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应用示例：</a:t>
            </a:r>
            <a:r>
              <a:rPr lang="en-US" sz="1200" b="0" i="0" u="none" strike="noStrike">
                <a:solidFill>
                  <a:srgbClr val="156533">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分析新广告投放对产品销量的影响时，将产品价格、季节效应、促销活动等可能影响销量的因素作为控制变量放入模型，精准计算广告投放的真实ROI。</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方法选择策略</a:t>
            </a:r>
            <a:endParaRPr lang="en-US" sz="1100"/>
          </a:p>
        </p:txBody>
      </p:sp>
      <p:sp>
        <p:nvSpPr>
          <p:cNvPr id="4" name="AutoShape 4"/>
          <p:cNvSpPr/>
          <p:nvPr/>
        </p:nvSpPr>
        <p:spPr>
          <a:xfrm>
            <a:off x="762000" y="1651000"/>
            <a:ext cx="3492500" cy="2984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841500"/>
            <a:ext cx="3492500" cy="4572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889000" y="1866900"/>
            <a:ext cx="3238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适用：可进行严格随机分组的场景</a:t>
            </a:r>
            <a:endParaRPr lang="en-US" sz="1100"/>
          </a:p>
        </p:txBody>
      </p:sp>
      <p:sp>
        <p:nvSpPr>
          <p:cNvPr id="8" name="AutoShape 8"/>
          <p:cNvSpPr/>
          <p:nvPr/>
        </p:nvSpPr>
        <p:spPr>
          <a:xfrm>
            <a:off x="889000" y="2413000"/>
            <a:ext cx="323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随机对照试验 (A/B测试)</a:t>
            </a:r>
            <a:endParaRPr lang="en-US" sz="1100"/>
          </a:p>
        </p:txBody>
      </p:sp>
      <p:sp>
        <p:nvSpPr>
          <p:cNvPr id="9" name="AutoShape 9"/>
          <p:cNvSpPr/>
          <p:nvPr/>
        </p:nvSpPr>
        <p:spPr>
          <a:xfrm>
            <a:off x="889000" y="3048000"/>
            <a:ext cx="3238500" cy="736600"/>
          </a:xfrm>
          <a:prstGeom prst="roundRect">
            <a:avLst>
              <a:gd name="adj" fmla="val 0"/>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65200" y="3073400"/>
            <a:ext cx="3073400" cy="685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因果推断的“黄金标准”，内部有效性最高，能最确凿地证明干预与结果的因果关系。</a:t>
            </a:r>
            <a:endParaRPr lang="en-US" sz="1100"/>
          </a:p>
        </p:txBody>
      </p:sp>
      <p:sp>
        <p:nvSpPr>
          <p:cNvPr id="11" name="AutoShape 11"/>
          <p:cNvSpPr/>
          <p:nvPr/>
        </p:nvSpPr>
        <p:spPr>
          <a:xfrm>
            <a:off x="889000" y="3873500"/>
            <a:ext cx="3238500" cy="7366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65200" y="3898900"/>
            <a:ext cx="3073400" cy="685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局限性：</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实施成本高、周期长；涉及用户权益或业务中断时，可能面临伦理或实操阻力。</a:t>
            </a:r>
            <a:endParaRPr lang="en-US" sz="1100"/>
          </a:p>
        </p:txBody>
      </p:sp>
      <p:sp>
        <p:nvSpPr>
          <p:cNvPr id="13" name="AutoShape 13"/>
          <p:cNvSpPr/>
          <p:nvPr/>
        </p:nvSpPr>
        <p:spPr>
          <a:xfrm>
            <a:off x="4445000" y="1651000"/>
            <a:ext cx="3492500" cy="2984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445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445000" y="1841500"/>
            <a:ext cx="3492500" cy="4572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572000" y="1866900"/>
            <a:ext cx="3238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适用：存在自然实验契机的场景</a:t>
            </a:r>
            <a:endParaRPr lang="en-US" sz="1100"/>
          </a:p>
        </p:txBody>
      </p:sp>
      <p:sp>
        <p:nvSpPr>
          <p:cNvPr id="17" name="AutoShape 17"/>
          <p:cNvSpPr/>
          <p:nvPr/>
        </p:nvSpPr>
        <p:spPr>
          <a:xfrm>
            <a:off x="4572000" y="2413000"/>
            <a:ext cx="323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准实验设计 (DID/断点回归)</a:t>
            </a:r>
            <a:endParaRPr lang="en-US" sz="1100"/>
          </a:p>
        </p:txBody>
      </p:sp>
      <p:sp>
        <p:nvSpPr>
          <p:cNvPr id="18" name="AutoShape 18"/>
          <p:cNvSpPr/>
          <p:nvPr/>
        </p:nvSpPr>
        <p:spPr>
          <a:xfrm>
            <a:off x="4572000" y="3048000"/>
            <a:ext cx="3238500" cy="736600"/>
          </a:xfrm>
          <a:prstGeom prst="roundRect">
            <a:avLst>
              <a:gd name="adj" fmla="val 0"/>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648200" y="3073400"/>
            <a:ext cx="3073400" cy="685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利用自然发生的差异替代人为干预，大幅降低执行成本；在无法做实验时是高效替代方案。</a:t>
            </a:r>
            <a:endParaRPr lang="en-US" sz="1100"/>
          </a:p>
        </p:txBody>
      </p:sp>
      <p:sp>
        <p:nvSpPr>
          <p:cNvPr id="20" name="AutoShape 20"/>
          <p:cNvSpPr/>
          <p:nvPr/>
        </p:nvSpPr>
        <p:spPr>
          <a:xfrm>
            <a:off x="4572000" y="3873500"/>
            <a:ext cx="3238500" cy="7366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648200" y="3898900"/>
            <a:ext cx="3073400" cy="685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局限性：</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依赖平行趋势、连续性等强识别假设；若关键假设不成立，分析结论容易出现系统性偏差。</a:t>
            </a:r>
            <a:endParaRPr lang="en-US" sz="1100"/>
          </a:p>
        </p:txBody>
      </p:sp>
      <p:sp>
        <p:nvSpPr>
          <p:cNvPr id="22" name="AutoShape 22"/>
          <p:cNvSpPr/>
          <p:nvPr/>
        </p:nvSpPr>
        <p:spPr>
          <a:xfrm>
            <a:off x="8128000" y="1651000"/>
            <a:ext cx="3492500" cy="2984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128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128000" y="1841500"/>
            <a:ext cx="3492500" cy="4572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255000" y="1866900"/>
            <a:ext cx="3238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适用：仅能获取历史观察数据</a:t>
            </a:r>
            <a:endParaRPr lang="en-US" sz="1100"/>
          </a:p>
        </p:txBody>
      </p:sp>
      <p:sp>
        <p:nvSpPr>
          <p:cNvPr id="26" name="AutoShape 26"/>
          <p:cNvSpPr/>
          <p:nvPr/>
        </p:nvSpPr>
        <p:spPr>
          <a:xfrm>
            <a:off x="8255000" y="2413000"/>
            <a:ext cx="323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观察性研究 (PSM/回归控制)</a:t>
            </a:r>
            <a:endParaRPr lang="en-US" sz="1100"/>
          </a:p>
        </p:txBody>
      </p:sp>
      <p:sp>
        <p:nvSpPr>
          <p:cNvPr id="27" name="AutoShape 27"/>
          <p:cNvSpPr/>
          <p:nvPr/>
        </p:nvSpPr>
        <p:spPr>
          <a:xfrm>
            <a:off x="8255000" y="3048000"/>
            <a:ext cx="3238500" cy="736600"/>
          </a:xfrm>
          <a:prstGeom prst="roundRect">
            <a:avLst>
              <a:gd name="adj" fmla="val 0"/>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331200" y="3073400"/>
            <a:ext cx="3073400" cy="685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数据获取门槛低，存量业务数据即可使用；应用场景最广泛，能快速产出初步洞察。</a:t>
            </a:r>
            <a:endParaRPr lang="en-US" sz="1100"/>
          </a:p>
        </p:txBody>
      </p:sp>
      <p:sp>
        <p:nvSpPr>
          <p:cNvPr id="29" name="AutoShape 29"/>
          <p:cNvSpPr/>
          <p:nvPr/>
        </p:nvSpPr>
        <p:spPr>
          <a:xfrm>
            <a:off x="8255000" y="3873500"/>
            <a:ext cx="3238500" cy="7366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331200" y="3898900"/>
            <a:ext cx="3073400" cy="685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局限性：</a:t>
            </a: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无法完全排除未知的混淆变量（遗漏偏误）；结果多为相关性，难以形成铁证的因果结论。</a:t>
            </a:r>
            <a:endParaRPr lang="en-US" sz="1100"/>
          </a:p>
        </p:txBody>
      </p:sp>
      <p:sp>
        <p:nvSpPr>
          <p:cNvPr id="31" name="AutoShape 31"/>
          <p:cNvSpPr/>
          <p:nvPr/>
        </p:nvSpPr>
        <p:spPr>
          <a:xfrm>
            <a:off x="762000" y="4826000"/>
            <a:ext cx="10858500" cy="15875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762000" y="4826000"/>
            <a:ext cx="50800" cy="1587500"/>
          </a:xfrm>
          <a:prstGeom prst="roundRect">
            <a:avLst>
              <a:gd name="adj" fmla="val 0"/>
            </a:avLst>
          </a:prstGeom>
          <a:solidFill>
            <a:srgbClr val="22C55E">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1016000" y="49530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核心决策原则：有效性与可行性的动态平衡</a:t>
            </a:r>
            <a:endParaRPr lang="en-US" sz="1100"/>
          </a:p>
        </p:txBody>
      </p:sp>
      <p:sp>
        <p:nvSpPr>
          <p:cNvPr id="34" name="AutoShape 34"/>
          <p:cNvSpPr/>
          <p:nvPr/>
        </p:nvSpPr>
        <p:spPr>
          <a:xfrm>
            <a:off x="1016000" y="54610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的内部有效性（即能否确凿证明因果关系）与落地可行性往往是一对需要权衡的矛盾。在实际业务中，我们并非总是追求“学术上最完美”的实验设计，而是需要根据研究目标的紧迫性、数据的可得性以及资源约束，灵活选择最适合当前阶段的分析范式，在证据强度与执行效率之间找到最佳契合点。</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 可视化因果：有向无环图 (DAG)</a:t>
            </a:r>
            <a:endParaRPr lang="en-US" sz="1100"/>
          </a:p>
        </p:txBody>
      </p:sp>
      <p:sp>
        <p:nvSpPr>
          <p:cNvPr id="4" name="AutoShape 4"/>
          <p:cNvSpPr/>
          <p:nvPr/>
        </p:nvSpPr>
        <p:spPr>
          <a:xfrm>
            <a:off x="762000" y="1524000"/>
            <a:ext cx="10668000" cy="114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63500" cy="1143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DAG (Directed Acyclic Graph) 是一种将抽象因果关系具象化的图形工具。它摒弃了复杂的数学公式，通过节点与单向箭头构建非循环的逻辑网络，让业务场景中变量间的影响路径、依赖关系和先后顺序一目了然，是进行因果推断与业务逻辑梳理的核心框架。</a:t>
            </a:r>
            <a:endParaRPr lang="en-US" sz="1100"/>
          </a:p>
        </p:txBody>
      </p:sp>
      <p:sp>
        <p:nvSpPr>
          <p:cNvPr id="7" name="AutoShape 7"/>
          <p:cNvSpPr/>
          <p:nvPr/>
        </p:nvSpPr>
        <p:spPr>
          <a:xfrm>
            <a:off x="762000" y="2921000"/>
            <a:ext cx="3467100" cy="1841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921000"/>
            <a:ext cx="34671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111500"/>
            <a:ext cx="304800" cy="304800"/>
          </a:xfrm>
          <a:prstGeom prst="rect">
            <a:avLst/>
          </a:prstGeom>
        </p:spPr>
      </p:pic>
      <p:sp>
        <p:nvSpPr>
          <p:cNvPr id="10" name="AutoShape 10"/>
          <p:cNvSpPr/>
          <p:nvPr/>
        </p:nvSpPr>
        <p:spPr>
          <a:xfrm>
            <a:off x="1397000" y="30861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核心节点 (Node)</a:t>
            </a:r>
            <a:endParaRPr lang="en-US" sz="1100"/>
          </a:p>
        </p:txBody>
      </p:sp>
      <p:sp>
        <p:nvSpPr>
          <p:cNvPr id="11" name="AutoShape 11"/>
          <p:cNvSpPr/>
          <p:nvPr/>
        </p:nvSpPr>
        <p:spPr>
          <a:xfrm>
            <a:off x="952500" y="3556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代表业务分析中的关键变量实体，例如广告投放金额、产品销量、促销活动或季节因素。每一个节点都是因果链条上的独立分析单元，承载着具体的业务含义。</a:t>
            </a:r>
            <a:endParaRPr lang="en-US" sz="1100"/>
          </a:p>
        </p:txBody>
      </p:sp>
      <p:sp>
        <p:nvSpPr>
          <p:cNvPr id="12" name="AutoShape 12"/>
          <p:cNvSpPr/>
          <p:nvPr/>
        </p:nvSpPr>
        <p:spPr>
          <a:xfrm>
            <a:off x="4394200" y="2921000"/>
            <a:ext cx="3467100" cy="1841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94200" y="2921000"/>
            <a:ext cx="34671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84700" y="3111500"/>
            <a:ext cx="304800" cy="304800"/>
          </a:xfrm>
          <a:prstGeom prst="rect">
            <a:avLst/>
          </a:prstGeom>
        </p:spPr>
      </p:pic>
      <p:sp>
        <p:nvSpPr>
          <p:cNvPr id="15" name="AutoShape 15"/>
          <p:cNvSpPr/>
          <p:nvPr/>
        </p:nvSpPr>
        <p:spPr>
          <a:xfrm>
            <a:off x="5029200" y="30861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有向边 (Directed Edge)</a:t>
            </a:r>
            <a:endParaRPr lang="en-US" sz="1100"/>
          </a:p>
        </p:txBody>
      </p:sp>
      <p:sp>
        <p:nvSpPr>
          <p:cNvPr id="16" name="AutoShape 16"/>
          <p:cNvSpPr/>
          <p:nvPr/>
        </p:nvSpPr>
        <p:spPr>
          <a:xfrm>
            <a:off x="4584700" y="3556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用单向箭头表示变量间的因果流向。例如 A → B 直观地说明变量 A 是导致变量 B 发生变化的直接原因，明确了影响的传递方向，是判断因果路径的核心依据。</a:t>
            </a:r>
            <a:endParaRPr lang="en-US" sz="1100"/>
          </a:p>
        </p:txBody>
      </p:sp>
      <p:sp>
        <p:nvSpPr>
          <p:cNvPr id="17" name="AutoShape 17"/>
          <p:cNvSpPr/>
          <p:nvPr/>
        </p:nvSpPr>
        <p:spPr>
          <a:xfrm>
            <a:off x="8026400" y="2921000"/>
            <a:ext cx="3467100" cy="1841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026400" y="2921000"/>
            <a:ext cx="34671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16900" y="3111500"/>
            <a:ext cx="304800" cy="304800"/>
          </a:xfrm>
          <a:prstGeom prst="rect">
            <a:avLst/>
          </a:prstGeom>
        </p:spPr>
      </p:pic>
      <p:sp>
        <p:nvSpPr>
          <p:cNvPr id="20" name="AutoShape 20"/>
          <p:cNvSpPr/>
          <p:nvPr/>
        </p:nvSpPr>
        <p:spPr>
          <a:xfrm>
            <a:off x="8661400" y="30861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无环结构 (Acyclic)</a:t>
            </a:r>
            <a:endParaRPr lang="en-US" sz="1100"/>
          </a:p>
        </p:txBody>
      </p:sp>
      <p:sp>
        <p:nvSpPr>
          <p:cNvPr id="21" name="AutoShape 21"/>
          <p:cNvSpPr/>
          <p:nvPr/>
        </p:nvSpPr>
        <p:spPr>
          <a:xfrm>
            <a:off x="8216900" y="35560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图中不允许出现逻辑闭环，严格遵循“原因先于结果”的时间不可逆性。这一特性保证了因果推导的逻辑自洽，避免了循环论证，让我们能基于时间维度理清复杂的业务脉络。</a:t>
            </a:r>
            <a:endParaRPr lang="en-US" sz="1100"/>
          </a:p>
        </p:txBody>
      </p:sp>
      <p:sp>
        <p:nvSpPr>
          <p:cNvPr id="22" name="AutoShape 22"/>
          <p:cNvSpPr/>
          <p:nvPr/>
        </p:nvSpPr>
        <p:spPr>
          <a:xfrm>
            <a:off x="762000" y="4953000"/>
            <a:ext cx="5270500" cy="1460500"/>
          </a:xfrm>
          <a:prstGeom prst="roundRect">
            <a:avLst>
              <a:gd name="adj" fmla="val 0"/>
            </a:avLst>
          </a:prstGeom>
          <a:solidFill>
            <a:srgbClr val="F0FDF4">
              <a:alpha val="92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080000"/>
            <a:ext cx="355600" cy="355600"/>
          </a:xfrm>
          <a:prstGeom prst="rect">
            <a:avLst/>
          </a:prstGeom>
        </p:spPr>
      </p:pic>
      <p:sp>
        <p:nvSpPr>
          <p:cNvPr id="24" name="AutoShape 24"/>
          <p:cNvSpPr/>
          <p:nvPr/>
        </p:nvSpPr>
        <p:spPr>
          <a:xfrm>
            <a:off x="1524000" y="5105400"/>
            <a:ext cx="419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对齐业务共识，降低沟通成本</a:t>
            </a:r>
            <a:endParaRPr lang="en-US" sz="1100"/>
          </a:p>
        </p:txBody>
      </p:sp>
      <p:sp>
        <p:nvSpPr>
          <p:cNvPr id="25" name="AutoShape 25"/>
          <p:cNvSpPr/>
          <p:nvPr/>
        </p:nvSpPr>
        <p:spPr>
          <a:xfrm>
            <a:off x="952500" y="55626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将隐性的业务假设显性化，让分析师、产品经理与业务人员基于同一幅“地图”对话，快速达成对关键驱动因素和因果逻辑的共识，减少跨角色协作中的理解偏差。</a:t>
            </a:r>
            <a:endParaRPr lang="en-US" sz="1100"/>
          </a:p>
        </p:txBody>
      </p:sp>
      <p:sp>
        <p:nvSpPr>
          <p:cNvPr id="26" name="AutoShape 26"/>
          <p:cNvSpPr/>
          <p:nvPr/>
        </p:nvSpPr>
        <p:spPr>
          <a:xfrm>
            <a:off x="6223000" y="4953000"/>
            <a:ext cx="5270500" cy="1460500"/>
          </a:xfrm>
          <a:prstGeom prst="roundRect">
            <a:avLst>
              <a:gd name="adj" fmla="val 0"/>
            </a:avLst>
          </a:prstGeom>
          <a:solidFill>
            <a:srgbClr val="F0FDF4">
              <a:alpha val="92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13500" y="5080000"/>
            <a:ext cx="355600" cy="355600"/>
          </a:xfrm>
          <a:prstGeom prst="rect">
            <a:avLst/>
          </a:prstGeom>
        </p:spPr>
      </p:pic>
      <p:sp>
        <p:nvSpPr>
          <p:cNvPr id="28" name="AutoShape 28"/>
          <p:cNvSpPr/>
          <p:nvPr/>
        </p:nvSpPr>
        <p:spPr>
          <a:xfrm>
            <a:off x="6985000" y="5105400"/>
            <a:ext cx="4191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明确控制变量，精准指导分析</a:t>
            </a:r>
            <a:endParaRPr lang="en-US" sz="1100"/>
          </a:p>
        </p:txBody>
      </p:sp>
      <p:sp>
        <p:nvSpPr>
          <p:cNvPr id="29" name="AutoShape 29"/>
          <p:cNvSpPr/>
          <p:nvPr/>
        </p:nvSpPr>
        <p:spPr>
          <a:xfrm>
            <a:off x="6413500" y="55626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清晰识别混淆变量与后门路径，科学指导我们在数据分析中应该“控制什么”和“忽略什么”。这能有效剔除干扰因素的影响，避免从数据中得出虚假的相关性结论。</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DAG的绘制与解读</a:t>
            </a:r>
            <a:endParaRPr lang="en-US" sz="1100"/>
          </a:p>
        </p:txBody>
      </p:sp>
      <p:sp>
        <p:nvSpPr>
          <p:cNvPr id="4" name="AutoShape 4"/>
          <p:cNvSpPr/>
          <p:nvPr/>
        </p:nvSpPr>
        <p:spPr>
          <a:xfrm>
            <a:off x="762000" y="1651000"/>
            <a:ext cx="5207000" cy="4572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25500" y="1841500"/>
            <a:ext cx="1600200" cy="4127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25500" y="1841500"/>
            <a:ext cx="1600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825500" y="2032000"/>
            <a:ext cx="16002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8" name="AutoShape 8"/>
          <p:cNvSpPr/>
          <p:nvPr/>
        </p:nvSpPr>
        <p:spPr>
          <a:xfrm>
            <a:off x="825500" y="2921000"/>
            <a:ext cx="16002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识别变量</a:t>
            </a:r>
            <a:endParaRPr lang="en-US" sz="1100"/>
          </a:p>
        </p:txBody>
      </p:sp>
      <p:sp>
        <p:nvSpPr>
          <p:cNvPr id="9" name="AutoShape 9"/>
          <p:cNvSpPr/>
          <p:nvPr/>
        </p:nvSpPr>
        <p:spPr>
          <a:xfrm>
            <a:off x="889000" y="3556000"/>
            <a:ext cx="1473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全面梳理业务场景中的关键要素，罗列出所有潜在的原因、结果变量，以及可能干扰分析的混淆变量，确保变量清单的完整性。</a:t>
            </a:r>
            <a:endParaRPr lang="en-US" sz="1100"/>
          </a:p>
        </p:txBody>
      </p:sp>
      <p:sp>
        <p:nvSpPr>
          <p:cNvPr id="10" name="AutoShape 10"/>
          <p:cNvSpPr/>
          <p:nvPr/>
        </p:nvSpPr>
        <p:spPr>
          <a:xfrm>
            <a:off x="2540000" y="1841500"/>
            <a:ext cx="1600200" cy="4127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2540000" y="1841500"/>
            <a:ext cx="1600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540000" y="2032000"/>
            <a:ext cx="16002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3" name="AutoShape 13"/>
          <p:cNvSpPr/>
          <p:nvPr/>
        </p:nvSpPr>
        <p:spPr>
          <a:xfrm>
            <a:off x="2540000" y="2921000"/>
            <a:ext cx="16002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确定关系</a:t>
            </a:r>
            <a:endParaRPr lang="en-US" sz="1100"/>
          </a:p>
        </p:txBody>
      </p:sp>
      <p:sp>
        <p:nvSpPr>
          <p:cNvPr id="14" name="AutoShape 14"/>
          <p:cNvSpPr/>
          <p:nvPr/>
        </p:nvSpPr>
        <p:spPr>
          <a:xfrm>
            <a:off x="2603500" y="3556000"/>
            <a:ext cx="1473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基于深厚的行业知识与业务逻辑，判断变量之间的内在联系，明确谁是因、谁是果，厘清变量间真实的因果流向与依赖关系。</a:t>
            </a:r>
            <a:endParaRPr lang="en-US" sz="1100"/>
          </a:p>
        </p:txBody>
      </p:sp>
      <p:sp>
        <p:nvSpPr>
          <p:cNvPr id="15" name="AutoShape 15"/>
          <p:cNvSpPr/>
          <p:nvPr/>
        </p:nvSpPr>
        <p:spPr>
          <a:xfrm>
            <a:off x="4254500" y="1841500"/>
            <a:ext cx="1600200" cy="4127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254500" y="1841500"/>
            <a:ext cx="1600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254500" y="2032000"/>
            <a:ext cx="16002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8" name="AutoShape 18"/>
          <p:cNvSpPr/>
          <p:nvPr/>
        </p:nvSpPr>
        <p:spPr>
          <a:xfrm>
            <a:off x="4254500" y="2921000"/>
            <a:ext cx="16002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绘制箭头</a:t>
            </a:r>
            <a:endParaRPr lang="en-US" sz="1100"/>
          </a:p>
        </p:txBody>
      </p:sp>
      <p:sp>
        <p:nvSpPr>
          <p:cNvPr id="19" name="AutoShape 19"/>
          <p:cNvSpPr/>
          <p:nvPr/>
        </p:nvSpPr>
        <p:spPr>
          <a:xfrm>
            <a:off x="4318000" y="3556000"/>
            <a:ext cx="1473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使用有向箭头将变量有序连接，箭头的方向精准代表因果影响的传递路径，最终形成结构清晰、逻辑严谨的因果图（DAG）。</a:t>
            </a:r>
            <a:endParaRPr lang="en-US" sz="1100"/>
          </a:p>
        </p:txBody>
      </p:sp>
      <p:cxnSp>
        <p:nvCxnSpPr>
          <p:cNvPr id="20" name="Connector 20"/>
          <p:cNvCxnSpPr/>
          <p:nvPr/>
        </p:nvCxnSpPr>
        <p:spPr>
          <a:xfrm rot="5390450">
            <a:off x="3873500" y="3930659"/>
            <a:ext cx="4572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1" name="AutoShape 21"/>
          <p:cNvSpPr/>
          <p:nvPr/>
        </p:nvSpPr>
        <p:spPr>
          <a:xfrm>
            <a:off x="6350000" y="1651000"/>
            <a:ext cx="5461000" cy="4572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77000" y="1841500"/>
            <a:ext cx="2603500" cy="2095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77000" y="1841500"/>
            <a:ext cx="2603500" cy="381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604000" y="19685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直接因果结构</a:t>
            </a:r>
            <a:endParaRPr lang="en-US" sz="1100"/>
          </a:p>
        </p:txBody>
      </p:sp>
      <p:sp>
        <p:nvSpPr>
          <p:cNvPr id="25" name="AutoShape 25"/>
          <p:cNvSpPr/>
          <p:nvPr/>
        </p:nvSpPr>
        <p:spPr>
          <a:xfrm>
            <a:off x="6604000" y="24130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A → B</a:t>
            </a:r>
            <a:endParaRPr lang="en-US" sz="1100"/>
          </a:p>
        </p:txBody>
      </p:sp>
      <p:sp>
        <p:nvSpPr>
          <p:cNvPr id="26" name="AutoShape 26"/>
          <p:cNvSpPr/>
          <p:nvPr/>
        </p:nvSpPr>
        <p:spPr>
          <a:xfrm>
            <a:off x="6604000" y="2921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变量A对变量B产生直接的、无中间环节的因果影响，是因果推断中最基础、直观的结构模型。</a:t>
            </a:r>
            <a:endParaRPr lang="en-US" sz="1100"/>
          </a:p>
        </p:txBody>
      </p:sp>
      <p:sp>
        <p:nvSpPr>
          <p:cNvPr id="27" name="AutoShape 27"/>
          <p:cNvSpPr/>
          <p:nvPr/>
        </p:nvSpPr>
        <p:spPr>
          <a:xfrm>
            <a:off x="9144000" y="1841500"/>
            <a:ext cx="2603500" cy="2095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144000" y="1841500"/>
            <a:ext cx="2603500" cy="381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9271000" y="19685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间接因果结构</a:t>
            </a:r>
            <a:endParaRPr lang="en-US" sz="1100"/>
          </a:p>
        </p:txBody>
      </p:sp>
      <p:sp>
        <p:nvSpPr>
          <p:cNvPr id="30" name="AutoShape 30"/>
          <p:cNvSpPr/>
          <p:nvPr/>
        </p:nvSpPr>
        <p:spPr>
          <a:xfrm>
            <a:off x="9271000" y="24130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A → C → B</a:t>
            </a:r>
            <a:endParaRPr lang="en-US" sz="1100"/>
          </a:p>
        </p:txBody>
      </p:sp>
      <p:sp>
        <p:nvSpPr>
          <p:cNvPr id="31" name="AutoShape 31"/>
          <p:cNvSpPr/>
          <p:nvPr/>
        </p:nvSpPr>
        <p:spPr>
          <a:xfrm>
            <a:off x="9271000" y="29210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C作为核心中介变量，承接了A的影响并将其传导至B。A并不直接作用于B，而是通过C这个中间机制产生最终结果。</a:t>
            </a:r>
            <a:endParaRPr lang="en-US" sz="1100"/>
          </a:p>
        </p:txBody>
      </p:sp>
      <p:sp>
        <p:nvSpPr>
          <p:cNvPr id="32" name="AutoShape 32"/>
          <p:cNvSpPr/>
          <p:nvPr/>
        </p:nvSpPr>
        <p:spPr>
          <a:xfrm>
            <a:off x="6477000" y="4064000"/>
            <a:ext cx="2603500" cy="20955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6477000" y="4064000"/>
            <a:ext cx="2603500" cy="38100"/>
          </a:xfrm>
          <a:prstGeom prst="roundRect">
            <a:avLst>
              <a:gd name="adj" fmla="val 0"/>
            </a:avLst>
          </a:prstGeom>
          <a:solidFill>
            <a:srgbClr val="EF4444">
              <a:alpha val="6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604000" y="41910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混淆结构</a:t>
            </a:r>
            <a:endParaRPr lang="en-US" sz="1100"/>
          </a:p>
        </p:txBody>
      </p:sp>
      <p:sp>
        <p:nvSpPr>
          <p:cNvPr id="35" name="AutoShape 35"/>
          <p:cNvSpPr/>
          <p:nvPr/>
        </p:nvSpPr>
        <p:spPr>
          <a:xfrm>
            <a:off x="6604000" y="46355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A ← C → B</a:t>
            </a:r>
            <a:endParaRPr lang="en-US" sz="1100"/>
          </a:p>
        </p:txBody>
      </p:sp>
      <p:sp>
        <p:nvSpPr>
          <p:cNvPr id="36" name="AutoShape 36"/>
          <p:cNvSpPr/>
          <p:nvPr/>
        </p:nvSpPr>
        <p:spPr>
          <a:xfrm>
            <a:off x="6604000" y="51435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C是关键的混淆变量，它同时影响A和B的取值。若在分析中忽略C的存在，极易导致对A与B真实因果关系的错误估计。</a:t>
            </a:r>
            <a:endParaRPr lang="en-US" sz="1100"/>
          </a:p>
        </p:txBody>
      </p:sp>
      <p:sp>
        <p:nvSpPr>
          <p:cNvPr id="37" name="AutoShape 37"/>
          <p:cNvSpPr/>
          <p:nvPr/>
        </p:nvSpPr>
        <p:spPr>
          <a:xfrm>
            <a:off x="9144000" y="4064000"/>
            <a:ext cx="2603500" cy="20955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9144000" y="4064000"/>
            <a:ext cx="2603500" cy="38100"/>
          </a:xfrm>
          <a:prstGeom prst="roundRect">
            <a:avLst>
              <a:gd name="adj" fmla="val 0"/>
            </a:avLst>
          </a:prstGeom>
          <a:solidFill>
            <a:srgbClr val="F97316">
              <a:alpha val="6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9271000" y="41910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对撞结构</a:t>
            </a:r>
            <a:endParaRPr lang="en-US" sz="1100"/>
          </a:p>
        </p:txBody>
      </p:sp>
      <p:sp>
        <p:nvSpPr>
          <p:cNvPr id="40" name="AutoShape 40"/>
          <p:cNvSpPr/>
          <p:nvPr/>
        </p:nvSpPr>
        <p:spPr>
          <a:xfrm>
            <a:off x="9271000" y="46355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A → C ← B</a:t>
            </a:r>
            <a:endParaRPr lang="en-US" sz="1100"/>
          </a:p>
        </p:txBody>
      </p:sp>
      <p:sp>
        <p:nvSpPr>
          <p:cNvPr id="41" name="AutoShape 41"/>
          <p:cNvSpPr/>
          <p:nvPr/>
        </p:nvSpPr>
        <p:spPr>
          <a:xfrm>
            <a:off x="9271000" y="51435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C是A和B的共同结果。在这种结构中对C进行条件限制或筛选，往往会在A和B之间引入虚假的相关性，即伯克森悖论。</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案例重现：冰淇淋与溺水的DAG</a:t>
            </a:r>
            <a:endParaRPr lang="en-US" sz="1100"/>
          </a:p>
        </p:txBody>
      </p:sp>
      <p:sp>
        <p:nvSpPr>
          <p:cNvPr id="4" name="AutoShape 4"/>
          <p:cNvSpPr/>
          <p:nvPr/>
        </p:nvSpPr>
        <p:spPr>
          <a:xfrm>
            <a:off x="762000" y="1651000"/>
            <a:ext cx="3492500" cy="266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66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7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关键变量拆解</a:t>
            </a:r>
            <a:endParaRPr lang="en-US" sz="1100"/>
          </a:p>
        </p:txBody>
      </p:sp>
      <p:sp>
        <p:nvSpPr>
          <p:cNvPr id="7" name="AutoShape 7"/>
          <p:cNvSpPr/>
          <p:nvPr/>
        </p:nvSpPr>
        <p:spPr>
          <a:xfrm>
            <a:off x="952500" y="2286000"/>
            <a:ext cx="3111500" cy="698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311400"/>
            <a:ext cx="292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处理变量 (原因):</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冰淇淋销量</a:t>
            </a:r>
            <a:endParaRPr lang="en-US" sz="1100"/>
          </a:p>
          <a:p>
            <a:pPr marL="0" indent="0" algn="l">
              <a:lnSpc>
                <a:spcPct val="125000"/>
              </a:lnSpc>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被观察到随季节波动的商业指标</a:t>
            </a:r>
            <a:endPar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952500" y="3048000"/>
            <a:ext cx="1524000" cy="1079500"/>
          </a:xfrm>
          <a:prstGeom prst="roundRect">
            <a:avLst>
              <a:gd name="adj" fmla="val 0"/>
            </a:avLst>
          </a:prstGeom>
          <a:solidFill>
            <a:srgbClr val="F1F5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111500"/>
            <a:ext cx="139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结果变量</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溺水事故数量</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表面的“后果”现象</a:t>
            </a:r>
            <a:endPar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2603500" y="3048000"/>
            <a:ext cx="1524000" cy="10795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667000" y="3111500"/>
            <a:ext cx="139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混淆变量</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季节/气温</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隐藏的真实驱动因素</a:t>
            </a:r>
            <a:endParaRPr lang="en-US" sz="11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4508500" y="1651000"/>
            <a:ext cx="3492500" cy="266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08500" y="1651000"/>
            <a:ext cx="50800" cy="266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99000" y="177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因果路径 DAG</a:t>
            </a:r>
            <a:endParaRPr lang="en-US" sz="1100"/>
          </a:p>
        </p:txBody>
      </p:sp>
      <p:sp>
        <p:nvSpPr>
          <p:cNvPr id="16" name="AutoShape 16"/>
          <p:cNvSpPr/>
          <p:nvPr/>
        </p:nvSpPr>
        <p:spPr>
          <a:xfrm>
            <a:off x="4699000" y="2286000"/>
            <a:ext cx="3111500" cy="6985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826000" y="2349500"/>
            <a:ext cx="28575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核心因：季节（气温）</a:t>
            </a:r>
            <a:endParaRPr lang="en-US" sz="1100"/>
          </a:p>
        </p:txBody>
      </p:sp>
      <p:sp>
        <p:nvSpPr>
          <p:cNvPr id="18" name="AutoShape 18"/>
          <p:cNvSpPr/>
          <p:nvPr/>
        </p:nvSpPr>
        <p:spPr>
          <a:xfrm>
            <a:off x="4699000" y="3048000"/>
            <a:ext cx="1524000" cy="1079500"/>
          </a:xfrm>
          <a:prstGeom prst="roundRect">
            <a:avLst>
              <a:gd name="adj" fmla="val 0"/>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762500" y="3111500"/>
            <a:ext cx="1397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 冰淇淋热销</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天气越热销量越高</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350000" y="3048000"/>
            <a:ext cx="1524000" cy="10795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413500" y="3111500"/>
            <a:ext cx="1397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 溺水增加</a:t>
            </a:r>
            <a:endParaRPr lang="en-US" sz="1100"/>
          </a:p>
          <a:p>
            <a:pPr marL="0" indent="0" algn="ctr">
              <a:lnSpc>
                <a:spcPct val="125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下水游泳人数变多</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191500" y="1651000"/>
            <a:ext cx="3492500" cy="266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191500" y="1651000"/>
            <a:ext cx="50800" cy="266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382000" y="1778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路径排除法则</a:t>
            </a:r>
            <a:endParaRPr lang="en-US" sz="1100"/>
          </a:p>
        </p:txBody>
      </p:sp>
      <p:sp>
        <p:nvSpPr>
          <p:cNvPr id="25" name="AutoShape 25"/>
          <p:cNvSpPr/>
          <p:nvPr/>
        </p:nvSpPr>
        <p:spPr>
          <a:xfrm>
            <a:off x="8382000" y="2286000"/>
            <a:ext cx="3111500" cy="7620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509000" y="2349500"/>
            <a:ext cx="2857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禁止：冰淇淋 → 溺水</a:t>
            </a:r>
            <a:endParaRPr lang="en-US" sz="1100"/>
          </a:p>
          <a:p>
            <a:pPr marL="0" indent="0" algn="l">
              <a:lnSpc>
                <a:spcPct val="125000"/>
              </a:lnSpc>
            </a:pPr>
            <a:r>
              <a:rPr lang="en-US" sz="11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两者间不存在直接的因果箭头</a:t>
            </a:r>
            <a:endParaRPr lang="en-US" sz="11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8382000" y="3175000"/>
            <a:ext cx="311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DAG的核心价值在于切断了错误的直觉联系。即使数据显示两者强相关，也不能推断是吃冰淇淋导致了溺水，而是它们共享了同一个上游原因。</a:t>
            </a:r>
            <a:endParaRPr lang="en-US" sz="1100"/>
          </a:p>
        </p:txBody>
      </p:sp>
      <p:sp>
        <p:nvSpPr>
          <p:cNvPr id="28" name="AutoShape 28"/>
          <p:cNvSpPr/>
          <p:nvPr/>
        </p:nvSpPr>
        <p:spPr>
          <a:xfrm>
            <a:off x="762000" y="4572000"/>
            <a:ext cx="10922000" cy="1714500"/>
          </a:xfrm>
          <a:prstGeom prst="roundRect">
            <a:avLst>
              <a:gd name="adj" fmla="val 0"/>
            </a:avLst>
          </a:prstGeom>
          <a:solidFill>
            <a:srgbClr val="F0FDF4">
              <a:alpha val="96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762000" y="4572000"/>
            <a:ext cx="63500" cy="1714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4762500"/>
            <a:ext cx="355600" cy="355600"/>
          </a:xfrm>
          <a:prstGeom prst="rect">
            <a:avLst/>
          </a:prstGeom>
        </p:spPr>
      </p:pic>
      <p:sp>
        <p:nvSpPr>
          <p:cNvPr id="31" name="AutoShape 31"/>
          <p:cNvSpPr/>
          <p:nvPr/>
        </p:nvSpPr>
        <p:spPr>
          <a:xfrm>
            <a:off x="1524000" y="4724400"/>
            <a:ext cx="952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洞察：相关性不等于因果性，遗漏变量是主要陷阱</a:t>
            </a:r>
            <a:endParaRPr lang="en-US" sz="1100"/>
          </a:p>
        </p:txBody>
      </p:sp>
      <p:sp>
        <p:nvSpPr>
          <p:cNvPr id="32" name="AutoShape 32"/>
          <p:cNvSpPr/>
          <p:nvPr/>
        </p:nvSpPr>
        <p:spPr>
          <a:xfrm>
            <a:off x="1016000" y="5270500"/>
            <a:ext cx="1028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这个经典案例中，DAG清晰地揭示了“伪相关”的本质——季节作为混淆变量同时驱动了冰淇淋销量和溺水事故的上升。如果仅依赖数据表面的相关性制定政策（比如限制冰淇淋销售以减少溺水），无疑是荒谬的。DAG方法通过可视化的因果路径，帮助我们识别出隐藏的混淆因子，从而做出更符合逻辑的推断和决策。</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04 综合案例分析：价格变动对销量的影响</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08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016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在电商平台的运营中，我们常观察到“商品降价后销量随之上升”的现象。但这一相关性是否等同于因果性？我们能否直接断定是“价格下调”直接导致了“销量增长”？这需要我们透过数据表象，排除干扰因素进行严谨的因果推断。</a:t>
            </a:r>
            <a:endParaRPr lang="en-US" sz="1100"/>
          </a:p>
        </p:txBody>
      </p:sp>
      <p:sp>
        <p:nvSpPr>
          <p:cNvPr id="7" name="AutoShape 7"/>
          <p:cNvSpPr/>
          <p:nvPr/>
        </p:nvSpPr>
        <p:spPr>
          <a:xfrm>
            <a:off x="762000" y="2921000"/>
            <a:ext cx="5207000" cy="1714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921000"/>
            <a:ext cx="5207000" cy="4572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29464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挑战一：混淆变量的干扰</a:t>
            </a:r>
            <a:endParaRPr lang="en-US" sz="1100"/>
          </a:p>
        </p:txBody>
      </p:sp>
      <p:sp>
        <p:nvSpPr>
          <p:cNvPr id="10" name="AutoShape 10"/>
          <p:cNvSpPr/>
          <p:nvPr/>
        </p:nvSpPr>
        <p:spPr>
          <a:xfrm>
            <a:off x="952500" y="3454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商家通常会选择在节假日、年中大促等流量高峰期主动降价，而这些时间点本身就伴随着自然的销量高峰。此时观察到的销量增长，可能是节日效应而非价格本身带来的，两者的真实因果关系被外部环境因素所混淆。</a:t>
            </a:r>
            <a:endParaRPr lang="en-US" sz="1100"/>
          </a:p>
        </p:txBody>
      </p:sp>
      <p:sp>
        <p:nvSpPr>
          <p:cNvPr id="11" name="AutoShape 11"/>
          <p:cNvSpPr/>
          <p:nvPr/>
        </p:nvSpPr>
        <p:spPr>
          <a:xfrm>
            <a:off x="6223000" y="2921000"/>
            <a:ext cx="5207000" cy="1714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2921000"/>
            <a:ext cx="5207000" cy="4572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2946400"/>
            <a:ext cx="469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挑战二：反向因果的陷阱</a:t>
            </a:r>
            <a:endParaRPr lang="en-US" sz="1100"/>
          </a:p>
        </p:txBody>
      </p:sp>
      <p:sp>
        <p:nvSpPr>
          <p:cNvPr id="14" name="AutoShape 14"/>
          <p:cNvSpPr/>
          <p:nvPr/>
        </p:nvSpPr>
        <p:spPr>
          <a:xfrm>
            <a:off x="6413500" y="3454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逻辑可能存在倒置：并非降价导致销量上升，而是商家基于市场数据预判未来销量将下滑，才主动采取降价策略来刺激需求、减少库存积压。这种“预期销量下降”是因，“降价”是果，与我们直观的判断恰好相反。</a:t>
            </a:r>
            <a:endParaRPr lang="en-US" sz="1100"/>
          </a:p>
        </p:txBody>
      </p:sp>
      <p:sp>
        <p:nvSpPr>
          <p:cNvPr id="15" name="AutoShape 15"/>
          <p:cNvSpPr/>
          <p:nvPr/>
        </p:nvSpPr>
        <p:spPr>
          <a:xfrm>
            <a:off x="762000" y="4826000"/>
            <a:ext cx="5207000" cy="1651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826000"/>
            <a:ext cx="50800" cy="1651000"/>
          </a:xfrm>
          <a:prstGeom prst="roundRect">
            <a:avLst>
              <a:gd name="adj" fmla="val 0"/>
            </a:avLst>
          </a:prstGeom>
          <a:solidFill>
            <a:srgbClr val="F59E0B">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52500" y="4889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关键步骤：绘制清晰的因果路径图</a:t>
            </a:r>
            <a:endParaRPr lang="en-US" sz="1100"/>
          </a:p>
        </p:txBody>
      </p:sp>
      <p:sp>
        <p:nvSpPr>
          <p:cNvPr id="18" name="AutoShape 18"/>
          <p:cNvSpPr/>
          <p:nvPr/>
        </p:nvSpPr>
        <p:spPr>
          <a:xfrm>
            <a:off x="952500" y="5334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系统识别所有关键变量（如促销活动、季节周期、竞品价格、产品生命周期等），通过可视化图形梳理变量间的影响路径，明确哪些是需要剔除的干扰因子，为后续的定量模型构建提供坚实的逻辑基础。</a:t>
            </a:r>
            <a:endParaRPr lang="en-US" sz="1100"/>
          </a:p>
        </p:txBody>
      </p:sp>
      <p:sp>
        <p:nvSpPr>
          <p:cNvPr id="19" name="AutoShape 19"/>
          <p:cNvSpPr/>
          <p:nvPr/>
        </p:nvSpPr>
        <p:spPr>
          <a:xfrm>
            <a:off x="6223000" y="4826000"/>
            <a:ext cx="5207000" cy="1651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223000" y="4826000"/>
            <a:ext cx="50800" cy="1651000"/>
          </a:xfrm>
          <a:prstGeom prst="roundRect">
            <a:avLst>
              <a:gd name="adj" fmla="val 0"/>
            </a:avLst>
          </a:prstGeom>
          <a:solidFill>
            <a:srgbClr val="3B82F6">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413500" y="4889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实证策略：从理想实验到现实回归</a:t>
            </a:r>
            <a:endParaRPr lang="en-US" sz="1100"/>
          </a:p>
        </p:txBody>
      </p:sp>
      <p:sp>
        <p:nvSpPr>
          <p:cNvPr id="22" name="AutoShape 22"/>
          <p:cNvSpPr/>
          <p:nvPr/>
        </p:nvSpPr>
        <p:spPr>
          <a:xfrm>
            <a:off x="6413500" y="5334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理想中可实施A/B测试隔离价格影响；而在真实业务中，更可行的是采用回归控制法，将促销、季节等混淆变量纳入统计模型，通过控制其他条件不变，精准剥离并估计出“价格变动”对“销量”的真实净效应。</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05 课堂研讨：这是因果还是相关？</a:t>
            </a:r>
            <a:endParaRPr lang="en-US" sz="1100"/>
          </a:p>
        </p:txBody>
      </p:sp>
      <p:sp>
        <p:nvSpPr>
          <p:cNvPr id="4" name="AutoShape 4"/>
          <p:cNvSpPr/>
          <p:nvPr/>
        </p:nvSpPr>
        <p:spPr>
          <a:xfrm>
            <a:off x="762000" y="1651000"/>
            <a:ext cx="3505200" cy="4445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505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24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教育水平与收入</a:t>
            </a:r>
            <a:endParaRPr lang="en-US" sz="1100"/>
          </a:p>
        </p:txBody>
      </p:sp>
      <p:sp>
        <p:nvSpPr>
          <p:cNvPr id="7" name="AutoShape 7"/>
          <p:cNvSpPr/>
          <p:nvPr/>
        </p:nvSpPr>
        <p:spPr>
          <a:xfrm>
            <a:off x="952500" y="2540000"/>
            <a:ext cx="3124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数据统计显示，学历越高的群体，其平均收入水平通常也越高。这一正相关趋势在不同国家和行业的调查中都普遍存在。</a:t>
            </a:r>
            <a:endParaRPr lang="en-US" sz="1100"/>
          </a:p>
        </p:txBody>
      </p:sp>
      <p:sp>
        <p:nvSpPr>
          <p:cNvPr id="8" name="AutoShape 8"/>
          <p:cNvSpPr/>
          <p:nvPr/>
        </p:nvSpPr>
        <p:spPr>
          <a:xfrm>
            <a:off x="952500" y="3937000"/>
            <a:ext cx="3124200" cy="1968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4064000"/>
            <a:ext cx="2870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深度思考：混淆变量的可能</a:t>
            </a:r>
            <a:endParaRPr lang="en-US" sz="1100"/>
          </a:p>
        </p:txBody>
      </p:sp>
      <p:sp>
        <p:nvSpPr>
          <p:cNvPr id="10" name="AutoShape 10"/>
          <p:cNvSpPr/>
          <p:nvPr/>
        </p:nvSpPr>
        <p:spPr>
          <a:xfrm>
            <a:off x="1079500" y="4508500"/>
            <a:ext cx="2870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是教育本身提升了生产力，还是更具天赋、更勤奋的人本身就更倾向于接受高等教育，同时也能在职场获得更高回报？这中间可能存在未被观测的关键混淆变量。</a:t>
            </a:r>
            <a:endParaRPr lang="en-US" sz="1100"/>
          </a:p>
        </p:txBody>
      </p:sp>
      <p:sp>
        <p:nvSpPr>
          <p:cNvPr id="11" name="AutoShape 11"/>
          <p:cNvSpPr/>
          <p:nvPr/>
        </p:nvSpPr>
        <p:spPr>
          <a:xfrm>
            <a:off x="4483100" y="1651000"/>
            <a:ext cx="3505200" cy="4445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483100" y="1651000"/>
            <a:ext cx="3505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73600" y="1841500"/>
            <a:ext cx="3124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吸烟与肺癌</a:t>
            </a:r>
            <a:endParaRPr lang="en-US" sz="1100"/>
          </a:p>
        </p:txBody>
      </p:sp>
      <p:sp>
        <p:nvSpPr>
          <p:cNvPr id="14" name="AutoShape 14"/>
          <p:cNvSpPr/>
          <p:nvPr/>
        </p:nvSpPr>
        <p:spPr>
          <a:xfrm>
            <a:off x="4673600" y="2540000"/>
            <a:ext cx="3124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流行病学调查反复证实，吸烟者患上肺癌的相对风险远高于非吸烟者。且随着吸烟年限和每日吸烟量的增加，患病概率呈显著上升趋势。</a:t>
            </a:r>
            <a:endParaRPr lang="en-US" sz="1100"/>
          </a:p>
        </p:txBody>
      </p:sp>
      <p:sp>
        <p:nvSpPr>
          <p:cNvPr id="15" name="AutoShape 15"/>
          <p:cNvSpPr/>
          <p:nvPr/>
        </p:nvSpPr>
        <p:spPr>
          <a:xfrm>
            <a:off x="4673600" y="3937000"/>
            <a:ext cx="3124200" cy="1968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800600" y="4064000"/>
            <a:ext cx="2870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科学结论：强因果关系</a:t>
            </a:r>
            <a:endParaRPr lang="en-US" sz="1100"/>
          </a:p>
        </p:txBody>
      </p:sp>
      <p:sp>
        <p:nvSpPr>
          <p:cNvPr id="17" name="AutoShape 17"/>
          <p:cNvSpPr/>
          <p:nvPr/>
        </p:nvSpPr>
        <p:spPr>
          <a:xfrm>
            <a:off x="4800600" y="4508500"/>
            <a:ext cx="2870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这是经过数十年严格的临床研究、动物实验和统计分析建立起来的因果推断。烟草中的焦油、尼古丁等有害物质被证明是导致肺部细胞癌变的直接诱因，排除了主要的干扰因素。</a:t>
            </a:r>
            <a:endParaRPr lang="en-US" sz="1100"/>
          </a:p>
        </p:txBody>
      </p:sp>
      <p:sp>
        <p:nvSpPr>
          <p:cNvPr id="18" name="AutoShape 18"/>
          <p:cNvSpPr/>
          <p:nvPr/>
        </p:nvSpPr>
        <p:spPr>
          <a:xfrm>
            <a:off x="8204200" y="1651000"/>
            <a:ext cx="3505200" cy="4445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204200" y="1651000"/>
            <a:ext cx="3505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394700" y="1841500"/>
            <a:ext cx="3124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消防站与火灾损失</a:t>
            </a:r>
            <a:endParaRPr lang="en-US" sz="1100"/>
          </a:p>
        </p:txBody>
      </p:sp>
      <p:sp>
        <p:nvSpPr>
          <p:cNvPr id="21" name="AutoShape 21"/>
          <p:cNvSpPr/>
          <p:nvPr/>
        </p:nvSpPr>
        <p:spPr>
          <a:xfrm>
            <a:off x="8394700" y="2540000"/>
            <a:ext cx="3124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某城市区域数据分析发现，消防站数量越多的街区，火灾事故造成的经济损失往往越大。从数据上看，二者呈现出明显的正相关性。</a:t>
            </a:r>
            <a:endParaRPr lang="en-US" sz="1100"/>
          </a:p>
        </p:txBody>
      </p:sp>
      <p:sp>
        <p:nvSpPr>
          <p:cNvPr id="22" name="AutoShape 22"/>
          <p:cNvSpPr/>
          <p:nvPr/>
        </p:nvSpPr>
        <p:spPr>
          <a:xfrm>
            <a:off x="8394700" y="3937000"/>
            <a:ext cx="3124200" cy="1968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521700" y="4064000"/>
            <a:ext cx="2870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逻辑谬误：反向因果</a:t>
            </a:r>
            <a:endParaRPr lang="en-US" sz="1100"/>
          </a:p>
        </p:txBody>
      </p:sp>
      <p:sp>
        <p:nvSpPr>
          <p:cNvPr id="24" name="AutoShape 24"/>
          <p:cNvSpPr/>
          <p:nvPr/>
        </p:nvSpPr>
        <p:spPr>
          <a:xfrm>
            <a:off x="8521700" y="4508500"/>
            <a:ext cx="2870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消防站不会导致火灾损失增加，恰恰相反，是因为某些区域火灾风险高、建筑物密集或人口流动大，才会配置更多消防站。这是典型的反向因果关系，同时也受到区域经济价值等混淆变量的影响。</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课堂研讨：动手实践：绘制你的因果图</a:t>
            </a:r>
            <a:endParaRPr lang="en-US" sz="1100"/>
          </a:p>
        </p:txBody>
      </p:sp>
      <p:sp>
        <p:nvSpPr>
          <p:cNvPr id="4" name="AutoShape 4"/>
          <p:cNvSpPr/>
          <p:nvPr/>
        </p:nvSpPr>
        <p:spPr>
          <a:xfrm>
            <a:off x="762000" y="1524000"/>
            <a:ext cx="10668000" cy="139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6256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核心任务：探究“广告投放对销量的影响”因果模型</a:t>
            </a:r>
            <a:endParaRPr lang="en-US" sz="1100"/>
          </a:p>
        </p:txBody>
      </p:sp>
      <p:sp>
        <p:nvSpPr>
          <p:cNvPr id="7" name="AutoShape 7"/>
          <p:cNvSpPr/>
          <p:nvPr/>
        </p:nvSpPr>
        <p:spPr>
          <a:xfrm>
            <a:off x="1016000" y="2095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假设你要针对这一商业问题开展研究，请尝试绘制一个完整的因果关系图（DAG）。在图中不仅要体现核心变量，还需识别并纳入你认为所有可能相关的外部因素，构建一个逻辑自洽的分析框架。</a:t>
            </a:r>
            <a:endParaRPr lang="en-US" sz="1100"/>
          </a:p>
        </p:txBody>
      </p:sp>
      <p:sp>
        <p:nvSpPr>
          <p:cNvPr id="8" name="AutoShape 8"/>
          <p:cNvSpPr/>
          <p:nvPr/>
        </p:nvSpPr>
        <p:spPr>
          <a:xfrm>
            <a:off x="762000" y="3175000"/>
            <a:ext cx="2565400" cy="2667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175000"/>
            <a:ext cx="25654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14400" y="33655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核心变量</a:t>
            </a:r>
            <a:endParaRPr lang="en-US" sz="1100"/>
          </a:p>
        </p:txBody>
      </p:sp>
      <p:sp>
        <p:nvSpPr>
          <p:cNvPr id="11" name="AutoShape 11"/>
          <p:cNvSpPr/>
          <p:nvPr/>
        </p:nvSpPr>
        <p:spPr>
          <a:xfrm>
            <a:off x="914400" y="3873500"/>
            <a:ext cx="2260600" cy="5588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90600" y="3911600"/>
            <a:ext cx="21336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广告投放 / 销量</a:t>
            </a:r>
            <a:endParaRPr lang="en-US" sz="1100"/>
          </a:p>
        </p:txBody>
      </p:sp>
      <p:sp>
        <p:nvSpPr>
          <p:cNvPr id="13" name="AutoShape 13"/>
          <p:cNvSpPr/>
          <p:nvPr/>
        </p:nvSpPr>
        <p:spPr>
          <a:xfrm>
            <a:off x="914400" y="457200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这是研究的基础自变量与核心因变量，构成了因果推断的逻辑起点。所有其他因素的分析都将围绕这两者的直接关系展开。</a:t>
            </a:r>
            <a:endParaRPr lang="en-US" sz="1100"/>
          </a:p>
        </p:txBody>
      </p:sp>
      <p:sp>
        <p:nvSpPr>
          <p:cNvPr id="14" name="AutoShape 14"/>
          <p:cNvSpPr/>
          <p:nvPr/>
        </p:nvSpPr>
        <p:spPr>
          <a:xfrm>
            <a:off x="3479800" y="3175000"/>
            <a:ext cx="2565400" cy="2667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3479800" y="3175000"/>
            <a:ext cx="25654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3632200" y="33655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混淆变量</a:t>
            </a:r>
            <a:endParaRPr lang="en-US" sz="1100"/>
          </a:p>
        </p:txBody>
      </p:sp>
      <p:sp>
        <p:nvSpPr>
          <p:cNvPr id="17" name="AutoShape 17"/>
          <p:cNvSpPr/>
          <p:nvPr/>
        </p:nvSpPr>
        <p:spPr>
          <a:xfrm>
            <a:off x="3632200" y="3873500"/>
            <a:ext cx="2260600" cy="5588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3708400" y="3911600"/>
            <a:ext cx="21336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节假日 / 竞对 / 价格</a:t>
            </a:r>
            <a:endParaRPr lang="en-US" sz="1100"/>
          </a:p>
        </p:txBody>
      </p:sp>
      <p:sp>
        <p:nvSpPr>
          <p:cNvPr id="19" name="AutoShape 19"/>
          <p:cNvSpPr/>
          <p:nvPr/>
        </p:nvSpPr>
        <p:spPr>
          <a:xfrm>
            <a:off x="3632200" y="457200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这类因素可能同时影响企业的广告投放策略和最终的市场销量。若不加以控制，会导致对广告效果的估计出现系统性偏差。</a:t>
            </a:r>
            <a:endParaRPr lang="en-US" sz="1100"/>
          </a:p>
        </p:txBody>
      </p:sp>
      <p:sp>
        <p:nvSpPr>
          <p:cNvPr id="20" name="AutoShape 20"/>
          <p:cNvSpPr/>
          <p:nvPr/>
        </p:nvSpPr>
        <p:spPr>
          <a:xfrm>
            <a:off x="6197600" y="3175000"/>
            <a:ext cx="2565400" cy="2667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197600" y="3175000"/>
            <a:ext cx="25654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350000" y="33655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中介变量</a:t>
            </a:r>
            <a:endParaRPr lang="en-US" sz="1100"/>
          </a:p>
        </p:txBody>
      </p:sp>
      <p:sp>
        <p:nvSpPr>
          <p:cNvPr id="23" name="AutoShape 23"/>
          <p:cNvSpPr/>
          <p:nvPr/>
        </p:nvSpPr>
        <p:spPr>
          <a:xfrm>
            <a:off x="6350000" y="3873500"/>
            <a:ext cx="2260600" cy="5588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26200" y="3911600"/>
            <a:ext cx="21336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知名度 / 网站流量</a:t>
            </a:r>
            <a:endParaRPr lang="en-US" sz="1100"/>
          </a:p>
        </p:txBody>
      </p:sp>
      <p:sp>
        <p:nvSpPr>
          <p:cNvPr id="25" name="AutoShape 25"/>
          <p:cNvSpPr/>
          <p:nvPr/>
        </p:nvSpPr>
        <p:spPr>
          <a:xfrm>
            <a:off x="6350000" y="457200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这是广告发挥作用的传导路径。广告投放首先提升品牌知名度或带来流量，再通过这些中间状态转化为最终的产品销量增长。</a:t>
            </a:r>
            <a:endParaRPr lang="en-US" sz="1100"/>
          </a:p>
        </p:txBody>
      </p:sp>
      <p:sp>
        <p:nvSpPr>
          <p:cNvPr id="26" name="AutoShape 26"/>
          <p:cNvSpPr/>
          <p:nvPr/>
        </p:nvSpPr>
        <p:spPr>
          <a:xfrm>
            <a:off x="8915400" y="3175000"/>
            <a:ext cx="2565400" cy="2667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915400" y="3175000"/>
            <a:ext cx="25654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067800" y="33655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调节变量</a:t>
            </a:r>
            <a:endParaRPr lang="en-US" sz="1100"/>
          </a:p>
        </p:txBody>
      </p:sp>
      <p:sp>
        <p:nvSpPr>
          <p:cNvPr id="29" name="AutoShape 29"/>
          <p:cNvSpPr/>
          <p:nvPr/>
        </p:nvSpPr>
        <p:spPr>
          <a:xfrm>
            <a:off x="9067800" y="3873500"/>
            <a:ext cx="2260600" cy="5588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9144000" y="3911600"/>
            <a:ext cx="21336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目标用户群体</a:t>
            </a:r>
            <a:endParaRPr lang="en-US" sz="1100"/>
          </a:p>
        </p:txBody>
      </p:sp>
      <p:sp>
        <p:nvSpPr>
          <p:cNvPr id="31" name="AutoShape 31"/>
          <p:cNvSpPr/>
          <p:nvPr/>
        </p:nvSpPr>
        <p:spPr>
          <a:xfrm>
            <a:off x="9067800" y="457200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用户的年龄、偏好、地域等特征差异，会改变广告投放对销量影响的强度与方向。不同群体对广告的响应机制往往存在显著区别。</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06 本讲小结：从相关到因果的旅程</a:t>
            </a:r>
            <a:endParaRPr lang="en-US" sz="1100"/>
          </a:p>
        </p:txBody>
      </p:sp>
      <p:sp>
        <p:nvSpPr>
          <p:cNvPr id="4" name="AutoShape 4"/>
          <p:cNvSpPr/>
          <p:nvPr/>
        </p:nvSpPr>
        <p:spPr>
          <a:xfrm>
            <a:off x="762000" y="1651000"/>
            <a:ext cx="3492500" cy="2794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区分相关与因果</a:t>
            </a:r>
            <a:endParaRPr lang="en-US" sz="1100"/>
          </a:p>
        </p:txBody>
      </p:sp>
      <p:sp>
        <p:nvSpPr>
          <p:cNvPr id="7" name="AutoShape 7"/>
          <p:cNvSpPr/>
          <p:nvPr/>
        </p:nvSpPr>
        <p:spPr>
          <a:xfrm>
            <a:off x="952500" y="24130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记住“冰淇淋与溺水”的经典故事，时刻警惕数据中看似紧密相关实则虚假的关联。在数据分析中，相关性只是起点，我们必须学会透过现象看本质，避免被误导性的统计结果引入错误的决策方向。</a:t>
            </a:r>
            <a:endParaRPr lang="en-US" sz="1100"/>
          </a:p>
        </p:txBody>
      </p:sp>
      <p:sp>
        <p:nvSpPr>
          <p:cNvPr id="8" name="AutoShape 8"/>
          <p:cNvSpPr/>
          <p:nvPr/>
        </p:nvSpPr>
        <p:spPr>
          <a:xfrm>
            <a:off x="4445000" y="1651000"/>
            <a:ext cx="3492500" cy="2794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45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35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因果推断的方法</a:t>
            </a:r>
            <a:endParaRPr lang="en-US" sz="1100"/>
          </a:p>
        </p:txBody>
      </p:sp>
      <p:sp>
        <p:nvSpPr>
          <p:cNvPr id="11" name="AutoShape 11"/>
          <p:cNvSpPr/>
          <p:nvPr/>
        </p:nvSpPr>
        <p:spPr>
          <a:xfrm>
            <a:off x="4635500" y="24130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从“金标准”A/B测试，到准实验设计（如双重差分、断点回归），再到观察性研究的完整方法谱系。根据业务场景的限制与数据可得性，灵活选择最适用的推断策略，在无法进行完美实验的现实中逼近真实的因果效应。</a:t>
            </a:r>
            <a:endParaRPr lang="en-US" sz="1100"/>
          </a:p>
        </p:txBody>
      </p:sp>
      <p:sp>
        <p:nvSpPr>
          <p:cNvPr id="12" name="AutoShape 12"/>
          <p:cNvSpPr/>
          <p:nvPr/>
        </p:nvSpPr>
        <p:spPr>
          <a:xfrm>
            <a:off x="8128000" y="1651000"/>
            <a:ext cx="3492500" cy="2794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128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18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强大的工具</a:t>
            </a:r>
            <a:endParaRPr lang="en-US" sz="1100"/>
          </a:p>
        </p:txBody>
      </p:sp>
      <p:sp>
        <p:nvSpPr>
          <p:cNvPr id="15" name="AutoShape 15"/>
          <p:cNvSpPr/>
          <p:nvPr/>
        </p:nvSpPr>
        <p:spPr>
          <a:xfrm>
            <a:off x="8318500" y="24130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熟练运用因果关系图（DAG）这一核心分析工具。它不仅能将抽象的因果假设进行直观的可视化呈现，帮助我们梳理复杂的变量关系，还能在团队沟通中作为通用语言，清晰地界定混杂因子，从而设计出更精准的分析方案。</a:t>
            </a:r>
            <a:endParaRPr lang="en-US" sz="1100"/>
          </a:p>
        </p:txBody>
      </p:sp>
      <p:sp>
        <p:nvSpPr>
          <p:cNvPr id="16" name="AutoShape 16"/>
          <p:cNvSpPr/>
          <p:nvPr/>
        </p:nvSpPr>
        <p:spPr>
          <a:xfrm>
            <a:off x="762000" y="4699000"/>
            <a:ext cx="10858500" cy="1651000"/>
          </a:xfrm>
          <a:prstGeom prst="roundRect">
            <a:avLst>
              <a:gd name="adj" fmla="val 0"/>
            </a:avLst>
          </a:prstGeom>
          <a:solidFill>
            <a:srgbClr val="22C55E">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79500" y="4889500"/>
            <a:ext cx="10223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因果分析是数据科学的皇冠。</a:t>
            </a:r>
            <a:r>
              <a:rPr lang="en-US" sz="1400" b="0" i="0" u="none" strike="noStrike">
                <a:solidFill>
                  <a:srgbClr val="F0FDF4"/>
                </a:solidFill>
                <a:latin typeface="Noto Sans SC" panose="020B0200000000000000" charset="-122"/>
                <a:ea typeface="Noto Sans SC" panose="020B0200000000000000" charset="-122"/>
                <a:cs typeface="Noto Sans SC" panose="020B0200000000000000" charset="-122"/>
                <a:sym typeface="Noto Sans SC" panose="020B0200000000000000" charset="-122"/>
              </a:rPr>
              <a:t>从简单描述“发生了什么”，进阶到深度解释“为什么发生”，这不仅是数据分析能力的质的飞跃，更是数据分析师向数据科学家蜕变的关键一步。只有掌握了因果推断，我们才能从被动的“看数据”转变为主动的“用数据解决问题”，为业务决策提供真正有价值的行动指南。</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课后作业</a:t>
            </a:r>
            <a:endParaRPr lang="en-US" sz="1100"/>
          </a:p>
        </p:txBody>
      </p:sp>
      <p:sp>
        <p:nvSpPr>
          <p:cNvPr id="4" name="AutoShape 4"/>
          <p:cNvSpPr/>
          <p:nvPr/>
        </p:nvSpPr>
        <p:spPr>
          <a:xfrm>
            <a:off x="762000" y="1651000"/>
            <a:ext cx="5207000" cy="34290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思考题：概念辨析</a:t>
            </a:r>
            <a:endParaRPr lang="en-US" sz="1100"/>
          </a:p>
        </p:txBody>
      </p:sp>
      <p:sp>
        <p:nvSpPr>
          <p:cNvPr id="7" name="AutoShape 7"/>
          <p:cNvSpPr/>
          <p:nvPr/>
        </p:nvSpPr>
        <p:spPr>
          <a:xfrm>
            <a:off x="1016000" y="26670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理论联系实际，是掌握核心概念的关键。请尝试用自己的语言拆解逻辑，并结合生活中的真实案例进行阐述。</a:t>
            </a:r>
            <a:endParaRPr lang="en-US" sz="1100"/>
          </a:p>
        </p:txBody>
      </p:sp>
      <p:sp>
        <p:nvSpPr>
          <p:cNvPr id="8" name="AutoShape 8"/>
          <p:cNvSpPr/>
          <p:nvPr/>
        </p:nvSpPr>
        <p:spPr>
          <a:xfrm>
            <a:off x="1016000" y="3556000"/>
            <a:ext cx="4699000" cy="1270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3683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请结合一个你身边的例子（如：“打伞”与“下雨”、“学习时长”与“考试分数”），详细解释“相关关系”与“因果关系”在逻辑链条和内在机制上的本质区别。</a:t>
            </a:r>
            <a:endParaRPr lang="en-US" sz="1100"/>
          </a:p>
        </p:txBody>
      </p:sp>
      <p:sp>
        <p:nvSpPr>
          <p:cNvPr id="10" name="AutoShape 10"/>
          <p:cNvSpPr/>
          <p:nvPr/>
        </p:nvSpPr>
        <p:spPr>
          <a:xfrm>
            <a:off x="6223000" y="1651000"/>
            <a:ext cx="5207000" cy="34290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1905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实践题：DAG 构建与分析</a:t>
            </a:r>
            <a:endParaRPr lang="en-US" sz="1100"/>
          </a:p>
        </p:txBody>
      </p:sp>
      <p:sp>
        <p:nvSpPr>
          <p:cNvPr id="13" name="AutoShape 13"/>
          <p:cNvSpPr/>
          <p:nvPr/>
        </p:nvSpPr>
        <p:spPr>
          <a:xfrm>
            <a:off x="6477000" y="26670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将抽象的理论模型应用于具体问题，是检验学习成果的重要方式。请动手绘制并进行逻辑推演。</a:t>
            </a:r>
            <a:endParaRPr lang="en-US" sz="1100"/>
          </a:p>
        </p:txBody>
      </p:sp>
      <p:sp>
        <p:nvSpPr>
          <p:cNvPr id="14" name="AutoShape 14"/>
          <p:cNvSpPr/>
          <p:nvPr/>
        </p:nvSpPr>
        <p:spPr>
          <a:xfrm>
            <a:off x="6477000" y="3556000"/>
            <a:ext cx="4699000" cy="1270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67500" y="3683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选取一个你熟悉的业务场景或生活现象，绘制完整的因果关系图（DAG）。并简要说明你在设计中如何识别混杂因子、确定变量间的因果路径，以及这样设计的合理性。</a:t>
            </a:r>
            <a:endParaRPr lang="en-US" sz="1100"/>
          </a:p>
        </p:txBody>
      </p:sp>
      <p:sp>
        <p:nvSpPr>
          <p:cNvPr id="16" name="AutoShape 16"/>
          <p:cNvSpPr/>
          <p:nvPr/>
        </p:nvSpPr>
        <p:spPr>
          <a:xfrm>
            <a:off x="762000" y="5334000"/>
            <a:ext cx="10668000" cy="1143000"/>
          </a:xfrm>
          <a:prstGeom prst="roundRect">
            <a:avLst>
              <a:gd name="adj" fmla="val 0"/>
            </a:avLst>
          </a:prstGeom>
          <a:solidFill>
            <a:srgbClr val="F0FDF4">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461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温馨提示：</a:t>
            </a: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请独立完成本次作业，建议先回顾课堂笔记再动笔。我们鼓励大家在作业中展现出独特的观察视角。下节课我们将选取部分优秀案例，共同探讨不同场景下因果推断的实际应用思路。</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7930</Words>
  <Application>WPS 演示</Application>
  <PresentationFormat/>
  <Paragraphs>450</Paragraphs>
  <Slides>19</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19</vt:i4>
      </vt:variant>
    </vt:vector>
  </HeadingPairs>
  <TitlesOfParts>
    <vt:vector size="28"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没事找事</cp:lastModifiedBy>
  <cp:revision>1</cp:revision>
  <dcterms:created xsi:type="dcterms:W3CDTF">2026-06-01T02:07:52Z</dcterms:created>
  <dcterms:modified xsi:type="dcterms:W3CDTF">2026-06-01T02:07:52Z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{"Label":"1","ContentProducer":"001191110102MACQD9K64010000","ProduceID":"7645655622109826264","ReservedCode1":"","ContentPropagator":"","PropagateID":"","ReservedCode2":""}</vt:lpwstr>
  </property>
  <property fmtid="{D5CDD505-2E9C-101B-9397-08002B2CF9AE}" pid="3" name="ICV">
    <vt:lpwstr>C37E95D50DF64BD197ECF87529A00D21_12</vt:lpwstr>
  </property>
  <property fmtid="{D5CDD505-2E9C-101B-9397-08002B2CF9AE}" pid="4" name="KSOProductBuildVer">
    <vt:lpwstr>2052-12.1.0.20784</vt:lpwstr>
  </property>
</Properties>
</file>