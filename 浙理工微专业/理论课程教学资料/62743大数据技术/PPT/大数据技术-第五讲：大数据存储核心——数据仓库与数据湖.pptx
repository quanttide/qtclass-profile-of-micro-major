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大数据技术》第五讲。今天我们将深入探讨大数据存储的核心——数据仓库与数据湖。我们将学习它们的定义、特征、架构，并探讨它们之间的区别与联系，以及未来的发展趋势——湖仓一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讲的学习目标分为三个层面。知识上，我们要理解数据仓库、数据湖和湖仓一体的概念。能力上，要学会设计数据仓库架构和选择存储方案。素养上，要建立存储是大数据地基的工程意识，并培养辩证思考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本讲将分为六个部分。首先，我们将探讨数据存储面临的新挑战。接着，分别深入讲解数据仓库和数据湖。然后，对比两者并介绍湖仓一体。之后会有一个实战研讨，最后进行总结和作业布置。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数据量达到PB级别，传统数据库面临着容量、分析和类型单一的困境。为了解决这些问题，业界出现了两种截然不同的存储哲学：数据仓库，它强调先定义后存储，追求规范；以及数据湖，它强调先存储后定义，追求灵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首先我们来看数据仓库。它是一个面向分析、集成、稳定的数据集合，核心思想是从多个业务系统中抽取、清洗、转换数据，形成统一视图。它有四大核心特征：面向主题、集成性、稳定性和时变性。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数据仓库设计的精髓在于分层架构。分层可以提高效率、保证质量、简化维护。一个典型的三层架构包括ODS层、DWD层和DWS层，数据从数据源经过ETL/ELT过程，逐层向上流动，最终支撑上层的应用。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我们来详细看一下这三层。ODS层是贴源层，负责接入原始数据。DWD层是明细层，负责清洗和标准化数据。DWS层是汇总层，负责按照业务主题进行关联和汇总，以快速响应上层查询。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数据仓库的代表技术主要分为两类主流方向。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第一类是云原生数据仓库，如 Snowflake、Google BigQuery 和 Amazon Redshift。它们是基于云服务的托管式解决方案，最大的特点是存储与计算分离，企业无需关心底层硬件维护，可按需弹性伸缩资源，是现代企业处理海量数据的主流选择。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第二类是开源高性能 OLAP 引擎，以 ClickHouse 和 StarRocks 为代表。ClickHouse 以极致的查询速度著称，单表千亿级数据可实现秒级响应；而 StarRocks 作为国产优秀开源项目，兼顾了高性能与易用性，非常适合构建实时数据分析系统。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数据湖。它是一个集中式存储库，可以存储任意规模、任意形式的原始数据。其核心思想是“先存储，后定义”。它有三大特征：可以存储任何形式的原始数据、采用读时建模（Schema-on-Read）、以及低成本存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湖的核心概念是Schema-on-Read，也就是读时建模。这与数据仓库的Schema-on-Write（写时建模）形成鲜明对比。写时建模就像图书馆，上架前必须分类；而读时建模就像货仓，先堆进去，需要时再整理。前者一致性高但不灵活，后者灵活性高但对分析人员要求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数据湖的技术栈包括底层的存储技术，如HDFS和现代的对象存储（如S3）。但一个痛点是，缺乏管理的数据湖容易变成“数据沼泽”。为了解决这个问题，业界引入了Delta Lake、Iceberg等表格式技术，在对象存储之上提供了类似数据库的管理能力。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全面对比一下数据仓库和数据湖。从核心思维、数据类型、成本、灵活性、用户群体到典型场景，两者都有显著差异。数据仓库适合结构化数据的固定报表分析，而数据湖适合多类型数据的探索性分析和机器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数据仓库和数据湖各有优劣，那么有没有一种融合两者优势的架构呢？答案就是湖仓一体。它结合了数据湖的灵活性和低成本，以及数据仓库的管理能力和高性能。通过在对象存储之上引入表格式技术，实现了这一目标。Databricks和Snowflake是这一领域的代表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进行一个实战研讨。假设我们要搭建一个数据平台，既要存储PB级的非结构化日志，又要支持结构化的业务报表，还要支持机器学习训练。请大家分组讨论，为这个场景推荐一个合适的数据存储方案，并说明理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总结一下本讲的核心要点。数据仓库适合结构化数据的BI报表，数据湖适合多类型数据的科学探索，而湖仓一体则融合了两者的优势，是未来的发展趋势。最重要的启示是，技术选型没有银弹，必须结合具体业务场景，同时理解底层的设计思想才能更好地应用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7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A1914">
                  <a:alpha val="8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54000" y="2286000"/>
            <a:ext cx="1168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第五讲：大数据存储核心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——数据仓库与数据湖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31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大数据技术系列课程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5715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课程代码 62743 | 浙理工微专业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本讲学习目标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558800" cy="5588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1981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93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知识目标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921000"/>
            <a:ext cx="2921000" cy="1079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2984500"/>
            <a:ext cx="266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深度理解数据仓库的核心概念、底层设计原则，掌握其经典的分层架构体系，建立对数据组织方式的基础认知。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27500"/>
            <a:ext cx="2921000" cy="1079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4191000"/>
            <a:ext cx="266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清晰界定数据湖的定义与核心特征，能够准确辨析数据湖与传统数据仓库在数据存储、处理模式上的本质区别。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34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43000" y="53975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了解湖仓一体（Lakehouse）的技术演进趋势与融合思想。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0" y="1651000"/>
            <a:ext cx="3429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99000" y="1905000"/>
            <a:ext cx="558800" cy="5588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5200" y="19812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461000" y="193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能力目标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4699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4699000" y="2921000"/>
            <a:ext cx="2921000" cy="15240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826000" y="2984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具备工程落地能力，能够结合实际业务场景与数据流转特点，设计出符合规范、可扩展的基本数据仓库分层架构，为后续数据开发与应用打下坚实基础。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99000" y="4572000"/>
            <a:ext cx="2921000" cy="15240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826000" y="4635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培养方案决策思维，针对不同的业务需求、数据规模与实时性要求，能够综合评估并选择合适的数据存储方案，平衡成本、性能与开发效率。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28000" y="1651000"/>
            <a:ext cx="3429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82000" y="1905000"/>
            <a:ext cx="558800" cy="5588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8200" y="19812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144000" y="193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素养目标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4946">
            <a:off x="8382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382000" y="2921000"/>
            <a:ext cx="2921000" cy="1524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509000" y="2984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树立核心工程意识，深刻认识到“存储是大数据工程的地基”。理解底层存储架构的合理性直接决定了上层数据应用的稳定性、高效性与可维护性。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382000" y="4572000"/>
            <a:ext cx="2921000" cy="1524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509000" y="4635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培养辩证思维能力，不盲从单一技术架构。能够客观分析不同存储方案的优劣，辩证思考其在特定业务场景下的适用性，形成科学的技术选型观。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14500" y="1879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开篇：新挑战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剖析数字化转型中，海量异构数据爆发式增长所带来的传统存储瓶颈与数据处理新难题。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97500" y="1879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核心一：数据仓库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540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回顾经典数仓架构，理解其面向主题、集成、稳定、随时间变化的核心特征，以及适用的业务场景。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18500" y="1841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80500" y="1879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核心二：数据湖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540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探索原始数据的低成本存储方案，解析其灵活性优势，同时探讨非结构化数据治理面临的关键问题。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127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14500" y="4165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融合：湖仓一体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4826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深度对比数仓与数据湖的优劣，解析湖仓一体（Lakehouse）如何结合两者优势，实现统一的数据架构。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445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635500" y="4127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397500" y="4165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实战：架构选型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35500" y="4826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基于真实业务场景、成本预算与技术栈现状，掌握企业级数据架构的核心决策逻辑与落地选型方法。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28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318500" y="4127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80500" y="4165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18500" y="4826000"/>
            <a:ext cx="311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梳理本课程的核心知识体系，明确不同架构的适用边界，并展望下一代数据基础设施的发展趋势。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开篇：数据洪流带来的新挑战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714500"/>
            <a:ext cx="50165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415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容量限制：难以承载海量增长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495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传统架构在面对PB级甚至EB级的海量数据时，存储扩展不仅成本高昂，扩容周期也无法匹配业务数据的爆发式增长，导致数据处理效率大幅下降。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175000"/>
            <a:ext cx="50165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3020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分析瓶颈：OLTP与OLAP的冲突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8100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专为高频在线交易（OLTP）设计的数据库，其底层架构无法高效支持复杂的多维分析查询（OLAP）。在不影响业务运行的前提下，难以实现对数据的实时价值挖掘。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4635500"/>
            <a:ext cx="50165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762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7625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类型单一：非结构化数据的盲区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传统关系型数据库仅擅长处理结构化数据，而面对互联网时代产生的图片、视频、日志、音频等海量非结构化数据，其解析、存储和处理能力都显得捉襟见肘。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708">
            <a:off x="38100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865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1714500"/>
            <a:ext cx="5016500" cy="2095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17145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1841500"/>
            <a:ext cx="431800" cy="431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75500" y="1841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 (Data Warehouse)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234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核心：先定义，后存储 (Schema-on-Write)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279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强调数据的预先结构化与规范性，要求数据入库前必须严格定义好Schema。这种模式适合处理经过清洗的高价值业务数据，能够提供稳定、高性能的事后统计分析与业务决策支持。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3937000"/>
            <a:ext cx="5016500" cy="2095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393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064000"/>
            <a:ext cx="431800" cy="431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75500" y="40640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 (Data Lake)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457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核心：先存储，后定义 (Schema-on-Read)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6040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以原始格式低成本保留全量业务数据，Schema在数据读取和分析时动态定义。这种模式灵活性极强，能够容纳结构化、半结构化和非结构化数据，是深度探索性分析与AI机器学习的理想数据底座。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 (Data Warehouse)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数据仓库是一个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面向分析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且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数据集合，专为支持管理决策过程而设计。它本身不产生新数据，而是通过抽取、清洗、转换（ETL）技术，将分散在各业务系统中的杂乱数据汇聚起来，形成统一、高质量的信息资产，为企业的战略分析与业务洞察提供坚实的数据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2565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25654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556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530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面向主题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191000"/>
            <a:ext cx="2184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围绕企业特定的业务主题（如销售、库存、客户）来组织数据，而非遵循原有业务系统的应用逻辑。它剥离了业务操作中的无关细节，让数据服务于特定的分析需求，使决策者能聚焦核心业务场景。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3302000"/>
            <a:ext cx="2565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67100" y="3302000"/>
            <a:ext cx="25654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3556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65600" y="3530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4191000"/>
            <a:ext cx="2184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数据源于不同的业务源头，在进入数据仓库前需经过严格的抽取、清洗和转换（ETL）过程。这一过程消除了数据的冗余、冲突和不一致性，将异构数据整合为全局统一的信息视图，保证分析结果的准确性。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72200" y="3302000"/>
            <a:ext cx="2565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172200" y="3302000"/>
            <a:ext cx="25654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3556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70700" y="3530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62700" y="4191000"/>
            <a:ext cx="2184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数据一旦写入数据仓库，通常以只读方式存储，不会随日常业务操作而更新或删除。这种稳定性如同企业的“历史档案库”，确保了业务轨迹的可追溯性，为长期趋势分析和业绩复盘提供了可靠的历史基准。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77300" y="3302000"/>
            <a:ext cx="2565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77300" y="3302000"/>
            <a:ext cx="25654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3556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75800" y="3530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时变性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67800" y="4191000"/>
            <a:ext cx="2184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数据仓库中的信息并非静止的，而是记录了不同时间节点的数据快照。它完整保留了数据随时间的演变过程，使企业能够从历史维度审视业务发展，识别关键转折点，从而做出基于全周期数据的动态化战略决策。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数据仓库核心架构 - 分层设计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526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为什么需要分层？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是数据仓库设计的核心精髓。通过将复杂的数据处理链路拆解为独立的层级，不仅能有效降低系统耦合度，还能显著提升数据处理效率、严格保证数据质量，并极大简化后续的数据维护工作。它让数据从原始杂乱变得条理清晰，为上层业务应用提供稳定、可靠的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1727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17272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79800"/>
            <a:ext cx="1727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" y="4089400"/>
            <a:ext cx="160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业务数据库、日志文件、第三方API等原始数据的统一接入入口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578100" y="3429000"/>
            <a:ext cx="1727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578100" y="3429000"/>
            <a:ext cx="17272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578100" y="3479800"/>
            <a:ext cx="1727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ETL/ELT层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641600" y="4089400"/>
            <a:ext cx="160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负责数据的抽取、清洗、转换与加载，是数据标准化的关键环节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94200" y="3429000"/>
            <a:ext cx="1727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394200" y="3429000"/>
            <a:ext cx="17272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3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394200" y="3479800"/>
            <a:ext cx="1727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ODS贴源层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57700" y="4089400"/>
            <a:ext cx="160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保留原始数据特征，作为数仓的基础缓冲存储，支持回溯查询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10300" y="3429000"/>
            <a:ext cx="1727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10300" y="3429000"/>
            <a:ext cx="17272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10300" y="3479800"/>
            <a:ext cx="1727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DWD明细层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73800" y="4089400"/>
            <a:ext cx="160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基于业务原子化，还原单业务主题细节，是数仓的核心明细数据层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26400" y="3429000"/>
            <a:ext cx="1727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026400" y="3429000"/>
            <a:ext cx="17272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4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26400" y="3479800"/>
            <a:ext cx="1727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DWS汇总层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89900" y="4089400"/>
            <a:ext cx="160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多维度轻度聚合宽表，大幅减少重复计算，支撑快速的业务查询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42500" y="3429000"/>
            <a:ext cx="1727200" cy="1968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842500" y="3429000"/>
            <a:ext cx="17272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842500" y="3479800"/>
            <a:ext cx="1727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数据应用层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906000" y="4089400"/>
            <a:ext cx="160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面向最终用户，包含各类报表、数据大屏、BI分析及业务系统接口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5588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52500" y="5664200"/>
            <a:ext cx="10287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通过分层设计，实现了数据的“一次加工，多次复用”。这种模式在提升数据产出时效的同时，有效隔离了源端变化对下游的影响，最终构建出一个稳定、可扩展且易于维护的企业级数据资产底座。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数据仓库分层详解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ODS 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贴源层 (Operational Data Store)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031">
            <a:off x="952513" y="29781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111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作为原始数据的“镜像”，将业务系统产生的全量数据几乎无改动地接入数仓。主要承担数据缓冲与暂存的作用，保留业务数据的原始面貌。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546600"/>
            <a:ext cx="285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数据特点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" y="49530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结构与源系统完全一致，数据量级庞大，可能包含重复、缺失或不符合规范的脏数据，不直接对外提供分析服务。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704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60900" y="1841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DWD 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2413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明细层 (Data Warehouse Detail)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031">
            <a:off x="4660913" y="29781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60900" y="3111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对ODS层数据进行核心加工，包括清洗去噪、格式标准化、业务规则映射和实体统一。是数仓中数据质量最高、粒度最细的基础层。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60900" y="4445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787900" y="4546600"/>
            <a:ext cx="285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数据特点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87900" y="49530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保留了业务发生的全部细节，数据准确性高、一致性强。可作为后续所有上层分析应用的事实基础，支持深度的业务归因分析。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915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9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82000" y="1841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DWS 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2413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汇总层 (Data Warehouse Service)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031">
            <a:off x="8382013" y="29781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382000" y="3111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面向具体的业务分析主题（如用户、订单），对DWD明细数据进行轻度聚合与关联，形成宽表。主要目的是复用计算结果，提升查询性能。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82000" y="4445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509000" y="4546600"/>
            <a:ext cx="285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数据特点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09000" y="49530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数据粒度较粗，时效性强。直接支撑前端报表和应用的快速查询需求，减少重复计算，是连接基础数据层与数据应用层的关键枢纽。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数据仓库代表技术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云原生数据仓库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基于云端架构的托管式服务，实现存储与计算的弹性分离，免去硬件运维成本，是现代企业大数据分析的主流基础设施。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16002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3238500"/>
            <a:ext cx="1422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Snowflake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41400" y="3683000"/>
            <a:ext cx="1422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业界标杆云平台，经典的存储计算分离架构，支持跨云部署与弹性伸缩。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667000" y="3175000"/>
            <a:ext cx="16002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755900" y="3238500"/>
            <a:ext cx="1422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BigQuery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55900" y="3683000"/>
            <a:ext cx="1422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Google 托管PB级数仓，无服务器架构，支持SQL进行秒级海量数据分析。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56100" y="3175000"/>
            <a:ext cx="16002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45000" y="3238500"/>
            <a:ext cx="1422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Redshift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3683000"/>
            <a:ext cx="1422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AWS 核心MPP数仓，兼容PostgreSQL生态，专为复杂商业智能分析场景设计。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8895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79500" y="5016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2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按用量弹性付费，无需关注底层硬件维护，让数据团队能够专注于业务逻辑开发，轻松应对从TB到PB级的数据规模挑战。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开源高性能OLAP引擎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2413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专为极致查询速度而生的开源技术方案，突破传统数据库的性能瓶颈，广泛应用于实时数据大屏、用户行为分析等高频场景。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3175000"/>
            <a:ext cx="4826000" cy="1587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3238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ClickHouse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40500" y="3683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3140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由俄罗斯Yandex开源的列式存储数据库，以“向量化执行”技术实现极致性能。面对千亿级数据单表查询仅需毫秒级响应，是目前实时数据分析领域的性能王者，被众多互联网大厂用于广告、日志等高频业务。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889500"/>
            <a:ext cx="48260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40500" y="49276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StarRocks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40500" y="53721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064E3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国产自研的MPP分析引擎，兼容MySQL协议，无需复杂ETL即可对接业务系统。支持实时更新与高并发点查，社区活跃度高且完全开源，是替代传统商业数仓、构建国产化极速分析平台的优选方案。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核心二：数据湖 (Data Lake)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核心思想：先存储，后定义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数据湖是一个集中式的存储库，允许以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任意规模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所有结构化和非结构化数据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。不同于传统数据库的“先定义后存储”，数据湖打破了数据格式的限制，将数据以原始形态沉淀，为后续灵活的分析与挖掘提供了无限可能。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36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3782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全量原始存储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0005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支持结构化数据库表、半结构化日志，以及非结构化的图片、音频、视频等所有数据形式的原样留存。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79500" y="492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打破数据录入的格式壁垒，无需预先转换，让数据资产的沉淀更完整、更及时。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45000" y="3175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365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207000" y="33782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Schema-on-Read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40005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数据的结构（Schema）在写入时不强制规定，而是在后续分析、查询和处理时才动态定义和解析。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55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762500" y="492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赋予数据极大的灵活性，适应快速变化的业务需求，支持从原始数据中发现新的价值维度。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3175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28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3365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33782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极致成本优势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40005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底层通常构建在廉价的对象存储（如S3、OSS）之上，按实际使用量弹性扩容，省去昂贵的预处理成本。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445500" y="492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相比传统数据仓库，显著降低海量历史数据的长期持有成本，让数据留存无后顾之忧。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数据湖核心概念 - Schema-on-Read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Schema-on-Write (写时建模)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6035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 Schema 结构 → 写入数据并严格校验 → 基于固定结构分析数据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195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3683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写入阶段强制校验，能最大程度保障数据一致性与准确性，但结构僵化。面对非结构化数据或频繁变化的业务需求时，开发周期长，灵活性严重不足。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E2E8F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889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形象类比：传统图书馆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书籍上架前必须完成严谨的分类、贴标与编目。虽秩序井然，但面对新类目或特殊书籍时，调整规则与重新上架的成本极高。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90177">
            <a:off x="3873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841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Schema-on-Read (读时建模)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540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D1FAE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26035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执行流程：</a:t>
            </a:r>
            <a:r>
              <a:rPr lang="en-US" sz="1300" b="0" i="0" u="none" strike="noStrike">
                <a:solidFill>
                  <a:srgbClr val="0F172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原始数据直接写入存储 → 读取时动态定义 Schema → 按需进行数据探索与分析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6195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3683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打破了预定义结构的束缚，写入速度极快且支持任意格式数据。将数据结构的解释权交给分析者，赋予了数据使用极大的灵活性，是大数据时代敏捷分析的关键。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826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4889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形象类比：现代化智能货仓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06372E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所有货物无需分拣直接入库。当业务（订单）发起时，再根据具体需求实时进行数据清洗、转换与价值提取，适配性与效率远超传统模式。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数据湖技术栈与挑战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6096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20447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9685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核心存储基石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031">
            <a:off x="952513" y="2787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2984500"/>
            <a:ext cx="311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HDFS 到对象存储的演进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937000"/>
            <a:ext cx="3111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早期数据湖主要依托 Hadoop HDFS 构建底层底座。随着云原生技术发展，Amazon S3、阿里云 OSS 等对象存储凭借高弹性、低成本和无限扩展性，逐渐成为现代数据湖的标准存储方案，支撑海量非结构化数据的持久化存储。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35500" y="1968500"/>
            <a:ext cx="609600" cy="609600"/>
          </a:xfrm>
          <a:prstGeom prst="roundRect">
            <a:avLst>
              <a:gd name="adj" fmla="val 0"/>
            </a:avLst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0447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397500" y="19685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警惕数据沼泽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031">
            <a:off x="4635513" y="2787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35500" y="2984500"/>
            <a:ext cx="311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缺乏治理的无序增长困境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3937000"/>
            <a:ext cx="3111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原始数据无规划地持续涌入，缺乏统一的元数据管理与事务机制时，数据湖会退化为“数据沼泽”。数据孤岛、版本混乱、质量参差不齐，导致数据难以被高效查询与分析，极大地增加了业务决策的时间成本与不确定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18500" y="1968500"/>
            <a:ext cx="609600" cy="6096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4700" y="20447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80500" y="19685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表格式技术破局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031">
            <a:off x="8318513" y="2787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318500" y="2984500"/>
            <a:ext cx="311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注入数据库级管理能力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3937000"/>
            <a:ext cx="3111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Delta Lake、Iceberg、Hudi 等开源技术，在对象存储之上构建了一层高性能管理层。通过支持 ACID 事务、快照版本回溯与统一元数据，有效解决了数据一致性问题，让数据湖从静态的存储容器转变为动态、可信赖的企业级数据资产平台。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对比与融合：数据仓库 vs. 数据湖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510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核心思维模式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0574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0955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3876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写时建模 (Schema-on-Write)，严格预定义结构后加载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67000" y="20574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730500" y="20955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30500" y="23876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读时建模 (Schema-on-Read)，先存数据后定义结构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1524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08500" y="15240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35500" y="16510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支持数据类型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20574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99000" y="20955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结构化为主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23876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业务交易表、ERP数据等高度规整数据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20574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0955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全类型兼容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3876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日志、音频、视频、文档等任意格式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33655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33655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9000" y="34925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投入与成本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9000" y="38989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39370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成本高昂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42291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存储昂贵，ETL清洗与转换需大量资源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667000" y="38989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2730500" y="39370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经济高效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730500" y="42291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低成本对象存储，原始数据直接落湖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08500" y="33655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4508500" y="33655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635500" y="34925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敏捷与灵活性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635500" y="38989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699000" y="39370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响应较慢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699000" y="42291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Schema变更周期长，难适应快速变化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413500" y="38989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477000" y="39370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极致灵活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477000" y="42291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支持探索性分析，快速迭代业务需求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62000" y="5207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762000" y="52070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889000" y="53086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核心用户画像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89000" y="5651500"/>
            <a:ext cx="16510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952500" y="56769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业务分析师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关注固定报表与KPI监控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2667000" y="5651500"/>
            <a:ext cx="1651000" cy="9525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2730500" y="56769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技术极客与科学家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深度挖掘与模型训练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4508500" y="5207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4508500" y="52070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4635500" y="53086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主流应用场景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4635500" y="5651500"/>
            <a:ext cx="16510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/>
          <p:nvPr/>
        </p:nvSpPr>
        <p:spPr>
          <a:xfrm>
            <a:off x="4699000" y="56769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传统决策支持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财务分析与经营审计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413500" y="5651500"/>
            <a:ext cx="1651000" cy="9525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6477000" y="56769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创新业务驱动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AI训练与实时流处理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8255000" y="1524000"/>
            <a:ext cx="3683000" cy="5143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8255000" y="1524000"/>
            <a:ext cx="3683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56"/>
          <p:cNvSpPr/>
          <p:nvPr/>
        </p:nvSpPr>
        <p:spPr>
          <a:xfrm>
            <a:off x="8445500" y="18415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趋势：湖仓一体 (Lakehouse)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445500" y="2794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8572500" y="2921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单一架构已难以满足复杂的现代业务需求。湖仓一体融合了数据仓库的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ACID事务能力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与数据湖的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低成本海量存储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优势，既支持标准化的BI分析，又能高效赋能AI与机器学习，成为企业构建下一代数据平台的最优解。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445500" y="4953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60"/>
          <p:cNvSpPr/>
          <p:nvPr/>
        </p:nvSpPr>
        <p:spPr>
          <a:xfrm>
            <a:off x="8572500" y="5080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“让数据价值流动更高效，让业务决策更敏捷。在统一的平台上，实现从历史洞察到未来预测的全链路数据赋能。”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终极形态：湖仓一体 (Data Lakehouse)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4314" b="14314"/>
          <a:stretch>
            <a:fillRect/>
          </a:stretch>
        </p:blipFill>
        <p:spPr>
          <a:xfrm>
            <a:off x="889000" y="1651000"/>
            <a:ext cx="3302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572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6736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架构核心：统一底座与灵活计算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5080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通过统一的元数据层连接BI、报表与AI应用，底层基于弹性对象存储构建。这种架构打破了数据孤岛，让一份数据同时服务于事务处理与分析型业务。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708">
            <a:off x="2222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699000" y="1524000"/>
            <a:ext cx="7048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1524000"/>
            <a:ext cx="635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889500" y="1625600"/>
            <a:ext cx="660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湖仓一体是一种面向未来的开放式数据管理范式。它创造性地结合了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数据湖的灵活性与低成本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优势，以及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数据仓库的强管理能力与高性能分析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特性，从而在大幅降低存储成本的同时，为业务提供企业级的实时数据服务。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260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3048000"/>
            <a:ext cx="2260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00600" y="3175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存储层：统一底座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00600" y="3683000"/>
            <a:ext cx="205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摒弃昂贵专有存储，采用S3等廉价、无限扩展的对象存储作为底层。支持结构化、半结构化与非结构化数据的海量持久化，大幅降低TCO。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86600" y="3048000"/>
            <a:ext cx="2260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086600" y="3048000"/>
            <a:ext cx="2260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188200" y="3175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格式层：事务保障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88200" y="3683000"/>
            <a:ext cx="205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引入Delta Lake或Iceberg等表格式技术，赋予数据湖ACID事务、版本回滚与并发写入能力，解决了传统数据湖“数据脏乱差”的管理难题。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474200" y="3048000"/>
            <a:ext cx="2260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474200" y="3048000"/>
            <a:ext cx="2260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75800" y="31750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计算层：灵活引擎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75800" y="3683000"/>
            <a:ext cx="205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Spark、Flink等主流计算引擎可直接对湖内数据执行高性能查询。支持流批一体处理，让数据在“入湖”的同时即可被分析应用消费。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699000" y="5270500"/>
            <a:ext cx="7048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699000" y="5270500"/>
            <a:ext cx="38100" cy="1079500"/>
          </a:xfrm>
          <a:prstGeom prst="roundRect">
            <a:avLst>
              <a:gd name="adj" fmla="val 0"/>
            </a:avLst>
          </a:prstGeom>
          <a:solidFill>
            <a:srgbClr val="F59E0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826000" y="53594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行业标杆：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5397500"/>
            <a:ext cx="2667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667500" y="5461000"/>
            <a:ext cx="254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Databricks Lakehouse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理念首创者，全托管分析平台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398000" y="5397500"/>
            <a:ext cx="228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461500" y="5461000"/>
            <a:ext cx="215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Snowflake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云原生弹性数据云平台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实战研讨：架构选型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342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核心业务需求画像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349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海量非结构化数据沉淀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需稳定存储PB级用户行为日志，支持高并发写入与低成本长期归档，满足数据溯源与审计要求。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3238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实时化业务分析场景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为销售与财务部门提供秒级延迟的报表生成能力，直接支撑管理层的经营决策与业务快速响应。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127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模型深度训练底座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支持数据科学家对全量数据进行复杂ETL处理，高效运行用户画像与推荐系统的机器学习算法。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86500" y="1524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1524000"/>
            <a:ext cx="76200" cy="342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16510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关键技术路线决策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286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67500" y="2349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方案选型论证：推荐何种存储架构？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结合上述混合负载需求，请详细阐述你所推荐的技术方案。需要综合考量数据写入吞吐量、查询时效性、系统可维护性以及未来的扩展成本，给出具有说服力的选择依据。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540500" y="3556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36195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架构模式抉择：单一架构 vs 融合架构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你会选择纯数据仓库、纯数据湖，还是当下主流的“湖仓一体”架构？请从技术特性、业务适配度及演进路线三个维度，对比分析不同架构模式的优劣势。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1079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5270500"/>
            <a:ext cx="1028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研讨目标：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单纯的技术参数对比，基于企业实际业务发展阶段，在数据处理效率、建设成本与未来业务扩展性之间找到最佳平衡点。通过本次研讨，形成一份既解决当下痛点，又能平滑支撑未来3-5年业务增长的技术实施蓝图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2997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数据仓库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299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结构化数据的规范之选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8575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专为结构化数据分析场景设计，强调数据的规范性与高性能读写能力。能够高效支撑企业级BI报表生成与业务决策分析，是传统企业数智化建设中不可或缺的基础组件。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651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942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84700" y="1841500"/>
            <a:ext cx="2997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4700" y="2349500"/>
            <a:ext cx="299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多源数据的灵活容器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28575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打破数据格式壁垒，以低成本存储结构化、半结构化与非结构化数据。支持灵活的 Schema-on-Read 模式，为数据科学探索、AI 模型训练提供海量、丰富且未经修饰的原始素材。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651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264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16900" y="1841500"/>
            <a:ext cx="2997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湖仓一体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16900" y="2349500"/>
            <a:ext cx="299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未来架构的终极形态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16900" y="28575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融合了数仓的规范管理与数据湖的灵活存储双重优势，有效消除数据孤岛。实现一份数据多端赋能，既满足业务报表的即时性需求，又支持深度的数据科学探索，是当前大数据存储架构的主流演进方向。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47625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拒绝技术银弹，适配业务场景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207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技术架构的选择没有绝对的标准答案，核心取决于业务场景的复杂度、数据量级与实时性要求。脱离实际业务谈架构优劣无异于纸上谈兵，唯有因地制宜，才能发挥数据的最大价值。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68748">
            <a:off x="5397500" y="545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350000" y="47625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理解设计内核，掌握底层逻辑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5207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掌握不同存储范式的底层设计思想，是打通数据价值的关键前提。只有深刻理解其适用边界与技术取舍，才能在复杂多变的业务环境中，制定出高效、稳健且具备前瞻性的大数据分析与挖掘实施方案。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6443</Words>
  <Application>WPS 演示</Application>
  <PresentationFormat/>
  <Paragraphs>409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2026-06-01T02:07:47Z</dcterms:created>
  <dcterms:modified xsi:type="dcterms:W3CDTF">2026-06-01T02:07:47Z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{"Label":"1","ContentProducer":"001191110102MACQD9K64010000","ProduceID":"7644456945848306878","ReservedCode1":"","ContentPropagator":"","PropagateID":"","ReservedCode2":""}</vt:lpwstr>
  </property>
  <property fmtid="{D5CDD505-2E9C-101B-9397-08002B2CF9AE}" pid="3" name="ICV">
    <vt:lpwstr>E746D8AC4CAE40B5A976CD7161B13CC3_12</vt:lpwstr>
  </property>
  <property fmtid="{D5CDD505-2E9C-101B-9397-08002B2CF9AE}" pid="4" name="KSOProductBuildVer">
    <vt:lpwstr>2052-12.1.0.20784</vt:lpwstr>
  </property>
</Properties>
</file>