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2.svg" ContentType="image/svg+xml"/>
  <Override PartName="/ppt/media/image1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欢迎回到《大数据技术》课程。今天是我们的第二讲，主题是“大数据技术的现代基础设施”。在第一讲中，我们了解了大数据的基本概念，今天我们将深入技术层面，探讨支撑起整个大数据生态的核心组件和架构思想。</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本讲中，我们的目标分为三个层面。知识上，我们要理解现代数据技术栈的核心模块；能力上，要学会初步的技术选型和架构绘制；素养上，要建立起体系化的技术思维。希望通过这节课，大家能对大数据技术有更深入的认识。</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本讲的重点在于辨析不同的存储方案和计算引擎，这是构建数据平台的基础。难点则在于理解Data Mesh和Data Fabric等前沿架构思想，并培养体系化的技术思维。希望大家在学习过程中能够重点关注这些内容。</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让我们从一些实际问题开始。面对海量数据，如何存储？面对实时需求，如何快速计算？面对众多数据表，如何有效管理？这些都是现代数据技术需要解决的核心挑战。今天，我们就来探讨如何通过技术手段来应对这些问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为了解决这些挑战，业界形成了现代数据技术栈的五大核心模块。它们分别是：负责存储的现代数据仓库和数据湖，负责计算的计算引擎，负责管理的元数据管理平台，以及指导整体设计的现代架构思想。接下来，我们将逐一解析这些模块。</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首先是数据仓库，它就像一个超级档案柜，专门用于分析。代表技术有开源的ClickHouse，它以极致的查询性能著称；还有云原生的Snowflake，它通过存算分离架构实现了弹性扩展和免运维。</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接下来是数据湖和湖仓一体。数据湖像一个数据沼泽，什么都能存但很乱。而湖仓一体则是将沼泽改造为数据基地，兼顾了灵活性和管理性。Databricks是这个领域的领导者，它通过Delta Lake等技术实现了这一目标。</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计算引擎是大数据的“发动机”。主流的有Spark和Flink。Spark是批处理的王者，擅长处理历史数据；而Flink是流处理的霸主，擅长处理实时数据。两者都在朝着批流一体的方向发展。</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当数据量很大时，如何找到并理解数据就成了一个大问题。元数据管理平台，比如DataHub和OpenMetadata，就扮演了“数据导航地图”的角色，它给每个数据资产建立“户口本”，让数据变得可查找、可理解。</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最后，我们来看两种先进的架构思想：Data Mesh和Data Fabric。Data Mesh主张去中心化，让业务团队成为数据的主人，将数据视为产品来运营。而Data Fabric则强调通过技术手段，利用AI和知识图谱智能地连接所有数据资产。它们都是为了解决大规模、复杂环境下的数据治理难题，代表了未来数据架构的重要发展方向。</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理论学习之后，我们来进行一个互动环节。全班将分为五个小组，每组负责一个我们刚刚讲过的核心模块。请大家用15分钟时间深入研究，并准备一个5分钟的汇报。这个环节旨在加深大家对每个模块的理解。</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现在，我们把所有模块整合起来，看一下现代数据技术栈的全景图。这是一个典型的分层架构，从底层的存储层，到中间的计算引擎和元数据管理，再到顶层的架构思想。数据在这个架构中流动，最终服务于业务决策。</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那么这些模块是如何协同工作的呢？我们来看一个简单的例子。用户日志写入数据湖，Flink实时处理后存入ClickHouse，分析师用BI工具分析，而DataHub则记录了整个过程的数据血缘。这就是一个典型的数据流转路径。</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理论结合实践，我们来做一个技术选型的演练。假设你是一家社交App创业公司的工程师，面对这些需求，你会如何选择技术方案？请从存储、计算和元数据管理三个方面进行思考，并说明理由。</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好的，我们来分析一下这个场景。存储方面，日志适合数据湖，结果适合ClickHouse。计算方面，实时需求用Flink，离线需求用Spark。元数据管理初期可以先不引入。这是一个比较合理的方案，当然实际情况会更复杂，但这个思路是清晰的。</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来总结一下本讲的核心要点。我们学习了五大核心模块，重点理解了存储层的三种方案和计算引擎的两大主流。同时，我们也了解了元数据管理和先进架构思想的重要性。记住这些技术组件的定位和协同关系，是我们后续深入学习的基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最后是课后作业。必做题是请大家用自己的话解释数据仓库、数据湖和湖仓一体的区别。选做题是调研一个你感兴趣的技术组件。希望通过这些作业，大家能巩固今天所学的知识。</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这里列出了一些深入学习的资源，包括各个技术的官方文档和一些经典的书籍、文章。如果大家对某个技术感兴趣，可以通过这些链接进行更深入的学习。</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12.xml"/><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12.xml"/><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12.xml"/><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1.xml.rels><?xml version="1.0" encoding="UTF-8" standalone="yes"?>
<Relationships xmlns="http://schemas.openxmlformats.org/package/2006/relationships"><Relationship Id="rId9" Type="http://schemas.openxmlformats.org/officeDocument/2006/relationships/notesSlide" Target="../notesSlides/notesSlide11.xml"/><Relationship Id="rId8" Type="http://schemas.openxmlformats.org/officeDocument/2006/relationships/slideLayout" Target="../slideLayouts/slideLayout12.xml"/><Relationship Id="rId7" Type="http://schemas.openxmlformats.org/officeDocument/2006/relationships/image" Target="../media/image14.svg"/><Relationship Id="rId6" Type="http://schemas.openxmlformats.org/officeDocument/2006/relationships/image" Target="../media/image13.png"/><Relationship Id="rId5" Type="http://schemas.openxmlformats.org/officeDocument/2006/relationships/image" Target="../media/image12.svg"/><Relationship Id="rId4" Type="http://schemas.openxmlformats.org/officeDocument/2006/relationships/image" Target="../media/image11.png"/><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image" Target="../media/image2.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2.xml"/><Relationship Id="rId1"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gradFill rotWithShape="1">
            <a:gsLst>
              <a:gs pos="0">
                <a:srgbClr val="000000">
                  <a:alpha val="60000"/>
                </a:srgbClr>
              </a:gs>
              <a:gs pos="100000">
                <a:srgbClr val="000000">
                  <a:alpha val="75000"/>
                </a:srgbClr>
              </a:gs>
            </a:gsLst>
            <a:lin ang="5400000"/>
          </a:gra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2286000"/>
            <a:ext cx="12192000" cy="1143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大数据技术</a:t>
            </a:r>
            <a:endParaRPr lang="en-US" sz="1100"/>
          </a:p>
        </p:txBody>
      </p:sp>
      <p:sp>
        <p:nvSpPr>
          <p:cNvPr id="4" name="AutoShape 4"/>
          <p:cNvSpPr/>
          <p:nvPr/>
        </p:nvSpPr>
        <p:spPr>
          <a:xfrm>
            <a:off x="0" y="3683000"/>
            <a:ext cx="12192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8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第二讲：大数据技术的现代基础设施</a:t>
            </a:r>
            <a:endParaRPr lang="en-US" sz="1100"/>
          </a:p>
        </p:txBody>
      </p:sp>
      <p:sp>
        <p:nvSpPr>
          <p:cNvPr id="5" name="AutoShape 5"/>
          <p:cNvSpPr/>
          <p:nvPr/>
        </p:nvSpPr>
        <p:spPr>
          <a:xfrm>
            <a:off x="0" y="5461000"/>
            <a:ext cx="12192000" cy="1143000"/>
          </a:xfrm>
          <a:prstGeom prst="roundRect">
            <a:avLst>
              <a:gd name="adj" fmla="val 0"/>
            </a:avLst>
          </a:prstGeom>
          <a:solidFill>
            <a:srgbClr val="0F172A">
              <a:alpha val="75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本讲教学目标：我们将学到什么？</a:t>
            </a:r>
            <a:endParaRPr lang="en-US" sz="1100"/>
          </a:p>
        </p:txBody>
      </p:sp>
      <p:sp>
        <p:nvSpPr>
          <p:cNvPr id="4" name="AutoShape 4"/>
          <p:cNvSpPr/>
          <p:nvPr/>
        </p:nvSpPr>
        <p:spPr>
          <a:xfrm>
            <a:off x="762000" y="1651000"/>
            <a:ext cx="3492500" cy="4318000"/>
          </a:xfrm>
          <a:prstGeom prst="roundRect">
            <a:avLst>
              <a:gd name="adj" fmla="val 0"/>
            </a:avLst>
          </a:prstGeom>
          <a:solidFill>
            <a:srgbClr val="FFFFFF">
              <a:alpha val="94000"/>
            </a:srgbClr>
          </a:solidFill>
          <a:ln w="12700" cap="flat" cmpd="sng">
            <a:solidFill>
              <a:srgbClr val="10B981">
                <a:alpha val="3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3492500" cy="508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841500"/>
            <a:ext cx="3111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知识目标</a:t>
            </a:r>
            <a:r>
              <a:rPr lang="en-US" sz="14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 Knowledge</a:t>
            </a:r>
            <a:endParaRPr lang="en-US" sz="1100"/>
          </a:p>
        </p:txBody>
      </p:sp>
      <p:cxnSp>
        <p:nvCxnSpPr>
          <p:cNvPr id="7" name="Connector 7"/>
          <p:cNvCxnSpPr/>
          <p:nvPr/>
        </p:nvCxnSpPr>
        <p:spPr>
          <a:xfrm rot="-14031">
            <a:off x="952513" y="2597150"/>
            <a:ext cx="3111500" cy="12700"/>
          </a:xfrm>
          <a:prstGeom prst="straightConnector1">
            <a:avLst/>
          </a:prstGeom>
          <a:solidFill>
            <a:srgbClr val="DEE0E3">
              <a:alpha val="100000"/>
            </a:srgbClr>
          </a:solidFill>
          <a:ln w="12700" cap="flat" cmpd="sng">
            <a:solidFill>
              <a:srgbClr val="10B981">
                <a:alpha val="20000"/>
              </a:srgbClr>
            </a:solidFill>
            <a:prstDash val="solid"/>
            <a:round/>
            <a:headEnd type="none" w="med" len="med"/>
            <a:tailEnd type="none" w="med" len="med"/>
          </a:ln>
        </p:spPr>
      </p:cxnSp>
      <p:sp>
        <p:nvSpPr>
          <p:cNvPr id="8" name="AutoShape 8"/>
          <p:cNvSpPr/>
          <p:nvPr/>
        </p:nvSpPr>
        <p:spPr>
          <a:xfrm>
            <a:off x="952500" y="2794000"/>
            <a:ext cx="3111500" cy="1079500"/>
          </a:xfrm>
          <a:prstGeom prst="roundRect">
            <a:avLst>
              <a:gd name="adj" fmla="val 0"/>
            </a:avLst>
          </a:prstGeom>
          <a:solidFill>
            <a:srgbClr val="10B981">
              <a:alpha val="8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041400" y="2857500"/>
            <a:ext cx="2921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64E3B"/>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核心架构理解</a:t>
            </a:r>
            <a:endParaRPr lang="en-US" sz="1100"/>
          </a:p>
        </p:txBody>
      </p:sp>
      <p:sp>
        <p:nvSpPr>
          <p:cNvPr id="10" name="AutoShape 10"/>
          <p:cNvSpPr/>
          <p:nvPr/>
        </p:nvSpPr>
        <p:spPr>
          <a:xfrm>
            <a:off x="1041400" y="3200400"/>
            <a:ext cx="2921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清晰认知现代数据技术栈的五个核心模块，掌握各组件在数据处理全流程中的关键职责与分工。</a:t>
            </a:r>
            <a:endParaRPr lang="en-US" sz="1100"/>
          </a:p>
        </p:txBody>
      </p:sp>
      <p:sp>
        <p:nvSpPr>
          <p:cNvPr id="11" name="AutoShape 11"/>
          <p:cNvSpPr/>
          <p:nvPr/>
        </p:nvSpPr>
        <p:spPr>
          <a:xfrm>
            <a:off x="952500" y="4000500"/>
            <a:ext cx="3111500" cy="1079500"/>
          </a:xfrm>
          <a:prstGeom prst="roundRect">
            <a:avLst>
              <a:gd name="adj" fmla="val 0"/>
            </a:avLst>
          </a:prstGeom>
          <a:solidFill>
            <a:srgbClr val="10B981">
              <a:alpha val="8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1041400" y="4064000"/>
            <a:ext cx="2921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64E3B"/>
                </a:solidFill>
                <a:latin typeface="Noto Sans SC" panose="020B0200000000000000" charset="-122"/>
                <a:ea typeface="Noto Sans SC" panose="020B0200000000000000" charset="-122"/>
                <a:cs typeface="Noto Sans SC" panose="020B0200000000000000" charset="-122"/>
                <a:sym typeface="Noto Sans SC" panose="020B0200000000000000" charset="-122"/>
              </a:rPr>
              <a:t>架构模式辨析</a:t>
            </a:r>
            <a:endParaRPr lang="en-US" sz="1100"/>
          </a:p>
        </p:txBody>
      </p:sp>
      <p:sp>
        <p:nvSpPr>
          <p:cNvPr id="13" name="AutoShape 13"/>
          <p:cNvSpPr/>
          <p:nvPr/>
        </p:nvSpPr>
        <p:spPr>
          <a:xfrm>
            <a:off x="1041400" y="4406900"/>
            <a:ext cx="2921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准确区分数据仓库、数据湖与湖仓一体的定位差异；初步了解Data Mesh等前沿架构的设计理念。</a:t>
            </a:r>
            <a:endParaRPr lang="en-US" sz="1100"/>
          </a:p>
        </p:txBody>
      </p:sp>
      <p:sp>
        <p:nvSpPr>
          <p:cNvPr id="14" name="AutoShape 14"/>
          <p:cNvSpPr/>
          <p:nvPr/>
        </p:nvSpPr>
        <p:spPr>
          <a:xfrm>
            <a:off x="952500" y="5270500"/>
            <a:ext cx="3111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建立对数据基础设施的基础认知框架，为后续技术学习打下理论基石。</a:t>
            </a:r>
            <a:endParaRPr lang="en-US" sz="1100"/>
          </a:p>
        </p:txBody>
      </p:sp>
      <p:sp>
        <p:nvSpPr>
          <p:cNvPr id="15" name="AutoShape 15"/>
          <p:cNvSpPr/>
          <p:nvPr/>
        </p:nvSpPr>
        <p:spPr>
          <a:xfrm>
            <a:off x="4470400" y="1651000"/>
            <a:ext cx="3492500" cy="4318000"/>
          </a:xfrm>
          <a:prstGeom prst="roundRect">
            <a:avLst>
              <a:gd name="adj" fmla="val 0"/>
            </a:avLst>
          </a:prstGeom>
          <a:solidFill>
            <a:srgbClr val="FFFFFF">
              <a:alpha val="94000"/>
            </a:srgbClr>
          </a:solidFill>
          <a:ln w="12700" cap="flat" cmpd="sng">
            <a:solidFill>
              <a:srgbClr val="10B981">
                <a:alpha val="30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4470400" y="1651000"/>
            <a:ext cx="3492500" cy="508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4660900" y="1841500"/>
            <a:ext cx="3111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能力目标</a:t>
            </a:r>
            <a:r>
              <a:rPr lang="en-US" sz="14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 Skill</a:t>
            </a:r>
            <a:endParaRPr lang="en-US" sz="1100"/>
          </a:p>
        </p:txBody>
      </p:sp>
      <p:cxnSp>
        <p:nvCxnSpPr>
          <p:cNvPr id="18" name="Connector 18"/>
          <p:cNvCxnSpPr/>
          <p:nvPr/>
        </p:nvCxnSpPr>
        <p:spPr>
          <a:xfrm rot="-14031">
            <a:off x="4660913" y="2597150"/>
            <a:ext cx="3111500" cy="12700"/>
          </a:xfrm>
          <a:prstGeom prst="straightConnector1">
            <a:avLst/>
          </a:prstGeom>
          <a:solidFill>
            <a:srgbClr val="DEE0E3">
              <a:alpha val="100000"/>
            </a:srgbClr>
          </a:solidFill>
          <a:ln w="12700" cap="flat" cmpd="sng">
            <a:solidFill>
              <a:srgbClr val="10B981">
                <a:alpha val="20000"/>
              </a:srgbClr>
            </a:solidFill>
            <a:prstDash val="solid"/>
            <a:round/>
            <a:headEnd type="none" w="med" len="med"/>
            <a:tailEnd type="none" w="med" len="med"/>
          </a:ln>
        </p:spPr>
      </p:cxnSp>
      <p:sp>
        <p:nvSpPr>
          <p:cNvPr id="19" name="AutoShape 19"/>
          <p:cNvSpPr/>
          <p:nvPr/>
        </p:nvSpPr>
        <p:spPr>
          <a:xfrm>
            <a:off x="4660900" y="2794000"/>
            <a:ext cx="3111500" cy="1079500"/>
          </a:xfrm>
          <a:prstGeom prst="roundRect">
            <a:avLst>
              <a:gd name="adj" fmla="val 0"/>
            </a:avLst>
          </a:prstGeom>
          <a:solidFill>
            <a:srgbClr val="10B981">
              <a:alpha val="8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4749800" y="2857500"/>
            <a:ext cx="2921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64E3B"/>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技术选型应用</a:t>
            </a:r>
            <a:endParaRPr lang="en-US" sz="1100"/>
          </a:p>
        </p:txBody>
      </p:sp>
      <p:sp>
        <p:nvSpPr>
          <p:cNvPr id="21" name="AutoShape 21"/>
          <p:cNvSpPr/>
          <p:nvPr/>
        </p:nvSpPr>
        <p:spPr>
          <a:xfrm>
            <a:off x="4749800" y="3200400"/>
            <a:ext cx="2921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基于给定的业务场景与数据量级，能够独立分析需求，初步筛选并组合适配的大数据技术组件。</a:t>
            </a:r>
            <a:endParaRPr lang="en-US" sz="1100"/>
          </a:p>
        </p:txBody>
      </p:sp>
      <p:sp>
        <p:nvSpPr>
          <p:cNvPr id="22" name="AutoShape 22"/>
          <p:cNvSpPr/>
          <p:nvPr/>
        </p:nvSpPr>
        <p:spPr>
          <a:xfrm>
            <a:off x="4660900" y="4000500"/>
            <a:ext cx="3111500" cy="1079500"/>
          </a:xfrm>
          <a:prstGeom prst="roundRect">
            <a:avLst>
              <a:gd name="adj" fmla="val 0"/>
            </a:avLst>
          </a:prstGeom>
          <a:solidFill>
            <a:srgbClr val="10B981">
              <a:alpha val="8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4749800" y="4064000"/>
            <a:ext cx="2921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64E3B"/>
                </a:solidFill>
                <a:latin typeface="Noto Sans SC" panose="020B0200000000000000" charset="-122"/>
                <a:ea typeface="Noto Sans SC" panose="020B0200000000000000" charset="-122"/>
                <a:cs typeface="Noto Sans SC" panose="020B0200000000000000" charset="-122"/>
                <a:sym typeface="Noto Sans SC" panose="020B0200000000000000" charset="-122"/>
              </a:rPr>
              <a:t>架构绘制实践</a:t>
            </a:r>
            <a:endParaRPr lang="en-US" sz="1100"/>
          </a:p>
        </p:txBody>
      </p:sp>
      <p:sp>
        <p:nvSpPr>
          <p:cNvPr id="24" name="AutoShape 24"/>
          <p:cNvSpPr/>
          <p:nvPr/>
        </p:nvSpPr>
        <p:spPr>
          <a:xfrm>
            <a:off x="4749800" y="4406900"/>
            <a:ext cx="2921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将抽象的业务逻辑转化为具象的技术架构图，清晰描述数据从采集、处理到存储的完整流转链路。</a:t>
            </a:r>
            <a:endParaRPr lang="en-US" sz="1100"/>
          </a:p>
        </p:txBody>
      </p:sp>
      <p:sp>
        <p:nvSpPr>
          <p:cNvPr id="25" name="AutoShape 25"/>
          <p:cNvSpPr/>
          <p:nvPr/>
        </p:nvSpPr>
        <p:spPr>
          <a:xfrm>
            <a:off x="4660900" y="5270500"/>
            <a:ext cx="3111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培养动手实践能力，将理论知识转化为解决实际工程问题的基本技能。</a:t>
            </a:r>
            <a:endParaRPr lang="en-US" sz="1100"/>
          </a:p>
        </p:txBody>
      </p:sp>
      <p:sp>
        <p:nvSpPr>
          <p:cNvPr id="26" name="AutoShape 26"/>
          <p:cNvSpPr/>
          <p:nvPr/>
        </p:nvSpPr>
        <p:spPr>
          <a:xfrm>
            <a:off x="8191500" y="1651000"/>
            <a:ext cx="3492500" cy="4318000"/>
          </a:xfrm>
          <a:prstGeom prst="roundRect">
            <a:avLst>
              <a:gd name="adj" fmla="val 0"/>
            </a:avLst>
          </a:prstGeom>
          <a:solidFill>
            <a:srgbClr val="FFFFFF">
              <a:alpha val="94000"/>
            </a:srgbClr>
          </a:solidFill>
          <a:ln w="12700" cap="flat" cmpd="sng">
            <a:solidFill>
              <a:srgbClr val="10B981">
                <a:alpha val="30000"/>
              </a:srgbClr>
            </a:solidFill>
            <a:prstDash val="solid"/>
            <a:round/>
          </a:ln>
        </p:spPr>
        <p:txBody>
          <a:bodyPr vert="horz" wrap="square" lIns="63500" tIns="63500" rIns="63500" bIns="63500" rtlCol="0" anchor="ctr"/>
          <a:lstStyle/>
          <a:p>
            <a:pPr algn="ctr">
              <a:defRPr/>
            </a:pPr>
          </a:p>
        </p:txBody>
      </p:sp>
      <p:sp>
        <p:nvSpPr>
          <p:cNvPr id="27" name="AutoShape 27"/>
          <p:cNvSpPr/>
          <p:nvPr/>
        </p:nvSpPr>
        <p:spPr>
          <a:xfrm>
            <a:off x="8191500" y="1651000"/>
            <a:ext cx="3492500" cy="508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28"/>
          <p:cNvSpPr/>
          <p:nvPr/>
        </p:nvSpPr>
        <p:spPr>
          <a:xfrm>
            <a:off x="8382000" y="1841500"/>
            <a:ext cx="3111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素养目标</a:t>
            </a:r>
            <a:r>
              <a:rPr lang="en-US" sz="14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 Competency</a:t>
            </a:r>
            <a:endParaRPr lang="en-US" sz="1100"/>
          </a:p>
        </p:txBody>
      </p:sp>
      <p:cxnSp>
        <p:nvCxnSpPr>
          <p:cNvPr id="29" name="Connector 29"/>
          <p:cNvCxnSpPr/>
          <p:nvPr/>
        </p:nvCxnSpPr>
        <p:spPr>
          <a:xfrm rot="-14031">
            <a:off x="8382013" y="2597150"/>
            <a:ext cx="3111500" cy="12700"/>
          </a:xfrm>
          <a:prstGeom prst="straightConnector1">
            <a:avLst/>
          </a:prstGeom>
          <a:solidFill>
            <a:srgbClr val="DEE0E3">
              <a:alpha val="100000"/>
            </a:srgbClr>
          </a:solidFill>
          <a:ln w="12700" cap="flat" cmpd="sng">
            <a:solidFill>
              <a:srgbClr val="10B981">
                <a:alpha val="20000"/>
              </a:srgbClr>
            </a:solidFill>
            <a:prstDash val="solid"/>
            <a:round/>
            <a:headEnd type="none" w="med" len="med"/>
            <a:tailEnd type="none" w="med" len="med"/>
          </a:ln>
        </p:spPr>
      </p:cxnSp>
      <p:sp>
        <p:nvSpPr>
          <p:cNvPr id="30" name="AutoShape 30"/>
          <p:cNvSpPr/>
          <p:nvPr/>
        </p:nvSpPr>
        <p:spPr>
          <a:xfrm>
            <a:off x="8382000" y="2794000"/>
            <a:ext cx="3111500" cy="1079500"/>
          </a:xfrm>
          <a:prstGeom prst="roundRect">
            <a:avLst>
              <a:gd name="adj" fmla="val 0"/>
            </a:avLst>
          </a:prstGeom>
          <a:solidFill>
            <a:srgbClr val="10B981">
              <a:alpha val="8000"/>
            </a:srgbClr>
          </a:solidFill>
          <a:ln w="25400" cap="flat" cmpd="sng">
            <a:noFill/>
            <a:prstDash val="solid"/>
            <a:round/>
          </a:ln>
        </p:spPr>
        <p:txBody>
          <a:bodyPr vert="horz" wrap="square" lIns="63500" tIns="63500" rIns="63500" bIns="63500" rtlCol="0" anchor="ctr"/>
          <a:lstStyle/>
          <a:p>
            <a:pPr algn="ctr">
              <a:defRPr/>
            </a:pPr>
          </a:p>
        </p:txBody>
      </p:sp>
      <p:sp>
        <p:nvSpPr>
          <p:cNvPr id="31" name="AutoShape 31"/>
          <p:cNvSpPr/>
          <p:nvPr/>
        </p:nvSpPr>
        <p:spPr>
          <a:xfrm>
            <a:off x="8470900" y="2857500"/>
            <a:ext cx="2921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64E3B"/>
                </a:solidFill>
                <a:latin typeface="Noto Sans SC" panose="020B0200000000000000" charset="-122"/>
                <a:ea typeface="Noto Sans SC" panose="020B0200000000000000" charset="-122"/>
                <a:cs typeface="Noto Sans SC" panose="020B0200000000000000" charset="-122"/>
                <a:sym typeface="Noto Sans SC" panose="020B0200000000000000" charset="-122"/>
              </a:rPr>
              <a:t>全景生态认知</a:t>
            </a:r>
            <a:endParaRPr lang="en-US" sz="1100"/>
          </a:p>
        </p:txBody>
      </p:sp>
      <p:sp>
        <p:nvSpPr>
          <p:cNvPr id="32" name="AutoShape 32"/>
          <p:cNvSpPr/>
          <p:nvPr/>
        </p:nvSpPr>
        <p:spPr>
          <a:xfrm>
            <a:off x="8470900" y="3200400"/>
            <a:ext cx="2921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跳出单一工具视角，建立对现代大数据技术生态的宏观视野，形成技术体系化与全局化的思维模式。</a:t>
            </a:r>
            <a:endParaRPr lang="en-US" sz="1100"/>
          </a:p>
        </p:txBody>
      </p:sp>
      <p:sp>
        <p:nvSpPr>
          <p:cNvPr id="33" name="AutoShape 33"/>
          <p:cNvSpPr/>
          <p:nvPr/>
        </p:nvSpPr>
        <p:spPr>
          <a:xfrm>
            <a:off x="8382000" y="4000500"/>
            <a:ext cx="3111500" cy="1079500"/>
          </a:xfrm>
          <a:prstGeom prst="roundRect">
            <a:avLst>
              <a:gd name="adj" fmla="val 0"/>
            </a:avLst>
          </a:prstGeom>
          <a:solidFill>
            <a:srgbClr val="10B981">
              <a:alpha val="8000"/>
            </a:srgbClr>
          </a:solidFill>
          <a:ln w="25400" cap="flat" cmpd="sng">
            <a:noFill/>
            <a:prstDash val="solid"/>
            <a:round/>
          </a:ln>
        </p:spPr>
        <p:txBody>
          <a:bodyPr vert="horz" wrap="square" lIns="63500" tIns="63500" rIns="63500" bIns="63500" rtlCol="0" anchor="ctr"/>
          <a:lstStyle/>
          <a:p>
            <a:pPr algn="ctr">
              <a:defRPr/>
            </a:pPr>
          </a:p>
        </p:txBody>
      </p:sp>
      <p:sp>
        <p:nvSpPr>
          <p:cNvPr id="34" name="AutoShape 34"/>
          <p:cNvSpPr/>
          <p:nvPr/>
        </p:nvSpPr>
        <p:spPr>
          <a:xfrm>
            <a:off x="8470900" y="4064000"/>
            <a:ext cx="2921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64E3B"/>
                </a:solidFill>
                <a:latin typeface="Noto Sans SC" panose="020B0200000000000000" charset="-122"/>
                <a:ea typeface="Noto Sans SC" panose="020B0200000000000000" charset="-122"/>
                <a:cs typeface="Noto Sans SC" panose="020B0200000000000000" charset="-122"/>
                <a:sym typeface="Noto Sans SC" panose="020B0200000000000000" charset="-122"/>
              </a:rPr>
              <a:t>工程判断思维</a:t>
            </a:r>
            <a:endParaRPr lang="en-US" sz="1100"/>
          </a:p>
        </p:txBody>
      </p:sp>
      <p:sp>
        <p:nvSpPr>
          <p:cNvPr id="35" name="AutoShape 35"/>
          <p:cNvSpPr/>
          <p:nvPr/>
        </p:nvSpPr>
        <p:spPr>
          <a:xfrm>
            <a:off x="8470900" y="4406900"/>
            <a:ext cx="2921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面对复杂多变的业务挑战，学会权衡技术方案的利弊，培养科学的技术选型与抽象化解决问题的能力。</a:t>
            </a:r>
            <a:endParaRPr lang="en-US" sz="1100"/>
          </a:p>
        </p:txBody>
      </p:sp>
      <p:sp>
        <p:nvSpPr>
          <p:cNvPr id="36" name="AutoShape 36"/>
          <p:cNvSpPr/>
          <p:nvPr/>
        </p:nvSpPr>
        <p:spPr>
          <a:xfrm>
            <a:off x="8382000" y="5270500"/>
            <a:ext cx="3111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提升技术认知维度，为未来从事更高级的数据架构设计与系统建设储备核心素养。</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教学重难点：重点与难点解析</a:t>
            </a:r>
            <a:endParaRPr lang="en-US" sz="1100"/>
          </a:p>
        </p:txBody>
      </p:sp>
      <p:sp>
        <p:nvSpPr>
          <p:cNvPr id="4" name="AutoShape 4"/>
          <p:cNvSpPr/>
          <p:nvPr/>
        </p:nvSpPr>
        <p:spPr>
          <a:xfrm>
            <a:off x="762000" y="1651000"/>
            <a:ext cx="5207000" cy="4572000"/>
          </a:xfrm>
          <a:prstGeom prst="roundRect">
            <a:avLst>
              <a:gd name="adj" fmla="val 0"/>
            </a:avLst>
          </a:prstGeom>
          <a:solidFill>
            <a:srgbClr val="FFFFFF">
              <a:alpha val="95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5207000" cy="508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841500"/>
            <a:ext cx="469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教学重点 Key Points</a:t>
            </a:r>
            <a:endParaRPr lang="en-US" sz="1100"/>
          </a:p>
        </p:txBody>
      </p:sp>
      <p:sp>
        <p:nvSpPr>
          <p:cNvPr id="7" name="AutoShape 7"/>
          <p:cNvSpPr/>
          <p:nvPr/>
        </p:nvSpPr>
        <p:spPr>
          <a:xfrm>
            <a:off x="1016000" y="2540000"/>
            <a:ext cx="4699000" cy="1587500"/>
          </a:xfrm>
          <a:prstGeom prst="roundRect">
            <a:avLst>
              <a:gd name="adj" fmla="val 0"/>
            </a:avLst>
          </a:prstGeom>
          <a:solidFill>
            <a:srgbClr val="10B981">
              <a:alpha val="8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143000" y="2667000"/>
            <a:ext cx="4445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存储方案辨析：数据仓库 vs 数据湖 vs 湖仓一体</a:t>
            </a:r>
            <a:endParaRPr lang="en-US" sz="1100"/>
          </a:p>
        </p:txBody>
      </p:sp>
      <p:sp>
        <p:nvSpPr>
          <p:cNvPr id="9" name="AutoShape 9"/>
          <p:cNvSpPr/>
          <p:nvPr/>
        </p:nvSpPr>
        <p:spPr>
          <a:xfrm>
            <a:off x="1143000" y="3111500"/>
            <a:ext cx="4445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深入理解三者在数据架构、数据模型及适用场景上的本质差异，这是构建现代化数据基础设施的核心基石。掌握不同存储范式如何支撑从离线批处理到实时分析的多样化业务需求，为后续平台选型提供理论依据。</a:t>
            </a:r>
            <a:endParaRPr lang="en-US" sz="1100"/>
          </a:p>
        </p:txBody>
      </p:sp>
      <p:sp>
        <p:nvSpPr>
          <p:cNvPr id="10" name="AutoShape 10"/>
          <p:cNvSpPr/>
          <p:nvPr/>
        </p:nvSpPr>
        <p:spPr>
          <a:xfrm>
            <a:off x="1016000" y="4254500"/>
            <a:ext cx="4699000" cy="1714500"/>
          </a:xfrm>
          <a:prstGeom prst="roundRect">
            <a:avLst>
              <a:gd name="adj" fmla="val 0"/>
            </a:avLst>
          </a:prstGeom>
          <a:solidFill>
            <a:srgbClr val="10B981">
              <a:alpha val="8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143000" y="4381500"/>
            <a:ext cx="4445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计算引擎核心对比：Spark 与 Flink</a:t>
            </a:r>
            <a:endParaRPr lang="en-US" sz="1100"/>
          </a:p>
        </p:txBody>
      </p:sp>
      <p:sp>
        <p:nvSpPr>
          <p:cNvPr id="12" name="AutoShape 12"/>
          <p:cNvSpPr/>
          <p:nvPr/>
        </p:nvSpPr>
        <p:spPr>
          <a:xfrm>
            <a:off x="1143000" y="4826000"/>
            <a:ext cx="4445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剖析两大主流计算引擎的设计哲学、核心技术栈与应用定位。理解批流一体架构的演进逻辑，以及它们在处理海量数据时的性能特点与适用边界，是掌握大数据处理技术的关键环节。</a:t>
            </a:r>
            <a:endParaRPr lang="en-US" sz="1100"/>
          </a:p>
        </p:txBody>
      </p:sp>
      <p:cxnSp>
        <p:nvCxnSpPr>
          <p:cNvPr id="13" name="Connector 13"/>
          <p:cNvCxnSpPr/>
          <p:nvPr/>
        </p:nvCxnSpPr>
        <p:spPr>
          <a:xfrm rot="5390450">
            <a:off x="3937000" y="3930659"/>
            <a:ext cx="4572000" cy="12700"/>
          </a:xfrm>
          <a:prstGeom prst="straightConnector1">
            <a:avLst/>
          </a:prstGeom>
          <a:solidFill>
            <a:srgbClr val="DEE0E3">
              <a:alpha val="100000"/>
            </a:srgbClr>
          </a:solidFill>
          <a:ln w="12700" cap="flat" cmpd="sng">
            <a:solidFill>
              <a:srgbClr val="1F2937">
                <a:alpha val="15000"/>
              </a:srgbClr>
            </a:solidFill>
            <a:prstDash val="solid"/>
            <a:round/>
            <a:headEnd type="none" w="med" len="med"/>
            <a:tailEnd type="none" w="med" len="med"/>
          </a:ln>
        </p:spPr>
      </p:cxnSp>
      <p:sp>
        <p:nvSpPr>
          <p:cNvPr id="14" name="AutoShape 14"/>
          <p:cNvSpPr/>
          <p:nvPr/>
        </p:nvSpPr>
        <p:spPr>
          <a:xfrm>
            <a:off x="6477000" y="1651000"/>
            <a:ext cx="5207000" cy="4572000"/>
          </a:xfrm>
          <a:prstGeom prst="roundRect">
            <a:avLst>
              <a:gd name="adj" fmla="val 0"/>
            </a:avLst>
          </a:prstGeom>
          <a:solidFill>
            <a:srgbClr val="FFFFFF">
              <a:alpha val="95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6477000" y="1651000"/>
            <a:ext cx="5207000" cy="508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6731000" y="1841500"/>
            <a:ext cx="469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教学难点 Challenges</a:t>
            </a:r>
            <a:endParaRPr lang="en-US" sz="1100"/>
          </a:p>
        </p:txBody>
      </p:sp>
      <p:sp>
        <p:nvSpPr>
          <p:cNvPr id="17" name="AutoShape 17"/>
          <p:cNvSpPr/>
          <p:nvPr/>
        </p:nvSpPr>
        <p:spPr>
          <a:xfrm>
            <a:off x="6731000" y="2540000"/>
            <a:ext cx="4699000" cy="1587500"/>
          </a:xfrm>
          <a:prstGeom prst="roundRect">
            <a:avLst>
              <a:gd name="adj" fmla="val 0"/>
            </a:avLst>
          </a:prstGeom>
          <a:solidFill>
            <a:srgbClr val="F3F4F6">
              <a:alpha val="9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6858000" y="2667000"/>
            <a:ext cx="4445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前沿架构理解：Data Mesh 与 Data Fabric</a:t>
            </a:r>
            <a:endParaRPr lang="en-US" sz="1100"/>
          </a:p>
        </p:txBody>
      </p:sp>
      <p:sp>
        <p:nvSpPr>
          <p:cNvPr id="19" name="AutoShape 19"/>
          <p:cNvSpPr/>
          <p:nvPr/>
        </p:nvSpPr>
        <p:spPr>
          <a:xfrm>
            <a:off x="6858000" y="3111500"/>
            <a:ext cx="4445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这不仅是技术架构的升级，更是数据治理范式的根本性变革。难点在于理解如何通过领域驱动设计（DDD）实现数据的去中心化，以及如何通过智能化编织打破孤岛，建立全局统一的数据服务能力，这需要对业务和技术有深度的融合认知。</a:t>
            </a:r>
            <a:endParaRPr lang="en-US" sz="1100"/>
          </a:p>
        </p:txBody>
      </p:sp>
      <p:sp>
        <p:nvSpPr>
          <p:cNvPr id="20" name="AutoShape 20"/>
          <p:cNvSpPr/>
          <p:nvPr/>
        </p:nvSpPr>
        <p:spPr>
          <a:xfrm>
            <a:off x="6731000" y="4254500"/>
            <a:ext cx="4699000" cy="1714500"/>
          </a:xfrm>
          <a:prstGeom prst="roundRect">
            <a:avLst>
              <a:gd name="adj" fmla="val 0"/>
            </a:avLst>
          </a:prstGeom>
          <a:solidFill>
            <a:srgbClr val="F3F4F6">
              <a:alpha val="9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6858000" y="4381500"/>
            <a:ext cx="4445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体系化思维：技术组件的有机协同</a:t>
            </a:r>
            <a:endParaRPr lang="en-US" sz="1100"/>
          </a:p>
        </p:txBody>
      </p:sp>
      <p:sp>
        <p:nvSpPr>
          <p:cNvPr id="22" name="AutoShape 22"/>
          <p:cNvSpPr/>
          <p:nvPr/>
        </p:nvSpPr>
        <p:spPr>
          <a:xfrm>
            <a:off x="6858000" y="4826000"/>
            <a:ext cx="4445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如何将分散的采集、存储、计算与服务组件串联成一个高效的整体，解决复杂业务场景下的端到端数据流动问题。重点在于培养系统观，理解各模块间的耦合关系与交互逻辑，从而能够独立设计出高可用、可扩展的企业级数据解决方案。</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我们身边的大数据问题</a:t>
            </a:r>
            <a:endParaRPr lang="en-US" sz="1100"/>
          </a:p>
        </p:txBody>
      </p:sp>
      <p:sp>
        <p:nvSpPr>
          <p:cNvPr id="4" name="AutoShape 4"/>
          <p:cNvSpPr/>
          <p:nvPr/>
        </p:nvSpPr>
        <p:spPr>
          <a:xfrm>
            <a:off x="762000" y="1651000"/>
            <a:ext cx="3429000" cy="2984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3429000" cy="508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841500"/>
            <a:ext cx="3048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存储挑战</a:t>
            </a:r>
            <a:endParaRPr lang="en-US" sz="1100"/>
          </a:p>
        </p:txBody>
      </p:sp>
      <p:sp>
        <p:nvSpPr>
          <p:cNvPr id="7" name="AutoShape 7"/>
          <p:cNvSpPr/>
          <p:nvPr/>
        </p:nvSpPr>
        <p:spPr>
          <a:xfrm>
            <a:off x="952500" y="2413000"/>
            <a:ext cx="3048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互联网公司拥有数亿级活跃用户，每日业务运行会产生海量TB级的行为日志与业务流水，数据量呈指数级增长。</a:t>
            </a:r>
            <a:endParaRPr lang="en-US" sz="1100"/>
          </a:p>
        </p:txBody>
      </p:sp>
      <p:sp>
        <p:nvSpPr>
          <p:cNvPr id="8" name="AutoShape 8"/>
          <p:cNvSpPr/>
          <p:nvPr/>
        </p:nvSpPr>
        <p:spPr>
          <a:xfrm>
            <a:off x="952500" y="3556000"/>
            <a:ext cx="3048000" cy="952500"/>
          </a:xfrm>
          <a:prstGeom prst="roundRect">
            <a:avLst>
              <a:gd name="adj" fmla="val 0"/>
            </a:avLst>
          </a:prstGeom>
          <a:solidFill>
            <a:srgbClr val="10B981">
              <a:alpha val="8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079500" y="3657600"/>
            <a:ext cx="2794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核心问题：如何低成本、高可靠地存储这些海量数据资产？</a:t>
            </a:r>
            <a:endParaRPr lang="en-US" sz="1100"/>
          </a:p>
        </p:txBody>
      </p:sp>
      <p:sp>
        <p:nvSpPr>
          <p:cNvPr id="10" name="AutoShape 10"/>
          <p:cNvSpPr/>
          <p:nvPr/>
        </p:nvSpPr>
        <p:spPr>
          <a:xfrm>
            <a:off x="4381500" y="1651000"/>
            <a:ext cx="3429000" cy="2984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4381500" y="1651000"/>
            <a:ext cx="3429000" cy="508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4572000" y="1841500"/>
            <a:ext cx="3048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计算挑战</a:t>
            </a:r>
            <a:endParaRPr lang="en-US" sz="1100"/>
          </a:p>
        </p:txBody>
      </p:sp>
      <p:sp>
        <p:nvSpPr>
          <p:cNvPr id="13" name="AutoShape 13"/>
          <p:cNvSpPr/>
          <p:nvPr/>
        </p:nvSpPr>
        <p:spPr>
          <a:xfrm>
            <a:off x="4572000" y="2413000"/>
            <a:ext cx="3048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电商大促零点峰值、实时风控场景下，系统需要在毫秒级延迟内完成海量并发数据的清洗、聚合与计算，并实时推送到业务大屏。</a:t>
            </a:r>
            <a:endParaRPr lang="en-US" sz="1100"/>
          </a:p>
        </p:txBody>
      </p:sp>
      <p:sp>
        <p:nvSpPr>
          <p:cNvPr id="14" name="AutoShape 14"/>
          <p:cNvSpPr/>
          <p:nvPr/>
        </p:nvSpPr>
        <p:spPr>
          <a:xfrm>
            <a:off x="4572000" y="3556000"/>
            <a:ext cx="3048000" cy="952500"/>
          </a:xfrm>
          <a:prstGeom prst="roundRect">
            <a:avLst>
              <a:gd name="adj" fmla="val 0"/>
            </a:avLst>
          </a:prstGeom>
          <a:solidFill>
            <a:srgbClr val="10B981">
              <a:alpha val="8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4699000" y="3657600"/>
            <a:ext cx="2794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核心问题：如何在海量高并发下快速处理数据并响应业务？</a:t>
            </a:r>
            <a:endParaRPr lang="en-US" sz="1100"/>
          </a:p>
        </p:txBody>
      </p:sp>
      <p:sp>
        <p:nvSpPr>
          <p:cNvPr id="16" name="AutoShape 16"/>
          <p:cNvSpPr/>
          <p:nvPr/>
        </p:nvSpPr>
        <p:spPr>
          <a:xfrm>
            <a:off x="8001000" y="1651000"/>
            <a:ext cx="3429000" cy="2984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8001000" y="1651000"/>
            <a:ext cx="3429000" cy="508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8191500" y="1841500"/>
            <a:ext cx="3048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管理挑战</a:t>
            </a:r>
            <a:endParaRPr lang="en-US" sz="1100"/>
          </a:p>
        </p:txBody>
      </p:sp>
      <p:sp>
        <p:nvSpPr>
          <p:cNvPr id="19" name="AutoShape 19"/>
          <p:cNvSpPr/>
          <p:nvPr/>
        </p:nvSpPr>
        <p:spPr>
          <a:xfrm>
            <a:off x="8191500" y="2413000"/>
            <a:ext cx="3048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企业内部往往沉淀了成百上千张数据表，元数据分散、定义不统一。当业务人员需要关键业务指标（如用户留存）时，常常陷入数据孤岛。</a:t>
            </a:r>
            <a:endParaRPr lang="en-US" sz="1100"/>
          </a:p>
        </p:txBody>
      </p:sp>
      <p:sp>
        <p:nvSpPr>
          <p:cNvPr id="20" name="AutoShape 20"/>
          <p:cNvSpPr/>
          <p:nvPr/>
        </p:nvSpPr>
        <p:spPr>
          <a:xfrm>
            <a:off x="8191500" y="3556000"/>
            <a:ext cx="3048000" cy="952500"/>
          </a:xfrm>
          <a:prstGeom prst="roundRect">
            <a:avLst>
              <a:gd name="adj" fmla="val 0"/>
            </a:avLst>
          </a:prstGeom>
          <a:solidFill>
            <a:srgbClr val="10B981">
              <a:alpha val="8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8318500" y="3657600"/>
            <a:ext cx="2794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核心问题：如何有效治理数据资产，降低使用门槛？</a:t>
            </a:r>
            <a:endParaRPr lang="en-US" sz="1100"/>
          </a:p>
        </p:txBody>
      </p:sp>
      <p:sp>
        <p:nvSpPr>
          <p:cNvPr id="22" name="AutoShape 22"/>
          <p:cNvSpPr/>
          <p:nvPr/>
        </p:nvSpPr>
        <p:spPr>
          <a:xfrm>
            <a:off x="762000" y="4889500"/>
            <a:ext cx="10668000" cy="1587500"/>
          </a:xfrm>
          <a:prstGeom prst="roundRect">
            <a:avLst>
              <a:gd name="adj" fmla="val 0"/>
            </a:avLst>
          </a:prstGeom>
          <a:solidFill>
            <a:srgbClr val="10B981">
              <a:alpha val="9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1079500" y="5054600"/>
            <a:ext cx="1003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技术破局：现代数据技术栈的核心使命</a:t>
            </a:r>
            <a:endParaRPr lang="en-US" sz="1100"/>
          </a:p>
        </p:txBody>
      </p:sp>
      <p:sp>
        <p:nvSpPr>
          <p:cNvPr id="24" name="AutoShape 24"/>
          <p:cNvSpPr/>
          <p:nvPr/>
        </p:nvSpPr>
        <p:spPr>
          <a:xfrm>
            <a:off x="1079500" y="5588000"/>
            <a:ext cx="10033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F0FDF4"/>
                </a:solidFill>
                <a:latin typeface="Noto Sans SC" panose="020B0200000000000000" charset="-122"/>
                <a:ea typeface="Noto Sans SC" panose="020B0200000000000000" charset="-122"/>
                <a:cs typeface="Noto Sans SC" panose="020B0200000000000000" charset="-122"/>
                <a:sym typeface="Noto Sans SC" panose="020B0200000000000000" charset="-122"/>
              </a:rPr>
              <a:t>上述问题是现代数据工程的起点。我们将通过一系列技术手段，从底层的分布式存储、高性能计算引擎到上层的数据治理体系，系统性地解决这些挑战，让数据从杂乱的资源转化为可被业务直接使用的核心生产力。</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现代数据技术栈全景图：五大核心模块</a:t>
            </a:r>
            <a:endParaRPr lang="en-US" sz="1100"/>
          </a:p>
        </p:txBody>
      </p:sp>
      <p:sp>
        <p:nvSpPr>
          <p:cNvPr id="4" name="AutoShape 4"/>
          <p:cNvSpPr/>
          <p:nvPr/>
        </p:nvSpPr>
        <p:spPr>
          <a:xfrm>
            <a:off x="762000" y="1651000"/>
            <a:ext cx="3505200" cy="2095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50800" cy="2095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778000"/>
            <a:ext cx="317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现代数据仓库 (MDW)</a:t>
            </a:r>
            <a:endParaRPr lang="en-US" sz="1100"/>
          </a:p>
        </p:txBody>
      </p:sp>
      <p:sp>
        <p:nvSpPr>
          <p:cNvPr id="7" name="AutoShape 7"/>
          <p:cNvSpPr/>
          <p:nvPr/>
        </p:nvSpPr>
        <p:spPr>
          <a:xfrm>
            <a:off x="952500" y="2286000"/>
            <a:ext cx="317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代表技术：ClickHouse, Snowflake</a:t>
            </a:r>
            <a:b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专为海量数据分析场景设计，实现亚秒级查询响应。</a:t>
            </a:r>
            <a:endParaRPr lang="en-US" sz="1100"/>
          </a:p>
        </p:txBody>
      </p:sp>
      <p:sp>
        <p:nvSpPr>
          <p:cNvPr id="8" name="AutoShape 8"/>
          <p:cNvSpPr/>
          <p:nvPr/>
        </p:nvSpPr>
        <p:spPr>
          <a:xfrm>
            <a:off x="952500" y="3048000"/>
            <a:ext cx="3238500" cy="571500"/>
          </a:xfrm>
          <a:prstGeom prst="roundRect">
            <a:avLst>
              <a:gd name="adj" fmla="val 0"/>
            </a:avLst>
          </a:prstGeom>
          <a:solidFill>
            <a:srgbClr val="10B981">
              <a:alpha val="12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016000" y="3098800"/>
            <a:ext cx="3111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065F46"/>
                </a:solidFill>
                <a:latin typeface="Noto Sans SC" panose="020B0200000000000000" charset="-122"/>
                <a:ea typeface="Noto Sans SC" panose="020B0200000000000000" charset="-122"/>
                <a:cs typeface="Noto Sans SC" panose="020B0200000000000000" charset="-122"/>
                <a:sym typeface="Noto Sans SC" panose="020B0200000000000000" charset="-122"/>
              </a:rPr>
              <a:t>面向分析的“超级档案柜”</a:t>
            </a:r>
            <a:endParaRPr lang="en-US" sz="1100"/>
          </a:p>
        </p:txBody>
      </p:sp>
      <p:sp>
        <p:nvSpPr>
          <p:cNvPr id="10" name="AutoShape 10"/>
          <p:cNvSpPr/>
          <p:nvPr/>
        </p:nvSpPr>
        <p:spPr>
          <a:xfrm>
            <a:off x="4470400" y="1651000"/>
            <a:ext cx="3505200" cy="2095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4470400" y="1651000"/>
            <a:ext cx="50800" cy="2095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4660900" y="1778000"/>
            <a:ext cx="317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湖仓一体架构</a:t>
            </a:r>
            <a:endParaRPr lang="en-US" sz="1100"/>
          </a:p>
        </p:txBody>
      </p:sp>
      <p:sp>
        <p:nvSpPr>
          <p:cNvPr id="13" name="AutoShape 13"/>
          <p:cNvSpPr/>
          <p:nvPr/>
        </p:nvSpPr>
        <p:spPr>
          <a:xfrm>
            <a:off x="4660900" y="2286000"/>
            <a:ext cx="317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代表技术：Databricks, Iceberg</a:t>
            </a:r>
            <a:b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融合数据湖的灵活性与数仓的治理能力，统一存储底座。</a:t>
            </a:r>
            <a:endParaRPr lang="en-US" sz="1100"/>
          </a:p>
        </p:txBody>
      </p:sp>
      <p:sp>
        <p:nvSpPr>
          <p:cNvPr id="14" name="AutoShape 14"/>
          <p:cNvSpPr/>
          <p:nvPr/>
        </p:nvSpPr>
        <p:spPr>
          <a:xfrm>
            <a:off x="4660900" y="3048000"/>
            <a:ext cx="3238500" cy="571500"/>
          </a:xfrm>
          <a:prstGeom prst="roundRect">
            <a:avLst>
              <a:gd name="adj" fmla="val 0"/>
            </a:avLst>
          </a:prstGeom>
          <a:solidFill>
            <a:srgbClr val="10B981">
              <a:alpha val="12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4724400" y="3098800"/>
            <a:ext cx="3111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065F46"/>
                </a:solidFill>
                <a:latin typeface="Noto Sans SC" panose="020B0200000000000000" charset="-122"/>
                <a:ea typeface="Noto Sans SC" panose="020B0200000000000000" charset="-122"/>
                <a:cs typeface="Noto Sans SC" panose="020B0200000000000000" charset="-122"/>
                <a:sym typeface="Noto Sans SC" panose="020B0200000000000000" charset="-122"/>
              </a:rPr>
              <a:t>从“数据沼泽”到“数据基地”</a:t>
            </a:r>
            <a:endParaRPr lang="en-US" sz="1100"/>
          </a:p>
        </p:txBody>
      </p:sp>
      <p:sp>
        <p:nvSpPr>
          <p:cNvPr id="16" name="AutoShape 16"/>
          <p:cNvSpPr/>
          <p:nvPr/>
        </p:nvSpPr>
        <p:spPr>
          <a:xfrm>
            <a:off x="8178800" y="1651000"/>
            <a:ext cx="3505200" cy="2095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8178800" y="1651000"/>
            <a:ext cx="50800" cy="2095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8369300" y="1778000"/>
            <a:ext cx="317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高性能计算引擎</a:t>
            </a:r>
            <a:endParaRPr lang="en-US" sz="1100"/>
          </a:p>
        </p:txBody>
      </p:sp>
      <p:sp>
        <p:nvSpPr>
          <p:cNvPr id="19" name="AutoShape 19"/>
          <p:cNvSpPr/>
          <p:nvPr/>
        </p:nvSpPr>
        <p:spPr>
          <a:xfrm>
            <a:off x="8369300" y="2286000"/>
            <a:ext cx="317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代表技术：Apache Spark, Flink</a:t>
            </a:r>
            <a:b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支持高吞吐离线批处理与低延迟实时流处理的统一执行层。</a:t>
            </a:r>
            <a:endParaRPr lang="en-US" sz="1100"/>
          </a:p>
        </p:txBody>
      </p:sp>
      <p:sp>
        <p:nvSpPr>
          <p:cNvPr id="20" name="AutoShape 20"/>
          <p:cNvSpPr/>
          <p:nvPr/>
        </p:nvSpPr>
        <p:spPr>
          <a:xfrm>
            <a:off x="8369300" y="3048000"/>
            <a:ext cx="3238500" cy="571500"/>
          </a:xfrm>
          <a:prstGeom prst="roundRect">
            <a:avLst>
              <a:gd name="adj" fmla="val 0"/>
            </a:avLst>
          </a:prstGeom>
          <a:solidFill>
            <a:srgbClr val="10B981">
              <a:alpha val="12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8432800" y="3098800"/>
            <a:ext cx="3111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065F46"/>
                </a:solidFill>
                <a:latin typeface="Noto Sans SC" panose="020B0200000000000000" charset="-122"/>
                <a:ea typeface="Noto Sans SC" panose="020B0200000000000000" charset="-122"/>
                <a:cs typeface="Noto Sans SC" panose="020B0200000000000000" charset="-122"/>
                <a:sym typeface="Noto Sans SC" panose="020B0200000000000000" charset="-122"/>
              </a:rPr>
              <a:t>大数据处理的“超级发动机”</a:t>
            </a:r>
            <a:endParaRPr lang="en-US" sz="1100"/>
          </a:p>
        </p:txBody>
      </p:sp>
      <p:sp>
        <p:nvSpPr>
          <p:cNvPr id="22" name="AutoShape 22"/>
          <p:cNvSpPr/>
          <p:nvPr/>
        </p:nvSpPr>
        <p:spPr>
          <a:xfrm>
            <a:off x="762000" y="4000500"/>
            <a:ext cx="3619500" cy="2222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762000" y="4000500"/>
            <a:ext cx="50800" cy="2222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952500" y="4127500"/>
            <a:ext cx="330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元数据管理平台</a:t>
            </a:r>
            <a:endParaRPr lang="en-US" sz="1100"/>
          </a:p>
        </p:txBody>
      </p:sp>
      <p:sp>
        <p:nvSpPr>
          <p:cNvPr id="25" name="AutoShape 25"/>
          <p:cNvSpPr/>
          <p:nvPr/>
        </p:nvSpPr>
        <p:spPr>
          <a:xfrm>
            <a:off x="952500" y="4635500"/>
            <a:ext cx="3302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代表技术：DataHub, OpenMetadata</a:t>
            </a:r>
            <a:b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自动采集资产信息，构建数据血缘与影响面分析，降低认知门槛。</a:t>
            </a:r>
            <a:endParaRPr lang="en-US" sz="1100"/>
          </a:p>
        </p:txBody>
      </p:sp>
      <p:sp>
        <p:nvSpPr>
          <p:cNvPr id="26" name="AutoShape 26"/>
          <p:cNvSpPr/>
          <p:nvPr/>
        </p:nvSpPr>
        <p:spPr>
          <a:xfrm>
            <a:off x="952500" y="5461000"/>
            <a:ext cx="3365500" cy="571500"/>
          </a:xfrm>
          <a:prstGeom prst="roundRect">
            <a:avLst>
              <a:gd name="adj" fmla="val 0"/>
            </a:avLst>
          </a:prstGeom>
          <a:solidFill>
            <a:srgbClr val="10B981">
              <a:alpha val="12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1016000" y="5511800"/>
            <a:ext cx="3238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065F46"/>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数据资产的“户口本”与导航图</a:t>
            </a:r>
            <a:endParaRPr lang="en-US" sz="1100"/>
          </a:p>
        </p:txBody>
      </p:sp>
      <p:sp>
        <p:nvSpPr>
          <p:cNvPr id="28" name="AutoShape 28"/>
          <p:cNvSpPr/>
          <p:nvPr/>
        </p:nvSpPr>
        <p:spPr>
          <a:xfrm>
            <a:off x="4635500" y="4000500"/>
            <a:ext cx="3619500" cy="2222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29" name="AutoShape 29"/>
          <p:cNvSpPr/>
          <p:nvPr/>
        </p:nvSpPr>
        <p:spPr>
          <a:xfrm>
            <a:off x="4635500" y="4000500"/>
            <a:ext cx="50800" cy="2222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30" name="AutoShape 30"/>
          <p:cNvSpPr/>
          <p:nvPr/>
        </p:nvSpPr>
        <p:spPr>
          <a:xfrm>
            <a:off x="4826000" y="4127500"/>
            <a:ext cx="330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下一代架构范式</a:t>
            </a:r>
            <a:endParaRPr lang="en-US" sz="1100"/>
          </a:p>
        </p:txBody>
      </p:sp>
      <p:sp>
        <p:nvSpPr>
          <p:cNvPr id="31" name="AutoShape 31"/>
          <p:cNvSpPr/>
          <p:nvPr/>
        </p:nvSpPr>
        <p:spPr>
          <a:xfrm>
            <a:off x="4826000" y="4635500"/>
            <a:ext cx="3302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代表理念：Data Mesh, Data Fabric</a:t>
            </a:r>
            <a:b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去中心化的领域驱动设计，将数据视为产品，提升组织敏捷性。</a:t>
            </a:r>
            <a:endParaRPr lang="en-US" sz="1100"/>
          </a:p>
        </p:txBody>
      </p:sp>
      <p:sp>
        <p:nvSpPr>
          <p:cNvPr id="32" name="AutoShape 32"/>
          <p:cNvSpPr/>
          <p:nvPr/>
        </p:nvSpPr>
        <p:spPr>
          <a:xfrm>
            <a:off x="4826000" y="5461000"/>
            <a:ext cx="3365500" cy="571500"/>
          </a:xfrm>
          <a:prstGeom prst="roundRect">
            <a:avLst>
              <a:gd name="adj" fmla="val 0"/>
            </a:avLst>
          </a:prstGeom>
          <a:solidFill>
            <a:srgbClr val="10B981">
              <a:alpha val="12000"/>
            </a:srgbClr>
          </a:solidFill>
          <a:ln w="25400" cap="flat" cmpd="sng">
            <a:noFill/>
            <a:prstDash val="solid"/>
            <a:round/>
          </a:ln>
        </p:spPr>
        <p:txBody>
          <a:bodyPr vert="horz" wrap="square" lIns="63500" tIns="63500" rIns="63500" bIns="63500" rtlCol="0" anchor="ctr"/>
          <a:lstStyle/>
          <a:p>
            <a:pPr algn="ctr">
              <a:defRPr/>
            </a:pPr>
          </a:p>
        </p:txBody>
      </p:sp>
      <p:sp>
        <p:nvSpPr>
          <p:cNvPr id="33" name="AutoShape 33"/>
          <p:cNvSpPr/>
          <p:nvPr/>
        </p:nvSpPr>
        <p:spPr>
          <a:xfrm>
            <a:off x="4889500" y="5511800"/>
            <a:ext cx="3238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065F46"/>
                </a:solidFill>
                <a:latin typeface="Noto Sans SC" panose="020B0200000000000000" charset="-122"/>
                <a:ea typeface="Noto Sans SC" panose="020B0200000000000000" charset="-122"/>
                <a:cs typeface="Noto Sans SC" panose="020B0200000000000000" charset="-122"/>
                <a:sym typeface="Noto Sans SC" panose="020B0200000000000000" charset="-122"/>
              </a:rPr>
              <a:t>指导治理的“顶层哲学思想”</a:t>
            </a:r>
            <a:endParaRPr lang="en-US" sz="1100"/>
          </a:p>
        </p:txBody>
      </p:sp>
      <p:sp>
        <p:nvSpPr>
          <p:cNvPr id="34" name="AutoShape 34"/>
          <p:cNvSpPr/>
          <p:nvPr/>
        </p:nvSpPr>
        <p:spPr>
          <a:xfrm>
            <a:off x="8445500" y="4000500"/>
            <a:ext cx="3505200" cy="2222500"/>
          </a:xfrm>
          <a:prstGeom prst="roundRect">
            <a:avLst>
              <a:gd name="adj" fmla="val 0"/>
            </a:avLst>
          </a:prstGeom>
          <a:solidFill>
            <a:srgbClr val="10B981">
              <a:alpha val="94000"/>
            </a:srgbClr>
          </a:solidFill>
          <a:ln w="25400" cap="flat" cmpd="sng">
            <a:noFill/>
            <a:prstDash val="solid"/>
            <a:round/>
          </a:ln>
        </p:spPr>
        <p:txBody>
          <a:bodyPr vert="horz" wrap="square" lIns="63500" tIns="63500" rIns="63500" bIns="63500" rtlCol="0" anchor="ctr"/>
          <a:lstStyle/>
          <a:p>
            <a:pPr algn="ctr">
              <a:defRPr/>
            </a:pPr>
          </a:p>
        </p:txBody>
      </p:sp>
      <p:sp>
        <p:nvSpPr>
          <p:cNvPr id="35" name="AutoShape 35"/>
          <p:cNvSpPr/>
          <p:nvPr/>
        </p:nvSpPr>
        <p:spPr>
          <a:xfrm>
            <a:off x="8636000" y="4191000"/>
            <a:ext cx="317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全栈协同效应</a:t>
            </a:r>
            <a:endParaRPr lang="en-US" sz="1100"/>
          </a:p>
        </p:txBody>
      </p:sp>
      <p:sp>
        <p:nvSpPr>
          <p:cNvPr id="36" name="AutoShape 36"/>
          <p:cNvSpPr/>
          <p:nvPr/>
        </p:nvSpPr>
        <p:spPr>
          <a:xfrm>
            <a:off x="8636000" y="4699000"/>
            <a:ext cx="3175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ECFDF5"/>
                </a:solidFill>
                <a:latin typeface="Noto Sans SC" panose="020B0200000000000000" charset="-122"/>
                <a:ea typeface="Noto Sans SC" panose="020B0200000000000000" charset="-122"/>
                <a:cs typeface="Noto Sans SC" panose="020B0200000000000000" charset="-122"/>
                <a:sym typeface="Noto Sans SC" panose="020B0200000000000000" charset="-122"/>
              </a:rPr>
              <a:t>这五大模块并非孤立存在，而是相互支撑、有机融合的技术生态。它们共同构成了企业从数据获取、处理、存储到价值变现的完整数字化底座。</a:t>
            </a:r>
            <a:endParaRPr lang="en-US" sz="1100"/>
          </a:p>
        </p:txBody>
      </p:sp>
      <p:sp>
        <p:nvSpPr>
          <p:cNvPr id="37" name="AutoShape 37"/>
          <p:cNvSpPr/>
          <p:nvPr/>
        </p:nvSpPr>
        <p:spPr>
          <a:xfrm>
            <a:off x="8636000" y="5511800"/>
            <a:ext cx="317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赋能业务的数字化“新基建”</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现代数据仓库 (ClickHouse &amp; Snowflake)</a:t>
            </a:r>
            <a:endParaRPr lang="en-US" sz="1100"/>
          </a:p>
        </p:txBody>
      </p:sp>
      <p:sp>
        <p:nvSpPr>
          <p:cNvPr id="4" name="AutoShape 4"/>
          <p:cNvSpPr/>
          <p:nvPr/>
        </p:nvSpPr>
        <p:spPr>
          <a:xfrm>
            <a:off x="762000" y="1524000"/>
            <a:ext cx="10668000" cy="1206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16000" y="1625600"/>
            <a:ext cx="10160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数据仓库是面向分析决策的主题性数据集合，如同一个井井有条的</a:t>
            </a:r>
            <a:r>
              <a:rPr lang="en-US" sz="14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“超级档案柜”</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，帮助企业从海量数据中提取价值。在现代技术栈中，ClickHouse 和 Snowflake 是两种极具代表性的解决方案，分别在极致性能和云原生弹性方面树立了行业标杆。</a:t>
            </a:r>
            <a:endParaRPr lang="en-US" sz="1100"/>
          </a:p>
        </p:txBody>
      </p:sp>
      <p:sp>
        <p:nvSpPr>
          <p:cNvPr id="6" name="AutoShape 6"/>
          <p:cNvSpPr/>
          <p:nvPr/>
        </p:nvSpPr>
        <p:spPr>
          <a:xfrm>
            <a:off x="762000" y="2921000"/>
            <a:ext cx="5270500" cy="3238500"/>
          </a:xfrm>
          <a:prstGeom prst="roundRect">
            <a:avLst>
              <a:gd name="adj" fmla="val 0"/>
            </a:avLst>
          </a:prstGeom>
          <a:solidFill>
            <a:srgbClr val="FFFFFF">
              <a:alpha val="95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762000" y="2921000"/>
            <a:ext cx="50800" cy="3238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2"/>
          <a:srcRect/>
          <a:stretch>
            <a:fillRect/>
          </a:stretch>
        </p:blipFill>
        <p:spPr>
          <a:xfrm>
            <a:off x="952500" y="3048000"/>
            <a:ext cx="1016000" cy="508000"/>
          </a:xfrm>
          <a:prstGeom prst="rect">
            <a:avLst/>
          </a:prstGeom>
          <a:noFill/>
          <a:ln w="25400" cap="flat" cmpd="sng">
            <a:noFill/>
            <a:prstDash val="solid"/>
            <a:round/>
          </a:ln>
        </p:spPr>
      </p:pic>
      <p:sp>
        <p:nvSpPr>
          <p:cNvPr id="9" name="AutoShape 9"/>
          <p:cNvSpPr/>
          <p:nvPr/>
        </p:nvSpPr>
        <p:spPr>
          <a:xfrm>
            <a:off x="2095500" y="3073400"/>
            <a:ext cx="3683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ClickHouse</a:t>
            </a:r>
            <a:endParaRPr lang="en-US" sz="1100"/>
          </a:p>
        </p:txBody>
      </p:sp>
      <p:cxnSp>
        <p:nvCxnSpPr>
          <p:cNvPr id="10" name="Connector 10"/>
          <p:cNvCxnSpPr/>
          <p:nvPr/>
        </p:nvCxnSpPr>
        <p:spPr>
          <a:xfrm rot="-8929">
            <a:off x="952508" y="3740150"/>
            <a:ext cx="4889500" cy="12700"/>
          </a:xfrm>
          <a:prstGeom prst="straightConnector1">
            <a:avLst/>
          </a:prstGeom>
          <a:solidFill>
            <a:srgbClr val="DEE0E3">
              <a:alpha val="100000"/>
            </a:srgbClr>
          </a:solidFill>
          <a:ln w="12700" cap="flat" cmpd="sng">
            <a:solidFill>
              <a:srgbClr val="10B981">
                <a:alpha val="30000"/>
              </a:srgbClr>
            </a:solidFill>
            <a:prstDash val="solid"/>
            <a:round/>
            <a:headEnd type="none" w="med" len="med"/>
            <a:tailEnd type="none" w="med" len="med"/>
          </a:ln>
        </p:spPr>
      </p:cxnSp>
      <p:sp>
        <p:nvSpPr>
          <p:cNvPr id="11" name="AutoShape 11"/>
          <p:cNvSpPr/>
          <p:nvPr/>
        </p:nvSpPr>
        <p:spPr>
          <a:xfrm>
            <a:off x="952500" y="3873500"/>
            <a:ext cx="4953000" cy="698500"/>
          </a:xfrm>
          <a:prstGeom prst="roundRect">
            <a:avLst>
              <a:gd name="adj" fmla="val 0"/>
            </a:avLst>
          </a:prstGeom>
          <a:solidFill>
            <a:srgbClr val="10B981">
              <a:alpha val="8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1079500" y="3911600"/>
            <a:ext cx="4699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定位：开源列式数据库 (OLAP)</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专为联机分析处理设计，抛弃了传统事务型数据库的冗余，专为大数据查询而生。</a:t>
            </a:r>
            <a:endParaRPr lang="en-US" sz="1100"/>
          </a:p>
        </p:txBody>
      </p:sp>
      <p:sp>
        <p:nvSpPr>
          <p:cNvPr id="13" name="AutoShape 13"/>
          <p:cNvSpPr/>
          <p:nvPr/>
        </p:nvSpPr>
        <p:spPr>
          <a:xfrm>
            <a:off x="952500" y="4699000"/>
            <a:ext cx="2349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极致性能引擎</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向量化执行与数据压缩技术，秒级完成亿级数据聚合，延迟极低。</a:t>
            </a:r>
            <a:endParaRPr lang="en-US" sz="1100"/>
          </a:p>
        </p:txBody>
      </p:sp>
      <p:cxnSp>
        <p:nvCxnSpPr>
          <p:cNvPr id="14" name="Connector 14"/>
          <p:cNvCxnSpPr/>
          <p:nvPr/>
        </p:nvCxnSpPr>
        <p:spPr>
          <a:xfrm rot="5359557">
            <a:off x="2889250" y="5232437"/>
            <a:ext cx="1079500" cy="12700"/>
          </a:xfrm>
          <a:prstGeom prst="straightConnector1">
            <a:avLst/>
          </a:prstGeom>
          <a:solidFill>
            <a:srgbClr val="DEE0E3">
              <a:alpha val="100000"/>
            </a:srgbClr>
          </a:solidFill>
          <a:ln w="12700" cap="flat" cmpd="sng">
            <a:solidFill>
              <a:srgbClr val="D1D5DB">
                <a:alpha val="100000"/>
              </a:srgbClr>
            </a:solidFill>
            <a:prstDash val="dash"/>
            <a:round/>
            <a:headEnd type="none" w="med" len="med"/>
            <a:tailEnd type="none" w="med" len="med"/>
          </a:ln>
        </p:spPr>
      </p:cxnSp>
      <p:sp>
        <p:nvSpPr>
          <p:cNvPr id="15" name="AutoShape 15"/>
          <p:cNvSpPr/>
          <p:nvPr/>
        </p:nvSpPr>
        <p:spPr>
          <a:xfrm>
            <a:off x="3556000" y="4699000"/>
            <a:ext cx="2349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适用核心场景</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实时业务报表、用户行为实时分析、广告投放效果监测。</a:t>
            </a:r>
            <a:endParaRPr lang="en-US" sz="1100"/>
          </a:p>
        </p:txBody>
      </p:sp>
      <p:sp>
        <p:nvSpPr>
          <p:cNvPr id="16" name="AutoShape 16"/>
          <p:cNvSpPr/>
          <p:nvPr/>
        </p:nvSpPr>
        <p:spPr>
          <a:xfrm>
            <a:off x="6223000" y="2921000"/>
            <a:ext cx="5270500" cy="3238500"/>
          </a:xfrm>
          <a:prstGeom prst="roundRect">
            <a:avLst>
              <a:gd name="adj" fmla="val 0"/>
            </a:avLst>
          </a:prstGeom>
          <a:solidFill>
            <a:srgbClr val="FFFFFF">
              <a:alpha val="95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6223000" y="2921000"/>
            <a:ext cx="50800" cy="3238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3"/>
          <a:srcRect t="25000" b="25000"/>
          <a:stretch>
            <a:fillRect/>
          </a:stretch>
        </p:blipFill>
        <p:spPr>
          <a:xfrm>
            <a:off x="6413500" y="3048000"/>
            <a:ext cx="1016000" cy="508000"/>
          </a:xfrm>
          <a:prstGeom prst="rect">
            <a:avLst/>
          </a:prstGeom>
          <a:noFill/>
          <a:ln w="25400" cap="flat" cmpd="sng">
            <a:noFill/>
            <a:prstDash val="solid"/>
            <a:round/>
          </a:ln>
        </p:spPr>
      </p:pic>
      <p:sp>
        <p:nvSpPr>
          <p:cNvPr id="19" name="AutoShape 19"/>
          <p:cNvSpPr/>
          <p:nvPr/>
        </p:nvSpPr>
        <p:spPr>
          <a:xfrm>
            <a:off x="7556500" y="3073400"/>
            <a:ext cx="3683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Snowflake</a:t>
            </a:r>
            <a:endParaRPr lang="en-US" sz="1100"/>
          </a:p>
        </p:txBody>
      </p:sp>
      <p:cxnSp>
        <p:nvCxnSpPr>
          <p:cNvPr id="20" name="Connector 20"/>
          <p:cNvCxnSpPr/>
          <p:nvPr/>
        </p:nvCxnSpPr>
        <p:spPr>
          <a:xfrm rot="-8929">
            <a:off x="6413508" y="3740150"/>
            <a:ext cx="4889500" cy="12700"/>
          </a:xfrm>
          <a:prstGeom prst="straightConnector1">
            <a:avLst/>
          </a:prstGeom>
          <a:solidFill>
            <a:srgbClr val="DEE0E3">
              <a:alpha val="100000"/>
            </a:srgbClr>
          </a:solidFill>
          <a:ln w="12700" cap="flat" cmpd="sng">
            <a:solidFill>
              <a:srgbClr val="10B981">
                <a:alpha val="30000"/>
              </a:srgbClr>
            </a:solidFill>
            <a:prstDash val="solid"/>
            <a:round/>
            <a:headEnd type="none" w="med" len="med"/>
            <a:tailEnd type="none" w="med" len="med"/>
          </a:ln>
        </p:spPr>
      </p:cxnSp>
      <p:sp>
        <p:nvSpPr>
          <p:cNvPr id="21" name="AutoShape 21"/>
          <p:cNvSpPr/>
          <p:nvPr/>
        </p:nvSpPr>
        <p:spPr>
          <a:xfrm>
            <a:off x="6413500" y="3873500"/>
            <a:ext cx="4953000" cy="698500"/>
          </a:xfrm>
          <a:prstGeom prst="roundRect">
            <a:avLst>
              <a:gd name="adj" fmla="val 0"/>
            </a:avLst>
          </a:prstGeom>
          <a:solidFill>
            <a:srgbClr val="10B981">
              <a:alpha val="8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6540500" y="3911600"/>
            <a:ext cx="4699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定位：云原生数据仓库即服务</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彻底的 SaaS 化产品，消除了传统数据仓库的硬件管理与运维负担。</a:t>
            </a:r>
            <a:endParaRPr lang="en-US" sz="1100"/>
          </a:p>
        </p:txBody>
      </p:sp>
      <p:sp>
        <p:nvSpPr>
          <p:cNvPr id="23" name="AutoShape 23"/>
          <p:cNvSpPr/>
          <p:nvPr/>
        </p:nvSpPr>
        <p:spPr>
          <a:xfrm>
            <a:off x="6413500" y="4699000"/>
            <a:ext cx="2349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存算分离架构</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存储与计算资源独立弹性伸缩，按实际使用量计费，成本更可控。</a:t>
            </a:r>
            <a:endParaRPr lang="en-US" sz="1100"/>
          </a:p>
        </p:txBody>
      </p:sp>
      <p:cxnSp>
        <p:nvCxnSpPr>
          <p:cNvPr id="24" name="Connector 24"/>
          <p:cNvCxnSpPr/>
          <p:nvPr/>
        </p:nvCxnSpPr>
        <p:spPr>
          <a:xfrm rot="5359557">
            <a:off x="8350250" y="5232437"/>
            <a:ext cx="1079500" cy="12700"/>
          </a:xfrm>
          <a:prstGeom prst="straightConnector1">
            <a:avLst/>
          </a:prstGeom>
          <a:solidFill>
            <a:srgbClr val="DEE0E3">
              <a:alpha val="100000"/>
            </a:srgbClr>
          </a:solidFill>
          <a:ln w="12700" cap="flat" cmpd="sng">
            <a:solidFill>
              <a:srgbClr val="D1D5DB">
                <a:alpha val="100000"/>
              </a:srgbClr>
            </a:solidFill>
            <a:prstDash val="dash"/>
            <a:round/>
            <a:headEnd type="none" w="med" len="med"/>
            <a:tailEnd type="none" w="med" len="med"/>
          </a:ln>
        </p:spPr>
      </p:cxnSp>
      <p:sp>
        <p:nvSpPr>
          <p:cNvPr id="25" name="AutoShape 25"/>
          <p:cNvSpPr/>
          <p:nvPr/>
        </p:nvSpPr>
        <p:spPr>
          <a:xfrm>
            <a:off x="9017000" y="4699000"/>
            <a:ext cx="2349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适用核心场景</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企业级 BI 分析、跨部门数据共享、SaaS 应用的大规模数据后台。</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模块二：数据湖与湖仓一体 (Databricks)</a:t>
            </a:r>
            <a:endParaRPr lang="en-US" sz="1100"/>
          </a:p>
        </p:txBody>
      </p:sp>
      <p:sp>
        <p:nvSpPr>
          <p:cNvPr id="4" name="AutoShape 4"/>
          <p:cNvSpPr/>
          <p:nvPr/>
        </p:nvSpPr>
        <p:spPr>
          <a:xfrm>
            <a:off x="762000" y="1651000"/>
            <a:ext cx="3467100" cy="2667000"/>
          </a:xfrm>
          <a:prstGeom prst="roundRect">
            <a:avLst>
              <a:gd name="adj" fmla="val 0"/>
            </a:avLst>
          </a:prstGeom>
          <a:solidFill>
            <a:srgbClr val="FFFFFF">
              <a:alpha val="92000"/>
            </a:srgbClr>
          </a:solidFill>
          <a:ln w="12700" cap="flat" cmpd="sng">
            <a:solidFill>
              <a:srgbClr val="10B981">
                <a:alpha val="25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3467100" cy="508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841500"/>
            <a:ext cx="3111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数据湖 (Data Lake)</a:t>
            </a:r>
            <a:endParaRPr lang="en-US" sz="1100"/>
          </a:p>
        </p:txBody>
      </p:sp>
      <p:sp>
        <p:nvSpPr>
          <p:cNvPr id="7" name="AutoShape 7"/>
          <p:cNvSpPr/>
          <p:nvPr/>
        </p:nvSpPr>
        <p:spPr>
          <a:xfrm>
            <a:off x="952500" y="2413000"/>
            <a:ext cx="3111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一个集中存储海量原始数据的存储库，如同未经整理的“数据沼泽”，能够低成本容纳结构化、半结构化和非结构化的各类原始信息。</a:t>
            </a:r>
            <a:endParaRPr lang="en-US" sz="1100"/>
          </a:p>
        </p:txBody>
      </p:sp>
      <p:sp>
        <p:nvSpPr>
          <p:cNvPr id="8" name="AutoShape 8"/>
          <p:cNvSpPr/>
          <p:nvPr/>
        </p:nvSpPr>
        <p:spPr>
          <a:xfrm>
            <a:off x="952500" y="3429000"/>
            <a:ext cx="3111500" cy="762000"/>
          </a:xfrm>
          <a:prstGeom prst="roundRect">
            <a:avLst>
              <a:gd name="adj" fmla="val 0"/>
            </a:avLst>
          </a:prstGeom>
          <a:solidFill>
            <a:srgbClr val="10B981">
              <a:alpha val="1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079500" y="3492500"/>
            <a:ext cx="2857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065F46"/>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核心特点：</a:t>
            </a: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存储原始、灵活性高，但缺乏统一规范，数据质量参差不齐。</a:t>
            </a:r>
            <a:endParaRPr lang="en-US" sz="1100"/>
          </a:p>
        </p:txBody>
      </p:sp>
      <p:sp>
        <p:nvSpPr>
          <p:cNvPr id="10" name="AutoShape 10"/>
          <p:cNvSpPr/>
          <p:nvPr/>
        </p:nvSpPr>
        <p:spPr>
          <a:xfrm>
            <a:off x="4381500" y="1651000"/>
            <a:ext cx="3467100" cy="2667000"/>
          </a:xfrm>
          <a:prstGeom prst="roundRect">
            <a:avLst>
              <a:gd name="adj" fmla="val 0"/>
            </a:avLst>
          </a:prstGeom>
          <a:solidFill>
            <a:srgbClr val="FFFFFF">
              <a:alpha val="92000"/>
            </a:srgbClr>
          </a:solidFill>
          <a:ln w="12700" cap="flat" cmpd="sng">
            <a:solidFill>
              <a:srgbClr val="10B981">
                <a:alpha val="25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4381500" y="1651000"/>
            <a:ext cx="3467100" cy="508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4572000" y="1841500"/>
            <a:ext cx="3111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湖仓一体 (Lakehouse)</a:t>
            </a:r>
            <a:endParaRPr lang="en-US" sz="1100"/>
          </a:p>
        </p:txBody>
      </p:sp>
      <p:sp>
        <p:nvSpPr>
          <p:cNvPr id="13" name="AutoShape 13"/>
          <p:cNvSpPr/>
          <p:nvPr/>
        </p:nvSpPr>
        <p:spPr>
          <a:xfrm>
            <a:off x="4572000" y="2413000"/>
            <a:ext cx="3111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结合了数据湖的灵活性与数据仓库的管理能力，将无序的“数据沼泽”改造为整洁、规范的“数据基地”，支持直接进行高性能分析。</a:t>
            </a:r>
            <a:endParaRPr lang="en-US" sz="1100"/>
          </a:p>
        </p:txBody>
      </p:sp>
      <p:sp>
        <p:nvSpPr>
          <p:cNvPr id="14" name="AutoShape 14"/>
          <p:cNvSpPr/>
          <p:nvPr/>
        </p:nvSpPr>
        <p:spPr>
          <a:xfrm>
            <a:off x="4572000" y="3429000"/>
            <a:ext cx="3111500" cy="762000"/>
          </a:xfrm>
          <a:prstGeom prst="roundRect">
            <a:avLst>
              <a:gd name="adj" fmla="val 0"/>
            </a:avLst>
          </a:prstGeom>
          <a:solidFill>
            <a:srgbClr val="3B82F6">
              <a:alpha val="8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4699000" y="3492500"/>
            <a:ext cx="2857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1E40A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核心价值：</a:t>
            </a: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统一数据底座，兼顾灵活性与治理，打通业务与数据的高效通路。</a:t>
            </a:r>
            <a:endParaRPr lang="en-US" sz="1100"/>
          </a:p>
        </p:txBody>
      </p:sp>
      <p:sp>
        <p:nvSpPr>
          <p:cNvPr id="16" name="AutoShape 16"/>
          <p:cNvSpPr/>
          <p:nvPr/>
        </p:nvSpPr>
        <p:spPr>
          <a:xfrm>
            <a:off x="8001000" y="1651000"/>
            <a:ext cx="3467100" cy="2667000"/>
          </a:xfrm>
          <a:prstGeom prst="roundRect">
            <a:avLst>
              <a:gd name="adj" fmla="val 0"/>
            </a:avLst>
          </a:prstGeom>
          <a:solidFill>
            <a:srgbClr val="FFFFFF">
              <a:alpha val="92000"/>
            </a:srgbClr>
          </a:solidFill>
          <a:ln w="12700" cap="flat" cmpd="sng">
            <a:solidFill>
              <a:srgbClr val="10B981">
                <a:alpha val="25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8001000" y="1651000"/>
            <a:ext cx="34671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8191500" y="1841500"/>
            <a:ext cx="3111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标杆：Databricks</a:t>
            </a:r>
            <a:endParaRPr lang="en-US" sz="1100"/>
          </a:p>
        </p:txBody>
      </p:sp>
      <p:sp>
        <p:nvSpPr>
          <p:cNvPr id="19" name="AutoShape 19"/>
          <p:cNvSpPr/>
          <p:nvPr/>
        </p:nvSpPr>
        <p:spPr>
          <a:xfrm>
            <a:off x="8191500" y="2413000"/>
            <a:ext cx="3111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湖仓一体理念的核心倡导者与行业领导者，基于云原生架构，为全球企业提供从数据工程、数据科学到商业智能的一站式解决方案。</a:t>
            </a:r>
            <a:endParaRPr lang="en-US" sz="1100"/>
          </a:p>
        </p:txBody>
      </p:sp>
      <p:sp>
        <p:nvSpPr>
          <p:cNvPr id="20" name="AutoShape 20"/>
          <p:cNvSpPr/>
          <p:nvPr/>
        </p:nvSpPr>
        <p:spPr>
          <a:xfrm>
            <a:off x="8191500" y="3429000"/>
            <a:ext cx="3111500" cy="762000"/>
          </a:xfrm>
          <a:prstGeom prst="roundRect">
            <a:avLst>
              <a:gd name="adj" fmla="val 0"/>
            </a:avLst>
          </a:prstGeom>
          <a:solidFill>
            <a:srgbClr val="F97316">
              <a:alpha val="9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8318500" y="3492500"/>
            <a:ext cx="2857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9A3412"/>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关键技术：</a:t>
            </a: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Delta Lake 表格式技术，为数据湖赋予事务能力与ACID合规性。</a:t>
            </a:r>
            <a:endParaRPr lang="en-US" sz="1100"/>
          </a:p>
        </p:txBody>
      </p:sp>
      <p:sp>
        <p:nvSpPr>
          <p:cNvPr id="22" name="AutoShape 22"/>
          <p:cNvSpPr/>
          <p:nvPr/>
        </p:nvSpPr>
        <p:spPr>
          <a:xfrm>
            <a:off x="762000" y="4508500"/>
            <a:ext cx="5397500" cy="1968500"/>
          </a:xfrm>
          <a:prstGeom prst="roundRect">
            <a:avLst>
              <a:gd name="adj" fmla="val 0"/>
            </a:avLst>
          </a:prstGeom>
          <a:solidFill>
            <a:srgbClr val="F0FDF4">
              <a:alpha val="95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762000" y="4508500"/>
            <a:ext cx="50800" cy="1968500"/>
          </a:xfrm>
          <a:prstGeom prst="roundRect">
            <a:avLst>
              <a:gd name="adj" fmla="val 0"/>
            </a:avLst>
          </a:prstGeom>
          <a:solidFill>
            <a:srgbClr val="10B981">
              <a:alpha val="80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952500" y="4635500"/>
            <a:ext cx="4953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解决：多源异构数据的“杂乱”难题</a:t>
            </a:r>
            <a:endParaRPr lang="en-US" sz="1100"/>
          </a:p>
        </p:txBody>
      </p:sp>
      <p:sp>
        <p:nvSpPr>
          <p:cNvPr id="25" name="AutoShape 25"/>
          <p:cNvSpPr/>
          <p:nvPr/>
        </p:nvSpPr>
        <p:spPr>
          <a:xfrm>
            <a:off x="952500" y="5207000"/>
            <a:ext cx="4953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传统数据湖如同“数据垃圾场”，格式不一、难以使用。湖仓一体通过统一的存储架构，打破孤岛，将分散在不同系统中的结构化、半结构化数据统一接入，消除格式壁垒，让原本无序的数据变得有序可查。</a:t>
            </a:r>
            <a:endParaRPr lang="en-US" sz="1100"/>
          </a:p>
        </p:txBody>
      </p:sp>
      <p:sp>
        <p:nvSpPr>
          <p:cNvPr id="26" name="AutoShape 26"/>
          <p:cNvSpPr/>
          <p:nvPr/>
        </p:nvSpPr>
        <p:spPr>
          <a:xfrm>
            <a:off x="6286500" y="4508500"/>
            <a:ext cx="5397500" cy="1968500"/>
          </a:xfrm>
          <a:prstGeom prst="roundRect">
            <a:avLst>
              <a:gd name="adj" fmla="val 0"/>
            </a:avLst>
          </a:prstGeom>
          <a:solidFill>
            <a:srgbClr val="EFF6FF">
              <a:alpha val="95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6286500" y="4508500"/>
            <a:ext cx="50800" cy="1968500"/>
          </a:xfrm>
          <a:prstGeom prst="roundRect">
            <a:avLst>
              <a:gd name="adj" fmla="val 0"/>
            </a:avLst>
          </a:prstGeom>
          <a:solidFill>
            <a:srgbClr val="3B82F6">
              <a:alpha val="80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28"/>
          <p:cNvSpPr/>
          <p:nvPr/>
        </p:nvSpPr>
        <p:spPr>
          <a:xfrm>
            <a:off x="6477000" y="4635500"/>
            <a:ext cx="4953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突破：灵活存储与严格治理的矛盾</a:t>
            </a:r>
            <a:endParaRPr lang="en-US" sz="1100"/>
          </a:p>
        </p:txBody>
      </p:sp>
      <p:sp>
        <p:nvSpPr>
          <p:cNvPr id="29" name="AutoShape 29"/>
          <p:cNvSpPr/>
          <p:nvPr/>
        </p:nvSpPr>
        <p:spPr>
          <a:xfrm>
            <a:off x="6477000" y="5207000"/>
            <a:ext cx="4953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在保留数据湖低成本、高灵活性的同时，引入了数据仓库级的质量管控与元数据治理体系。通过Delta Lake等技术实现ACID事务，保障数据一致性，让企业在快速响应业务变化的同时，也能确保数据的准确性与合规性。</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模块三：计算引擎与批流一体 (Spark &amp; Flink)</a:t>
            </a:r>
            <a:endParaRPr lang="en-US" sz="1100"/>
          </a:p>
        </p:txBody>
      </p:sp>
      <p:sp>
        <p:nvSpPr>
          <p:cNvPr id="4" name="AutoShape 4"/>
          <p:cNvSpPr/>
          <p:nvPr/>
        </p:nvSpPr>
        <p:spPr>
          <a:xfrm>
            <a:off x="762000" y="1524000"/>
            <a:ext cx="10668000" cy="1143000"/>
          </a:xfrm>
          <a:prstGeom prst="roundRect">
            <a:avLst>
              <a:gd name="adj" fmla="val 0"/>
            </a:avLst>
          </a:prstGeom>
          <a:solidFill>
            <a:srgbClr val="FFFFFF">
              <a:alpha val="95000"/>
            </a:srgbClr>
          </a:solidFill>
          <a:ln w="12700" cap="flat" cmpd="sng">
            <a:solidFill>
              <a:srgbClr val="10B981">
                <a:alpha val="4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952500" y="1625600"/>
            <a:ext cx="10287000" cy="9398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计算引擎是大数据处理的核心，负责对存储中的数据进行转换、处理和分析。它就像驱动整个数据系统运转的</a:t>
            </a:r>
            <a:r>
              <a:rPr lang="en-US" sz="14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“发动机”</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，决定了数据处理的效率与实时性。在大数据领域，Apache Spark 和 Apache Flink 是当前最主流的两大计算引擎，分别代表了批处理与流处理的技术高峰。</a:t>
            </a:r>
            <a:endParaRPr lang="en-US" sz="1100"/>
          </a:p>
        </p:txBody>
      </p:sp>
      <p:sp>
        <p:nvSpPr>
          <p:cNvPr id="6" name="AutoShape 6"/>
          <p:cNvSpPr/>
          <p:nvPr/>
        </p:nvSpPr>
        <p:spPr>
          <a:xfrm>
            <a:off x="762000" y="2921000"/>
            <a:ext cx="5270500" cy="3302000"/>
          </a:xfrm>
          <a:prstGeom prst="roundRect">
            <a:avLst>
              <a:gd name="adj" fmla="val 0"/>
            </a:avLst>
          </a:prstGeom>
          <a:solidFill>
            <a:srgbClr val="FFFFFF">
              <a:alpha val="92000"/>
            </a:srgbClr>
          </a:solidFill>
          <a:ln w="12700" cap="flat" cmpd="sng">
            <a:solidFill>
              <a:srgbClr val="10B981">
                <a:alpha val="50000"/>
              </a:srgbClr>
            </a:solid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2"/>
          <a:srcRect l="20820" r="20820"/>
          <a:stretch>
            <a:fillRect/>
          </a:stretch>
        </p:blipFill>
        <p:spPr>
          <a:xfrm>
            <a:off x="889000" y="3048000"/>
            <a:ext cx="1143000" cy="1016000"/>
          </a:xfrm>
          <a:prstGeom prst="rect">
            <a:avLst/>
          </a:prstGeom>
          <a:noFill/>
          <a:ln w="25400" cap="flat" cmpd="sng">
            <a:noFill/>
            <a:prstDash val="solid"/>
            <a:round/>
          </a:ln>
        </p:spPr>
      </p:pic>
      <p:sp>
        <p:nvSpPr>
          <p:cNvPr id="8" name="AutoShape 8"/>
          <p:cNvSpPr/>
          <p:nvPr/>
        </p:nvSpPr>
        <p:spPr>
          <a:xfrm>
            <a:off x="2159000" y="3111500"/>
            <a:ext cx="3683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Apache Spark</a:t>
            </a:r>
            <a:endParaRPr lang="en-US" sz="1100"/>
          </a:p>
        </p:txBody>
      </p:sp>
      <p:sp>
        <p:nvSpPr>
          <p:cNvPr id="9" name="AutoShape 9"/>
          <p:cNvSpPr/>
          <p:nvPr/>
        </p:nvSpPr>
        <p:spPr>
          <a:xfrm>
            <a:off x="889000" y="4191000"/>
            <a:ext cx="5016500" cy="825500"/>
          </a:xfrm>
          <a:prstGeom prst="roundRect">
            <a:avLst>
              <a:gd name="adj" fmla="val 0"/>
            </a:avLst>
          </a:prstGeom>
          <a:solidFill>
            <a:srgbClr val="10B981">
              <a:alpha val="12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1016000" y="4254500"/>
            <a:ext cx="4762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定位：批处理的王者</a:t>
            </a:r>
            <a:br>
              <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不仅是离线海量数据处理的首选，也通过 Structured Streaming 扩展了流处理能力，是业界最通用的大数据处理框架。</a:t>
            </a:r>
            <a:endParaRPr lang="en-US" sz="1100"/>
          </a:p>
        </p:txBody>
      </p:sp>
      <p:sp>
        <p:nvSpPr>
          <p:cNvPr id="11" name="AutoShape 11"/>
          <p:cNvSpPr/>
          <p:nvPr/>
        </p:nvSpPr>
        <p:spPr>
          <a:xfrm>
            <a:off x="889000" y="5080000"/>
            <a:ext cx="2476500" cy="1079500"/>
          </a:xfrm>
          <a:prstGeom prst="roundRect">
            <a:avLst>
              <a:gd name="adj" fmla="val 0"/>
            </a:avLst>
          </a:prstGeom>
          <a:solidFill>
            <a:srgbClr val="ECFDF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1016000" y="5143500"/>
            <a:ext cx="2286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核心：内存计算</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数据驻留内存，大幅减少IO，加速迭代分析。</a:t>
            </a:r>
            <a:endParaRPr lang="en-US" sz="1100"/>
          </a:p>
        </p:txBody>
      </p:sp>
      <p:sp>
        <p:nvSpPr>
          <p:cNvPr id="13" name="AutoShape 13"/>
          <p:cNvSpPr/>
          <p:nvPr/>
        </p:nvSpPr>
        <p:spPr>
          <a:xfrm>
            <a:off x="3429000" y="5080000"/>
            <a:ext cx="2476500" cy="10795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3556000" y="5143500"/>
            <a:ext cx="2286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擅长：离线场景</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海量数据ETL、模型训练、历史数据挖掘。</a:t>
            </a:r>
            <a:endParaRPr lang="en-US" sz="1100"/>
          </a:p>
        </p:txBody>
      </p:sp>
      <p:cxnSp>
        <p:nvCxnSpPr>
          <p:cNvPr id="15" name="Connector 15"/>
          <p:cNvCxnSpPr/>
          <p:nvPr/>
        </p:nvCxnSpPr>
        <p:spPr>
          <a:xfrm rot="5386777">
            <a:off x="4508500" y="4565662"/>
            <a:ext cx="3302000" cy="12700"/>
          </a:xfrm>
          <a:prstGeom prst="straightConnector1">
            <a:avLst/>
          </a:prstGeom>
          <a:solidFill>
            <a:srgbClr val="DEE0E3">
              <a:alpha val="100000"/>
            </a:srgbClr>
          </a:solidFill>
          <a:ln w="12700" cap="flat" cmpd="sng">
            <a:solidFill>
              <a:srgbClr val="10B981">
                <a:alpha val="30000"/>
              </a:srgbClr>
            </a:solidFill>
            <a:prstDash val="dash"/>
            <a:round/>
            <a:headEnd type="none" w="med" len="med"/>
            <a:tailEnd type="none" w="med" len="med"/>
          </a:ln>
        </p:spPr>
      </p:cxnSp>
      <p:sp>
        <p:nvSpPr>
          <p:cNvPr id="16" name="AutoShape 16"/>
          <p:cNvSpPr/>
          <p:nvPr/>
        </p:nvSpPr>
        <p:spPr>
          <a:xfrm>
            <a:off x="6286500" y="2921000"/>
            <a:ext cx="5270500" cy="3302000"/>
          </a:xfrm>
          <a:prstGeom prst="roundRect">
            <a:avLst>
              <a:gd name="adj" fmla="val 0"/>
            </a:avLst>
          </a:prstGeom>
          <a:solidFill>
            <a:srgbClr val="FFFFFF">
              <a:alpha val="92000"/>
            </a:srgbClr>
          </a:solidFill>
          <a:ln w="12700" cap="flat" cmpd="sng">
            <a:solidFill>
              <a:srgbClr val="10B981">
                <a:alpha val="50000"/>
              </a:srgbClr>
            </a:solid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3"/>
          <a:srcRect l="18191" r="18191"/>
          <a:stretch>
            <a:fillRect/>
          </a:stretch>
        </p:blipFill>
        <p:spPr>
          <a:xfrm>
            <a:off x="6413500" y="3048000"/>
            <a:ext cx="1143000" cy="1016000"/>
          </a:xfrm>
          <a:prstGeom prst="rect">
            <a:avLst/>
          </a:prstGeom>
          <a:noFill/>
          <a:ln w="25400" cap="flat" cmpd="sng">
            <a:noFill/>
            <a:prstDash val="solid"/>
            <a:round/>
          </a:ln>
        </p:spPr>
      </p:pic>
      <p:sp>
        <p:nvSpPr>
          <p:cNvPr id="18" name="AutoShape 18"/>
          <p:cNvSpPr/>
          <p:nvPr/>
        </p:nvSpPr>
        <p:spPr>
          <a:xfrm>
            <a:off x="7683500" y="3111500"/>
            <a:ext cx="3683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Apache Flink</a:t>
            </a:r>
            <a:endParaRPr lang="en-US" sz="1100"/>
          </a:p>
        </p:txBody>
      </p:sp>
      <p:sp>
        <p:nvSpPr>
          <p:cNvPr id="19" name="AutoShape 19"/>
          <p:cNvSpPr/>
          <p:nvPr/>
        </p:nvSpPr>
        <p:spPr>
          <a:xfrm>
            <a:off x="6413500" y="4191000"/>
            <a:ext cx="5016500" cy="825500"/>
          </a:xfrm>
          <a:prstGeom prst="roundRect">
            <a:avLst>
              <a:gd name="adj" fmla="val 0"/>
            </a:avLst>
          </a:prstGeom>
          <a:solidFill>
            <a:srgbClr val="10B981">
              <a:alpha val="12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6540500" y="4254500"/>
            <a:ext cx="4762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定位：流处理的霸主</a:t>
            </a:r>
            <a:br>
              <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基于“一切皆流”的设计理念，将批处理视为有界流，能够提供毫秒级延迟的实时计算能力。</a:t>
            </a:r>
            <a:endParaRPr lang="en-US" sz="1100"/>
          </a:p>
        </p:txBody>
      </p:sp>
      <p:sp>
        <p:nvSpPr>
          <p:cNvPr id="21" name="AutoShape 21"/>
          <p:cNvSpPr/>
          <p:nvPr/>
        </p:nvSpPr>
        <p:spPr>
          <a:xfrm>
            <a:off x="6413500" y="5080000"/>
            <a:ext cx="2476500" cy="1079500"/>
          </a:xfrm>
          <a:prstGeom prst="roundRect">
            <a:avLst>
              <a:gd name="adj" fmla="val 0"/>
            </a:avLst>
          </a:prstGeom>
          <a:solidFill>
            <a:srgbClr val="ECFDF5">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6540500" y="5143500"/>
            <a:ext cx="2286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核心：事件驱动</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数据即到即算，无需等待，低延迟高吞吐。</a:t>
            </a:r>
            <a:endParaRPr lang="en-US" sz="1100"/>
          </a:p>
        </p:txBody>
      </p:sp>
      <p:sp>
        <p:nvSpPr>
          <p:cNvPr id="23" name="AutoShape 23"/>
          <p:cNvSpPr/>
          <p:nvPr/>
        </p:nvSpPr>
        <p:spPr>
          <a:xfrm>
            <a:off x="8953500" y="5080000"/>
            <a:ext cx="2476500" cy="10795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9080500" y="5143500"/>
            <a:ext cx="2286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擅长：实时场景</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实时风控、大屏监控、实时数仓与推荐。</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模块四：元数据管理 (DataHub &amp; OpenMetadata)</a:t>
            </a:r>
            <a:endParaRPr lang="en-US" sz="1100"/>
          </a:p>
        </p:txBody>
      </p:sp>
      <p:sp>
        <p:nvSpPr>
          <p:cNvPr id="4" name="AutoShape 4"/>
          <p:cNvSpPr/>
          <p:nvPr/>
        </p:nvSpPr>
        <p:spPr>
          <a:xfrm>
            <a:off x="762000" y="1651000"/>
            <a:ext cx="5524500" cy="2222500"/>
          </a:xfrm>
          <a:prstGeom prst="roundRect">
            <a:avLst>
              <a:gd name="adj" fmla="val 0"/>
            </a:avLst>
          </a:prstGeom>
          <a:solidFill>
            <a:srgbClr val="FFFFFF">
              <a:alpha val="92000"/>
            </a:srgbClr>
          </a:solidFill>
          <a:ln w="12700" cap="flat" cmpd="sng">
            <a:solidFill>
              <a:srgbClr val="10B981">
                <a:alpha val="3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952500" y="17526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核心痛点：大型企业的数据孤岛困境</a:t>
            </a:r>
            <a:endParaRPr lang="en-US" sz="1100"/>
          </a:p>
        </p:txBody>
      </p:sp>
      <p:sp>
        <p:nvSpPr>
          <p:cNvPr id="6" name="AutoShape 6"/>
          <p:cNvSpPr/>
          <p:nvPr/>
        </p:nvSpPr>
        <p:spPr>
          <a:xfrm>
            <a:off x="952500" y="2222500"/>
            <a:ext cx="5207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面对成千上万张数据表，分析师与科学家常因信息缺失陷入低效探索。数据资产缺乏统一描述，导致业务理解与技术实现出现断层。</a:t>
            </a:r>
            <a:endParaRPr lang="en-US" sz="1100"/>
          </a:p>
        </p:txBody>
      </p:sp>
      <p:sp>
        <p:nvSpPr>
          <p:cNvPr id="7" name="AutoShape 7"/>
          <p:cNvSpPr/>
          <p:nvPr/>
        </p:nvSpPr>
        <p:spPr>
          <a:xfrm>
            <a:off x="952500" y="2921000"/>
            <a:ext cx="5143500" cy="825500"/>
          </a:xfrm>
          <a:prstGeom prst="roundRect">
            <a:avLst>
              <a:gd name="adj" fmla="val 0"/>
            </a:avLst>
          </a:prstGeom>
          <a:solidFill>
            <a:srgbClr val="10B981">
              <a:alpha val="9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016000" y="2959100"/>
            <a:ext cx="16256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这张表是做什么的？</a:t>
            </a:r>
            <a:endParaRPr lang="en-US" sz="1100"/>
          </a:p>
          <a:p>
            <a:pPr marL="0" indent="0" algn="ctr">
              <a:lnSpc>
                <a:spcPct val="125000"/>
              </a:lnSpc>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业务价值模糊不清</a:t>
            </a:r>
            <a:endPar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9" name="Connector 9"/>
          <p:cNvCxnSpPr/>
          <p:nvPr/>
        </p:nvCxnSpPr>
        <p:spPr>
          <a:xfrm rot="5336345">
            <a:off x="2362200" y="3333809"/>
            <a:ext cx="685800" cy="12700"/>
          </a:xfrm>
          <a:prstGeom prst="straightConnector1">
            <a:avLst/>
          </a:prstGeom>
          <a:solidFill>
            <a:srgbClr val="DEE0E3">
              <a:alpha val="100000"/>
            </a:srgbClr>
          </a:solidFill>
          <a:ln w="12700" cap="flat" cmpd="sng">
            <a:solidFill>
              <a:srgbClr val="10B981">
                <a:alpha val="20000"/>
              </a:srgbClr>
            </a:solidFill>
            <a:prstDash val="solid"/>
            <a:round/>
            <a:headEnd type="none" w="med" len="med"/>
            <a:tailEnd type="none" w="med" len="med"/>
          </a:ln>
        </p:spPr>
      </p:cxnSp>
      <p:sp>
        <p:nvSpPr>
          <p:cNvPr id="10" name="AutoShape 10"/>
          <p:cNvSpPr/>
          <p:nvPr/>
        </p:nvSpPr>
        <p:spPr>
          <a:xfrm>
            <a:off x="2730500" y="2959100"/>
            <a:ext cx="16256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字段含义是啥？</a:t>
            </a:r>
            <a:endParaRPr lang="en-US" sz="1100"/>
          </a:p>
          <a:p>
            <a:pPr marL="0" indent="0" algn="ctr">
              <a:lnSpc>
                <a:spcPct val="125000"/>
              </a:lnSpc>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口径标准不统一</a:t>
            </a:r>
            <a:endPar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1" name="Connector 11"/>
          <p:cNvCxnSpPr/>
          <p:nvPr/>
        </p:nvCxnSpPr>
        <p:spPr>
          <a:xfrm rot="5336345">
            <a:off x="4051300" y="3333809"/>
            <a:ext cx="685800" cy="12700"/>
          </a:xfrm>
          <a:prstGeom prst="straightConnector1">
            <a:avLst/>
          </a:prstGeom>
          <a:solidFill>
            <a:srgbClr val="DEE0E3">
              <a:alpha val="100000"/>
            </a:srgbClr>
          </a:solidFill>
          <a:ln w="12700" cap="flat" cmpd="sng">
            <a:solidFill>
              <a:srgbClr val="10B981">
                <a:alpha val="20000"/>
              </a:srgbClr>
            </a:solidFill>
            <a:prstDash val="solid"/>
            <a:round/>
            <a:headEnd type="none" w="med" len="med"/>
            <a:tailEnd type="none" w="med" len="med"/>
          </a:ln>
        </p:spPr>
      </p:cxnSp>
      <p:sp>
        <p:nvSpPr>
          <p:cNvPr id="12" name="AutoShape 12"/>
          <p:cNvSpPr/>
          <p:nvPr/>
        </p:nvSpPr>
        <p:spPr>
          <a:xfrm>
            <a:off x="4419600" y="2959100"/>
            <a:ext cx="16256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负责人是谁？</a:t>
            </a:r>
            <a:endParaRPr lang="en-US" sz="1100"/>
          </a:p>
          <a:p>
            <a:pPr marL="0" indent="0" algn="ctr">
              <a:lnSpc>
                <a:spcPct val="125000"/>
              </a:lnSpc>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权责归属无依据</a:t>
            </a:r>
            <a:endPar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762000" y="4064000"/>
            <a:ext cx="5524500" cy="2222500"/>
          </a:xfrm>
          <a:prstGeom prst="roundRect">
            <a:avLst>
              <a:gd name="adj" fmla="val 0"/>
            </a:avLst>
          </a:prstGeom>
          <a:solidFill>
            <a:srgbClr val="FFFFFF">
              <a:alpha val="92000"/>
            </a:srgbClr>
          </a:solidFill>
          <a:ln w="12700" cap="flat" cmpd="sng">
            <a:solidFill>
              <a:srgbClr val="10B981">
                <a:alpha val="3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952500" y="41656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核心定义：数据的“导航地图”与“户口本”</a:t>
            </a:r>
            <a:endParaRPr lang="en-US" sz="1100"/>
          </a:p>
        </p:txBody>
      </p:sp>
      <p:sp>
        <p:nvSpPr>
          <p:cNvPr id="15" name="AutoShape 15"/>
          <p:cNvSpPr/>
          <p:nvPr/>
        </p:nvSpPr>
        <p:spPr>
          <a:xfrm>
            <a:off x="952500" y="4699000"/>
            <a:ext cx="5207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元数据管理平台（数据目录）通过统一的数据模型，将分散的资产结构化。它不仅是可搜索的目录，更是连接业务与技术的桥梁，让每一份数据都有源可溯、有责可追。</a:t>
            </a:r>
            <a:endParaRPr lang="en-US" sz="1100"/>
          </a:p>
        </p:txBody>
      </p:sp>
      <p:sp>
        <p:nvSpPr>
          <p:cNvPr id="16" name="AutoShape 16"/>
          <p:cNvSpPr/>
          <p:nvPr/>
        </p:nvSpPr>
        <p:spPr>
          <a:xfrm>
            <a:off x="952500" y="5461000"/>
            <a:ext cx="5143500" cy="698500"/>
          </a:xfrm>
          <a:prstGeom prst="roundRect">
            <a:avLst>
              <a:gd name="adj" fmla="val 0"/>
            </a:avLst>
          </a:prstGeom>
          <a:solidFill>
            <a:srgbClr val="F0FDF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1079500" y="5524500"/>
            <a:ext cx="4953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065F46"/>
                </a:solidFill>
                <a:latin typeface="Noto Sans SC" panose="020B0200000000000000" charset="-122"/>
                <a:ea typeface="Noto Sans SC" panose="020B0200000000000000" charset="-122"/>
                <a:cs typeface="Noto Sans SC" panose="020B0200000000000000" charset="-122"/>
                <a:sym typeface="Noto Sans SC" panose="020B0200000000000000" charset="-122"/>
              </a:rPr>
              <a:t>价值主张：</a:t>
            </a:r>
            <a:r>
              <a:rPr lang="en-US" sz="1200" b="0" i="0" u="none" strike="noStrike">
                <a:solidFill>
                  <a:srgbClr val="1F2937">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从“大海捞针”到“一键定位”，将数据资产转化为企业可复用、可信任的核心生产资料。</a:t>
            </a:r>
            <a:endParaRPr lang="en-US" sz="1100"/>
          </a:p>
        </p:txBody>
      </p:sp>
      <p:cxnSp>
        <p:nvCxnSpPr>
          <p:cNvPr id="18" name="Connector 18"/>
          <p:cNvCxnSpPr/>
          <p:nvPr/>
        </p:nvCxnSpPr>
        <p:spPr>
          <a:xfrm rot="5390581">
            <a:off x="4159250" y="3962409"/>
            <a:ext cx="4635500" cy="12700"/>
          </a:xfrm>
          <a:prstGeom prst="straightConnector1">
            <a:avLst/>
          </a:prstGeom>
          <a:solidFill>
            <a:srgbClr val="DEE0E3">
              <a:alpha val="100000"/>
            </a:srgbClr>
          </a:solidFill>
          <a:ln w="12700" cap="flat" cmpd="sng">
            <a:solidFill>
              <a:srgbClr val="10B981">
                <a:alpha val="25000"/>
              </a:srgbClr>
            </a:solidFill>
            <a:prstDash val="dash"/>
            <a:round/>
            <a:headEnd type="none" w="med" len="med"/>
            <a:tailEnd type="none" w="med" len="med"/>
          </a:ln>
        </p:spPr>
      </p:cxnSp>
      <p:sp>
        <p:nvSpPr>
          <p:cNvPr id="19" name="AutoShape 19"/>
          <p:cNvSpPr/>
          <p:nvPr/>
        </p:nvSpPr>
        <p:spPr>
          <a:xfrm>
            <a:off x="6667500" y="1651000"/>
            <a:ext cx="5207000" cy="2349500"/>
          </a:xfrm>
          <a:prstGeom prst="roundRect">
            <a:avLst>
              <a:gd name="adj" fmla="val 0"/>
            </a:avLst>
          </a:prstGeom>
          <a:solidFill>
            <a:srgbClr val="FFFFFF">
              <a:alpha val="92000"/>
            </a:srgbClr>
          </a:solidFill>
          <a:ln w="12700" cap="flat" cmpd="sng">
            <a:solidFill>
              <a:srgbClr val="10B981">
                <a:alpha val="30000"/>
              </a:srgbClr>
            </a:solid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2"/>
          <a:srcRect/>
          <a:stretch>
            <a:fillRect/>
          </a:stretch>
        </p:blipFill>
        <p:spPr>
          <a:xfrm>
            <a:off x="6794500" y="1841500"/>
            <a:ext cx="1143000" cy="1143000"/>
          </a:xfrm>
          <a:prstGeom prst="rect">
            <a:avLst/>
          </a:prstGeom>
          <a:noFill/>
          <a:ln w="25400" cap="flat" cmpd="sng">
            <a:noFill/>
            <a:prstDash val="solid"/>
            <a:round/>
          </a:ln>
        </p:spPr>
      </p:pic>
      <p:sp>
        <p:nvSpPr>
          <p:cNvPr id="21" name="AutoShape 21"/>
          <p:cNvSpPr/>
          <p:nvPr/>
        </p:nvSpPr>
        <p:spPr>
          <a:xfrm>
            <a:off x="8128000" y="1841500"/>
            <a:ext cx="3619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7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DataHub</a:t>
            </a:r>
            <a:endParaRPr lang="en-US" sz="1100"/>
          </a:p>
        </p:txBody>
      </p:sp>
      <p:sp>
        <p:nvSpPr>
          <p:cNvPr id="22" name="AutoShape 22"/>
          <p:cNvSpPr/>
          <p:nvPr/>
        </p:nvSpPr>
        <p:spPr>
          <a:xfrm>
            <a:off x="8128000" y="2311400"/>
            <a:ext cx="3619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LinkedIn开源的现代化元数据平台，支持数百种数据源的自动化接入。它像数据界的“搜索引擎”，提供全链路数据血缘追踪与实时质量监控，帮助团队快速发现、理解并信任数据。</a:t>
            </a:r>
            <a:endParaRPr lang="en-US" sz="1100"/>
          </a:p>
        </p:txBody>
      </p:sp>
      <p:sp>
        <p:nvSpPr>
          <p:cNvPr id="23" name="AutoShape 23"/>
          <p:cNvSpPr/>
          <p:nvPr/>
        </p:nvSpPr>
        <p:spPr>
          <a:xfrm>
            <a:off x="6794500" y="3238500"/>
            <a:ext cx="4889500" cy="609600"/>
          </a:xfrm>
          <a:prstGeom prst="roundRect">
            <a:avLst>
              <a:gd name="adj" fmla="val 0"/>
            </a:avLst>
          </a:prstGeom>
          <a:solidFill>
            <a:srgbClr val="10B981">
              <a:alpha val="12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6921500" y="3276600"/>
            <a:ext cx="4699000" cy="533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064E3B"/>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核心能力：</a:t>
            </a:r>
            <a:r>
              <a:rPr lang="en-US" sz="1200" b="0" i="0" u="none" strike="noStrike">
                <a:solidFill>
                  <a:srgbClr val="1F2937">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自动化元数据采集 · 交互式血缘分析 · 数据健康度仪表盘</a:t>
            </a:r>
            <a:endParaRPr lang="en-US" sz="1100"/>
          </a:p>
        </p:txBody>
      </p:sp>
      <p:sp>
        <p:nvSpPr>
          <p:cNvPr id="25" name="AutoShape 25"/>
          <p:cNvSpPr/>
          <p:nvPr/>
        </p:nvSpPr>
        <p:spPr>
          <a:xfrm>
            <a:off x="6667500" y="4191000"/>
            <a:ext cx="5207000" cy="2222500"/>
          </a:xfrm>
          <a:prstGeom prst="roundRect">
            <a:avLst>
              <a:gd name="adj" fmla="val 0"/>
            </a:avLst>
          </a:prstGeom>
          <a:solidFill>
            <a:srgbClr val="FFFFFF">
              <a:alpha val="92000"/>
            </a:srgbClr>
          </a:solidFill>
          <a:ln w="12700" cap="flat" cmpd="sng">
            <a:solidFill>
              <a:srgbClr val="10B981">
                <a:alpha val="30000"/>
              </a:srgbClr>
            </a:solidFill>
            <a:prstDash val="solid"/>
            <a:round/>
          </a:ln>
        </p:spPr>
        <p:txBody>
          <a:bodyPr vert="horz" wrap="square" lIns="63500" tIns="63500" rIns="63500" bIns="63500" rtlCol="0" anchor="ctr"/>
          <a:lstStyle/>
          <a:p>
            <a:pPr algn="ctr">
              <a:defRPr/>
            </a:pPr>
          </a:p>
        </p:txBody>
      </p:sp>
      <p:pic>
        <p:nvPicPr>
          <p:cNvPr id="26" name="Picture 26"/>
          <p:cNvPicPr>
            <a:picLocks noChangeAspect="1"/>
          </p:cNvPicPr>
          <p:nvPr/>
        </p:nvPicPr>
        <p:blipFill>
          <a:blip r:embed="rId3"/>
          <a:srcRect l="25000" r="25000"/>
          <a:stretch>
            <a:fillRect/>
          </a:stretch>
        </p:blipFill>
        <p:spPr>
          <a:xfrm>
            <a:off x="6794500" y="4318000"/>
            <a:ext cx="1143000" cy="1143000"/>
          </a:xfrm>
          <a:prstGeom prst="rect">
            <a:avLst/>
          </a:prstGeom>
          <a:noFill/>
          <a:ln w="25400" cap="flat" cmpd="sng">
            <a:noFill/>
            <a:prstDash val="solid"/>
            <a:round/>
          </a:ln>
        </p:spPr>
      </p:pic>
      <p:sp>
        <p:nvSpPr>
          <p:cNvPr id="27" name="AutoShape 27"/>
          <p:cNvSpPr/>
          <p:nvPr/>
        </p:nvSpPr>
        <p:spPr>
          <a:xfrm>
            <a:off x="8128000" y="4318000"/>
            <a:ext cx="3619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7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OpenMetadata</a:t>
            </a:r>
            <a:endParaRPr lang="en-US" sz="1100"/>
          </a:p>
        </p:txBody>
      </p:sp>
      <p:sp>
        <p:nvSpPr>
          <p:cNvPr id="28" name="AutoShape 28"/>
          <p:cNvSpPr/>
          <p:nvPr/>
        </p:nvSpPr>
        <p:spPr>
          <a:xfrm>
            <a:off x="8128000" y="4800600"/>
            <a:ext cx="3619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以“协作”为核心的开源数据目录，将文档、讨论与数据资产深度融合。它让技术与业务人员在同一个平台上共建知识，自动生成资产文档，降低沟通成本，加速数据价值流转。</a:t>
            </a:r>
            <a:endParaRPr lang="en-US" sz="1100"/>
          </a:p>
        </p:txBody>
      </p:sp>
      <p:sp>
        <p:nvSpPr>
          <p:cNvPr id="29" name="AutoShape 29"/>
          <p:cNvSpPr/>
          <p:nvPr/>
        </p:nvSpPr>
        <p:spPr>
          <a:xfrm>
            <a:off x="6794500" y="5613400"/>
            <a:ext cx="4889500" cy="571500"/>
          </a:xfrm>
          <a:prstGeom prst="roundRect">
            <a:avLst>
              <a:gd name="adj" fmla="val 0"/>
            </a:avLst>
          </a:prstGeom>
          <a:solidFill>
            <a:srgbClr val="8B5CF6">
              <a:alpha val="12000"/>
            </a:srgbClr>
          </a:solidFill>
          <a:ln w="25400" cap="flat" cmpd="sng">
            <a:noFill/>
            <a:prstDash val="solid"/>
            <a:round/>
          </a:ln>
        </p:spPr>
        <p:txBody>
          <a:bodyPr vert="horz" wrap="square" lIns="63500" tIns="63500" rIns="63500" bIns="63500" rtlCol="0" anchor="ctr"/>
          <a:lstStyle/>
          <a:p>
            <a:pPr algn="ctr">
              <a:defRPr/>
            </a:pPr>
          </a:p>
        </p:txBody>
      </p:sp>
      <p:sp>
        <p:nvSpPr>
          <p:cNvPr id="30" name="AutoShape 30"/>
          <p:cNvSpPr/>
          <p:nvPr/>
        </p:nvSpPr>
        <p:spPr>
          <a:xfrm>
            <a:off x="6921500" y="5651500"/>
            <a:ext cx="469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581C8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核心能力：</a:t>
            </a:r>
            <a:r>
              <a:rPr lang="en-US" sz="1200" b="0" i="0" u="none" strike="noStrike">
                <a:solidFill>
                  <a:srgbClr val="1F2937">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众包式文档协作 · 事件驱动架构 · 统一数据质量框架</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模块五：现代架构思想 (Data Mesh &amp; Data Fabric)</a:t>
            </a:r>
            <a:endParaRPr lang="en-US" sz="1100"/>
          </a:p>
        </p:txBody>
      </p:sp>
      <p:sp>
        <p:nvSpPr>
          <p:cNvPr id="4" name="AutoShape 4"/>
          <p:cNvSpPr/>
          <p:nvPr/>
        </p:nvSpPr>
        <p:spPr>
          <a:xfrm>
            <a:off x="762000" y="1651000"/>
            <a:ext cx="5270500" cy="4572000"/>
          </a:xfrm>
          <a:prstGeom prst="roundRect">
            <a:avLst>
              <a:gd name="adj" fmla="val 0"/>
            </a:avLst>
          </a:prstGeom>
          <a:solidFill>
            <a:srgbClr val="FFFFFF">
              <a:alpha val="94000"/>
            </a:srgbClr>
          </a:solidFill>
          <a:ln w="12700" cap="flat" cmpd="sng">
            <a:solidFill>
              <a:srgbClr val="10B981">
                <a:alpha val="4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5270500" cy="508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905000"/>
            <a:ext cx="4762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Data Mesh (数据网格)</a:t>
            </a:r>
            <a:endParaRPr lang="en-US" sz="1100"/>
          </a:p>
        </p:txBody>
      </p:sp>
      <p:sp>
        <p:nvSpPr>
          <p:cNvPr id="7" name="AutoShape 7"/>
          <p:cNvSpPr/>
          <p:nvPr/>
        </p:nvSpPr>
        <p:spPr>
          <a:xfrm>
            <a:off x="1016000" y="2667000"/>
            <a:ext cx="4762500" cy="952500"/>
          </a:xfrm>
          <a:prstGeom prst="roundRect">
            <a:avLst>
              <a:gd name="adj" fmla="val 0"/>
            </a:avLst>
          </a:prstGeom>
          <a:solidFill>
            <a:srgbClr val="10B981">
              <a:alpha val="12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143000" y="2730500"/>
            <a:ext cx="4508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064E3B"/>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核心理念：去中心化自治</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将数据所有权与治理责任下沉至业务团队，以“数据即产品（Data as a Product）”为核心模式，打破集中式垄断。</a:t>
            </a:r>
            <a:endParaRPr lang="en-US" sz="1100"/>
          </a:p>
        </p:txBody>
      </p:sp>
      <p:sp>
        <p:nvSpPr>
          <p:cNvPr id="9" name="AutoShape 9"/>
          <p:cNvSpPr/>
          <p:nvPr/>
        </p:nvSpPr>
        <p:spPr>
          <a:xfrm>
            <a:off x="1016000" y="3810000"/>
            <a:ext cx="4762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1F2937">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传统集中式数据平台往往成为业务发展的瓶颈。Data Mesh 倡导由最懂业务的团队直接构建、维护和服务数据。这种模式让数据更贴近生产和使用场景，大幅降低了跨部门协作成本，同时提升了数据的时效性与准确性。</a:t>
            </a:r>
            <a:endParaRPr lang="en-US" sz="1100"/>
          </a:p>
        </p:txBody>
      </p:sp>
      <p:sp>
        <p:nvSpPr>
          <p:cNvPr id="10" name="AutoShape 10"/>
          <p:cNvSpPr/>
          <p:nvPr/>
        </p:nvSpPr>
        <p:spPr>
          <a:xfrm>
            <a:off x="1016000" y="5207000"/>
            <a:ext cx="4762500" cy="889000"/>
          </a:xfrm>
          <a:prstGeom prst="roundRect">
            <a:avLst>
              <a:gd name="adj" fmla="val 0"/>
            </a:avLst>
          </a:prstGeom>
          <a:solidFill>
            <a:srgbClr val="F3F4F6">
              <a:alpha val="95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143000" y="5270500"/>
            <a:ext cx="4508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1" i="0" u="none" strike="noStrike">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关键实践：</a:t>
            </a: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领域驱动设计 (DDD) 划分边界 + 自服务数据基础设施 + 联邦治理标准，实现规模化敏捷。</a:t>
            </a:r>
            <a:endParaRPr lang="en-US" sz="1100"/>
          </a:p>
        </p:txBody>
      </p:sp>
      <p:sp>
        <p:nvSpPr>
          <p:cNvPr id="12" name="AutoShape 12"/>
          <p:cNvSpPr/>
          <p:nvPr/>
        </p:nvSpPr>
        <p:spPr>
          <a:xfrm>
            <a:off x="6223000" y="1651000"/>
            <a:ext cx="5270500" cy="4572000"/>
          </a:xfrm>
          <a:prstGeom prst="roundRect">
            <a:avLst>
              <a:gd name="adj" fmla="val 0"/>
            </a:avLst>
          </a:prstGeom>
          <a:solidFill>
            <a:srgbClr val="FFFFFF">
              <a:alpha val="94000"/>
            </a:srgbClr>
          </a:solidFill>
          <a:ln w="12700" cap="flat" cmpd="sng">
            <a:solidFill>
              <a:srgbClr val="10B981">
                <a:alpha val="4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6223000" y="1651000"/>
            <a:ext cx="5270500" cy="508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6477000" y="1905000"/>
            <a:ext cx="4762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Data Fabric (数据编织)</a:t>
            </a:r>
            <a:endParaRPr lang="en-US" sz="1100"/>
          </a:p>
        </p:txBody>
      </p:sp>
      <p:sp>
        <p:nvSpPr>
          <p:cNvPr id="15" name="AutoShape 15"/>
          <p:cNvSpPr/>
          <p:nvPr/>
        </p:nvSpPr>
        <p:spPr>
          <a:xfrm>
            <a:off x="6477000" y="2667000"/>
            <a:ext cx="4762500" cy="952500"/>
          </a:xfrm>
          <a:prstGeom prst="roundRect">
            <a:avLst>
              <a:gd name="adj" fmla="val 0"/>
            </a:avLst>
          </a:prstGeom>
          <a:solidFill>
            <a:srgbClr val="10B981">
              <a:alpha val="12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6604000" y="2730500"/>
            <a:ext cx="4508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064E3B"/>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核心理念：智能连接与自动化</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利用AI与知识图谱技术，自动发现、关联异构数据资产，打破孤岛，构建全局统一的逻辑数据视图。</a:t>
            </a:r>
            <a:endParaRPr lang="en-US" sz="1100"/>
          </a:p>
        </p:txBody>
      </p:sp>
      <p:sp>
        <p:nvSpPr>
          <p:cNvPr id="17" name="AutoShape 17"/>
          <p:cNvSpPr/>
          <p:nvPr/>
        </p:nvSpPr>
        <p:spPr>
          <a:xfrm>
            <a:off x="6477000" y="3810000"/>
            <a:ext cx="4762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1F2937">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面对复杂多样的数据源和快速变化的业务需求，人工整合数据已不可持续。Data Fabric 通过主动元数据管理和语义互操作性，让数据在物理上保持分布，在逻辑上实现统一。它能够自动理解数据上下文，为用户提供按需的、智能化的数据服务。</a:t>
            </a:r>
            <a:endParaRPr lang="en-US" sz="1100"/>
          </a:p>
        </p:txBody>
      </p:sp>
      <p:sp>
        <p:nvSpPr>
          <p:cNvPr id="18" name="AutoShape 18"/>
          <p:cNvSpPr/>
          <p:nvPr/>
        </p:nvSpPr>
        <p:spPr>
          <a:xfrm>
            <a:off x="6477000" y="5207000"/>
            <a:ext cx="4762500" cy="889000"/>
          </a:xfrm>
          <a:prstGeom prst="roundRect">
            <a:avLst>
              <a:gd name="adj" fmla="val 0"/>
            </a:avLst>
          </a:prstGeom>
          <a:solidFill>
            <a:srgbClr val="F3F4F6">
              <a:alpha val="95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6604000" y="5270500"/>
            <a:ext cx="4508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1" i="0" u="none" strike="noStrike">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关键实践：</a:t>
            </a: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数据虚拟化技术 + 主动元数据引擎 + 智能推荐服务，从根本上降低数据获取与融合的复杂性。</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知识探索：分组研究与汇报</a:t>
            </a:r>
            <a:endParaRPr lang="en-US" sz="1100"/>
          </a:p>
        </p:txBody>
      </p:sp>
      <p:sp>
        <p:nvSpPr>
          <p:cNvPr id="4" name="AutoShape 4"/>
          <p:cNvSpPr/>
          <p:nvPr/>
        </p:nvSpPr>
        <p:spPr>
          <a:xfrm>
            <a:off x="762000" y="1524000"/>
            <a:ext cx="10668000" cy="1206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16000" y="1625600"/>
            <a:ext cx="10160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全班将分为5个专项研究小组，在15分钟内结合课程资料与快速调研，深入剖析分配模块的核心逻辑、关键技术栈及行业落地方式。完成研究后，请每组选派代表进行5分钟成果汇报，通过简明的讲解帮助全班同学建立对该技术领域的立体认知。</a:t>
            </a:r>
            <a:endParaRPr lang="en-US" sz="1100"/>
          </a:p>
        </p:txBody>
      </p:sp>
      <p:sp>
        <p:nvSpPr>
          <p:cNvPr id="6" name="AutoShape 6"/>
          <p:cNvSpPr/>
          <p:nvPr/>
        </p:nvSpPr>
        <p:spPr>
          <a:xfrm>
            <a:off x="762000" y="2921000"/>
            <a:ext cx="2082800" cy="1841500"/>
          </a:xfrm>
          <a:prstGeom prst="roundRect">
            <a:avLst>
              <a:gd name="adj" fmla="val 0"/>
            </a:avLst>
          </a:prstGeom>
          <a:solidFill>
            <a:srgbClr val="FFFFFF">
              <a:alpha val="95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762000" y="2921000"/>
            <a:ext cx="2082800" cy="508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825500" y="3073400"/>
            <a:ext cx="19558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Group 1</a:t>
            </a:r>
            <a:endParaRPr lang="en-US" sz="1100"/>
          </a:p>
        </p:txBody>
      </p:sp>
      <p:sp>
        <p:nvSpPr>
          <p:cNvPr id="9" name="AutoShape 9"/>
          <p:cNvSpPr/>
          <p:nvPr/>
        </p:nvSpPr>
        <p:spPr>
          <a:xfrm>
            <a:off x="825500" y="3556000"/>
            <a:ext cx="19558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现代数据仓库</a:t>
            </a:r>
            <a:endParaRPr lang="en-US" sz="1100"/>
          </a:p>
        </p:txBody>
      </p:sp>
      <p:sp>
        <p:nvSpPr>
          <p:cNvPr id="10" name="AutoShape 10"/>
          <p:cNvSpPr/>
          <p:nvPr/>
        </p:nvSpPr>
        <p:spPr>
          <a:xfrm>
            <a:off x="825500" y="4064000"/>
            <a:ext cx="19558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聚焦 ClickHouse 与 Snowflake，探索极速分析与云原生数仓架构。</a:t>
            </a:r>
            <a:endParaRPr lang="en-US" sz="1100"/>
          </a:p>
        </p:txBody>
      </p:sp>
      <p:sp>
        <p:nvSpPr>
          <p:cNvPr id="11" name="AutoShape 11"/>
          <p:cNvSpPr/>
          <p:nvPr/>
        </p:nvSpPr>
        <p:spPr>
          <a:xfrm>
            <a:off x="2959100" y="2921000"/>
            <a:ext cx="2082800" cy="1841500"/>
          </a:xfrm>
          <a:prstGeom prst="roundRect">
            <a:avLst>
              <a:gd name="adj" fmla="val 0"/>
            </a:avLst>
          </a:prstGeom>
          <a:solidFill>
            <a:srgbClr val="FFFFFF">
              <a:alpha val="95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2959100" y="2921000"/>
            <a:ext cx="2082800" cy="508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3022600" y="3073400"/>
            <a:ext cx="19558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Group 2</a:t>
            </a:r>
            <a:endParaRPr lang="en-US" sz="1100"/>
          </a:p>
        </p:txBody>
      </p:sp>
      <p:sp>
        <p:nvSpPr>
          <p:cNvPr id="14" name="AutoShape 14"/>
          <p:cNvSpPr/>
          <p:nvPr/>
        </p:nvSpPr>
        <p:spPr>
          <a:xfrm>
            <a:off x="3022600" y="3556000"/>
            <a:ext cx="19558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湖仓一体架构</a:t>
            </a:r>
            <a:endParaRPr lang="en-US" sz="1100"/>
          </a:p>
        </p:txBody>
      </p:sp>
      <p:sp>
        <p:nvSpPr>
          <p:cNvPr id="15" name="AutoShape 15"/>
          <p:cNvSpPr/>
          <p:nvPr/>
        </p:nvSpPr>
        <p:spPr>
          <a:xfrm>
            <a:off x="3022600" y="4064000"/>
            <a:ext cx="19558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以 Databricks 为例，研究数据湖与数仓融合的统一存储与计算方案。</a:t>
            </a:r>
            <a:endParaRPr lang="en-US" sz="1100"/>
          </a:p>
        </p:txBody>
      </p:sp>
      <p:sp>
        <p:nvSpPr>
          <p:cNvPr id="16" name="AutoShape 16"/>
          <p:cNvSpPr/>
          <p:nvPr/>
        </p:nvSpPr>
        <p:spPr>
          <a:xfrm>
            <a:off x="5156200" y="2921000"/>
            <a:ext cx="2082800" cy="1841500"/>
          </a:xfrm>
          <a:prstGeom prst="roundRect">
            <a:avLst>
              <a:gd name="adj" fmla="val 0"/>
            </a:avLst>
          </a:prstGeom>
          <a:solidFill>
            <a:srgbClr val="FFFFFF">
              <a:alpha val="95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5156200" y="2921000"/>
            <a:ext cx="2082800" cy="508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5219700" y="3073400"/>
            <a:ext cx="19558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Group 3</a:t>
            </a:r>
            <a:endParaRPr lang="en-US" sz="1100"/>
          </a:p>
        </p:txBody>
      </p:sp>
      <p:sp>
        <p:nvSpPr>
          <p:cNvPr id="19" name="AutoShape 19"/>
          <p:cNvSpPr/>
          <p:nvPr/>
        </p:nvSpPr>
        <p:spPr>
          <a:xfrm>
            <a:off x="5219700" y="3556000"/>
            <a:ext cx="19558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批流一体引擎</a:t>
            </a:r>
            <a:endParaRPr lang="en-US" sz="1100"/>
          </a:p>
        </p:txBody>
      </p:sp>
      <p:sp>
        <p:nvSpPr>
          <p:cNvPr id="20" name="AutoShape 20"/>
          <p:cNvSpPr/>
          <p:nvPr/>
        </p:nvSpPr>
        <p:spPr>
          <a:xfrm>
            <a:off x="5219700" y="4064000"/>
            <a:ext cx="19558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对比 Spark 与 Flink，理解新一代大数据处理引擎的技术演进与应用。</a:t>
            </a:r>
            <a:endParaRPr lang="en-US" sz="1100"/>
          </a:p>
        </p:txBody>
      </p:sp>
      <p:sp>
        <p:nvSpPr>
          <p:cNvPr id="21" name="AutoShape 21"/>
          <p:cNvSpPr/>
          <p:nvPr/>
        </p:nvSpPr>
        <p:spPr>
          <a:xfrm>
            <a:off x="7353300" y="2921000"/>
            <a:ext cx="2082800" cy="1841500"/>
          </a:xfrm>
          <a:prstGeom prst="roundRect">
            <a:avLst>
              <a:gd name="adj" fmla="val 0"/>
            </a:avLst>
          </a:prstGeom>
          <a:solidFill>
            <a:srgbClr val="FFFFFF">
              <a:alpha val="95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7353300" y="2921000"/>
            <a:ext cx="2082800" cy="508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7416800" y="3073400"/>
            <a:ext cx="19558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Group 4</a:t>
            </a:r>
            <a:endParaRPr lang="en-US" sz="1100"/>
          </a:p>
        </p:txBody>
      </p:sp>
      <p:sp>
        <p:nvSpPr>
          <p:cNvPr id="24" name="AutoShape 24"/>
          <p:cNvSpPr/>
          <p:nvPr/>
        </p:nvSpPr>
        <p:spPr>
          <a:xfrm>
            <a:off x="7416800" y="3556000"/>
            <a:ext cx="19558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元数据治理</a:t>
            </a:r>
            <a:endParaRPr lang="en-US" sz="1100"/>
          </a:p>
        </p:txBody>
      </p:sp>
      <p:sp>
        <p:nvSpPr>
          <p:cNvPr id="25" name="AutoShape 25"/>
          <p:cNvSpPr/>
          <p:nvPr/>
        </p:nvSpPr>
        <p:spPr>
          <a:xfrm>
            <a:off x="7416800" y="4064000"/>
            <a:ext cx="19558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分析 DataHub 与 OpenMetadata，探讨数据资产的可发现性与可观测性。</a:t>
            </a:r>
            <a:endParaRPr lang="en-US" sz="1100"/>
          </a:p>
        </p:txBody>
      </p:sp>
      <p:sp>
        <p:nvSpPr>
          <p:cNvPr id="26" name="AutoShape 26"/>
          <p:cNvSpPr/>
          <p:nvPr/>
        </p:nvSpPr>
        <p:spPr>
          <a:xfrm>
            <a:off x="9550400" y="2921000"/>
            <a:ext cx="2082800" cy="1841500"/>
          </a:xfrm>
          <a:prstGeom prst="roundRect">
            <a:avLst>
              <a:gd name="adj" fmla="val 0"/>
            </a:avLst>
          </a:prstGeom>
          <a:solidFill>
            <a:srgbClr val="FFFFFF">
              <a:alpha val="95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9550400" y="2921000"/>
            <a:ext cx="2082800" cy="508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28"/>
          <p:cNvSpPr/>
          <p:nvPr/>
        </p:nvSpPr>
        <p:spPr>
          <a:xfrm>
            <a:off x="9613900" y="3073400"/>
            <a:ext cx="19558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Group 5</a:t>
            </a:r>
            <a:endParaRPr lang="en-US" sz="1100"/>
          </a:p>
        </p:txBody>
      </p:sp>
      <p:sp>
        <p:nvSpPr>
          <p:cNvPr id="29" name="AutoShape 29"/>
          <p:cNvSpPr/>
          <p:nvPr/>
        </p:nvSpPr>
        <p:spPr>
          <a:xfrm>
            <a:off x="9613900" y="3556000"/>
            <a:ext cx="19558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新型架构范式</a:t>
            </a:r>
            <a:endParaRPr lang="en-US" sz="1100"/>
          </a:p>
        </p:txBody>
      </p:sp>
      <p:sp>
        <p:nvSpPr>
          <p:cNvPr id="30" name="AutoShape 30"/>
          <p:cNvSpPr/>
          <p:nvPr/>
        </p:nvSpPr>
        <p:spPr>
          <a:xfrm>
            <a:off x="9613900" y="4064000"/>
            <a:ext cx="19558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 Data Mesh 与 Data Fabric，理解去中心化与智能化的数据架构理念。</a:t>
            </a:r>
            <a:endParaRPr lang="en-US" sz="1100"/>
          </a:p>
        </p:txBody>
      </p:sp>
      <p:sp>
        <p:nvSpPr>
          <p:cNvPr id="31" name="AutoShape 31"/>
          <p:cNvSpPr/>
          <p:nvPr/>
        </p:nvSpPr>
        <p:spPr>
          <a:xfrm>
            <a:off x="762000" y="4953000"/>
            <a:ext cx="3492500" cy="1524000"/>
          </a:xfrm>
          <a:prstGeom prst="roundRect">
            <a:avLst>
              <a:gd name="adj" fmla="val 0"/>
            </a:avLst>
          </a:prstGeom>
          <a:solidFill>
            <a:srgbClr val="F0FDF4">
              <a:alpha val="92000"/>
            </a:srgbClr>
          </a:solidFill>
          <a:ln w="25400" cap="flat" cmpd="sng">
            <a:noFill/>
            <a:prstDash val="solid"/>
            <a:round/>
          </a:ln>
        </p:spPr>
        <p:txBody>
          <a:bodyPr vert="horz" wrap="square" lIns="63500" tIns="63500" rIns="63500" bIns="63500" rtlCol="0" anchor="ctr"/>
          <a:lstStyle/>
          <a:p>
            <a:pPr algn="ctr">
              <a:defRPr/>
            </a:pPr>
          </a:p>
        </p:txBody>
      </p:sp>
      <p:pic>
        <p:nvPicPr>
          <p:cNvPr id="32" name="Picture 32"/>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89000" y="5080000"/>
            <a:ext cx="279400" cy="279400"/>
          </a:xfrm>
          <a:prstGeom prst="rect">
            <a:avLst/>
          </a:prstGeom>
        </p:spPr>
      </p:pic>
      <p:sp>
        <p:nvSpPr>
          <p:cNvPr id="33" name="AutoShape 33"/>
          <p:cNvSpPr/>
          <p:nvPr/>
        </p:nvSpPr>
        <p:spPr>
          <a:xfrm>
            <a:off x="1270000" y="5080000"/>
            <a:ext cx="2794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核心概念再定义</a:t>
            </a:r>
            <a:endParaRPr lang="en-US" sz="1100"/>
          </a:p>
        </p:txBody>
      </p:sp>
      <p:sp>
        <p:nvSpPr>
          <p:cNvPr id="34" name="AutoShape 34"/>
          <p:cNvSpPr/>
          <p:nvPr/>
        </p:nvSpPr>
        <p:spPr>
          <a:xfrm>
            <a:off x="889000" y="5524500"/>
            <a:ext cx="3238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拒绝照本宣科，用通俗的语言拆解专业术语，阐述该技术模块解决的核心业务痛点与行业价值。</a:t>
            </a:r>
            <a:endParaRPr lang="en-US" sz="1100"/>
          </a:p>
        </p:txBody>
      </p:sp>
      <p:sp>
        <p:nvSpPr>
          <p:cNvPr id="35" name="AutoShape 35"/>
          <p:cNvSpPr/>
          <p:nvPr/>
        </p:nvSpPr>
        <p:spPr>
          <a:xfrm>
            <a:off x="4356100" y="4953000"/>
            <a:ext cx="3492500" cy="1524000"/>
          </a:xfrm>
          <a:prstGeom prst="roundRect">
            <a:avLst>
              <a:gd name="adj" fmla="val 0"/>
            </a:avLst>
          </a:prstGeom>
          <a:solidFill>
            <a:srgbClr val="F0FDF4">
              <a:alpha val="92000"/>
            </a:srgbClr>
          </a:solidFill>
          <a:ln w="25400" cap="flat" cmpd="sng">
            <a:noFill/>
            <a:prstDash val="solid"/>
            <a:round/>
          </a:ln>
        </p:spPr>
        <p:txBody>
          <a:bodyPr vert="horz" wrap="square" lIns="63500" tIns="63500" rIns="63500" bIns="63500" rtlCol="0" anchor="ctr"/>
          <a:lstStyle/>
          <a:p>
            <a:pPr algn="ctr">
              <a:defRPr/>
            </a:pPr>
          </a:p>
        </p:txBody>
      </p:sp>
      <p:pic>
        <p:nvPicPr>
          <p:cNvPr id="36" name="Picture 3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483100" y="5080000"/>
            <a:ext cx="279400" cy="279400"/>
          </a:xfrm>
          <a:prstGeom prst="rect">
            <a:avLst/>
          </a:prstGeom>
        </p:spPr>
      </p:pic>
      <p:sp>
        <p:nvSpPr>
          <p:cNvPr id="37" name="AutoShape 37"/>
          <p:cNvSpPr/>
          <p:nvPr/>
        </p:nvSpPr>
        <p:spPr>
          <a:xfrm>
            <a:off x="4864100" y="5080000"/>
            <a:ext cx="2794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标杆技术透视</a:t>
            </a:r>
            <a:endParaRPr lang="en-US" sz="1100"/>
          </a:p>
        </p:txBody>
      </p:sp>
      <p:sp>
        <p:nvSpPr>
          <p:cNvPr id="38" name="AutoShape 38"/>
          <p:cNvSpPr/>
          <p:nvPr/>
        </p:nvSpPr>
        <p:spPr>
          <a:xfrm>
            <a:off x="4483100" y="5524500"/>
            <a:ext cx="3238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选取该领域一款代表性产品，简述其核心技术架构、核心功能亮点以及在市场中的竞争优势。</a:t>
            </a:r>
            <a:endParaRPr lang="en-US" sz="1100"/>
          </a:p>
        </p:txBody>
      </p:sp>
      <p:sp>
        <p:nvSpPr>
          <p:cNvPr id="39" name="AutoShape 39"/>
          <p:cNvSpPr/>
          <p:nvPr/>
        </p:nvSpPr>
        <p:spPr>
          <a:xfrm>
            <a:off x="7950200" y="4953000"/>
            <a:ext cx="3492500" cy="1524000"/>
          </a:xfrm>
          <a:prstGeom prst="roundRect">
            <a:avLst>
              <a:gd name="adj" fmla="val 0"/>
            </a:avLst>
          </a:prstGeom>
          <a:solidFill>
            <a:srgbClr val="F0FDF4">
              <a:alpha val="92000"/>
            </a:srgbClr>
          </a:solidFill>
          <a:ln w="25400" cap="flat" cmpd="sng">
            <a:noFill/>
            <a:prstDash val="solid"/>
            <a:round/>
          </a:ln>
        </p:spPr>
        <p:txBody>
          <a:bodyPr vert="horz" wrap="square" lIns="63500" tIns="63500" rIns="63500" bIns="63500" rtlCol="0" anchor="ctr"/>
          <a:lstStyle/>
          <a:p>
            <a:pPr algn="ctr">
              <a:defRPr/>
            </a:pPr>
          </a:p>
        </p:txBody>
      </p:sp>
      <p:pic>
        <p:nvPicPr>
          <p:cNvPr id="40" name="Picture 4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077200" y="5080000"/>
            <a:ext cx="279400" cy="279400"/>
          </a:xfrm>
          <a:prstGeom prst="rect">
            <a:avLst/>
          </a:prstGeom>
        </p:spPr>
      </p:pic>
      <p:sp>
        <p:nvSpPr>
          <p:cNvPr id="41" name="AutoShape 41"/>
          <p:cNvSpPr/>
          <p:nvPr/>
        </p:nvSpPr>
        <p:spPr>
          <a:xfrm>
            <a:off x="8458200" y="5080000"/>
            <a:ext cx="2794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落地案例复盘</a:t>
            </a:r>
            <a:endParaRPr lang="en-US" sz="1100"/>
          </a:p>
        </p:txBody>
      </p:sp>
      <p:sp>
        <p:nvSpPr>
          <p:cNvPr id="42" name="AutoShape 42"/>
          <p:cNvSpPr/>
          <p:nvPr/>
        </p:nvSpPr>
        <p:spPr>
          <a:xfrm>
            <a:off x="8077200" y="5524500"/>
            <a:ext cx="3238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寻找一个真实的行业应用案例，描述技术落地的业务场景，以及实施后带来的实际效率提升。</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现代数据技术栈架构全景</a:t>
            </a:r>
            <a:endParaRPr lang="en-US" sz="1100"/>
          </a:p>
        </p:txBody>
      </p:sp>
      <p:sp>
        <p:nvSpPr>
          <p:cNvPr id="4" name="AutoShape 4"/>
          <p:cNvSpPr/>
          <p:nvPr/>
        </p:nvSpPr>
        <p:spPr>
          <a:xfrm>
            <a:off x="762000" y="1651000"/>
            <a:ext cx="5270500" cy="2222500"/>
          </a:xfrm>
          <a:prstGeom prst="roundRect">
            <a:avLst>
              <a:gd name="adj" fmla="val 0"/>
            </a:avLst>
          </a:prstGeom>
          <a:solidFill>
            <a:srgbClr val="FFFFFF">
              <a:alpha val="92000"/>
            </a:srgbClr>
          </a:solidFill>
          <a:ln w="12700" cap="flat" cmpd="sng">
            <a:solidFill>
              <a:srgbClr val="10B981">
                <a:alpha val="4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5270500" cy="508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841500"/>
            <a:ext cx="4889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架构思想 · 顶层设计</a:t>
            </a:r>
            <a:endParaRPr lang="en-US" sz="1100"/>
          </a:p>
        </p:txBody>
      </p:sp>
      <p:sp>
        <p:nvSpPr>
          <p:cNvPr id="7" name="AutoShape 7"/>
          <p:cNvSpPr/>
          <p:nvPr/>
        </p:nvSpPr>
        <p:spPr>
          <a:xfrm>
            <a:off x="952500" y="2349500"/>
            <a:ext cx="4889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Data Mesh / Data Fabric</a:t>
            </a:r>
            <a:endParaRPr lang="en-US" sz="1100"/>
          </a:p>
        </p:txBody>
      </p:sp>
      <p:sp>
        <p:nvSpPr>
          <p:cNvPr id="8" name="AutoShape 8"/>
          <p:cNvSpPr/>
          <p:nvPr/>
        </p:nvSpPr>
        <p:spPr>
          <a:xfrm>
            <a:off x="952500" y="2857500"/>
            <a:ext cx="4889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以领域为导向的分布式数据架构范式，打破传统中心化数据平台的孤岛效应。通过将数据所有权下放到业务域，实现数据的自助服务与互联互通，为企业构建灵活、可扩展且贴合业务发展的现代化数据基础设施。</a:t>
            </a:r>
            <a:endParaRPr lang="en-US" sz="1100"/>
          </a:p>
        </p:txBody>
      </p:sp>
      <p:sp>
        <p:nvSpPr>
          <p:cNvPr id="9" name="AutoShape 9"/>
          <p:cNvSpPr/>
          <p:nvPr/>
        </p:nvSpPr>
        <p:spPr>
          <a:xfrm>
            <a:off x="6223000" y="1651000"/>
            <a:ext cx="5270500" cy="2222500"/>
          </a:xfrm>
          <a:prstGeom prst="roundRect">
            <a:avLst>
              <a:gd name="adj" fmla="val 0"/>
            </a:avLst>
          </a:prstGeom>
          <a:solidFill>
            <a:srgbClr val="FFFFFF">
              <a:alpha val="92000"/>
            </a:srgbClr>
          </a:solidFill>
          <a:ln w="12700" cap="flat" cmpd="sng">
            <a:solidFill>
              <a:srgbClr val="10B981">
                <a:alpha val="4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6223000" y="1651000"/>
            <a:ext cx="5270500" cy="508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6413500" y="1841500"/>
            <a:ext cx="4889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元数据管理 · 数据导航</a:t>
            </a:r>
            <a:endParaRPr lang="en-US" sz="1100"/>
          </a:p>
        </p:txBody>
      </p:sp>
      <p:sp>
        <p:nvSpPr>
          <p:cNvPr id="12" name="AutoShape 12"/>
          <p:cNvSpPr/>
          <p:nvPr/>
        </p:nvSpPr>
        <p:spPr>
          <a:xfrm>
            <a:off x="6413500" y="2349500"/>
            <a:ext cx="4889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DataHub / OpenMetadata</a:t>
            </a:r>
            <a:endParaRPr lang="en-US" sz="1100"/>
          </a:p>
        </p:txBody>
      </p:sp>
      <p:sp>
        <p:nvSpPr>
          <p:cNvPr id="13" name="AutoShape 13"/>
          <p:cNvSpPr/>
          <p:nvPr/>
        </p:nvSpPr>
        <p:spPr>
          <a:xfrm>
            <a:off x="6413500" y="2857500"/>
            <a:ext cx="4889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资产的“导航地图”，负责统一采集、整合全链路元数据信息。它赋予了数据可发现性、可理解性与血缘追踪能力，帮助技术与业务人员快速定位有价值的数据资产，同时是实施数据治理、保障数据质量的关键基础。</a:t>
            </a:r>
            <a:endParaRPr lang="en-US" sz="1100"/>
          </a:p>
        </p:txBody>
      </p:sp>
      <p:sp>
        <p:nvSpPr>
          <p:cNvPr id="14" name="AutoShape 14"/>
          <p:cNvSpPr/>
          <p:nvPr/>
        </p:nvSpPr>
        <p:spPr>
          <a:xfrm>
            <a:off x="762000" y="4064000"/>
            <a:ext cx="5270500" cy="2222500"/>
          </a:xfrm>
          <a:prstGeom prst="roundRect">
            <a:avLst>
              <a:gd name="adj" fmla="val 0"/>
            </a:avLst>
          </a:prstGeom>
          <a:solidFill>
            <a:srgbClr val="FFFFFF">
              <a:alpha val="92000"/>
            </a:srgbClr>
          </a:solidFill>
          <a:ln w="12700" cap="flat" cmpd="sng">
            <a:solidFill>
              <a:srgbClr val="10B981">
                <a:alpha val="4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762000" y="4064000"/>
            <a:ext cx="5270500" cy="508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952500" y="4254500"/>
            <a:ext cx="4889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计算引擎 · 核心动力</a:t>
            </a:r>
            <a:endParaRPr lang="en-US" sz="1100"/>
          </a:p>
        </p:txBody>
      </p:sp>
      <p:sp>
        <p:nvSpPr>
          <p:cNvPr id="17" name="AutoShape 17"/>
          <p:cNvSpPr/>
          <p:nvPr/>
        </p:nvSpPr>
        <p:spPr>
          <a:xfrm>
            <a:off x="952500" y="4699000"/>
            <a:ext cx="4889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Spark (批处理) / Flink (流处理)</a:t>
            </a:r>
            <a:endParaRPr lang="en-US" sz="1100"/>
          </a:p>
        </p:txBody>
      </p:sp>
      <p:sp>
        <p:nvSpPr>
          <p:cNvPr id="18" name="AutoShape 18"/>
          <p:cNvSpPr/>
          <p:nvPr/>
        </p:nvSpPr>
        <p:spPr>
          <a:xfrm>
            <a:off x="952500" y="5207000"/>
            <a:ext cx="4889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现代大数据处理的“动力心脏”，支持批流一体的高性能计算。能够高效处理海量历史数据的离线批处理，也能支撑毫秒级延迟的实时流计算。为复杂的数据分析、AI特征工程、实时业务监控与决策提供了强大且灵活的算力底座。</a:t>
            </a:r>
            <a:endParaRPr lang="en-US" sz="1100"/>
          </a:p>
        </p:txBody>
      </p:sp>
      <p:sp>
        <p:nvSpPr>
          <p:cNvPr id="19" name="AutoShape 19"/>
          <p:cNvSpPr/>
          <p:nvPr/>
        </p:nvSpPr>
        <p:spPr>
          <a:xfrm>
            <a:off x="6223000" y="4064000"/>
            <a:ext cx="5270500" cy="2222500"/>
          </a:xfrm>
          <a:prstGeom prst="roundRect">
            <a:avLst>
              <a:gd name="adj" fmla="val 0"/>
            </a:avLst>
          </a:prstGeom>
          <a:solidFill>
            <a:srgbClr val="FFFFFF">
              <a:alpha val="92000"/>
            </a:srgbClr>
          </a:solidFill>
          <a:ln w="12700" cap="flat" cmpd="sng">
            <a:solidFill>
              <a:srgbClr val="10B981">
                <a:alpha val="40000"/>
              </a:srgbClr>
            </a:solidFill>
            <a:prstDash val="solid"/>
            <a:round/>
          </a:ln>
        </p:spPr>
        <p:txBody>
          <a:bodyPr vert="horz" wrap="square" lIns="63500" tIns="63500" rIns="63500" bIns="63500" rtlCol="0" anchor="ctr"/>
          <a:lstStyle/>
          <a:p>
            <a:pPr algn="ctr">
              <a:defRPr/>
            </a:pPr>
          </a:p>
        </p:txBody>
      </p:sp>
      <p:sp>
        <p:nvSpPr>
          <p:cNvPr id="20" name="AutoShape 20"/>
          <p:cNvSpPr/>
          <p:nvPr/>
        </p:nvSpPr>
        <p:spPr>
          <a:xfrm>
            <a:off x="6223000" y="4064000"/>
            <a:ext cx="5270500" cy="508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6413500" y="4254500"/>
            <a:ext cx="4889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存储层 · 坚实地基</a:t>
            </a:r>
            <a:endParaRPr lang="en-US" sz="1100"/>
          </a:p>
        </p:txBody>
      </p:sp>
      <p:sp>
        <p:nvSpPr>
          <p:cNvPr id="22" name="AutoShape 22"/>
          <p:cNvSpPr/>
          <p:nvPr/>
        </p:nvSpPr>
        <p:spPr>
          <a:xfrm>
            <a:off x="6413500" y="4699000"/>
            <a:ext cx="4889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湖仓一体 / 数仓 / 数据湖</a:t>
            </a:r>
            <a:endParaRPr lang="en-US" sz="1100"/>
          </a:p>
        </p:txBody>
      </p:sp>
      <p:sp>
        <p:nvSpPr>
          <p:cNvPr id="23" name="AutoShape 23"/>
          <p:cNvSpPr/>
          <p:nvPr/>
        </p:nvSpPr>
        <p:spPr>
          <a:xfrm>
            <a:off x="6413500" y="5207000"/>
            <a:ext cx="4889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融合了数据仓库的高性能分析能力与数据湖的低成本存储优势。结合Iceberg/Delta Lake等现代表格式技术，解决了传统数据湖的一致性问题。既支持海量非结构化数据的低成本沉淀，又能提供企业级的高并发、低延迟数据查询服务。</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架构图解读：各模块协同工作原理</a:t>
            </a:r>
            <a:endParaRPr lang="en-US" sz="1100"/>
          </a:p>
        </p:txBody>
      </p:sp>
      <p:sp>
        <p:nvSpPr>
          <p:cNvPr id="4" name="AutoShape 4"/>
          <p:cNvSpPr/>
          <p:nvPr/>
        </p:nvSpPr>
        <p:spPr>
          <a:xfrm>
            <a:off x="762000" y="1651000"/>
            <a:ext cx="2603500" cy="2095500"/>
          </a:xfrm>
          <a:prstGeom prst="roundRect">
            <a:avLst>
              <a:gd name="adj" fmla="val 0"/>
            </a:avLst>
          </a:prstGeom>
          <a:solidFill>
            <a:srgbClr val="FFFFFF">
              <a:alpha val="9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2603500" cy="508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889000" y="1803400"/>
            <a:ext cx="2349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存储层 (地基)</a:t>
            </a:r>
            <a:endParaRPr lang="en-US" sz="1100"/>
          </a:p>
        </p:txBody>
      </p:sp>
      <p:sp>
        <p:nvSpPr>
          <p:cNvPr id="7" name="AutoShape 7"/>
          <p:cNvSpPr/>
          <p:nvPr/>
        </p:nvSpPr>
        <p:spPr>
          <a:xfrm>
            <a:off x="889000" y="2311400"/>
            <a:ext cx="2349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所有数据的最终归宿，是整个架构的物理基础。它承载着海量的原始业务数据与计算结果，通过持久化存储技术，确保数据的安全性、完整性与高可用性，为上层应用提供坚实的数据底座。</a:t>
            </a:r>
            <a:endParaRPr lang="en-US" sz="1100"/>
          </a:p>
        </p:txBody>
      </p:sp>
      <p:sp>
        <p:nvSpPr>
          <p:cNvPr id="8" name="AutoShape 8"/>
          <p:cNvSpPr/>
          <p:nvPr/>
        </p:nvSpPr>
        <p:spPr>
          <a:xfrm>
            <a:off x="3530600" y="1651000"/>
            <a:ext cx="2603500" cy="2095500"/>
          </a:xfrm>
          <a:prstGeom prst="roundRect">
            <a:avLst>
              <a:gd name="adj" fmla="val 0"/>
            </a:avLst>
          </a:prstGeom>
          <a:solidFill>
            <a:srgbClr val="FFFFFF">
              <a:alpha val="9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3530600" y="1651000"/>
            <a:ext cx="2603500" cy="508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3657600" y="1803400"/>
            <a:ext cx="2349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计算引擎 (发动机)</a:t>
            </a:r>
            <a:endParaRPr lang="en-US" sz="1100"/>
          </a:p>
        </p:txBody>
      </p:sp>
      <p:sp>
        <p:nvSpPr>
          <p:cNvPr id="11" name="AutoShape 11"/>
          <p:cNvSpPr/>
          <p:nvPr/>
        </p:nvSpPr>
        <p:spPr>
          <a:xfrm>
            <a:off x="3657600" y="2311400"/>
            <a:ext cx="2349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架设在存储层之上的核心动力。通过SQL、Python等通用接口灵活读取底层数据，执行复杂的ETL转换、统计分析或模型计算。它是数据的“加工厂”，将静态数据转化为动态的业务洞察。</a:t>
            </a:r>
            <a:endParaRPr lang="en-US" sz="1100"/>
          </a:p>
        </p:txBody>
      </p:sp>
      <p:sp>
        <p:nvSpPr>
          <p:cNvPr id="12" name="AutoShape 12"/>
          <p:cNvSpPr/>
          <p:nvPr/>
        </p:nvSpPr>
        <p:spPr>
          <a:xfrm>
            <a:off x="6299200" y="1651000"/>
            <a:ext cx="2603500" cy="2095500"/>
          </a:xfrm>
          <a:prstGeom prst="roundRect">
            <a:avLst>
              <a:gd name="adj" fmla="val 0"/>
            </a:avLst>
          </a:prstGeom>
          <a:solidFill>
            <a:srgbClr val="FFFFFF">
              <a:alpha val="9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6299200" y="1651000"/>
            <a:ext cx="2603500" cy="508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6426200" y="1803400"/>
            <a:ext cx="2349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元数据管理 (导航图)</a:t>
            </a:r>
            <a:endParaRPr lang="en-US" sz="1100"/>
          </a:p>
        </p:txBody>
      </p:sp>
      <p:sp>
        <p:nvSpPr>
          <p:cNvPr id="15" name="AutoShape 15"/>
          <p:cNvSpPr/>
          <p:nvPr/>
        </p:nvSpPr>
        <p:spPr>
          <a:xfrm>
            <a:off x="6426200" y="2311400"/>
            <a:ext cx="2349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贯穿全架构的“神经系统”。记录数据的定义、来源、格式及流转关系。它解决了“数据是什么”和“数据从哪来”的问题，是实现数据资产可发现、可理解、可信任的关键，让使用者能快速找到正确的数据。</a:t>
            </a:r>
            <a:endParaRPr lang="en-US" sz="1100"/>
          </a:p>
        </p:txBody>
      </p:sp>
      <p:sp>
        <p:nvSpPr>
          <p:cNvPr id="16" name="AutoShape 16"/>
          <p:cNvSpPr/>
          <p:nvPr/>
        </p:nvSpPr>
        <p:spPr>
          <a:xfrm>
            <a:off x="9067800" y="1651000"/>
            <a:ext cx="2603500" cy="2095500"/>
          </a:xfrm>
          <a:prstGeom prst="roundRect">
            <a:avLst>
              <a:gd name="adj" fmla="val 0"/>
            </a:avLst>
          </a:prstGeom>
          <a:solidFill>
            <a:srgbClr val="FFFFFF">
              <a:alpha val="9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9067800" y="1651000"/>
            <a:ext cx="2603500" cy="508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9194800" y="1803400"/>
            <a:ext cx="2349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现代架构思想 (哲学)</a:t>
            </a:r>
            <a:endParaRPr lang="en-US" sz="1100"/>
          </a:p>
        </p:txBody>
      </p:sp>
      <p:sp>
        <p:nvSpPr>
          <p:cNvPr id="19" name="AutoShape 19"/>
          <p:cNvSpPr/>
          <p:nvPr/>
        </p:nvSpPr>
        <p:spPr>
          <a:xfrm>
            <a:off x="9194800" y="2311400"/>
            <a:ext cx="2349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指导系统演进的顶层设计理念。它强调模块化、解耦与可观测性，指导团队在分散的业务场景中保持技术实现的一致性。这不仅是技术选型的原则，更是保障平台长期可维护性与扩展性的战略基石。</a:t>
            </a:r>
            <a:endParaRPr lang="en-US" sz="1100"/>
          </a:p>
        </p:txBody>
      </p:sp>
      <p:sp>
        <p:nvSpPr>
          <p:cNvPr id="20" name="AutoShape 20"/>
          <p:cNvSpPr/>
          <p:nvPr/>
        </p:nvSpPr>
        <p:spPr>
          <a:xfrm>
            <a:off x="762000" y="4064000"/>
            <a:ext cx="10922000" cy="2349500"/>
          </a:xfrm>
          <a:prstGeom prst="roundRect">
            <a:avLst>
              <a:gd name="adj" fmla="val 0"/>
            </a:avLst>
          </a:prstGeom>
          <a:solidFill>
            <a:srgbClr val="ECFDF5">
              <a:alpha val="94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762000" y="4191000"/>
            <a:ext cx="2641600" cy="2095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762000" y="4191000"/>
            <a:ext cx="2641600" cy="381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889000" y="4292600"/>
            <a:ext cx="23876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数据归集</a:t>
            </a:r>
            <a:endParaRPr lang="en-US" sz="1100"/>
          </a:p>
        </p:txBody>
      </p:sp>
      <p:sp>
        <p:nvSpPr>
          <p:cNvPr id="24" name="AutoShape 24"/>
          <p:cNvSpPr/>
          <p:nvPr/>
        </p:nvSpPr>
        <p:spPr>
          <a:xfrm>
            <a:off x="889000" y="4826000"/>
            <a:ext cx="23876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用户行为日志被实时采集并写入数据湖。这是数据的“原材料仓库”，完整保留了数据产生时的原始样貌，不做任何业务过滤，为后续的全量分析提供基础。</a:t>
            </a:r>
            <a:endParaRPr lang="en-US" sz="1100"/>
          </a:p>
        </p:txBody>
      </p:sp>
      <p:cxnSp>
        <p:nvCxnSpPr>
          <p:cNvPr id="25" name="Connector 25"/>
          <p:cNvCxnSpPr/>
          <p:nvPr/>
        </p:nvCxnSpPr>
        <p:spPr>
          <a:xfrm rot="5374535">
            <a:off x="2597150" y="5232424"/>
            <a:ext cx="1714500" cy="12700"/>
          </a:xfrm>
          <a:prstGeom prst="straightConnector1">
            <a:avLst/>
          </a:prstGeom>
          <a:solidFill>
            <a:srgbClr val="DEE0E3">
              <a:alpha val="100000"/>
            </a:srgbClr>
          </a:solidFill>
          <a:ln w="12700" cap="flat" cmpd="sng">
            <a:solidFill>
              <a:srgbClr val="10B981">
                <a:alpha val="25000"/>
              </a:srgbClr>
            </a:solidFill>
            <a:prstDash val="solid"/>
            <a:round/>
            <a:headEnd type="none" w="med" len="med"/>
            <a:tailEnd type="none" w="med" len="med"/>
          </a:ln>
        </p:spPr>
      </p:cxnSp>
      <p:sp>
        <p:nvSpPr>
          <p:cNvPr id="26" name="AutoShape 26"/>
          <p:cNvSpPr/>
          <p:nvPr/>
        </p:nvSpPr>
        <p:spPr>
          <a:xfrm>
            <a:off x="3479800" y="4191000"/>
            <a:ext cx="2641600" cy="2095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3479800" y="4191000"/>
            <a:ext cx="2641600" cy="381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28"/>
          <p:cNvSpPr/>
          <p:nvPr/>
        </p:nvSpPr>
        <p:spPr>
          <a:xfrm>
            <a:off x="3606800" y="4292600"/>
            <a:ext cx="23876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实时计算</a:t>
            </a:r>
            <a:endParaRPr lang="en-US" sz="1100"/>
          </a:p>
        </p:txBody>
      </p:sp>
      <p:sp>
        <p:nvSpPr>
          <p:cNvPr id="29" name="AutoShape 29"/>
          <p:cNvSpPr/>
          <p:nvPr/>
        </p:nvSpPr>
        <p:spPr>
          <a:xfrm>
            <a:off x="3606800" y="4826000"/>
            <a:ext cx="23876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Flink流处理引擎实时消费日志，执行数据清洗、去重与特征提取。处理后的高价值数据被直接写入ClickHouse，实现从原始数据到分析型数据的毫秒级转化，支撑低延迟业务。</a:t>
            </a:r>
            <a:endParaRPr lang="en-US" sz="1100"/>
          </a:p>
        </p:txBody>
      </p:sp>
      <p:cxnSp>
        <p:nvCxnSpPr>
          <p:cNvPr id="30" name="Connector 30"/>
          <p:cNvCxnSpPr/>
          <p:nvPr/>
        </p:nvCxnSpPr>
        <p:spPr>
          <a:xfrm rot="5374535">
            <a:off x="5314950" y="5232424"/>
            <a:ext cx="1714500" cy="12700"/>
          </a:xfrm>
          <a:prstGeom prst="straightConnector1">
            <a:avLst/>
          </a:prstGeom>
          <a:solidFill>
            <a:srgbClr val="DEE0E3">
              <a:alpha val="100000"/>
            </a:srgbClr>
          </a:solidFill>
          <a:ln w="12700" cap="flat" cmpd="sng">
            <a:solidFill>
              <a:srgbClr val="10B981">
                <a:alpha val="25000"/>
              </a:srgbClr>
            </a:solidFill>
            <a:prstDash val="solid"/>
            <a:round/>
            <a:headEnd type="none" w="med" len="med"/>
            <a:tailEnd type="none" w="med" len="med"/>
          </a:ln>
        </p:spPr>
      </p:cxnSp>
      <p:sp>
        <p:nvSpPr>
          <p:cNvPr id="31" name="AutoShape 31"/>
          <p:cNvSpPr/>
          <p:nvPr/>
        </p:nvSpPr>
        <p:spPr>
          <a:xfrm>
            <a:off x="6197600" y="4191000"/>
            <a:ext cx="2641600" cy="2095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32" name="AutoShape 32"/>
          <p:cNvSpPr/>
          <p:nvPr/>
        </p:nvSpPr>
        <p:spPr>
          <a:xfrm>
            <a:off x="6197600" y="4191000"/>
            <a:ext cx="2641600" cy="381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p>
        </p:txBody>
      </p:sp>
      <p:sp>
        <p:nvSpPr>
          <p:cNvPr id="33" name="AutoShape 33"/>
          <p:cNvSpPr/>
          <p:nvPr/>
        </p:nvSpPr>
        <p:spPr>
          <a:xfrm>
            <a:off x="6324600" y="4292600"/>
            <a:ext cx="23876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业务洞察</a:t>
            </a:r>
            <a:endParaRPr lang="en-US" sz="1100"/>
          </a:p>
        </p:txBody>
      </p:sp>
      <p:sp>
        <p:nvSpPr>
          <p:cNvPr id="34" name="AutoShape 34"/>
          <p:cNvSpPr/>
          <p:nvPr/>
        </p:nvSpPr>
        <p:spPr>
          <a:xfrm>
            <a:off x="6324600" y="4826000"/>
            <a:ext cx="23876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分析师通过BI工具直连ClickHouse，基于最新的计算结果快速制作业务报表。这一步将技术数据转化为业务语言，帮助产品和运营人员实时掌握核心指标，做出敏捷的业务决策。</a:t>
            </a:r>
            <a:endParaRPr lang="en-US" sz="1100"/>
          </a:p>
        </p:txBody>
      </p:sp>
      <p:cxnSp>
        <p:nvCxnSpPr>
          <p:cNvPr id="35" name="Connector 35"/>
          <p:cNvCxnSpPr/>
          <p:nvPr/>
        </p:nvCxnSpPr>
        <p:spPr>
          <a:xfrm rot="5374535">
            <a:off x="8032750" y="5232424"/>
            <a:ext cx="1714500" cy="12700"/>
          </a:xfrm>
          <a:prstGeom prst="straightConnector1">
            <a:avLst/>
          </a:prstGeom>
          <a:solidFill>
            <a:srgbClr val="DEE0E3">
              <a:alpha val="100000"/>
            </a:srgbClr>
          </a:solidFill>
          <a:ln w="12700" cap="flat" cmpd="sng">
            <a:solidFill>
              <a:srgbClr val="10B981">
                <a:alpha val="25000"/>
              </a:srgbClr>
            </a:solidFill>
            <a:prstDash val="solid"/>
            <a:round/>
            <a:headEnd type="none" w="med" len="med"/>
            <a:tailEnd type="none" w="med" len="med"/>
          </a:ln>
        </p:spPr>
      </p:cxnSp>
      <p:sp>
        <p:nvSpPr>
          <p:cNvPr id="36" name="AutoShape 36"/>
          <p:cNvSpPr/>
          <p:nvPr/>
        </p:nvSpPr>
        <p:spPr>
          <a:xfrm>
            <a:off x="8915400" y="4191000"/>
            <a:ext cx="2743200" cy="2095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37" name="AutoShape 37"/>
          <p:cNvSpPr/>
          <p:nvPr/>
        </p:nvSpPr>
        <p:spPr>
          <a:xfrm>
            <a:off x="8915400" y="4191000"/>
            <a:ext cx="2743200" cy="381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p>
        </p:txBody>
      </p:sp>
      <p:sp>
        <p:nvSpPr>
          <p:cNvPr id="38" name="AutoShape 38"/>
          <p:cNvSpPr/>
          <p:nvPr/>
        </p:nvSpPr>
        <p:spPr>
          <a:xfrm>
            <a:off x="9042400" y="4292600"/>
            <a:ext cx="24892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血缘闭环</a:t>
            </a:r>
            <a:endParaRPr lang="en-US" sz="1100"/>
          </a:p>
        </p:txBody>
      </p:sp>
      <p:sp>
        <p:nvSpPr>
          <p:cNvPr id="39" name="AutoShape 39"/>
          <p:cNvSpPr/>
          <p:nvPr/>
        </p:nvSpPr>
        <p:spPr>
          <a:xfrm>
            <a:off x="9042400" y="4826000"/>
            <a:ext cx="24892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DataHub自动发现新生成的表，自动记录其上游来源（Flink任务）和下游使用者（BI报表），形成完整的数据血缘。这确保了数据的可追溯性，让数据质量问题能被快速定位和修复。</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实战演练：技术选型</a:t>
            </a:r>
            <a:endParaRPr lang="en-US" sz="1100"/>
          </a:p>
        </p:txBody>
      </p:sp>
      <p:sp>
        <p:nvSpPr>
          <p:cNvPr id="4" name="AutoShape 4"/>
          <p:cNvSpPr/>
          <p:nvPr/>
        </p:nvSpPr>
        <p:spPr>
          <a:xfrm>
            <a:off x="762000" y="1524000"/>
            <a:ext cx="10668000" cy="1206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524000"/>
            <a:ext cx="63500" cy="1206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587500"/>
            <a:ext cx="1524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场景设定</a:t>
            </a:r>
            <a:endParaRPr lang="en-US" sz="1100"/>
          </a:p>
        </p:txBody>
      </p:sp>
      <p:sp>
        <p:nvSpPr>
          <p:cNvPr id="7" name="AutoShape 7"/>
          <p:cNvSpPr/>
          <p:nvPr/>
        </p:nvSpPr>
        <p:spPr>
          <a:xfrm>
            <a:off x="1016000" y="2006600"/>
            <a:ext cx="10160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假设你所在的创业公司正处于快速成长期，核心业务是一款社交App。随着用户量激增，现有的数据处理方式已无法满足需求，需要搭建一套全新的大数据平台来支撑业务发展。这是一个典型的从0到1构建数据基础设施的实战挑战。</a:t>
            </a:r>
            <a:endParaRPr lang="en-US" sz="1100"/>
          </a:p>
        </p:txBody>
      </p:sp>
      <p:sp>
        <p:nvSpPr>
          <p:cNvPr id="8" name="AutoShape 8"/>
          <p:cNvSpPr/>
          <p:nvPr/>
        </p:nvSpPr>
        <p:spPr>
          <a:xfrm>
            <a:off x="762000" y="2921000"/>
            <a:ext cx="3467100" cy="1841500"/>
          </a:xfrm>
          <a:prstGeom prst="roundRect">
            <a:avLst>
              <a:gd name="adj" fmla="val 0"/>
            </a:avLst>
          </a:prstGeom>
          <a:solidFill>
            <a:srgbClr val="FFFFFF">
              <a:alpha val="9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762000" y="2921000"/>
            <a:ext cx="3467100" cy="381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952500" y="3073400"/>
            <a:ext cx="3048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海量数据吞吐</a:t>
            </a:r>
            <a:endParaRPr lang="en-US" sz="1100"/>
          </a:p>
        </p:txBody>
      </p:sp>
      <p:sp>
        <p:nvSpPr>
          <p:cNvPr id="11" name="AutoShape 11"/>
          <p:cNvSpPr/>
          <p:nvPr/>
        </p:nvSpPr>
        <p:spPr>
          <a:xfrm>
            <a:off x="952500" y="3556000"/>
            <a:ext cx="30861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业务每天产生约 100GB 用户行为日志，涵盖点击、互动、内容浏览等高频操作。数据写入并发高、连续性强，要求底层存储系统具备优秀的写入性能与横向扩展能力，同时兼顾成本。</a:t>
            </a:r>
            <a:endParaRPr lang="en-US" sz="1100"/>
          </a:p>
        </p:txBody>
      </p:sp>
      <p:sp>
        <p:nvSpPr>
          <p:cNvPr id="12" name="AutoShape 12"/>
          <p:cNvSpPr/>
          <p:nvPr/>
        </p:nvSpPr>
        <p:spPr>
          <a:xfrm>
            <a:off x="4394200" y="2921000"/>
            <a:ext cx="3467100" cy="1841500"/>
          </a:xfrm>
          <a:prstGeom prst="roundRect">
            <a:avLst>
              <a:gd name="adj" fmla="val 0"/>
            </a:avLst>
          </a:prstGeom>
          <a:solidFill>
            <a:srgbClr val="FFFFFF">
              <a:alpha val="9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4394200" y="2921000"/>
            <a:ext cx="3467100" cy="381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4584700" y="3073400"/>
            <a:ext cx="3048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实时监控刚需</a:t>
            </a:r>
            <a:endParaRPr lang="en-US" sz="1100"/>
          </a:p>
        </p:txBody>
      </p:sp>
      <p:sp>
        <p:nvSpPr>
          <p:cNvPr id="15" name="AutoShape 15"/>
          <p:cNvSpPr/>
          <p:nvPr/>
        </p:nvSpPr>
        <p:spPr>
          <a:xfrm>
            <a:off x="4584700" y="3556000"/>
            <a:ext cx="30861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产品侧需要一个可视化实时大屏，核心关注当前在线人数、新增注册用户数及核心功能转化率。这对数据的时效性提出了极高要求，系统必须支持低延迟的流式计算与毫秒级的数据刷新展示。</a:t>
            </a:r>
            <a:endParaRPr lang="en-US" sz="1100"/>
          </a:p>
        </p:txBody>
      </p:sp>
      <p:sp>
        <p:nvSpPr>
          <p:cNvPr id="16" name="AutoShape 16"/>
          <p:cNvSpPr/>
          <p:nvPr/>
        </p:nvSpPr>
        <p:spPr>
          <a:xfrm>
            <a:off x="8026400" y="2921000"/>
            <a:ext cx="3467100" cy="1841500"/>
          </a:xfrm>
          <a:prstGeom prst="roundRect">
            <a:avLst>
              <a:gd name="adj" fmla="val 0"/>
            </a:avLst>
          </a:prstGeom>
          <a:solidFill>
            <a:srgbClr val="FFFFFF">
              <a:alpha val="9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8026400" y="2921000"/>
            <a:ext cx="3467100" cy="381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8216900" y="3073400"/>
            <a:ext cx="3048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轻量运维团队</a:t>
            </a:r>
            <a:endParaRPr lang="en-US" sz="1100"/>
          </a:p>
        </p:txBody>
      </p:sp>
      <p:sp>
        <p:nvSpPr>
          <p:cNvPr id="19" name="AutoShape 19"/>
          <p:cNvSpPr/>
          <p:nvPr/>
        </p:nvSpPr>
        <p:spPr>
          <a:xfrm>
            <a:off x="8216900" y="3556000"/>
            <a:ext cx="30861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核心技术团队仅 5 人，研发任务重且运维经验相对薄弱。因此技术方案需追求架构简洁，优先选择托管服务或开箱即用的组件，最大程度降低集群搭建、日常维护及故障排查的人力成本。</a:t>
            </a:r>
            <a:endParaRPr lang="en-US" sz="1100"/>
          </a:p>
        </p:txBody>
      </p:sp>
      <p:sp>
        <p:nvSpPr>
          <p:cNvPr id="20" name="AutoShape 20"/>
          <p:cNvSpPr/>
          <p:nvPr/>
        </p:nvSpPr>
        <p:spPr>
          <a:xfrm>
            <a:off x="762000" y="4953000"/>
            <a:ext cx="10731500" cy="1587500"/>
          </a:xfrm>
          <a:prstGeom prst="roundRect">
            <a:avLst>
              <a:gd name="adj" fmla="val 0"/>
            </a:avLst>
          </a:prstGeom>
          <a:solidFill>
            <a:srgbClr val="D1FAE5">
              <a:alpha val="92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952500" y="5054600"/>
            <a:ext cx="1905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65F46"/>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核心议题</a:t>
            </a:r>
            <a:endParaRPr lang="en-US" sz="1100"/>
          </a:p>
        </p:txBody>
      </p:sp>
      <p:sp>
        <p:nvSpPr>
          <p:cNvPr id="22" name="AutoShape 22"/>
          <p:cNvSpPr/>
          <p:nvPr/>
        </p:nvSpPr>
        <p:spPr>
          <a:xfrm>
            <a:off x="952500" y="5486400"/>
            <a:ext cx="10287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064E3B"/>
                </a:solidFill>
                <a:latin typeface="Noto Sans SC" panose="020B0200000000000000" charset="-122"/>
                <a:ea typeface="Noto Sans SC" panose="020B0200000000000000" charset="-122"/>
                <a:cs typeface="Noto Sans SC" panose="020B0200000000000000" charset="-122"/>
                <a:sym typeface="Noto Sans SC" panose="020B0200000000000000" charset="-122"/>
              </a:rPr>
              <a:t>请从</a:t>
            </a:r>
            <a:r>
              <a:rPr lang="en-US" sz="1400" b="1" i="0" u="none" strike="noStrike">
                <a:solidFill>
                  <a:srgbClr val="064E3B"/>
                </a:solidFill>
                <a:latin typeface="Noto Sans SC" panose="020B0200000000000000" charset="-122"/>
                <a:ea typeface="Noto Sans SC" panose="020B0200000000000000" charset="-122"/>
                <a:cs typeface="Noto Sans SC" panose="020B0200000000000000" charset="-122"/>
                <a:sym typeface="Noto Sans SC" panose="020B0200000000000000" charset="-122"/>
              </a:rPr>
              <a:t>存储层</a:t>
            </a:r>
            <a:r>
              <a:rPr lang="en-US" sz="1400" b="0" i="0" u="none" strike="noStrike">
                <a:solidFill>
                  <a:srgbClr val="064E3B"/>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400" b="1" i="0" u="none" strike="noStrike">
                <a:solidFill>
                  <a:srgbClr val="064E3B"/>
                </a:solidFill>
                <a:latin typeface="Noto Sans SC" panose="020B0200000000000000" charset="-122"/>
                <a:ea typeface="Noto Sans SC" panose="020B0200000000000000" charset="-122"/>
                <a:cs typeface="Noto Sans SC" panose="020B0200000000000000" charset="-122"/>
                <a:sym typeface="Noto Sans SC" panose="020B0200000000000000" charset="-122"/>
              </a:rPr>
              <a:t>计算层</a:t>
            </a:r>
            <a:r>
              <a:rPr lang="en-US" sz="1400" b="0" i="0" u="none" strike="noStrike">
                <a:solidFill>
                  <a:srgbClr val="064E3B"/>
                </a:solidFill>
                <a:latin typeface="Noto Sans SC" panose="020B0200000000000000" charset="-122"/>
                <a:ea typeface="Noto Sans SC" panose="020B0200000000000000" charset="-122"/>
                <a:cs typeface="Noto Sans SC" panose="020B0200000000000000" charset="-122"/>
                <a:sym typeface="Noto Sans SC" panose="020B0200000000000000" charset="-122"/>
              </a:rPr>
              <a:t>和</a:t>
            </a:r>
            <a:r>
              <a:rPr lang="en-US" sz="1400" b="1" i="0" u="none" strike="noStrike">
                <a:solidFill>
                  <a:srgbClr val="064E3B"/>
                </a:solidFill>
                <a:latin typeface="Noto Sans SC" panose="020B0200000000000000" charset="-122"/>
                <a:ea typeface="Noto Sans SC" panose="020B0200000000000000" charset="-122"/>
                <a:cs typeface="Noto Sans SC" panose="020B0200000000000000" charset="-122"/>
                <a:sym typeface="Noto Sans SC" panose="020B0200000000000000" charset="-122"/>
              </a:rPr>
              <a:t>元数据管理</a:t>
            </a:r>
            <a:r>
              <a:rPr lang="en-US" sz="1400" b="0" i="0" u="none" strike="noStrike">
                <a:solidFill>
                  <a:srgbClr val="064E3B"/>
                </a:solidFill>
                <a:latin typeface="Noto Sans SC" panose="020B0200000000000000" charset="-122"/>
                <a:ea typeface="Noto Sans SC" panose="020B0200000000000000" charset="-122"/>
                <a:cs typeface="Noto Sans SC" panose="020B0200000000000000" charset="-122"/>
                <a:sym typeface="Noto Sans SC" panose="020B0200000000000000" charset="-122"/>
              </a:rPr>
              <a:t>三个维度，为这家创业公司量身定制一套大数据技术方案。请具体说明每个技术组件的选型理由，例如它如何平衡成本与性能、是否符合团队的技术栈现状，以及该方案如何支撑未来半年的业务增长预期？</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技术选型思路分析</a:t>
            </a:r>
            <a:endParaRPr lang="en-US" sz="1100"/>
          </a:p>
        </p:txBody>
      </p:sp>
      <p:sp>
        <p:nvSpPr>
          <p:cNvPr id="4" name="AutoShape 4"/>
          <p:cNvSpPr/>
          <p:nvPr/>
        </p:nvSpPr>
        <p:spPr>
          <a:xfrm>
            <a:off x="762000" y="1651000"/>
            <a:ext cx="3429000" cy="2095500"/>
          </a:xfrm>
          <a:prstGeom prst="roundRect">
            <a:avLst>
              <a:gd name="adj" fmla="val 0"/>
            </a:avLst>
          </a:prstGeom>
          <a:solidFill>
            <a:srgbClr val="FFFFFF">
              <a:alpha val="85000"/>
            </a:srgbClr>
          </a:solidFill>
          <a:ln w="12700" cap="flat" cmpd="sng">
            <a:solidFill>
              <a:srgbClr val="10B981">
                <a:alpha val="4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3429000" cy="508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8034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存储选型思考</a:t>
            </a:r>
            <a:endParaRPr lang="en-US" sz="1100"/>
          </a:p>
        </p:txBody>
      </p:sp>
      <p:sp>
        <p:nvSpPr>
          <p:cNvPr id="7" name="AutoShape 7"/>
          <p:cNvSpPr/>
          <p:nvPr/>
        </p:nvSpPr>
        <p:spPr>
          <a:xfrm>
            <a:off x="952500" y="2286000"/>
            <a:ext cx="30480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日志类海量原始数据适合存入低成本、高扩展性的数据湖；实时大屏的聚合结果对查询性能敏感，ClickHouse 是优选。需综合考量运维成本，在开源自建与云托管服务间做权衡。</a:t>
            </a:r>
            <a:endParaRPr lang="en-US" sz="1100"/>
          </a:p>
        </p:txBody>
      </p:sp>
      <p:sp>
        <p:nvSpPr>
          <p:cNvPr id="8" name="AutoShape 8"/>
          <p:cNvSpPr/>
          <p:nvPr/>
        </p:nvSpPr>
        <p:spPr>
          <a:xfrm>
            <a:off x="4381500" y="1651000"/>
            <a:ext cx="3429000" cy="2095500"/>
          </a:xfrm>
          <a:prstGeom prst="roundRect">
            <a:avLst>
              <a:gd name="adj" fmla="val 0"/>
            </a:avLst>
          </a:prstGeom>
          <a:solidFill>
            <a:srgbClr val="FFFFFF">
              <a:alpha val="85000"/>
            </a:srgbClr>
          </a:solidFill>
          <a:ln w="12700" cap="flat" cmpd="sng">
            <a:solidFill>
              <a:srgbClr val="10B981">
                <a:alpha val="40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4381500" y="1651000"/>
            <a:ext cx="3429000" cy="508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4572000" y="18034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计算选型思考</a:t>
            </a:r>
            <a:endParaRPr lang="en-US" sz="1100"/>
          </a:p>
        </p:txBody>
      </p:sp>
      <p:sp>
        <p:nvSpPr>
          <p:cNvPr id="11" name="AutoShape 11"/>
          <p:cNvSpPr/>
          <p:nvPr/>
        </p:nvSpPr>
        <p:spPr>
          <a:xfrm>
            <a:off x="4572000" y="2286000"/>
            <a:ext cx="30480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针对秒级延迟的实时大屏需求，流式计算引擎 Flink 是核心选择；同时业务通常存在离线报表与深度分析需求，需兼顾批处理引擎 Spark，形成实时与离线互补的计算架构体系。</a:t>
            </a:r>
            <a:endParaRPr lang="en-US" sz="1100"/>
          </a:p>
        </p:txBody>
      </p:sp>
      <p:sp>
        <p:nvSpPr>
          <p:cNvPr id="12" name="AutoShape 12"/>
          <p:cNvSpPr/>
          <p:nvPr/>
        </p:nvSpPr>
        <p:spPr>
          <a:xfrm>
            <a:off x="8001000" y="1651000"/>
            <a:ext cx="3429000" cy="2095500"/>
          </a:xfrm>
          <a:prstGeom prst="roundRect">
            <a:avLst>
              <a:gd name="adj" fmla="val 0"/>
            </a:avLst>
          </a:prstGeom>
          <a:solidFill>
            <a:srgbClr val="FFFFFF">
              <a:alpha val="85000"/>
            </a:srgbClr>
          </a:solidFill>
          <a:ln w="12700" cap="flat" cmpd="sng">
            <a:solidFill>
              <a:srgbClr val="10B981">
                <a:alpha val="4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8001000" y="1651000"/>
            <a:ext cx="3429000" cy="508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8191500" y="18034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元数据管理思考</a:t>
            </a:r>
            <a:endParaRPr lang="en-US" sz="1100"/>
          </a:p>
        </p:txBody>
      </p:sp>
      <p:sp>
        <p:nvSpPr>
          <p:cNvPr id="15" name="AutoShape 15"/>
          <p:cNvSpPr/>
          <p:nvPr/>
        </p:nvSpPr>
        <p:spPr>
          <a:xfrm>
            <a:off x="8191500" y="2286000"/>
            <a:ext cx="30480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初创团队或小规模场景下，元数据管理可暂缓建设以降低复杂度；待数据资产规模扩大、协作需求提升时，再逐步引入轻量级开源工具，实现资产的可发现性与可治理性。</a:t>
            </a:r>
            <a:endParaRPr lang="en-US" sz="1100"/>
          </a:p>
        </p:txBody>
      </p:sp>
      <p:sp>
        <p:nvSpPr>
          <p:cNvPr id="16" name="AutoShape 16"/>
          <p:cNvSpPr/>
          <p:nvPr/>
        </p:nvSpPr>
        <p:spPr>
          <a:xfrm>
            <a:off x="762000" y="4064000"/>
            <a:ext cx="3429000" cy="2159000"/>
          </a:xfrm>
          <a:prstGeom prst="roundRect">
            <a:avLst>
              <a:gd name="adj" fmla="val 0"/>
            </a:avLst>
          </a:prstGeom>
          <a:solidFill>
            <a:srgbClr val="10B981">
              <a:alpha val="9000"/>
            </a:srgbClr>
          </a:solidFill>
          <a:ln w="12700" cap="flat" cmpd="sng">
            <a:solidFill>
              <a:srgbClr val="10B981">
                <a:alpha val="3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952500" y="41910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65F46"/>
                </a:solidFill>
                <a:latin typeface="Noto Sans SC" panose="020B0200000000000000" charset="-122"/>
                <a:ea typeface="Noto Sans SC" panose="020B0200000000000000" charset="-122"/>
                <a:cs typeface="Noto Sans SC" panose="020B0200000000000000" charset="-122"/>
                <a:sym typeface="Noto Sans SC" panose="020B0200000000000000" charset="-122"/>
              </a:rPr>
              <a:t>存储落地方案</a:t>
            </a:r>
            <a:endParaRPr lang="en-US" sz="1100"/>
          </a:p>
        </p:txBody>
      </p:sp>
      <p:sp>
        <p:nvSpPr>
          <p:cNvPr id="18" name="AutoShape 18"/>
          <p:cNvSpPr/>
          <p:nvPr/>
        </p:nvSpPr>
        <p:spPr>
          <a:xfrm>
            <a:off x="952500" y="4699000"/>
            <a:ext cx="3048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采用云对象存储（如 OSS）构建低成本数据湖底座，统一存储全量原始日志；使用 ClickHouse 社区版部署集群，专门承载实时计算后的聚合结果，满足大屏的高并发低延迟查询需求。</a:t>
            </a:r>
            <a:endParaRPr lang="en-US" sz="1100"/>
          </a:p>
        </p:txBody>
      </p:sp>
      <p:sp>
        <p:nvSpPr>
          <p:cNvPr id="19" name="AutoShape 19"/>
          <p:cNvSpPr/>
          <p:nvPr/>
        </p:nvSpPr>
        <p:spPr>
          <a:xfrm>
            <a:off x="4381500" y="4064000"/>
            <a:ext cx="3429000" cy="2159000"/>
          </a:xfrm>
          <a:prstGeom prst="roundRect">
            <a:avLst>
              <a:gd name="adj" fmla="val 0"/>
            </a:avLst>
          </a:prstGeom>
          <a:solidFill>
            <a:srgbClr val="10B981">
              <a:alpha val="9000"/>
            </a:srgbClr>
          </a:solidFill>
          <a:ln w="12700" cap="flat" cmpd="sng">
            <a:solidFill>
              <a:srgbClr val="10B981">
                <a:alpha val="30000"/>
              </a:srgbClr>
            </a:solidFill>
            <a:prstDash val="solid"/>
            <a:round/>
          </a:ln>
        </p:spPr>
        <p:txBody>
          <a:bodyPr vert="horz" wrap="square" lIns="63500" tIns="63500" rIns="63500" bIns="63500" rtlCol="0" anchor="ctr"/>
          <a:lstStyle/>
          <a:p>
            <a:pPr algn="ctr">
              <a:defRPr/>
            </a:pPr>
          </a:p>
        </p:txBody>
      </p:sp>
      <p:sp>
        <p:nvSpPr>
          <p:cNvPr id="20" name="AutoShape 20"/>
          <p:cNvSpPr/>
          <p:nvPr/>
        </p:nvSpPr>
        <p:spPr>
          <a:xfrm>
            <a:off x="4572000" y="41910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65F46"/>
                </a:solidFill>
                <a:latin typeface="Noto Sans SC" panose="020B0200000000000000" charset="-122"/>
                <a:ea typeface="Noto Sans SC" panose="020B0200000000000000" charset="-122"/>
                <a:cs typeface="Noto Sans SC" panose="020B0200000000000000" charset="-122"/>
                <a:sym typeface="Noto Sans SC" panose="020B0200000000000000" charset="-122"/>
              </a:rPr>
              <a:t>计算落地方案</a:t>
            </a:r>
            <a:endParaRPr lang="en-US" sz="1100"/>
          </a:p>
        </p:txBody>
      </p:sp>
      <p:sp>
        <p:nvSpPr>
          <p:cNvPr id="21" name="AutoShape 21"/>
          <p:cNvSpPr/>
          <p:nvPr/>
        </p:nvSpPr>
        <p:spPr>
          <a:xfrm>
            <a:off x="4572000" y="4699000"/>
            <a:ext cx="3048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核心链路使用 Flink 进行实时 ETL 处理，将清洗后的数据写入 ClickHouse；离线场景依托 Spark 处理 T+1 级别的批量数据，用于生成深度分析报表与业务洞察，两者分工明确，互不干扰。</a:t>
            </a:r>
            <a:endParaRPr lang="en-US" sz="1100"/>
          </a:p>
        </p:txBody>
      </p:sp>
      <p:sp>
        <p:nvSpPr>
          <p:cNvPr id="22" name="AutoShape 22"/>
          <p:cNvSpPr/>
          <p:nvPr/>
        </p:nvSpPr>
        <p:spPr>
          <a:xfrm>
            <a:off x="8001000" y="4064000"/>
            <a:ext cx="3429000" cy="2159000"/>
          </a:xfrm>
          <a:prstGeom prst="roundRect">
            <a:avLst>
              <a:gd name="adj" fmla="val 0"/>
            </a:avLst>
          </a:prstGeom>
          <a:solidFill>
            <a:srgbClr val="10B981">
              <a:alpha val="9000"/>
            </a:srgbClr>
          </a:solidFill>
          <a:ln w="12700" cap="flat" cmpd="sng">
            <a:solidFill>
              <a:srgbClr val="10B981">
                <a:alpha val="30000"/>
              </a:srgbClr>
            </a:solidFill>
            <a:prstDash val="solid"/>
            <a:round/>
          </a:ln>
        </p:spPr>
        <p:txBody>
          <a:bodyPr vert="horz" wrap="square" lIns="63500" tIns="63500" rIns="63500" bIns="63500" rtlCol="0" anchor="ctr"/>
          <a:lstStyle/>
          <a:p>
            <a:pPr algn="ctr">
              <a:defRPr/>
            </a:pPr>
          </a:p>
        </p:txBody>
      </p:sp>
      <p:sp>
        <p:nvSpPr>
          <p:cNvPr id="23" name="AutoShape 23"/>
          <p:cNvSpPr/>
          <p:nvPr/>
        </p:nvSpPr>
        <p:spPr>
          <a:xfrm>
            <a:off x="8191500" y="41910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65F46"/>
                </a:solidFill>
                <a:latin typeface="Noto Sans SC" panose="020B0200000000000000" charset="-122"/>
                <a:ea typeface="Noto Sans SC" panose="020B0200000000000000" charset="-122"/>
                <a:cs typeface="Noto Sans SC" panose="020B0200000000000000" charset="-122"/>
                <a:sym typeface="Noto Sans SC" panose="020B0200000000000000" charset="-122"/>
              </a:rPr>
              <a:t>元数据演进方案</a:t>
            </a:r>
            <a:endParaRPr lang="en-US" sz="1100"/>
          </a:p>
        </p:txBody>
      </p:sp>
      <p:sp>
        <p:nvSpPr>
          <p:cNvPr id="24" name="AutoShape 24"/>
          <p:cNvSpPr/>
          <p:nvPr/>
        </p:nvSpPr>
        <p:spPr>
          <a:xfrm>
            <a:off x="8191500" y="4699000"/>
            <a:ext cx="3048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项目初期以业务快速上线为目标，暂缓元数据系统建设；待业务稳定、数据资产沉淀到一定规模后，引入 DataHub 等轻量级工具，实现对 Topic、Table、指标的统一管理与血缘追踪。</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课堂小结：本讲核心要点回顾</a:t>
            </a:r>
            <a:endParaRPr lang="en-US" sz="1100"/>
          </a:p>
        </p:txBody>
      </p:sp>
      <p:sp>
        <p:nvSpPr>
          <p:cNvPr id="4" name="AutoShape 4"/>
          <p:cNvSpPr/>
          <p:nvPr/>
        </p:nvSpPr>
        <p:spPr>
          <a:xfrm>
            <a:off x="762000" y="1651000"/>
            <a:ext cx="2603500" cy="2413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50800" cy="24130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778000"/>
            <a:ext cx="2286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存储层核心方案</a:t>
            </a:r>
            <a:endParaRPr lang="en-US" sz="1100"/>
          </a:p>
        </p:txBody>
      </p:sp>
      <p:sp>
        <p:nvSpPr>
          <p:cNvPr id="7" name="AutoShape 7"/>
          <p:cNvSpPr/>
          <p:nvPr/>
        </p:nvSpPr>
        <p:spPr>
          <a:xfrm>
            <a:off x="952500" y="2286000"/>
            <a:ext cx="2286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深入理解数据仓库、数据湖与湖仓一体三大主流架构。明确不同存储形态在数据生命周期管理中的定位，掌握从传统架构向融合架构演进的核心逻辑。</a:t>
            </a:r>
            <a:endParaRPr lang="en-US" sz="1100"/>
          </a:p>
        </p:txBody>
      </p:sp>
      <p:sp>
        <p:nvSpPr>
          <p:cNvPr id="8" name="AutoShape 8"/>
          <p:cNvSpPr/>
          <p:nvPr/>
        </p:nvSpPr>
        <p:spPr>
          <a:xfrm>
            <a:off x="3530600" y="1651000"/>
            <a:ext cx="2603500" cy="2413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3530600" y="1651000"/>
            <a:ext cx="50800" cy="24130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3721100" y="1778000"/>
            <a:ext cx="2286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计算引擎双雄</a:t>
            </a:r>
            <a:endParaRPr lang="en-US" sz="1100"/>
          </a:p>
        </p:txBody>
      </p:sp>
      <p:sp>
        <p:nvSpPr>
          <p:cNvPr id="11" name="AutoShape 11"/>
          <p:cNvSpPr/>
          <p:nvPr/>
        </p:nvSpPr>
        <p:spPr>
          <a:xfrm>
            <a:off x="3721100" y="2286000"/>
            <a:ext cx="2286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Spark 凭借内存计算优势主导批处理场景，Flink 以低延迟特性成为流处理首选。二者的组合与互补，构成了现代大数据高性能计算的坚实技术底座。</a:t>
            </a:r>
            <a:endParaRPr lang="en-US" sz="1100"/>
          </a:p>
        </p:txBody>
      </p:sp>
      <p:sp>
        <p:nvSpPr>
          <p:cNvPr id="12" name="AutoShape 12"/>
          <p:cNvSpPr/>
          <p:nvPr/>
        </p:nvSpPr>
        <p:spPr>
          <a:xfrm>
            <a:off x="6299200" y="1651000"/>
            <a:ext cx="2603500" cy="2413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6299200" y="1651000"/>
            <a:ext cx="50800" cy="24130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6489700" y="1778000"/>
            <a:ext cx="2286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元数据资产化</a:t>
            </a:r>
            <a:endParaRPr lang="en-US" sz="1100"/>
          </a:p>
        </p:txBody>
      </p:sp>
      <p:sp>
        <p:nvSpPr>
          <p:cNvPr id="15" name="AutoShape 15"/>
          <p:cNvSpPr/>
          <p:nvPr/>
        </p:nvSpPr>
        <p:spPr>
          <a:xfrm>
            <a:off x="6489700" y="2286000"/>
            <a:ext cx="2286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元数据是数据的“数据”。通过统一的采集与治理，打破数据孤岛，提升数据的可发现性与可理解性，是实现企业数据资产化运营的关键第一步。</a:t>
            </a:r>
            <a:endParaRPr lang="en-US" sz="1100"/>
          </a:p>
        </p:txBody>
      </p:sp>
      <p:sp>
        <p:nvSpPr>
          <p:cNvPr id="16" name="AutoShape 16"/>
          <p:cNvSpPr/>
          <p:nvPr/>
        </p:nvSpPr>
        <p:spPr>
          <a:xfrm>
            <a:off x="9067800" y="1651000"/>
            <a:ext cx="2603500" cy="2413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9067800" y="1651000"/>
            <a:ext cx="50800" cy="24130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9258300" y="1778000"/>
            <a:ext cx="2286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先进架构范式</a:t>
            </a:r>
            <a:endParaRPr lang="en-US" sz="1100"/>
          </a:p>
        </p:txBody>
      </p:sp>
      <p:sp>
        <p:nvSpPr>
          <p:cNvPr id="19" name="AutoShape 19"/>
          <p:cNvSpPr/>
          <p:nvPr/>
        </p:nvSpPr>
        <p:spPr>
          <a:xfrm>
            <a:off x="9258300" y="2286000"/>
            <a:ext cx="2286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Data Mesh 强调领域驱动的分布式治理，Data Fabric 注重智能化的数据编织。这两种前沿理念为应对大规模、高复杂度的现代数据业务场景提供了新的方法论。</a:t>
            </a:r>
            <a:endParaRPr lang="en-US" sz="1100"/>
          </a:p>
        </p:txBody>
      </p:sp>
      <p:sp>
        <p:nvSpPr>
          <p:cNvPr id="20" name="AutoShape 20"/>
          <p:cNvSpPr/>
          <p:nvPr/>
        </p:nvSpPr>
        <p:spPr>
          <a:xfrm>
            <a:off x="762000" y="4318000"/>
            <a:ext cx="10922000" cy="2032000"/>
          </a:xfrm>
          <a:prstGeom prst="roundRect">
            <a:avLst>
              <a:gd name="adj" fmla="val 0"/>
            </a:avLst>
          </a:prstGeom>
          <a:solidFill>
            <a:srgbClr val="ECFDF5">
              <a:alpha val="95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762000" y="4318000"/>
            <a:ext cx="10922000" cy="25400"/>
          </a:xfrm>
          <a:prstGeom prst="roundRect">
            <a:avLst>
              <a:gd name="adj" fmla="val 0"/>
            </a:avLst>
          </a:prstGeom>
          <a:solidFill>
            <a:srgbClr val="10B981">
              <a:alpha val="6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1016000" y="4572000"/>
            <a:ext cx="2476500" cy="762000"/>
          </a:xfrm>
          <a:prstGeom prst="roundRect">
            <a:avLst>
              <a:gd name="adj" fmla="val 0"/>
            </a:avLst>
          </a:prstGeom>
          <a:solidFill>
            <a:srgbClr val="10B981">
              <a:alpha val="12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1079500" y="4635500"/>
            <a:ext cx="23495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047857"/>
                </a:solidFill>
                <a:latin typeface="Noto Sans SC" panose="020B0200000000000000" charset="-122"/>
                <a:ea typeface="Noto Sans SC" panose="020B0200000000000000" charset="-122"/>
                <a:cs typeface="Noto Sans SC" panose="020B0200000000000000" charset="-122"/>
                <a:sym typeface="Noto Sans SC" panose="020B0200000000000000" charset="-122"/>
              </a:rPr>
              <a:t>云原生重构</a:t>
            </a:r>
            <a:endParaRPr lang="en-US" sz="1100"/>
          </a:p>
        </p:txBody>
      </p:sp>
      <p:sp>
        <p:nvSpPr>
          <p:cNvPr id="24" name="AutoShape 24"/>
          <p:cNvSpPr/>
          <p:nvPr/>
        </p:nvSpPr>
        <p:spPr>
          <a:xfrm>
            <a:off x="3619500" y="4572000"/>
            <a:ext cx="2476500" cy="762000"/>
          </a:xfrm>
          <a:prstGeom prst="roundRect">
            <a:avLst>
              <a:gd name="adj" fmla="val 0"/>
            </a:avLst>
          </a:prstGeom>
          <a:solidFill>
            <a:srgbClr val="10B981">
              <a:alpha val="12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3683000" y="4635500"/>
            <a:ext cx="23495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047857"/>
                </a:solidFill>
                <a:latin typeface="Noto Sans SC" panose="020B0200000000000000" charset="-122"/>
                <a:ea typeface="Noto Sans SC" panose="020B0200000000000000" charset="-122"/>
                <a:cs typeface="Noto Sans SC" panose="020B0200000000000000" charset="-122"/>
                <a:sym typeface="Noto Sans SC" panose="020B0200000000000000" charset="-122"/>
              </a:rPr>
              <a:t>存算深度分离</a:t>
            </a:r>
            <a:endParaRPr lang="en-US" sz="1100"/>
          </a:p>
        </p:txBody>
      </p:sp>
      <p:sp>
        <p:nvSpPr>
          <p:cNvPr id="26" name="AutoShape 26"/>
          <p:cNvSpPr/>
          <p:nvPr/>
        </p:nvSpPr>
        <p:spPr>
          <a:xfrm>
            <a:off x="6223000" y="4572000"/>
            <a:ext cx="2476500" cy="762000"/>
          </a:xfrm>
          <a:prstGeom prst="roundRect">
            <a:avLst>
              <a:gd name="adj" fmla="val 0"/>
            </a:avLst>
          </a:prstGeom>
          <a:solidFill>
            <a:srgbClr val="10B981">
              <a:alpha val="12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6286500" y="4635500"/>
            <a:ext cx="23495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047857"/>
                </a:solidFill>
                <a:latin typeface="Noto Sans SC" panose="020B0200000000000000" charset="-122"/>
                <a:ea typeface="Noto Sans SC" panose="020B0200000000000000" charset="-122"/>
                <a:cs typeface="Noto Sans SC" panose="020B0200000000000000" charset="-122"/>
                <a:sym typeface="Noto Sans SC" panose="020B0200000000000000" charset="-122"/>
              </a:rPr>
              <a:t>批流一体融合</a:t>
            </a:r>
            <a:endParaRPr lang="en-US" sz="1100"/>
          </a:p>
        </p:txBody>
      </p:sp>
      <p:sp>
        <p:nvSpPr>
          <p:cNvPr id="28" name="AutoShape 28"/>
          <p:cNvSpPr/>
          <p:nvPr/>
        </p:nvSpPr>
        <p:spPr>
          <a:xfrm>
            <a:off x="8826500" y="4572000"/>
            <a:ext cx="2476500" cy="762000"/>
          </a:xfrm>
          <a:prstGeom prst="roundRect">
            <a:avLst>
              <a:gd name="adj" fmla="val 0"/>
            </a:avLst>
          </a:prstGeom>
          <a:solidFill>
            <a:srgbClr val="10B981">
              <a:alpha val="12000"/>
            </a:srgbClr>
          </a:solidFill>
          <a:ln w="25400" cap="flat" cmpd="sng">
            <a:noFill/>
            <a:prstDash val="solid"/>
            <a:round/>
          </a:ln>
        </p:spPr>
        <p:txBody>
          <a:bodyPr vert="horz" wrap="square" lIns="63500" tIns="63500" rIns="63500" bIns="63500" rtlCol="0" anchor="ctr"/>
          <a:lstStyle/>
          <a:p>
            <a:pPr algn="ctr">
              <a:defRPr/>
            </a:pPr>
          </a:p>
        </p:txBody>
      </p:sp>
      <p:sp>
        <p:nvSpPr>
          <p:cNvPr id="29" name="AutoShape 29"/>
          <p:cNvSpPr/>
          <p:nvPr/>
        </p:nvSpPr>
        <p:spPr>
          <a:xfrm>
            <a:off x="8890000" y="4635500"/>
            <a:ext cx="23495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047857"/>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智能化演进</a:t>
            </a:r>
            <a:endParaRPr lang="en-US" sz="1100"/>
          </a:p>
        </p:txBody>
      </p:sp>
      <p:sp>
        <p:nvSpPr>
          <p:cNvPr id="30" name="AutoShape 30"/>
          <p:cNvSpPr/>
          <p:nvPr/>
        </p:nvSpPr>
        <p:spPr>
          <a:xfrm>
            <a:off x="1016000" y="5461000"/>
            <a:ext cx="10541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本讲我们梳理了现代数据技术栈的核心脉络。从底层的存储与计算设施，到上层的元数据治理与架构思想，每一环都不可或缺。深刻理解这些技术组件的定位与协同关系，不仅是掌握当前主流大数据技术的基础，更是未来构建高效、可扩展、智能化数据平台的必要前提。</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课后作业</a:t>
            </a:r>
            <a:endParaRPr lang="en-US" sz="1100"/>
          </a:p>
        </p:txBody>
      </p:sp>
      <p:sp>
        <p:nvSpPr>
          <p:cNvPr id="4" name="AutoShape 4"/>
          <p:cNvSpPr/>
          <p:nvPr/>
        </p:nvSpPr>
        <p:spPr>
          <a:xfrm>
            <a:off x="762000" y="1651000"/>
            <a:ext cx="5270500" cy="4445000"/>
          </a:xfrm>
          <a:prstGeom prst="roundRect">
            <a:avLst>
              <a:gd name="adj" fmla="val 0"/>
            </a:avLst>
          </a:prstGeom>
          <a:solidFill>
            <a:srgbClr val="FFFFFF">
              <a:alpha val="95000"/>
            </a:srgbClr>
          </a:solidFill>
          <a:ln w="12700" cap="flat" cmpd="sng">
            <a:solidFill>
              <a:srgbClr val="10B981">
                <a:alpha val="4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5270500" cy="508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905000"/>
            <a:ext cx="4762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思考题 </a:t>
            </a:r>
            <a:endParaRPr lang="en-US" sz="1100"/>
          </a:p>
        </p:txBody>
      </p:sp>
      <p:sp>
        <p:nvSpPr>
          <p:cNvPr id="7" name="AutoShape 7"/>
          <p:cNvSpPr/>
          <p:nvPr/>
        </p:nvSpPr>
        <p:spPr>
          <a:xfrm>
            <a:off x="1016000" y="2667000"/>
            <a:ext cx="47625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请用自己的话，并结合一个生活中的具体例子，详细解释“数据仓库”、“数据湖”与“湖仓一体”三者的核心区别。建议从数据的存储形态、适用业务场景、以及数据处理和使用的灵活性等维度进行对比说明，让抽象的技术概念变得通俗易懂。</a:t>
            </a:r>
            <a:endParaRPr lang="en-US" sz="1100"/>
          </a:p>
        </p:txBody>
      </p:sp>
      <p:sp>
        <p:nvSpPr>
          <p:cNvPr id="8" name="AutoShape 8"/>
          <p:cNvSpPr/>
          <p:nvPr/>
        </p:nvSpPr>
        <p:spPr>
          <a:xfrm>
            <a:off x="1016000" y="4381500"/>
            <a:ext cx="4762500" cy="1524000"/>
          </a:xfrm>
          <a:prstGeom prst="roundRect">
            <a:avLst>
              <a:gd name="adj" fmla="val 0"/>
            </a:avLst>
          </a:prstGeom>
          <a:solidFill>
            <a:srgbClr val="10B981">
              <a:alpha val="8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143000" y="4508500"/>
            <a:ext cx="45085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1" i="0" u="none" strike="noStrike">
                <a:solidFill>
                  <a:srgbClr val="047857"/>
                </a:solidFill>
                <a:latin typeface="Noto Sans SC" panose="020B0200000000000000" charset="-122"/>
                <a:ea typeface="Noto Sans SC" panose="020B0200000000000000" charset="-122"/>
                <a:cs typeface="Noto Sans SC" panose="020B0200000000000000" charset="-122"/>
                <a:sym typeface="Noto Sans SC" panose="020B0200000000000000" charset="-122"/>
              </a:rPr>
              <a:t>💡 核心思考提示：</a:t>
            </a:r>
            <a:br>
              <a:rPr lang="en-US" sz="13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试着联想生活中的“仓库”与“湖泊”特性——比如仓库是规整分类的货架（结构化），湖泊是原生态的水域（原始数据），而湖仓一体则是兼具两者优势、既灵活又有序的新型数据治理模式。</a:t>
            </a:r>
            <a:endParaRPr lang="en-US" sz="1100"/>
          </a:p>
        </p:txBody>
      </p:sp>
      <p:cxnSp>
        <p:nvCxnSpPr>
          <p:cNvPr id="10" name="Connector 10"/>
          <p:cNvCxnSpPr/>
          <p:nvPr/>
        </p:nvCxnSpPr>
        <p:spPr>
          <a:xfrm rot="5390177">
            <a:off x="3937000" y="3867159"/>
            <a:ext cx="4445000" cy="12700"/>
          </a:xfrm>
          <a:prstGeom prst="straightConnector1">
            <a:avLst/>
          </a:prstGeom>
          <a:solidFill>
            <a:srgbClr val="DEE0E3">
              <a:alpha val="100000"/>
            </a:srgbClr>
          </a:solidFill>
          <a:ln w="12700" cap="flat" cmpd="sng">
            <a:solidFill>
              <a:srgbClr val="D1D5DB">
                <a:alpha val="80000"/>
              </a:srgbClr>
            </a:solidFill>
            <a:prstDash val="dash"/>
            <a:round/>
            <a:headEnd type="none" w="med" len="med"/>
            <a:tailEnd type="none" w="med" len="med"/>
          </a:ln>
        </p:spPr>
      </p:cxnSp>
      <p:sp>
        <p:nvSpPr>
          <p:cNvPr id="11" name="AutoShape 11"/>
          <p:cNvSpPr/>
          <p:nvPr/>
        </p:nvSpPr>
        <p:spPr>
          <a:xfrm>
            <a:off x="6350000" y="1651000"/>
            <a:ext cx="5270500" cy="4445000"/>
          </a:xfrm>
          <a:prstGeom prst="roundRect">
            <a:avLst>
              <a:gd name="adj" fmla="val 0"/>
            </a:avLst>
          </a:prstGeom>
          <a:solidFill>
            <a:srgbClr val="FFFFFF">
              <a:alpha val="95000"/>
            </a:srgbClr>
          </a:solidFill>
          <a:ln w="12700" cap="flat" cmpd="sng">
            <a:solidFill>
              <a:srgbClr val="9CA3AF">
                <a:alpha val="5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6350000" y="1651000"/>
            <a:ext cx="5270500" cy="50800"/>
          </a:xfrm>
          <a:prstGeom prst="roundRect">
            <a:avLst>
              <a:gd name="adj" fmla="val 0"/>
            </a:avLst>
          </a:prstGeom>
          <a:solidFill>
            <a:srgbClr val="34D399">
              <a:alpha val="8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6604000" y="1905000"/>
            <a:ext cx="4762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59669"/>
                </a:solidFill>
                <a:latin typeface="Noto Sans SC" panose="020B0200000000000000" charset="-122"/>
                <a:ea typeface="Noto Sans SC" panose="020B0200000000000000" charset="-122"/>
                <a:cs typeface="Noto Sans SC" panose="020B0200000000000000" charset="-122"/>
                <a:sym typeface="Noto Sans SC" panose="020B0200000000000000" charset="-122"/>
              </a:rPr>
              <a:t>调研题 </a:t>
            </a:r>
            <a:endParaRPr lang="en-US" sz="1100"/>
          </a:p>
        </p:txBody>
      </p:sp>
      <p:sp>
        <p:nvSpPr>
          <p:cNvPr id="14" name="AutoShape 14"/>
          <p:cNvSpPr/>
          <p:nvPr/>
        </p:nvSpPr>
        <p:spPr>
          <a:xfrm>
            <a:off x="6604000" y="2667000"/>
            <a:ext cx="47625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从课程中提到的 ClickHouse、Snowflake、Databricks、Spark、Flink、DataHub 等技术组件中，挑选一个你最感兴趣的方向。通过查阅官方文档或技术专栏，撰写一份约 300 字的简短调研报告，深入了解其技术内核。</a:t>
            </a:r>
            <a:endParaRPr lang="en-US" sz="1100"/>
          </a:p>
        </p:txBody>
      </p:sp>
      <p:sp>
        <p:nvSpPr>
          <p:cNvPr id="15" name="AutoShape 15"/>
          <p:cNvSpPr/>
          <p:nvPr/>
        </p:nvSpPr>
        <p:spPr>
          <a:xfrm>
            <a:off x="6604000" y="4381500"/>
            <a:ext cx="4762500" cy="1524000"/>
          </a:xfrm>
          <a:prstGeom prst="roundRect">
            <a:avLst>
              <a:gd name="adj" fmla="val 0"/>
            </a:avLst>
          </a:prstGeom>
          <a:solidFill>
            <a:srgbClr val="D1D5DB">
              <a:alpha val="3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6731000" y="4508500"/>
            <a:ext cx="45085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 报告撰写要点：</a:t>
            </a:r>
            <a:br>
              <a:rPr lang="en-US" sz="13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重点阐述该技术的核心架构特点与核心优势（如极致性能、云原生弹性等），并寻找一个真实的行业案例，说明它是如何帮助企业解决实际数据处理或业务决策中的痛点问题的。</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深入学习资源：参考资料与延伸阅读</a:t>
            </a:r>
            <a:endParaRPr lang="en-US" sz="1100"/>
          </a:p>
        </p:txBody>
      </p:sp>
      <p:sp>
        <p:nvSpPr>
          <p:cNvPr id="4" name="AutoShape 4"/>
          <p:cNvSpPr/>
          <p:nvPr/>
        </p:nvSpPr>
        <p:spPr>
          <a:xfrm>
            <a:off x="762000" y="1651000"/>
            <a:ext cx="5207000" cy="4318000"/>
          </a:xfrm>
          <a:prstGeom prst="roundRect">
            <a:avLst>
              <a:gd name="adj" fmla="val 0"/>
            </a:avLst>
          </a:prstGeom>
          <a:solidFill>
            <a:srgbClr val="FFFFFF">
              <a:alpha val="94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5207000" cy="698500"/>
          </a:xfrm>
          <a:prstGeom prst="roundRect">
            <a:avLst>
              <a:gd name="adj" fmla="val 0"/>
            </a:avLst>
          </a:prstGeom>
          <a:solidFill>
            <a:srgbClr val="10B981">
              <a:alpha val="15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714500"/>
            <a:ext cx="4826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核心技术官方文档库</a:t>
            </a:r>
            <a:endParaRPr lang="en-US" sz="1100"/>
          </a:p>
        </p:txBody>
      </p:sp>
      <p:sp>
        <p:nvSpPr>
          <p:cNvPr id="7" name="AutoShape 7"/>
          <p:cNvSpPr/>
          <p:nvPr/>
        </p:nvSpPr>
        <p:spPr>
          <a:xfrm>
            <a:off x="952500" y="2540000"/>
            <a:ext cx="2438400" cy="1143000"/>
          </a:xfrm>
          <a:prstGeom prst="roundRect">
            <a:avLst>
              <a:gd name="adj" fmla="val 0"/>
            </a:avLst>
          </a:prstGeom>
          <a:solidFill>
            <a:srgbClr val="F0FDF4">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041400" y="2603500"/>
            <a:ext cx="22606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ClickHouse &amp; Snowflake</a:t>
            </a:r>
            <a:endParaRPr lang="en-US" sz="1100"/>
          </a:p>
          <a:p>
            <a:pPr marL="0" indent="0" algn="l">
              <a:lnSpc>
                <a:spcPct val="108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列式数据库与云数仓的权威指南，掌握高性能分析引擎的核心配置与最佳实践。</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3454400" y="2540000"/>
            <a:ext cx="2438400" cy="1143000"/>
          </a:xfrm>
          <a:prstGeom prst="roundRect">
            <a:avLst>
              <a:gd name="adj" fmla="val 0"/>
            </a:avLst>
          </a:prstGeom>
          <a:solidFill>
            <a:srgbClr val="F0FDF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3543300" y="2603500"/>
            <a:ext cx="22606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Databricks 平台手册</a:t>
            </a:r>
            <a:endParaRPr lang="en-US" sz="1100"/>
          </a:p>
          <a:p>
            <a:pPr marL="0" indent="0" algn="l">
              <a:lnSpc>
                <a:spcPct val="108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Lakehouse 架构的官方开发文档，涵盖 Delta Lake 与协作式数据工程开发流程。</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nvSpPr>
        <p:spPr>
          <a:xfrm>
            <a:off x="952500" y="3810000"/>
            <a:ext cx="2438400" cy="1143000"/>
          </a:xfrm>
          <a:prstGeom prst="roundRect">
            <a:avLst>
              <a:gd name="adj" fmla="val 0"/>
            </a:avLst>
          </a:prstGeom>
          <a:solidFill>
            <a:srgbClr val="F0FDF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1041400" y="3873500"/>
            <a:ext cx="22606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Apache Spark</a:t>
            </a:r>
            <a:endParaRPr lang="en-US" sz="1100"/>
          </a:p>
          <a:p>
            <a:pPr marL="0" indent="0" algn="l">
              <a:lnSpc>
                <a:spcPct val="108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大数据处理的通用计算框架标准，包含 Structured Streaming 与分布式SQL实战。</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3454400" y="3810000"/>
            <a:ext cx="2438400" cy="1143000"/>
          </a:xfrm>
          <a:prstGeom prst="roundRect">
            <a:avLst>
              <a:gd name="adj" fmla="val 0"/>
            </a:avLst>
          </a:prstGeom>
          <a:solidFill>
            <a:srgbClr val="F0FDF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3543300" y="3873500"/>
            <a:ext cx="22606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Flink &amp; DataHub</a:t>
            </a:r>
            <a:endParaRPr lang="en-US" sz="1100"/>
          </a:p>
          <a:p>
            <a:pPr marL="0" indent="0" algn="l">
              <a:lnSpc>
                <a:spcPct val="108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实时计算引擎与元数据管理平台的核心文档，助力构建可观测的现代数据栈。</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p:nvPr/>
        </p:nvSpPr>
        <p:spPr>
          <a:xfrm>
            <a:off x="952500" y="5080000"/>
            <a:ext cx="4953000" cy="825500"/>
          </a:xfrm>
          <a:prstGeom prst="roundRect">
            <a:avLst>
              <a:gd name="adj" fmla="val 0"/>
            </a:avLst>
          </a:prstGeom>
          <a:solidFill>
            <a:srgbClr val="10B981">
              <a:alpha val="1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1041400" y="5143500"/>
            <a:ext cx="4762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059669"/>
                </a:solidFill>
                <a:latin typeface="Noto Sans SC" panose="020B0200000000000000" charset="-122"/>
                <a:ea typeface="Noto Sans SC" panose="020B0200000000000000" charset="-122"/>
                <a:cs typeface="Noto Sans SC" panose="020B0200000000000000" charset="-122"/>
                <a:sym typeface="Noto Sans SC" panose="020B0200000000000000" charset="-122"/>
              </a:rPr>
              <a:t>学习贴士：</a:t>
            </a: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官方文档是技术实现的“黄金标准”，建议结合实际业务场景，在实践中查阅API与原理章节，加深对技术底层逻辑的理解。</a:t>
            </a:r>
            <a:endParaRPr lang="en-US" sz="1100"/>
          </a:p>
        </p:txBody>
      </p:sp>
      <p:cxnSp>
        <p:nvCxnSpPr>
          <p:cNvPr id="17" name="Connector 17"/>
          <p:cNvCxnSpPr/>
          <p:nvPr/>
        </p:nvCxnSpPr>
        <p:spPr>
          <a:xfrm rot="5389889">
            <a:off x="3937000" y="3803659"/>
            <a:ext cx="4318000" cy="12700"/>
          </a:xfrm>
          <a:prstGeom prst="straightConnector1">
            <a:avLst/>
          </a:prstGeom>
          <a:solidFill>
            <a:srgbClr val="DEE0E3">
              <a:alpha val="100000"/>
            </a:srgbClr>
          </a:solidFill>
          <a:ln w="12700" cap="flat" cmpd="sng">
            <a:solidFill>
              <a:srgbClr val="10B981">
                <a:alpha val="40000"/>
              </a:srgbClr>
            </a:solidFill>
            <a:prstDash val="dash"/>
            <a:round/>
            <a:headEnd type="none" w="med" len="med"/>
            <a:tailEnd type="none" w="med" len="med"/>
          </a:ln>
        </p:spPr>
      </p:cxnSp>
      <p:sp>
        <p:nvSpPr>
          <p:cNvPr id="18" name="AutoShape 18"/>
          <p:cNvSpPr/>
          <p:nvPr/>
        </p:nvSpPr>
        <p:spPr>
          <a:xfrm>
            <a:off x="6223000" y="1651000"/>
            <a:ext cx="5207000" cy="4318000"/>
          </a:xfrm>
          <a:prstGeom prst="roundRect">
            <a:avLst>
              <a:gd name="adj" fmla="val 0"/>
            </a:avLst>
          </a:prstGeom>
          <a:solidFill>
            <a:srgbClr val="FFFFFF">
              <a:alpha val="94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6223000" y="1651000"/>
            <a:ext cx="5207000" cy="698500"/>
          </a:xfrm>
          <a:prstGeom prst="roundRect">
            <a:avLst>
              <a:gd name="adj" fmla="val 0"/>
            </a:avLst>
          </a:prstGeom>
          <a:solidFill>
            <a:srgbClr val="10B981">
              <a:alpha val="15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6413500" y="1714500"/>
            <a:ext cx="4826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进阶必读：经典与前沿</a:t>
            </a:r>
            <a:endParaRPr lang="en-US" sz="1100"/>
          </a:p>
        </p:txBody>
      </p:sp>
      <p:sp>
        <p:nvSpPr>
          <p:cNvPr id="21" name="AutoShape 21"/>
          <p:cNvSpPr/>
          <p:nvPr/>
        </p:nvSpPr>
        <p:spPr>
          <a:xfrm>
            <a:off x="6413500" y="2540000"/>
            <a:ext cx="4889500" cy="1397000"/>
          </a:xfrm>
          <a:prstGeom prst="roundRect">
            <a:avLst>
              <a:gd name="adj" fmla="val 0"/>
            </a:avLst>
          </a:prstGeom>
          <a:solidFill>
            <a:srgbClr val="ECFDF5">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6540500" y="2603500"/>
            <a:ext cx="46355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064E3B"/>
                </a:solidFill>
                <a:latin typeface="Noto Sans SC" panose="020B0200000000000000" charset="-122"/>
                <a:ea typeface="Noto Sans SC" panose="020B0200000000000000" charset="-122"/>
                <a:cs typeface="Noto Sans SC" panose="020B0200000000000000" charset="-122"/>
                <a:sym typeface="Noto Sans SC" panose="020B0200000000000000" charset="-122"/>
              </a:rPr>
              <a:t>《Designing Data-Intensive Applications》</a:t>
            </a:r>
            <a:endParaRPr lang="en-US" sz="1100"/>
          </a:p>
          <a:p>
            <a:pPr marL="0" indent="0" algn="l">
              <a:lnSpc>
                <a:spcPct val="117000"/>
              </a:lnSpc>
            </a:pPr>
            <a:r>
              <a:rPr lang="en-US" sz="12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Martin Kleppmann 撰写的领域里程碑之作。超越具体技术栈，从分布式系统理论、存储引擎内部机制到一致性模型，为数据基础设施设计提供了系统化的理论支撑，是技术决策者和高级工程师的案头必备。</a:t>
            </a:r>
            <a:endParaRPr lang="en-US" sz="12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3" name="AutoShape 23"/>
          <p:cNvSpPr/>
          <p:nvPr/>
        </p:nvSpPr>
        <p:spPr>
          <a:xfrm>
            <a:off x="6413500" y="4064000"/>
            <a:ext cx="2374900" cy="15875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6502400" y="4127500"/>
            <a:ext cx="22225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What is a Data Lakehouse?</a:t>
            </a:r>
            <a:endParaRPr lang="en-US" sz="1100"/>
          </a:p>
          <a:p>
            <a:pPr marL="0" indent="0" algn="l">
              <a:lnSpc>
                <a:spcPct val="108000"/>
              </a:lnSpc>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Databricks 发布的核心概念文章，阐述了融合数仓ACID特性与数据湖灵活性的新一代架构范式，解决了传统架构的数据孤岛问题。</a:t>
            </a:r>
            <a:endPar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5" name="AutoShape 25"/>
          <p:cNvSpPr/>
          <p:nvPr/>
        </p:nvSpPr>
        <p:spPr>
          <a:xfrm>
            <a:off x="8928100" y="4064000"/>
            <a:ext cx="2374900" cy="15875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9017000" y="4127500"/>
            <a:ext cx="22225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Data Mesh 架构原则</a:t>
            </a:r>
            <a:endParaRPr lang="en-US" sz="1100"/>
          </a:p>
          <a:p>
            <a:pPr marL="0" indent="0" algn="l">
              <a:lnSpc>
                <a:spcPct val="108000"/>
              </a:lnSpc>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Martin Fowler 深度解析去中心化数据架构。通过将数据视为产品，赋能业务域自治，彻底重构了大规模数据团队的协作与交付模式。</a:t>
            </a:r>
            <a:endPar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8732</Words>
  <Application>WPS 演示</Application>
  <PresentationFormat/>
  <Paragraphs>470</Paragraphs>
  <Slides>18</Slides>
  <Notes>0</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18</vt:i4>
      </vt:variant>
    </vt:vector>
  </HeadingPairs>
  <TitlesOfParts>
    <vt:vector size="27" baseType="lpstr">
      <vt:lpstr>Arial</vt:lpstr>
      <vt:lpstr>宋体</vt:lpstr>
      <vt:lpstr>Wingdings</vt:lpstr>
      <vt:lpstr>Arial</vt:lpstr>
      <vt:lpstr>Noto Sans SC</vt:lpstr>
      <vt:lpstr>微软雅黑</vt:lpstr>
      <vt:lpstr>Arial Unicode MS</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没事找事</cp:lastModifiedBy>
  <cp:revision>1</cp:revision>
  <dcterms:created xsi:type="dcterms:W3CDTF">2026-06-01T02:07:51Z</dcterms:created>
  <dcterms:modified xsi:type="dcterms:W3CDTF">2026-06-01T02:07:51Z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{"Label":"1","ContentProducer":"001191110102MACQD9K64010000","ProduceID":"7644448344245570781","ReservedCode1":"","ContentPropagator":"","PropagateID":"","ReservedCode2":""}</vt:lpwstr>
  </property>
  <property fmtid="{D5CDD505-2E9C-101B-9397-08002B2CF9AE}" pid="3" name="ICV">
    <vt:lpwstr>D59DFE2CE85348578DF24CE3D573BBF2_12</vt:lpwstr>
  </property>
  <property fmtid="{D5CDD505-2E9C-101B-9397-08002B2CF9AE}" pid="4" name="KSOProductBuildVer">
    <vt:lpwstr>2052-12.1.0.20784</vt:lpwstr>
  </property>
</Properties>
</file>