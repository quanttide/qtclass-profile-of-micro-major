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大家好，欢迎来到《大数据技术》第六讲。今天我们将探讨大数据技术链条的最终价值出口——大数据挖掘。我们将学习如何将海量数据转化为有价值的知识和决策，就像施展一门从数据到价值的炼金术。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每天被海量数据包围，这些数据如何产生价值？价值转化路径分为四个层次：从原始的数据，到有意义的信息，再到提炼出的知识，最终指导我们做出决策。而大数据挖掘，正是实现从数据到知识这一关键跃迁的核心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本讲的学习目标包括知识、能力和素养三个层面。我们将重点学习大数据挖掘的流程和算法，难点在于理解大数据环境带来的新挑战。希望通过本讲，大家能建立数据驱动决策的思维模式。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一个标准的大数据挖掘项目遵循一个六步闭环流程：数据采集、数据预处理、特征工程、模型训练、模型评估和模型部署。接下来我们将详细讲解每一个阶段。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流程的前两个阶段是数据采集和预处理。数据采集的关键是保证数据质量，我们需要从多样的数据源中获取真实可靠的原始信息。而数据预处理是整个流程中最耗时的环节，通常占据60%到80%的时间，主要包括数据清洗、集成、转换和规约等操作，这一步将杂乱的原始数据转化为可用的资产，是后续所有分析工作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接下来是特征工程和模型训练。特征工程是“Garbage In, Garbage Out”的升级版，好的特征直接决定了模型的上限。模型训练则是选择合适的算法，让机器从数据中学习模式。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流程的最后两个阶段是模型评估和部署。模型评估使用独立的测试数据来检验模型的性能，评估其泛化能力。模型部署则是将模型应用到实际业务中，产生价值，并且需要持续监控和迭代。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数据挖掘任务可以分为几大类。分类用于预测类别，如垃圾邮件识别；聚类用于分组，如用户分群；回归用于预测连续值，如价格预测；关联规则用于发现关联，如购物篮分析；时间序列用于预测未来值，如股票价格预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回到我们的“China's Prices Project”案例，我们可以识别出多种挖掘需求。例如，使用回归或时间序列算法进行价格趋势预测，使用聚类算法进行商品分类，使用异常检测算法发现价格异动，以及使用关联规则进行交叉销售推荐。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传统的数据挖掘技术在面对大数据的“4V”特性时，面临着新的挑战。数据规模大导致计算困难，数据类型多增加了处理复杂性，处理速度快要求实时性，而价值密度低则要求我们能从噪声中提取信号。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为了应对这些挑战，业界发展出了一系列策略。例如，使用分布式计算框架如Spark来处理大规模数据；使用采样技术来降低计算成本；使用增量学习来适应数据流；以及使用特征选择和降维来减少计算复杂度。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回顾整个课程，我们学习了大数据技术的各个环节，从基础设施、数据采集、计算、存储，到今天的挖掘。数据挖掘是整个技术链条的最终价值出口，它将前面所有环节处理好的数据，转化为驱动决策的智慧。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数据挖掘正朝着实时化、云原生、智能化和民主化的方向发展。实时化满足了即时决策的需求，云原生提供了弹性和可扩展性，智能化通过AI简化了建模过程，而民主化则让更多人能够使用数据挖掘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现在我们来进行一个课堂研讨。请大家针对“China's Prices Project”，分组讨论还有哪些潜在的挖掘需求，以及如何选择算法和设计评估方案。这是一个将理论知识应用于实践的绝佳机会。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第六讲：大数据挖掘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从数据到价值的炼金术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课程代码 62743 | 浙理工微专业 | 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课程导入：数据如何产生价值？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41500"/>
            <a:ext cx="234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 (Data)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4130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原始的、未经处理的事实和数字，是信息的基石。它本身没有特定的语境，只是客观的记录。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4925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90600" y="35814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示例：电商平台的用户点击日志、服务器的原始访问记录、APP收集的用户基础行为流水。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30600" y="1651000"/>
            <a:ext cx="26035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306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657600" y="1841500"/>
            <a:ext cx="234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 (Information)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24130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经过处理、组织和结构化的数据。赋予了数据上下文和意义，回答了“谁、什么、何时、何地”的问题。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34925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759200" y="35814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示例：“用户A在2026年5月1日访问了手机、耳机和充电器这3个商品详情页面”，数据有了关联。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99200" y="1651000"/>
            <a:ext cx="26035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992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26200" y="1841500"/>
            <a:ext cx="234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 (Knowledge)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26200" y="24130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从信息中提炼出的模式、规律和洞察。是对信息的深度理解，能够揭示事物背后的逻辑与联系。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26200" y="34925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27800" y="35814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示例：通过分析发现，“购买了手机的用户中，有70%会在一周内继续购买手机壳或保护膜”。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67800" y="1651000"/>
            <a:ext cx="26035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0678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194800" y="1841500"/>
            <a:ext cx="234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 (Decision)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94800" y="24130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基于知识和洞察做出的具体行动、策略或解决方案。是数据价值变现的最终环节，驱动业务增长。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94800" y="34925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296400" y="35814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示例：系统向刚购买手机的用户自动推送相关配件优惠券，或调整商品推荐列表，提升连带率。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953000"/>
            <a:ext cx="10922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016000" y="5080000"/>
            <a:ext cx="1041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关键结论：大数据挖掘是价值跃迁的核心引擎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16000" y="5588000"/>
            <a:ext cx="1041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在数字化时代，孤立的原始数据本身无法创造价值。</a:t>
            </a:r>
            <a:r>
              <a:rPr lang="en-US" sz="1300" b="1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大数据挖掘技术</a:t>
            </a:r>
            <a:r>
              <a:rPr lang="en-US" sz="13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是实现从“杂乱无章的数据”到“可复用的知识”这一关键跃迁的核心。它帮助我们从海量记录中提炼规律，将隐性的信息转化为显性的洞察，从而指导精准的业务决策，让数据真正成为推动组织发展的智慧资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课程目标与重难点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222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22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7145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286000"/>
            <a:ext cx="1968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掌握大数据挖掘的基本概念与标准流程，熟悉常见算法（如聚类、分类、关联规则）的应用场景。深入理解数据的“4V”特性（海量、高速、多样、价值）为挖掘任务带来的全新技术挑战。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111500" y="1524000"/>
            <a:ext cx="2222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111500" y="1524000"/>
            <a:ext cx="222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238500" y="17145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能力目标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38500" y="2286000"/>
            <a:ext cx="1968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具备在真实业务场景中敏锐识别潜在数据价值的能力，能够将抽象的挖掘技术与具体项目需求相结合。学会将复杂业务问题转化为可执行的数据挖掘任务，并能初步评估挖掘方案的可行性。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1524000"/>
            <a:ext cx="2222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461000" y="1524000"/>
            <a:ext cx="222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588000" y="1714500"/>
            <a:ext cx="196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素养目标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588000" y="2286000"/>
            <a:ext cx="1968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建立“数据驱动决策”的核心思维模式，摒弃经验主义的直觉判断。培养对数据背后隐藏规律的探索欲与好奇心，形成严谨的数据分析逻辑，为未来从事数据相关工作奠定良好的职业素养。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762500"/>
            <a:ext cx="6921500" cy="17145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4889500"/>
            <a:ext cx="654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核心学习指引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5397500"/>
            <a:ext cx="654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以实际业务问题为导向，通过掌握基础流程与算法，将数据挖掘技术真正落地到项目实践中。重点在于从数据中发现价值、辅助科学决策，而不仅仅是掌握工具的使用方法。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90953">
            <a:off x="5461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7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28000" y="1524000"/>
            <a:ext cx="36830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1524000"/>
            <a:ext cx="508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318500" y="1714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教学重点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2286000"/>
            <a:ext cx="336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透彻掌握大数据挖掘的标准作业流程（从问题定义到结果部署）；准确区分不同挖掘算法的核心原理，能够根据业务特征（如数据类型、目标变量）快速匹配最适用的算法模型。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4064000"/>
            <a:ext cx="3683000" cy="2349500"/>
          </a:xfrm>
          <a:prstGeom prst="roundRect">
            <a:avLst>
              <a:gd name="adj" fmla="val 0"/>
            </a:avLst>
          </a:prstGeom>
          <a:solidFill>
            <a:srgbClr val="F59E0B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128000" y="4064000"/>
            <a:ext cx="50800" cy="2349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318500" y="4254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教学难点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4826000"/>
            <a:ext cx="336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深刻理解海量、高维、异构的大数据环境对传统挖掘任务的影响机制；理解如何在算力受限和数据噪声干扰下，平衡挖掘算法的执行效率与结果的准确性，这是本讲需要突破的核心瓶颈。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大数据挖掘流程总览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24000"/>
            <a:ext cx="1028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一个标准的大数据挖掘项目遵循六个核心阶段，形成从数据获取到业务落地的完整闭环。这六个阶段环环相扣，共同构成了数据价值转化的全链路解决方案。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3495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14400" y="24765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数据采集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2946400"/>
            <a:ext cx="3124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多源异构数据的获取与汇聚，涵盖业务日志、关系型数据库、开放API接口及第三方数据。此阶段核心是打破数据孤岛，为后续分析建立全面的数据基础。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349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23495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33900" y="24765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数据预处理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33900" y="2946400"/>
            <a:ext cx="3124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对原始数据进行“清洗”与“整形”，包括去除重复、处理缺失值、平滑噪声数据。将非结构化或半结构化数据转化为适合算法模型训练的标准格式，是保证模型质量的关键。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349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01000" y="23495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53400" y="24765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特征工程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53400" y="2946400"/>
            <a:ext cx="3124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从海量原始信息中提取高价值特征，通过归一化、离散化、降维等手段精炼数据。优秀的特征工程能显著降低模型复杂度，大幅提升算法的预测精度与泛化能力。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25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2545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14400" y="43815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模型训练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14400" y="4851400"/>
            <a:ext cx="3124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基于业务目标选择适配的算法模型（如回归、树模型、深度学习），利用标注数据集进行参数迭代。通过不断的训练与调优，让模型学习数据背后的潜在规律与模式。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81500" y="425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381500" y="42545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533900" y="43815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模型评估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533900" y="4851400"/>
            <a:ext cx="3124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使用独立的测试数据集验证模型效果，通过准确率、AUC、F1-Score等核心指标进行量化分析。评估模型在未知数据上的泛化能力，判断是否达到业务上线标准。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425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01000" y="42545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153400" y="4381500"/>
            <a:ext cx="312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/ 模型部署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53400" y="4851400"/>
            <a:ext cx="3124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将成熟模型封装为可调用的API或微服务，无缝集成至业务系统中。实现从离线分析到在线实时预测的跨越，让数据智能真正赋能业务决策，产生实际应用价值。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流程详解 - 数据采集与预处理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034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阶段一：数据采集 (Data Collection)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4889500" cy="698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2387600"/>
            <a:ext cx="4635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获取真实、可靠的原始数据，这是后续所有分析工作的起点。只有拿到正确的原材料，才能产出有价值的结果。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175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225800"/>
            <a:ext cx="146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源多样性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5814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覆盖结构化、半结构化及非结构化数据，来源广泛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67000" y="3175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730500" y="3225800"/>
            <a:ext cx="146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质量基石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730500" y="35814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严格把控数据准确性，杜绝“垃圾进，垃圾出”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81500" y="3175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445000" y="3225800"/>
            <a:ext cx="146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采集策略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45000" y="35814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根据业务场景选择实时流采集或批量离线采集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5270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18034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阶段二：数据预处理 (Data Preprocessing)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2349500"/>
            <a:ext cx="4889500" cy="698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540500" y="2387600"/>
            <a:ext cx="4635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将杂乱的原始数据转化为干净、一致、可用的格式，使其符合算法模型的输入要求，是连接采集与建模的关键桥梁。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3175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3225800"/>
            <a:ext cx="146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耗时之最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35814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占据全流程60%-80%时间，是最繁重的环节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3175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191500" y="3225800"/>
            <a:ext cx="146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关键操作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91500" y="35814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清洗、集成、转换、规约四大核心步骤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842500" y="3175000"/>
            <a:ext cx="15875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906000" y="3225800"/>
            <a:ext cx="146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价值产出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906000" y="3581400"/>
            <a:ext cx="146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提升数据可用性，降低模型训练的偏差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4699000"/>
            <a:ext cx="10731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96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62000" y="4699000"/>
            <a:ext cx="635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48895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587500" y="4889500"/>
            <a:ext cx="952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核心洞察：工欲善其事，必先利其器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79500" y="53975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的质量直接决定了后续分析的价值上限，而预处理环节的投入是确保模型效果的关键基石。在实际项目开发中，投入足够的时间和资源在数据清洗和格式转换上，能有效避免后续的“垃圾进，垃圾出”问题，让数据真正成为驱动业务决策的有力资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流程详解 - 特征工程与模型训练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4450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770" r="770"/>
          <a:stretch>
            <a:fillRect/>
          </a:stretch>
        </p:blipFill>
        <p:spPr>
          <a:xfrm>
            <a:off x="889000" y="1778000"/>
            <a:ext cx="4191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762500"/>
            <a:ext cx="44450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48895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特征工程是连接原始数据与算法模型的核心桥梁。通过对原始数据进行清洗、转换与深度加工，我们能有效挖掘数据背后的潜在规律，这一步往往直接决定了模型的性能上限，是“Garbage In, Garbage Out”原则的关键实践。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708">
            <a:off x="3111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651500" y="1651000"/>
            <a:ext cx="6223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651500" y="1651000"/>
            <a:ext cx="6223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842000" y="18034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阶段三：特征工程 (Feature Engineering)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42000" y="2311400"/>
            <a:ext cx="5842000" cy="698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969000" y="2349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从杂乱的原始数据中提取关键信息，或通过逻辑运算构造新的、对预测目标更具区分度的特征。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42000" y="3111500"/>
            <a:ext cx="584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遵循“Better Features, Better Models”的核心理念，常用方法包括特征提取（如文本向量化）、特征构造（如时间差计算）和特征选择（如过滤低重要度特征），以此提升模型对问题的拟合能力。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651500" y="4127500"/>
            <a:ext cx="6223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651500" y="4127500"/>
            <a:ext cx="6223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842000" y="42799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阶段四：模型训练 (Model Training)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842000" y="4787900"/>
            <a:ext cx="5842000" cy="698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969000" y="4826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根据业务场景选择适配的算法模型，利用高质量的特征数据驱动模型学习数据中的内在规律。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842000" y="5588000"/>
            <a:ext cx="584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算法通过迭代优化自动调整内部参数以拟合数据。工程落地中常使用 Scikit-learn 处理常规规模数据，或 Spark MLlib 应对大数据分布式训练场景，最终生成具备预测能力的模型。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流程详解 - 模型评估与部署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阶段五：模型评估</a:t>
            </a:r>
            <a:r>
              <a:rPr lang="en-US" sz="14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Model Evaluation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27305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使用独立的测试数据集对模型进行全维度性能检验。这是验证模型效果的关键关卡，通过客观数据判断模型是否具备解决实际问题的能力，决定其能否进入下一阶段。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9370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9500" y="4000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多维评估指标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79500" y="43815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分类任务关注准确率、F1值；回归任务侧重均方误差(MSE)等，量化误差以衡量模型精度。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29000" y="39370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556000" y="4000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泛化能力验证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56000" y="43815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确保模型在未知新数据上表现稳定，有效识别过拟合或欠拟合，为模型调优提供科学支撑。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397500"/>
            <a:ext cx="4826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79500" y="54356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核心认知：</a:t>
            </a:r>
            <a:r>
              <a:rPr lang="en-US" sz="12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评估是模型上线前的“质检环节”，严格执行是规避业务风险的必要前提。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90177">
            <a:off x="3873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223000" y="1651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1651000"/>
            <a:ext cx="52070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17145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阶段六：模型部署</a:t>
            </a:r>
            <a:r>
              <a:rPr lang="en-US" sz="14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Model Deployment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26670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540500" y="27305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将经过严格评估的模型从离线环境集成到实际业务系统中。这一步实现了从算法到应用的跨越，让模型真正参与到业务流程中，为决策和自动化提供实时支持。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39370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40500" y="4000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双模式落地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40500" y="43815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支持海量数据的批量离线预测，也适配低延迟要求的实时在线预测，灵活响应业务场景。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890000" y="39370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017000" y="40005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动态迭代闭环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017000" y="43815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部署并非终点，需持续监控数据漂移，定期引入新数据重训，确保持续为业务创造价值。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13500" y="5397500"/>
            <a:ext cx="4826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540500" y="54356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核心认知：</a:t>
            </a:r>
            <a:r>
              <a:rPr lang="en-US" sz="12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部署是价值落地的“最后一公里”，而全生命周期的监控是模型长期有效的保障。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挖掘问题分类与典型算法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034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 (Classification)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预测样本所属的离散类别，核心是从特征到类别标签的映射，常用于有监督学习场景。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22600"/>
            <a:ext cx="31750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41400" y="3022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典型算法：决策树、随机森林、SVM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4036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场景：垃圾邮件识别、用户画像分类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1651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085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99000" y="18034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聚类 (Clustering)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286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无监督地将相似样本归为一类，组内相似度高而组间差异大，不依赖预先定义的标签。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3022600"/>
            <a:ext cx="31750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787900" y="3022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典型算法：K-Means、DBSCAN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99000" y="34036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场景：电商用户分群、金融异常检测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1651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2550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445500" y="18034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 (Regression)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445500" y="2286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建立自变量与因变量间的函数关系，预测连续数值输出，反映变量间的趋势变化。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445500" y="3022600"/>
            <a:ext cx="31750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534400" y="30226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典型算法：线性回归、岭回归、Lasso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445500" y="34036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场景：房价预测、产品销量趋势预估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4127500"/>
            <a:ext cx="5397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62000" y="4127500"/>
            <a:ext cx="5397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52500" y="42545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关联规则 (Association Rules)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52500" y="4699000"/>
            <a:ext cx="5016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发现大型数据集中变量之间有趣的隐藏联系和规律，核心是找到频繁项集与关联规则，揭示数据背后的模式。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52500" y="5461000"/>
            <a:ext cx="2413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41400" y="54610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算法：Apriori、FP-Growth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492500" y="5461000"/>
            <a:ext cx="2476500" cy="330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3581400" y="5461000"/>
            <a:ext cx="234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场景：购物篮分析、推荐系统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350000" y="4127500"/>
            <a:ext cx="5461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350000" y="4127500"/>
            <a:ext cx="5461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540500" y="4254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时间序列 (Time Series)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540500" y="4699000"/>
            <a:ext cx="508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基于随时间变化的有序数据，分析其趋势、周期性和季节性，从而对未来的数值进行推断和预测。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540500" y="5461000"/>
            <a:ext cx="2413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629400" y="54610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算法：ARIMA、LSTM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080500" y="5461000"/>
            <a:ext cx="2476500" cy="330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9169400" y="5461000"/>
            <a:ext cx="234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场景：股价预测、流量峰值预警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案例分析：China's Prices Project 的挖掘需求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73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73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14400" y="184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价格趋势预测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14400" y="22860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核心算法：回归 / 时间序列模型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667000"/>
            <a:ext cx="24130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77900" y="27051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未来一个月，目标手机的市场价格将呈现何种波动趋势？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" y="33401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赋能消费者购买决策，辅助商家制定动态定价策略。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19500" y="1651000"/>
            <a:ext cx="273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619500" y="1651000"/>
            <a:ext cx="273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771900" y="184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商品分类与聚类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71900" y="22860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核心算法：无监督聚类分析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71900" y="2667000"/>
            <a:ext cx="24130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835400" y="27051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能否依据价格波动模式，将海量SKU商品自动进行分组管理？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771900" y="33401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实现商品层级的精细化运营，提升库存与营销效率。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191000"/>
            <a:ext cx="273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273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14400" y="438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价格异常检测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14400" y="48260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核心算法：异常点识别模型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4400" y="5207000"/>
            <a:ext cx="24130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77900" y="52451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特定商品价格的突然飙升，是市场正常波动还是异常情况？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14400" y="58801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及时捕捉市场异动，规避风险并抓住突发商业机会。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619500" y="4191000"/>
            <a:ext cx="273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619500" y="4191000"/>
            <a:ext cx="273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3771900" y="438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关联商品分析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771900" y="48260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核心算法：关联规则挖掘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771900" y="5207000"/>
            <a:ext cx="24130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3835400" y="52451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购买了“笔记本电脑”的用户，还倾向于搭配哪些周边配件？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771900" y="58801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提供精准交叉销售推荐，有效提升客单价与用户体验。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390953">
            <a:off x="4191000" y="4057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858000" y="1651000"/>
            <a:ext cx="4953000" cy="4889500"/>
          </a:xfrm>
          <a:prstGeom prst="roundRect">
            <a:avLst>
              <a:gd name="adj" fmla="val 0"/>
            </a:avLst>
          </a:prstGeom>
          <a:solidFill>
            <a:srgbClr val="1F2937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7048500" y="1841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从数据到决策的业务价值跃迁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048500" y="266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China's Prices Project 中，数据挖掘不仅是技术的应用，更是将复杂的市场价格信号转化为可执行的商业策略的关键桥梁。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048500" y="4064000"/>
            <a:ext cx="45720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7175500" y="41656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通过对价格、分类、异常和关联的多维度深度挖掘，企业能够打破信息不对称，从被动响应转向主动预判，为产品定价、库存管理和精准营销提供强有力的数据支撑。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048500" y="5270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最终目标：构建一个敏捷、智能的价格感知与响应系统，让每一次市场变化都成为业务增长的契机，在激烈的市场竞争中保持敏锐与领先。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大数据环境带来的新挑战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73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780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数据规模大 (Volume)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算力瓶颈与效率难题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传统单机算法在海量数据面前显得力不从心，无法在业务可接受的时间窗口内完成复杂计算，成为数据分析的主要障碍。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19500" y="1651000"/>
            <a:ext cx="273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19500" y="165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810000" y="17780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数据类型多 (Variety)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810000" y="2286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结构化与非结构化鸿沟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10000" y="2794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传统算法仅适配规整的结构化数据，而如今视频、音频、日志等非结构化数据占比激增，处理工具的通用性面临严峻考验。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273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43180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处理速度快 (Velocity)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4826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实时性要求显著提升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5334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静态的T+1离线分析模式已无法满足即时决策需求，数据流的高速涌入要求挖掘过程具备毫秒级的实时响应能力。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619500" y="4191000"/>
            <a:ext cx="273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619500" y="4191000"/>
            <a:ext cx="508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810000" y="43180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价值密度低 (Value)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810000" y="4826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信号提取难度升级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810000" y="5334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海量数据中蕴含的有效信息占比极低，如同在沙堆中淘金。如何从大量背景噪声中精准提取关键业务信号，是核心技术难点。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90953">
            <a:off x="4191000" y="4057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794500" y="1651000"/>
            <a:ext cx="4953000" cy="4889500"/>
          </a:xfrm>
          <a:prstGeom prst="roundRect">
            <a:avLst>
              <a:gd name="adj" fmla="val 0"/>
            </a:avLst>
          </a:prstGeom>
          <a:solidFill>
            <a:srgbClr val="10B981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048500" y="1841500"/>
            <a:ext cx="1841500" cy="184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9017000" y="1841500"/>
            <a:ext cx="2603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4V特性</a:t>
            </a:r>
            <a:b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重塑行业范式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048500" y="3873500"/>
            <a:ext cx="4445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239000" y="40005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技术革新势在必行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239000" y="4572000"/>
            <a:ext cx="4127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BF5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大数据洪流，传统数据技术已触及天花板。我们需要从底层分布式架构到上层智能算法进行全面升级，构建高吞吐、低延迟、自适应的新一代数据处理体系，从而在数据的海洋中高效捕捉价值，为业务发展提供强有力的智能支撑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应对大数据挑战的策略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683000" cy="4572000"/>
          </a:xfrm>
          <a:prstGeom prst="roundRect">
            <a:avLst>
              <a:gd name="adj" fmla="val 0"/>
            </a:avLst>
          </a:prstGeom>
          <a:solidFill>
            <a:srgbClr val="10B981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数据洪流中的</a:t>
            </a:r>
            <a:b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效率与精准之辩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CFC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面对海量、高速、多变的大数据，传统单机处理模式已无法应对存储与计算的双重压力。我们需要从架构革新、算法优化和特征工程三个维度，构建轻量化、高扩展性的解决方案。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953000"/>
            <a:ext cx="3175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5080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3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用更少资源，更快洞察数据价值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450">
            <a:off x="2413000" y="3803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826000" y="1524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260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016500" y="1714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分布式计算框架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16500" y="2286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将庞大的计算任务切分为细粒度的子任务，分发至集群节点并行处理，突破单机性能瓶颈。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16500" y="3111500"/>
            <a:ext cx="31115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143500" y="31496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技术代表：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Hadoop MapReduce, Spark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445500" y="1524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4455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636000" y="1714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高效采样技术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636000" y="2286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通过统计学方法抽取具有代表性的样本数据，以“小样本”代替“全量数据”进行推断分析。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636000" y="3111500"/>
            <a:ext cx="31115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763000" y="31496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大幅降低计算成本与耗时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826000" y="3937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8260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016500" y="4127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增量迭代学习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016500" y="4699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模型无需重新训练全量历史数据，仅基于新流入的数据进行局部更新，保持模型时效性。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16500" y="5524500"/>
            <a:ext cx="31115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143500" y="55626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实时数据流与动态环境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445500" y="3937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4455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636000" y="4127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特征降维与选择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636000" y="4699000"/>
            <a:ext cx="311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剔除无效噪音特征，或通过数学变换将高维数据映射至低维空间，简化数据结构。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636000" y="5524500"/>
            <a:ext cx="31115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763000" y="55626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解决难题：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维度灾难与计算复杂度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课程回顾与知识体系总结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461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461000" cy="6096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875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大数据技术核心知识全景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1676400" cy="1206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286000"/>
            <a:ext cx="16764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41400" y="2362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基础设施层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41400" y="27305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底层硬件与网络的坚实支撑，保障海量数据的稳定接入与系统高可用性。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68600" y="2286000"/>
            <a:ext cx="1676400" cy="1206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768600" y="2286000"/>
            <a:ext cx="16764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857500" y="2362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857500" y="27305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面向多源异构数据，完成抽取、清洗与转换，是数据进入系统的第一公里。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46600" y="2286000"/>
            <a:ext cx="1676400" cy="1206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546600" y="2286000"/>
            <a:ext cx="16764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635500" y="2362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数据计算层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35500" y="27305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批处理与流处理双引擎驱动，对海量数据进行分布式的高效运算与分析。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35814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3581400"/>
            <a:ext cx="2540000" cy="381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41400" y="3657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数据存储层：持久化载体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41400" y="4025900"/>
            <a:ext cx="241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分布式文件系统与NoSQL/关系型数据库协同，解决海量非结构化与结构化数据的长期保存问题。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619500" y="35814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3619500" y="3581400"/>
            <a:ext cx="2603500" cy="381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3708400" y="3657600"/>
            <a:ext cx="2476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数据挖掘层：价值核心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708400" y="4025900"/>
            <a:ext cx="2476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应用机器学习与统计算法，从数据中提取模式与规律，是技术变现的关键环节。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1524000"/>
            <a:ext cx="5334000" cy="3429000"/>
          </a:xfrm>
          <a:prstGeom prst="roundRect">
            <a:avLst>
              <a:gd name="adj" fmla="val 0"/>
            </a:avLst>
          </a:prstGeom>
          <a:solidFill>
            <a:srgbClr val="10B981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67500" y="17145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关键结论：价值的最终出口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67500" y="2349500"/>
            <a:ext cx="4953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794500" y="24384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数据挖掘是整个大数据技术链条的最终价值出口。它将基础设施、采集、计算与存储环节处理好的原始数据，转化为可落地、可执行的业务洞察，驱动科学决策与智慧升级。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67500" y="3683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CFDF5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脱离了挖掘的大数据只是冰冷的数字堆砌。通过算法模型的深度应用，我们不仅能发现数据背后的潜在规律，更能将这些规律转化为企业发展与社会进步的实际生产力，实现从“数据资产”到“业务智慧”的本质跨越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5207000"/>
            <a:ext cx="1104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62000" y="520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016000" y="53086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总结：从技术底座到智慧决策，大数据技术的每一环都紧密相连。掌握这一全流程知识体系，能够帮助我们在面对复杂多变的业务场景时，更清晰地理解数据流转逻辑，从而构建出更高效、更具业务洞察力的大数据解决方案，让数据真正成为驱动发展的核心引擎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未来展望：数据挖掘的发展趋势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9050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540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Real-time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111500"/>
            <a:ext cx="23495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3302000"/>
            <a:ext cx="2349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从传统的T+1批量分析模式，向毫秒级的实时流数据挖掘演进。即时捕捉业务动态变化，为高频交易、在线推荐、欺诈风控等时效性强的场景提供低延迟决策支持，让数据价值的变现不再有时间差。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30600" y="1651000"/>
            <a:ext cx="2603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306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657600" y="19050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云原生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2540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 Native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3111500"/>
            <a:ext cx="23495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657600" y="3302000"/>
            <a:ext cx="2349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挖掘平台与算法工具原生构建于云基础设施之上，深度融合对象存储、容器化编排与弹性算力。实现了资源的按需伸缩与弹性扩容，既降低了系统运维的复杂度与成本，也能从容应对PB级海量数据的并发处理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99200" y="1651000"/>
            <a:ext cx="2603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992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26200" y="19050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26200" y="2540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AI-Driven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26200" y="3111500"/>
            <a:ext cx="23495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26200" y="3302000"/>
            <a:ext cx="2349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与大数据挖掘深度耦合，AutoML技术让特征工程与模型调优自动化。大模型的引入突破了传统统计方法的边界，使复杂的非结构化数据解析、预测性分析与模式识别变得更高效。机器不仅是执行工具，更成为了发现未知规律的智能伙伴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67800" y="1651000"/>
            <a:ext cx="2603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0678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194800" y="19050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民主化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94800" y="2540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Democratization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94800" y="3111500"/>
            <a:ext cx="2349500" cy="127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194800" y="3302000"/>
            <a:ext cx="2349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门槛被持续降低，工具向低代码、可视化与自助式方向进化。业务人员无需精通复杂算法，通过拖拽式界面即可自主完成数据探索与分析。这让数据能力下沉到业务一线，真正实现了“人人都是数据分析师”的愿景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课堂研讨：挖掘需求分析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875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 China's Prices Project，请各小组结合前期学习的数据分析方法论，深入探讨以下核心议题。这不仅是对理论知识的实践应用，更是培养大家从业务视角发现问题、解决问题的重要环节。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34671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识别挖掘需求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302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除了已明确的项目目标，结合业务场景与数据现状，你认为还有哪些潜在的、未被满足的数据挖掘需求？可以从用户行为、市场趋势或异常检测等维度进行发散思考。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667000"/>
            <a:ext cx="34671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2667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97400" y="27940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选择适用算法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97400" y="3302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针对你提出的新挖掘需求，你会优先考虑使用哪种算法模型？是回归分析、决策树还是深度学习模型？请结合数据特征、计算成本与业务解释性说明具体的选择依据。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667000"/>
            <a:ext cx="34671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51800" y="2667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42300" y="27940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设计评估方案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42300" y="33020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为了验证模型的有效性与实用性，你将如何设计对照实验？会选取哪些核心评估指标（如准确率、AUC值、业务收益等）来衡量模型效果？请简述具体的实验流程与数据划分方式。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953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52500" y="5080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79500" y="5143500"/>
            <a:ext cx="298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分钟 · 分组研讨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79500" y="5588000"/>
            <a:ext cx="298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各组围绕三个议题展开头脑风暴，记录关键思路、潜在需求点及初步的技术方案。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57030">
            <a:off x="3810000" y="5645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445000" y="5080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572000" y="5143500"/>
            <a:ext cx="298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 分钟/组 · 代表汇报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572000" y="5588000"/>
            <a:ext cx="298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选派小组发言人，清晰阐述讨论成果，重点分享独特的挖掘视角与算法选型逻辑。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57030">
            <a:off x="7302500" y="5645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937500" y="5080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064500" y="5143500"/>
            <a:ext cx="298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总结点评 · 知识升华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64500" y="5588000"/>
            <a:ext cx="298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教师针对汇报内容进行点评，梳理行业通用方法，补充遗漏要点，完成理论与实践的闭环。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6451</Words>
  <Application>WPS 演示</Application>
  <PresentationFormat/>
  <Paragraphs>408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没事找事</cp:lastModifiedBy>
  <cp:revision>1</cp:revision>
  <dcterms:created xsi:type="dcterms:W3CDTF">2026-06-01T02:07:50Z</dcterms:created>
  <dcterms:modified xsi:type="dcterms:W3CDTF">2026-06-01T02:07:50Z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{"Label":"1","ContentProducer":"001191110102MACQD9K64010000","ProduceID":"7644459822947945688","ReservedCode1":"","ContentPropagator":"","PropagateID":"","ReservedCode2":""}</vt:lpwstr>
  </property>
  <property fmtid="{D5CDD505-2E9C-101B-9397-08002B2CF9AE}" pid="3" name="ICV">
    <vt:lpwstr>C78E15B9AD4846DCB1AE8154F37B5BFB_12</vt:lpwstr>
  </property>
  <property fmtid="{D5CDD505-2E9C-101B-9397-08002B2CF9AE}" pid="4" name="KSOProductBuildVer">
    <vt:lpwstr>2052-12.1.0.20784</vt:lpwstr>
  </property>
</Properties>
</file>