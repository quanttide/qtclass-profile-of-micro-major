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数据工程第四讲。在前几讲中，我们学习了数据工程的核心概念和治理原则。今天，我们将进入一个更具体、更实践的层面——DataOps。我们将学习如何将软件工程的最佳实践应用到数据研发中，实现流程的规范化，从而提升数据交付的速度和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学完本讲，你将能够理解Ad-hoc模式与DataOps模式的区别，掌握DataOps的核心流程和基础测试策略。更重要的是，你将建立起“数据管道也是软件”的工程意识，并培养“质量门禁”的责任感。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从一个真实的“翻车现场”开始。一位工程师为了赶进度，直接上线了爬虫代码，结果因为网站改版导致程序崩溃，生成了不完整的数据，最终造成了严重的业务影响。这个案例告诉我们，“能跑就行”的临时脚本模式存在巨大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案例揭示了两种截然不同的开发模式：Ad-hoc模式和DataOps模式。Ad-hoc模式追求“能跑就行”，缺乏测试和监控，是一种脆弱的、不可持续的方式。而DataOps模式则强调“确保正确”，将数据管道视为软件，遵循软件工程的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DataOps的核心思想，就是将软件开发生命周期（SDLC）的理念应用到数据领域。数据管道不是一次性脚本，而是需要规划、设计、开发、测试、部署和运维的完整系统。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具体来说，DataOps的核心流程包括五个阶段：设计、开发、构建与测试、部署、运维与监控。这五个阶段形成一个闭环，确保数据管道的高质量交付和稳定运行。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第一个阶段是设计。在动手写代码前，我们必须定义清晰的数据契约，包括输入契约、输出契约和SLA。这就像建筑蓝图，确保所有人对目标和标准有统一的理解。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第二个阶段是开发。我们需要使用Git进行版本控制，确保代码的可追溯和协作。同时，要遵循模块化和复用的原则，将重复逻辑抽象成独立模块，提高代码质量和开发效率。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第三个阶段，构建与测试，是DataOps的核心。我们需要建立自动化的质量门禁，通过单元测试、集成测试和回归测试，确保代码在进入生产环境前是高质量的。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第四个阶段是部署。我们需要通过环境隔离（开发、测试、生产）来保证发布的安全性。同时，引入CI/CD（持续集成/持续部署）可以自动化整个流程，减少人为错误，加速交付速度。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最后一个阶段是运维与监控。我们需要完善的日志记录来排查问题，同时建立监控和告警机制，主动发现异常，保障数据管道的稳定运行。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现在我们来深度解析如何设计有效的测试。以一个信用卡还款提醒机器人为例，我们需要设计单元测试来验证边界条件，比如闰年的处理，还要测试非法输入，确保程序的健壮性。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除了单元测试，我们还需要集成测试来验证多个模块协同工作的正确性。同时，回归测试也至关重要，它能确保我们修复的Bug不会在未来的代码更新中再次出现。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数据工程的测试还有其特殊性，我们不仅要测试代码逻辑，还要测试数据本身的质量。例如，通过行数校验、字段非空校验和数据分布校验，来确保数据的准确性、完整性和合理性。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现在是课堂研讨时间。请大家分享一次因为“没有提前检查”而导致的错误。思考一下，如果时光倒流，你会在哪里增加一个检查点？这个讨论能帮助大家建立测试和校验的意识。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第二个研讨题，让我们来进行一次沙盘推演。假设要开发一个自动统计班级考勤的脚本，你会如何设计数据契约和测试用例？这个练习能帮助大家将DataOps流程应用到实际问题中。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课程到这里就接近尾声了。我们回顾一下，今天我们学习了DataOps的核心思想，包括引入SDLC、拥抱DataOps文化、建立质量门禁等。这些都是成为一名专业数据工程师的关键。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课后请大家完成一道场景设计题。为一个计算GMV的SQL结果设计两条质量校验规则。这道题能很好地检验大家对数据测试的理解和应用能力。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413000"/>
            <a:ext cx="1143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数据工程第四讲：DataOps实践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19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数据研发的流程规范化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知识层面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750">
            <a:off x="952513" y="2533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730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理解核心差异：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清晰认知 Ad-hoc（临时脚本）模式与工程化模式在可维护性、扩展性上的本质区别，明确 DataOps 转型的必要性。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掌握全流程：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 DataOps 标准工作流，涵盖设计、开发、测试、部署及运维的闭环管理体系。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953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夯实测试基础：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建立包含单元测试、集成测试与回归测试的立体化数据质量防线。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085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能力层面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4699013" y="2533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2730500"/>
            <a:ext cx="317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接口契约设计：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具备为上下游数据管道定义标准化、可验证数据接口契约的能力。通过清晰的字段规范与校验规则，降低数据对接成本，从源头减少数据传输过程中的不一致性问题。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44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质量保障实践：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能够针对核心数据链路编写精准、有效的基础测试用例。将测试嵌入开发流程，主动发现数据异常，保障数据产出的准确性与时效性，支撑业务决策。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55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4455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素养层面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750">
            <a:off x="8445513" y="2533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445500" y="2730500"/>
            <a:ext cx="317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工程化思维：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深刻建立“数据管道也是软件”的核心意识。摒弃零散的脚本编写习惯，采用软件工程的方法论来构建数据系统，注重代码的可读性、复用性与可维护性。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45500" y="444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工程责任感：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培养严格的“质量门禁”意识。对产出数据的可信度负责，将质量控制视为核心工作准则，在每一个环节主动规避风险，提升数据资产的价值与可用性。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案例导入：“脚本小子”的翻车现场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事件：一次仓促的上线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为了追赶项目交付节点，工程师未进行充分的测试与容错设计，便将刚编写完成的爬虫代码直接部署到线上服务器。看似“敏捷”的操作，实则忽略了生产环境的复杂性，为后续的业务事故埋下了致命隐患。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34671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2921000"/>
            <a:ext cx="321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阶段一：顺利启动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365500"/>
            <a:ext cx="3213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代码部署后初期运行平稳，数据抓取任务按计划开始执行。短暂的顺利让团队放松了警惕，没有意识到程序中缺少对异常情况的兜底方案，这是事故发生的第一个信号。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7940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794000"/>
            <a:ext cx="34671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500" y="2921000"/>
            <a:ext cx="321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阶段二：隐性故障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3365500"/>
            <a:ext cx="3213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目标网站进行了一次无对外公告的微小改版，页面元素的位置或属性发生了细微变化。这一变化导致爬虫的解析逻辑完全失效，程序开始读取错误的信息，却没有任何报错提示。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794000"/>
            <a:ext cx="34671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2794000"/>
            <a:ext cx="34671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2921000"/>
            <a:ext cx="321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阶段三：程序宕机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3365500"/>
            <a:ext cx="3213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由于代码未设计健壮的异常捕获与重试机制，解析失败触发了致命异常。程序瞬间终止运行，没有生成错误日志，也没有向维护人员发送任何告警，服务器上只留下了一个执行中断的进程。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826000"/>
            <a:ext cx="6985000" cy="1651000"/>
          </a:xfrm>
          <a:prstGeom prst="roundRect">
            <a:avLst>
              <a:gd name="adj" fmla="val 0"/>
            </a:avLst>
          </a:prstGeom>
          <a:solidFill>
            <a:srgbClr val="F9731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9276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后果：数据失效引发的业务连锁反应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3975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607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的“脏文件”仅包含一半有效数据，下游的分析师与BI系统未做校验直接使用。基于此发布的行业指数报告出现严重偏差，被核心客户引用后造成了错误的市场判断，不仅引发了客户投诉，更让公司在行业内的专业声誉受到了难以挽回的负面影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4826000"/>
            <a:ext cx="3467100" cy="16510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4826000"/>
            <a:ext cx="50800" cy="1651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191500" y="4927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核心反思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91500" y="5397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作为开发者，如何在追求效率的同时，通过技术规范与防御性编程手段，避免此类“脚本式”事故在生产环境中重演？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范式转移：从Ad-hoc到DataOps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90600" y="1841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开发心态 · 临时应付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21844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秉持“能跑就行”的态度，仅快速解决眼前问题，缺乏对系统的长远设计与考量。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94100" y="1841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测试环节 · 人工裸奔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94100" y="21844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几乎没有自动化测试，完全依赖人工肉眼检查，数据质量难以得到根本保障。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30734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90600" y="31369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错误处理 · 被动救火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90600" y="34798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奉行“崩了再说”，无监控无告警。问题发生后才被动补救，响应严重滞后。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92500" y="30734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594100" y="31369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协作方式 · 信息孤岛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94100" y="34798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代码散落个人电脑，无版本管理，流程不透明，问题追溯与交接成本极高。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1778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51600" y="1841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开发心态 · 工程思维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51600" y="21844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坚持“确保正确”，以软件工程标准开发，追求系统的稳定性、可靠性与可维护性。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1778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055100" y="1841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测试环节 · 质量门禁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55100" y="21844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自动化测试是核心标配，数据产出前自动执行校验，从源头拦截异常数据。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30734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51600" y="31369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错误处理 · 主动防御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51600" y="34798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建立全链路监控体系，实时异常告警，变被动响应为主动发现，降低业务风险。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53500" y="30734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055100" y="31369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协作方式 · 标准透明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055100" y="34798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代码Git集中管理，流程标准化SOP，全链路可追溯，大幅提升团队协作效率。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4699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9731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52500" y="48514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Ad-hoc 模式的致命痛点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52500" y="52705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1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“我的脚本在我电脑上是好的！” —— 这种依赖本地环境的“黑盒操作”，导致脚本不可移植、结果不可复现，成为阻碍数据业务敏捷迭代的最大障碍。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368748">
            <a:off x="5397500" y="5581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350000" y="48514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DataOps 的核心宣言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50000" y="52705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1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数据管道本身就是一种软件！必须遵循软件工程的最佳实践，通过版本控制、自动化流水线和持续集成，让数据资产像软件产品一样高质量、高效率地交付。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核心洞察：数据管道的SDLC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25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数据管道并非一次性脚本，而是持续运行、不断演化的关键业务系统。它的构建和维护必须遵循严谨的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软件开发生命周期 (SDLC)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，通过标准化的流程保障数据流转的质量、稳定性与可迭代性。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768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 (Planning)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175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明确业务方的数据需求与核心目标，制定项目范围、资源预算与实施路线图，从源头对齐预期，为后续开发打下坚实基础。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667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66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08500" y="2768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 (Design)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3175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定义数据管道的系统架构、数据流转模型与上下游接口规范，设计具备高可用性、可扩展性的技术方案，平衡性能与成本。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667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266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2768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 (Development)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175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基于设计方案编写核心业务代码，实现数据的抽取、清洗、转换与加载（ETL/ELT）逻辑，并完成组件集成与功能实现。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318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4419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 (Testing)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" y="4826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执行单元测试、集成测试与压力测试，验证数据处理逻辑的正确性，确保系统在高并发下的稳定性，规避生产环境的数据风险。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4318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381500" y="431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508500" y="4419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 (Deployment)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08500" y="4826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将经过验证的管道部署至生产环境，完成服务器配置、资源调度与自动化发布，使数据能力正式上线并服务于业务应用。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4318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0" y="431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128000" y="4419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 (Operations)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4826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持续监控管道运行状态，快速响应并处理异常故障，根据业务反馈进行迭代优化，保障数据服务的长期可用性与时效性。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969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16000" y="6032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DataOps 核心：将成熟的 SDLC 工程化思想与自动化工具系统性引入数据领域，实现从数据生产到消费的全生命周期高效管理。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DataOps 核心流程概览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574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0574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180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603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048000"/>
            <a:ext cx="18034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Design Phase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556000"/>
            <a:ext cx="18034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3683000"/>
            <a:ext cx="180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定义数据契约与接口规范，明确上下游的数据标准，为后续的研发工作建立统一的协作基准，减少沟通成本。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59100" y="1651000"/>
            <a:ext cx="20574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959100" y="1651000"/>
            <a:ext cx="20574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086100" y="1841500"/>
            <a:ext cx="180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86100" y="2603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86100" y="3048000"/>
            <a:ext cx="18034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Development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86100" y="3556000"/>
            <a:ext cx="18034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086100" y="3683000"/>
            <a:ext cx="180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基于契约进行模块化开发，通过版本控制管理代码变更，强调组件的复用性，提升数据应用的开发迭代速度。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156200" y="1651000"/>
            <a:ext cx="20574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156200" y="1651000"/>
            <a:ext cx="20574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283200" y="1841500"/>
            <a:ext cx="180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83200" y="2603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构建与测试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83200" y="3048000"/>
            <a:ext cx="18034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 &amp; Test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283200" y="3556000"/>
            <a:ext cx="18034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283200" y="3683000"/>
            <a:ext cx="180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实施自动化构建流水线，集成自动化测试与质量门禁。确保代码在合并前通过严格的质量检测，降低缺陷流入生产的风险。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53300" y="1651000"/>
            <a:ext cx="20574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353300" y="1651000"/>
            <a:ext cx="20574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480300" y="1841500"/>
            <a:ext cx="180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80300" y="2603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80300" y="3048000"/>
            <a:ext cx="18034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Deployment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480300" y="3556000"/>
            <a:ext cx="18034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480300" y="3683000"/>
            <a:ext cx="180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采用环境隔离策略，执行自动化部署流程。支持灰度发布与回滚机制，保障数据服务在不同环境间平滑、安全地交付。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550400" y="1651000"/>
            <a:ext cx="20574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9731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550400" y="1651000"/>
            <a:ext cx="20574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677400" y="1841500"/>
            <a:ext cx="1803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677400" y="2603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运维与监控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677400" y="3048000"/>
            <a:ext cx="18034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Operations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677400" y="3556000"/>
            <a:ext cx="18034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677400" y="3683000"/>
            <a:ext cx="1803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建立全链路的日志收集与实时监控体系。通过智能告警及时响应异常，持续优化数据管道的性能与稳定性。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5270500"/>
            <a:ext cx="10845800" cy="1206500"/>
          </a:xfrm>
          <a:prstGeom prst="roundRect">
            <a:avLst>
              <a:gd name="adj" fmla="val 0"/>
            </a:avLst>
          </a:prstGeom>
          <a:solidFill>
            <a:srgbClr val="FFF7ED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762000" y="5270500"/>
            <a:ext cx="508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1016000" y="5397500"/>
            <a:ext cx="1028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五个阶段形成一个闭环的自动化工作流，从需求定义到持续监控，贯穿数据产品的全生命周期。通过标准化的契约、自动化的流水线和持续的反馈机制，有效打破数据孤岛，提升数据研发的效率与交付质量，让数据资产能够更敏捷地响应业务变化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阶段一：设计 (Design) - 定义数据契约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在动手写代码前，我们需要明确“做什么”和“标准是什么”。这一阶段的核心任务是定义数据接口契约（Data Contract），为后续开发、测试与数据流转建立统一的执行标准，从源头减少沟通成本与潜在错误。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92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98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输入契约 Input Contract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明确数据的源头与格式规范。精准指向数据源的物理位置（如API地址、表名），并严格定义每个字段的名称、数据类型及合法取值范围。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5085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635500"/>
            <a:ext cx="285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 定义示例：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79500" y="5016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{"user_id": "string (非空)",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"order_amount": "float (≥ 0)"}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2794000"/>
            <a:ext cx="3492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70400" y="279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60900" y="298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输出契约 Output Contract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355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规范数据的交付形态与业务规则。约定文件的存储路径、命名范式，统一技术标准（如UTF-8编码、逗号分隔），并设定数据必须满足的业务逻辑。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60900" y="45085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87900" y="4635500"/>
            <a:ext cx="285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交付合规红线：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87900" y="5016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314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所有产出数据必须通过业务规则引擎的校验，且文件生成后需立即写入指定的归档目录。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2794000"/>
            <a:ext cx="3492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91500" y="279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82000" y="298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服务等级协议 SLA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355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建立硬性执行标准，保障数据流转的稳定性。设定明确的时间窗口与可用性指标，是衡量数据服务质量的核心依据。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4508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509000" y="45466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时效性：</a:t>
            </a:r>
            <a:r>
              <a:rPr lang="en-US" sz="1200" b="0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每日凌晨 2:00 前完成全量同步，超时即告警。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53340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1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509000" y="53721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可用性：</a:t>
            </a: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系统全年可用率 ≥ 99.9%，SLA违约需响应补偿。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阶段二：开发 - 版本与复用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52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版本控制 (Version Control)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387600"/>
            <a:ext cx="2222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核心工具：Git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统一管理所有代码资产，作为版本管理与协作的底层基石。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3495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2387600"/>
            <a:ext cx="2222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协作范式：分支+PR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单功能独立分支开发，合并前执行严格的代码审查机制。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4826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17600" y="3467100"/>
            <a:ext cx="4635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实现代码历史全链路可追溯，有效规避多人并行开发的冲突风险。同时支持线上问题版本的快速回滚，在保障开发敏捷性的同时，为项目稳定性提供可靠的安全保障。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76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752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模块化与复用 (Modularization &amp; Reusability)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3495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2387600"/>
            <a:ext cx="2222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设计原则：逻辑抽象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提取共性业务逻辑，封装为独立、高内聚的函数或通用模块。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953500" y="2349500"/>
            <a:ext cx="2349500" cy="952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17000" y="2387600"/>
            <a:ext cx="2222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落地示例：通用组件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如封装数据库连接模块，统一配置与异常处理逻辑。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3429000"/>
            <a:ext cx="4826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78600" y="3467100"/>
            <a:ext cx="4635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大幅削减重复代码冗余，显著降低系统维护成本。通过模块复用加速新功能开发迭代，让团队精力聚焦于核心业务创新，而非重复造轮子，从根本上提升研发效能。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35500"/>
            <a:ext cx="107315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8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635500"/>
            <a:ext cx="76200" cy="1841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4762500"/>
            <a:ext cx="165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68748">
            <a:off x="2159000" y="5518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048000" y="4800600"/>
            <a:ext cx="812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高质量、可维护、可协作的代码。在这一阶段，我们不仅要通过标准化的版本控制流程确保开发过程的稳健，更要通过模块化设计将复杂系统解耦，让每一段代码都具备高复用性。这不仅是技术规范的落地，更是为后续的测试、部署和长期迭代打下坚实的工程基础，从而在保证代码质量的同时，显著提升团队的整体研发效能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阶段三：构建与测试 - 质量门禁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526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在代码进入生产环境前，通过自动化测试体系严格确保其质量与稳定性，这是 DataOps 流程中的核心防线。我们需要建立不可逾越的质量门禁，在问题流入生产环境前将其拦截，从根源上降低故障风险，保障数据服务的高可用交付。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63500" cy="2222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 Unit Testing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聚焦代码中最小的功能单元（如函数、方法）进行独立验证。作为测试金字塔的基座，它执行成本低、反馈速度快，能第一时间捕获底层逻辑错误，确保基础组件的功能绝对正确。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3048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3048000"/>
            <a:ext cx="63500" cy="2222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3175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集成测试 Integration Testing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810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验证多个独立模块或服务协同工作时的交互逻辑。重点检查系统间的接口对接、数据流转与业务流程是否符合预期，及时发现模块集成过程中可能出现的兼容性问题与协作漏洞。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3048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3048000"/>
            <a:ext cx="63500" cy="2222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91500" y="3175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回归测试 Regression Testing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3810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在代码迭代更新后，重新执行存量测试用例。这是持续交付的关键安全网，确保新功能的引入或问题修复没有破坏原有业务功能，有效规避“修复一个问题，引发更多问题”的连锁风险。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537200"/>
            <a:ext cx="10160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通过分层的自动化测试策略，我们不仅能将测试效率提升数倍，更能大幅降低人工测试的疏漏风险。这种“左移”的质量保障模式，让高质量的代码变更以更快的速度、更低的成本安全交付给业务端，真正实现 DataOps 的敏捷与稳健。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阶段四：部署 (Deployment) - 环境隔离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922000" cy="1016000"/>
          </a:xfrm>
          <a:prstGeom prst="roundRect">
            <a:avLst>
              <a:gd name="adj" fmla="val 0"/>
            </a:avLst>
          </a:prstGeom>
          <a:solidFill>
            <a:srgbClr val="FFF7ED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00200"/>
            <a:ext cx="10414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安全、可靠地将代码发布到生产环境。通过建立严格的环境隔离机制与自动化的CI/CD工作流，在保障系统稳定性的同时，实现高效、可追溯的软件交付。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946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 (Development)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29000"/>
            <a:ext cx="323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开发者的个人独立工作空间，用于日常编码、功能开发与本地调试。环境配置灵活，数据与线上环境完全隔离，允许自由进行各类技术尝试与错误修正。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2794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08500" y="279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2946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 (Staging)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429000"/>
            <a:ext cx="323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高度模拟生产环境的配置与数据规模，是上线前的最后一道关卡。在此环境中进行集成测试、压力测试与业务验收，最大程度还原真实运行场景，提前发现潜在风险。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794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0" y="279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445500" y="2946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生产环境 (Production)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445500" y="3429000"/>
            <a:ext cx="323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面向最终用户的核心业务运行环境，直接处理真实数据与交易请求。对稳定性、安全性和性能有着极高要求，任何变更都需经过严格审批与灰度验证。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50800" cy="1587500"/>
          </a:xfrm>
          <a:prstGeom prst="roundRect">
            <a:avLst>
              <a:gd name="adj" fmla="val 0"/>
            </a:avLst>
          </a:prstGeom>
          <a:solidFill>
            <a:srgbClr val="3B82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508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 持续集成：代码质量的“守门员”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5588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开发者提交代码后，系统自动触发构建、编译与单元测试流程。通过高频的集成验证，快速发现代码冲突与逻辑错误，防止低级Bug流入下游环节，始终保持主干代码的可交付状态。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72498">
            <a:off x="5492750" y="5740425"/>
            <a:ext cx="158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4953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49530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67500" y="508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CD 持续部署：价值交付的“加速器”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67500" y="5588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测试通过后，流水线自动将版本包分发并部署到目标环境。无论是交付到测试环境供验收，还是直接发布到生产环境，自动化流程大幅缩短了从代码完成到业务上线的周期，提升响应速度。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阶段五：运维与监控 - 日志与告警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建立全方位的生产环境保障体系，确保数据管道 7*24 小时稳定运行。通过全链路的信息记录与实时异常感知，将问题发现窗口前置，实现从被动救火到主动治理的转变，为业务决策提供持续可靠的数据支持。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52705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0226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日志记录 (Logging)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对数据任务进行全生命周期留痕，详细记录任务的启动/结束时间、数据吞吐规模、节点执行耗时及错误堆栈信息。形成可追溯的执行档案，是定位数据问题的第一现场。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381500"/>
            <a:ext cx="4889500" cy="5334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406900"/>
            <a:ext cx="4635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提供详实的故障线索，大幅缩短问题排查与恢复时间。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92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2921000"/>
            <a:ext cx="52705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30226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监控与告警 (Monitoring &amp; Alerting)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5560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实时采集任务成功率、流量波动及SLA指标，设定动态阈值。一旦触发异常（如执行失败、超时或数据量骤变），立即通过多渠道触达负责人，形成闭环响应机制。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4381500"/>
            <a:ext cx="4889500" cy="5334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40500" y="4406900"/>
            <a:ext cx="4635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变被动响应为主动发现，保障数据服务的高可用性。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70500"/>
            <a:ext cx="1073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270500"/>
            <a:ext cx="50800" cy="11430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3594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据管道的最后一公里，日志是“事后诸葛亮”的复盘依据，而监控是“未卜先知”的安全防线。两者结合构成了数据平台的免疫系统，让我们在面对复杂多变的生产环境时，既能快速止血，又能防患于未然，最终实现数据资产的持续增值与稳定交付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深度解析：如何设计有效的测试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案例演示：信用卡还款提醒机器人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 1：边界条件测试（闰年与特殊月份）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11500"/>
            <a:ext cx="4699000" cy="952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31750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测试输入：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用户账单日设定为 "2026-02-01"（2月平年场景）。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06500" y="42545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预期输出：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系统自动计算并返回下次提醒日期为 "2026-03-01"，无日期计算错误。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70500"/>
            <a:ext cx="4699000" cy="571500"/>
          </a:xfrm>
          <a:prstGeom prst="roundRect">
            <a:avLst>
              <a:gd name="adj" fmla="val 0"/>
            </a:avLst>
          </a:prstGeom>
          <a:solidFill>
            <a:srgbClr val="E5E7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06500" y="5308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目的：验证核心日期引擎对28/29天月份及闰年的容错处理逻辑。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8910">
            <a:off x="4191000" y="4248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2286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2286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2476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 2：非法输入测试（异常防护）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3111500"/>
            <a:ext cx="4699000" cy="952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94500" y="31750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测试输入：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用户录入账单金额为 "-100"（负数金额，属于业务逻辑不合法值）。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191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94500" y="42545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预期输出：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程序抛出 `InvalidAmountError` 异常，前端显示友好提示，系统不崩溃。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5270500"/>
            <a:ext cx="4699000" cy="571500"/>
          </a:xfrm>
          <a:prstGeom prst="roundRect">
            <a:avLst>
              <a:gd name="adj" fmla="val 0"/>
            </a:avLst>
          </a:prstGeom>
          <a:solidFill>
            <a:srgbClr val="E5E7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94500" y="5308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目的：确保系统具备健壮性，对恶意或错误输入能优雅降级而非宕机。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深度解析：集成与回归测试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9731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集成测试设计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模拟完整的提醒业务流程，从底层数据获取到上层文本生成，通过串联核心功能模块，验证系统各组件在协同工作时的数据流转与逻辑执行是否准确无误。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29000"/>
            <a:ext cx="1587500" cy="1460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模拟数据输入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构造账单JSON数据，包含金额与具体还款日参数。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67000" y="3429000"/>
            <a:ext cx="1587500" cy="1460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730500" y="34925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730500" y="38735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执行生成逻辑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730500" y="42545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调用核心函数，传入参数处理业务规则。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81500" y="3429000"/>
            <a:ext cx="1587500" cy="1460500"/>
          </a:xfrm>
          <a:prstGeom prst="roundRect">
            <a:avLst>
              <a:gd name="adj" fmla="val 0"/>
            </a:avLst>
          </a:prstGeom>
          <a:solidFill>
            <a:srgbClr val="F9731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0" y="34925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38735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输出一致性检查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4254500"/>
            <a:ext cx="146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验证最终文本与预期还款提醒模板匹配。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080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79500" y="5143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确保独立开发的模块组合后无接口错误，形成可靠的业务执行闭环，减少系统集成阶段的风险。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89889">
            <a:off x="39370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9731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回归测试设计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2413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针对历史已修复的“月底31天账单未提醒”缺陷，建立长效验证机制。在每次代码更新后执行特定用例，防止旧问题因新代码修改而意外复发。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13500" y="3429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540500" y="349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专项边界测试用例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3937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输入账单日为2026-03-31，执行系统检查。核心验证点在于：系统能否正确识别3月的最后一天，并跨越月份生成4月的还款提醒，确保月末临界场景的业务连续性。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13500" y="5080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540500" y="5143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防护价值：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固化修复成果，在敏捷迭代中构建质量防线，保障核心业务逻辑的稳定性，提升用户体验与产品交付信心。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深度解析：数据测试的特殊性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256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除了传统的代码逻辑测试，数据工程还需要关注数据本身的质量。在数据流转的每一个环节，针对性的质量校验规则是保障下游业务决策准确性的关键防线。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行数校验 (Row Count Check)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147">
            <a:off x="952513" y="3613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746500"/>
            <a:ext cx="3086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核心规则：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今天的订单数不应比昨天的平均值突增10倍或骤降至0，通过阈值监控数据量级的合理性。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8895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991100"/>
            <a:ext cx="2832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校验目的：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快速发现数据采集失败、管道堵塞或处理逻辑错误导致的重大数据量级异常。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94200" y="2794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942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84700" y="29845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字段非空校验 (Null Check)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147">
            <a:off x="4584713" y="3613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84700" y="3746500"/>
            <a:ext cx="3086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核心规则：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主键ID、交易金额、用户ID等核心业务关键字段绝不能为空值（NULL），是数据的基础约束。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84700" y="48895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11700" y="4991100"/>
            <a:ext cx="2832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校验目的：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从源头保证数据的实体完整性，避免因关键信息缺失导致下游业务系统崩溃或统计结果失真。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39100" y="2794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39100" y="279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29600" y="29845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数据分布校验 (Distribution Check)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147">
            <a:off x="8229613" y="3613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29600" y="3746500"/>
            <a:ext cx="3086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核心规则：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特定业务维度的数值分布（如商品类别销售占比、用户活跃度）应大致符合历史规律或预期范围。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29600" y="48895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56600" y="4991100"/>
            <a:ext cx="2832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校验目的：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发现逻辑计算错误、数据倾斜或异常业务行为，确保数据在统计特征上的合理性与真实性。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课堂研讨一：复盘反思与痛点共鸣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讨论题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请分享一次你因为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“没有提前检查”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而导致的尴尬或错误经历。这不限于代码编写，也可以是提交作业、发送重要邮件、准备关键报告等日常工作与学习中的场景。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651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085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841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深度思考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41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如果时光可以倒流，回到那个任务执行的过程中，你会选择在哪个关键环节主动增加一个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“检查点”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或者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“测试步骤”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？这一步的介入又会如何改变最终的结果？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0" y="1651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55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45500" y="1841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研讨目的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45500" y="241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通过真实的失败案例与逆向推演，帮助大家切身体会并建立起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“测试”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“校验”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的核心意识，深刻理解这一行为在规避风险、保证质量和提升工作成果中的重要价值。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11049000" cy="1206500"/>
          </a:xfrm>
          <a:prstGeom prst="roundRect">
            <a:avLst>
              <a:gd name="adj" fmla="val 0"/>
            </a:avLst>
          </a:prstGeom>
          <a:solidFill>
            <a:srgbClr val="1F293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334000"/>
            <a:ext cx="1054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现在，请大家花 5 分钟时间，在小组内进行分享与讨论。我们不仅关注错误本身，更关注从错误中提炼出的“防御性”工作方法，让每一次失误都成为我们建立严谨工作流的基石。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课堂研讨二：沙盘推演与测试设计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核心任务：开发“自动统计班级考勤”脚本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在编写具体代码逻辑之前，请先跳出技术实现细节，从业务视角完成关键的规则确认与测试方案设计。这是确保代码“做对的事情”并“把事情做对”的前置关键步骤。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92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048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设计阶段：确立业务规则与契约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556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动手编码前，你需要向老师确认哪三个关键的“业务规则”或“数据契约”？明确的规则是代码逻辑正确的基石，避免因理解偏差导致返工。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445000"/>
            <a:ext cx="4826000" cy="698500"/>
          </a:xfrm>
          <a:prstGeom prst="roundRect">
            <a:avLst>
              <a:gd name="adj" fmla="val 0"/>
            </a:avLst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508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思考示例：</a:t>
            </a:r>
            <a:r>
              <a:rPr lang="en-US" sz="1200" b="0" i="0" u="none" strike="noStrike">
                <a:solidFill>
                  <a:srgbClr val="64320A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如何定义“迟到”？是上课后5分钟内算迟到，还是只要晚于铃响时间即判定？不同的定义会直接决定代码的判断逻辑。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1417">
            <a:off x="4984750" y="4089417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2921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292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3048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测试阶段：设计最小可行性用例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3556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请为此脚本设计两个最简单的“测试用例”。用例是验证程序是否按预期工作的标尺，应覆盖核心正常场景与基础异常场景。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445000"/>
            <a:ext cx="4826000" cy="698500"/>
          </a:xfrm>
          <a:prstGeom prst="roundRect">
            <a:avLst>
              <a:gd name="adj" fmla="val 0"/>
            </a:avLst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67500" y="4508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用例示例：</a:t>
            </a:r>
            <a:r>
              <a:rPr lang="en-US" sz="1200" b="0" i="0" u="none" strike="noStrike">
                <a:solidFill>
                  <a:srgbClr val="64320A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输入全勤名单，检查结果是否为100%；或输入含1人请假、1人迟到的名单，验证各项统计指标是否准确无误。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1079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562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5626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关键洞察：DataOps 思维的前置应用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397000" y="5905500"/>
            <a:ext cx="990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代码的准确性源于清晰的规则定义，而测试用例则是验证规则执行的“试金石”。将业务契约与验证思维前置到编码之前，能有效减少后期因需求理解偏差或逻辑错误带来的调试与维护成本，是高效开发的关键。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打破迷思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数据工程并非简单的脚本编写与数据抓取，其核心是构建稳定、可复用且能解决实际业务问题的可靠数据产品，这是对传统认知的重要革新。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18415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SDLC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349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数据管道的建设必须脱离“作坊式”开发，严格遵循标准化的软件开发生命周期（SDLC），从需求、设计、开发到运维全流程规范化，保障工程质量。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18500" y="18415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拥抱 DataOps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349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这是一套融合文化、工程实践与技术工具的方法论。通过打破部门壁垒，实现自动化协作，从而显著提升数据价值交付的速度与质量，适应敏捷业务需求。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00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005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191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质量是生命线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69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数据的可信度是业务决策的基础。建立严格的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质量门禁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，特别是引入自动化测试，能够在数据产出的每一个环节拦截错误，防止“垃圾进，垃圾出”，这是构建信任的关键防线。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000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0005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迈向专业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69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规范化的流程是能力的基石。只有将数据工程的各个环节标准化、体系化，我们才能从容应对日益复杂的业务场景与海量数据挑战，真正成长为能够交付确定性价值的专业数据工程师。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场景设计题：双十一 GMV 数据质量校验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某数据分析师编写了一段 SQL 代码用于计算双十一成交总额（GMV）。由于 SQL 编写过程中可能存在关联逻辑错误（导致数据多算）或过滤条件缺失（导致数据漏算），为确保业务决策的准确性，请基于业务逻辑为最终计算结果设计两条具有针对性的 **“质量校验规则”**。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7ED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示例一：绝对值校验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核心逻辑：GMV 作为成交金额，其数值本身不应出现负数。若结果为负，说明计算逻辑中存在加减符号错误或数据异常。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342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7ED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3429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3556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示例二：合理性校验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40640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核心逻辑：整体的成交总额必然大于等于单日中任何一笔最大的订单金额。若小于最大值，则说明数据聚合时发生了遗漏。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97316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2324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你的任务：</a:t>
            </a:r>
            <a:r>
              <a:rPr lang="en-US" sz="1400" b="0" i="0" u="none" strike="noStrike">
                <a:solidFill>
                  <a:srgbClr val="FFF7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请跳出上述示例的思路，从不同的业务维度（如环比趋势、总量结构、业务常识等）出发，为双十一 GMV 计算结果设计另外两条独立的、可执行的数据质量校验规则。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7947</Words>
  <Application>WPS 演示</Application>
  <PresentationFormat/>
  <Paragraphs>435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2026-06-01T02:07:44Z</dcterms:created>
  <dcterms:modified xsi:type="dcterms:W3CDTF">2026-06-01T02:07:44Z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{"Label":"1","ContentProducer":"001191110102MACQD9K64010000","ProduceID":"7645685878799191255","ReservedCode1":"","ContentPropagator":"","PropagateID":"","ReservedCode2":""}</vt:lpwstr>
  </property>
  <property fmtid="{D5CDD505-2E9C-101B-9397-08002B2CF9AE}" pid="3" name="ICV">
    <vt:lpwstr>20DC9FDF22504C468669634E8082CAE0_12</vt:lpwstr>
  </property>
  <property fmtid="{D5CDD505-2E9C-101B-9397-08002B2CF9AE}" pid="4" name="KSOProductBuildVer">
    <vt:lpwstr>2052-12.1.0.20784</vt:lpwstr>
  </property>
</Properties>
</file>