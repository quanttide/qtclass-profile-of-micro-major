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欢迎来到数据工程第一讲。在数据科学系列课程中，我们学习了如何分析和挖掘数据。今天，我们将进入一个全新的领域——数据工程。我们将探讨如何告别繁琐的手工劳动，拥抱系统化、工程化的思维，从根源上解决数据处理的效率和质量问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本次课程将分为五个部分。我们将从一个真实的“数据噩梦”案例开始，剖析手工处理的痛点，然后正式引入数据工程的概念，并探讨其价值。最后通过课堂研讨，将理论知识应用到实践中。</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学完本讲，你不仅将掌握数据工程的核心概念，更重要的是，你将学会如何分析和优化数据处理流程，并初步建立起从“手动”到“系统化”的思维范式转换。这不仅是知识的学习，更是能力和素养的提升。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让我们从一个真实的案例开始。想象一个顶尖的经济学研究团队，他们需要采集海量的商品价格数据。项目初期，他们采用了最直接的方式——手动复制粘贴。这听起来很简单，但实际操作中却充满了挑战，不仅效率低下，还容易出错，让整个团队陷入了巨大的成本消耗中。</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第一个困境就是耗时巨大。想象一下，一个助理每天80%的时间都在重复着复制粘贴的工作。对于需要每日更新的项目来说，这几乎是一个不可能完成的任务，时间被大量浪费在这些低价值的重复性劳动上。</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第二个困境是系统的脆弱性。人员的变动会导致经验流失，而任何一个微小的手动失误，都可能污染整个数据集，导致错误的结论。这种模式非常脆弱，充满了风险。</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这种困境其实非常普遍。回想一下，我们自己做数据分析时，是不是也常常陷入这样的循环：收集数据、清洗数据、预处理数据，真正用于分析的时间少之又少。</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行业共识是，高达80%的时间都花在了这些“非增值性劳动”上。这些工作脆弱、不可复用、效率低下，是数据工作者面临的最大痛点。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那么，如何破局？答案就是引入数据工程思维。数据工程的核心，就是应用软件工程的方法，将繁琐的手动步骤自动化、标准化、平台化，构建出稳定高效的数据管道。</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很多人会混淆数据工程师和数据分析师。简单来说，数据工程师是数据基础设施的建设者，负责铺路；而数据分析师是数据价值的挖掘者，负责开车。工程师为分析师提供高质量的数据，让他们能专注于分析。</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数据工程带来的是一种思维范式的转换。从解决眼前的一次性问题，到构建一个系统来解决一类可重复的问题。这种从“点”到“面”的思维升级，是成为一名优秀数据从业者的关键。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数据工程对个人的价值巨大。它能帮你告别重复劳动，提升效率，减少人为错误，提升专业度。更重要的是，它能让你从一个被动的“工具人”，转变为一个主动的“创造者”，从而提升你的职业竞争力。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对组织而言，数据工程是数字化转型的基石。它能帮助组织打破数据孤岛，获得全局的数据视图；同时，它能将宝贵的数据处理经验沉淀为可复用的数据资产，让组织的整体数据能力不断提升。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现在是课堂研讨时间。请大家分享一下自己的“数据噩梦”经历。回顾一下，哪些操作最让你头疼？这些操作是否可以被自动化？通过这个讨论，我们可以更深刻地体会到数据工程所要解决的问题。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个研讨题，让我们来设计一个自动化的班级成绩管理系统。为了实现自动化，我们需要和老师们约定好哪些“标准接口”？比如文件格式、字段名称、数据格式等。这个练习能让大家亲身体验数据工程中“标准化”和“接口设计”的核心思想。</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课程到这里就接近尾声了。我们回顾一下，今天我们剖析了手工处理的痛点，引入了数据工程的概念，理解了从手工到系统化的范式转变，并认识到了数据工程的普适价值。</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课后请大家完成两道作业题。一道辨析题，帮助大家巩固对数据工程范畴的理解。另一道思考题，鼓励大家发现身边可以被自动化的问题，并尝试用工程化的思维去思考解决方案。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9" Type="http://schemas.openxmlformats.org/officeDocument/2006/relationships/image" Target="../media/image10.svg"/><Relationship Id="rId8" Type="http://schemas.openxmlformats.org/officeDocument/2006/relationships/image" Target="../media/image9.png"/><Relationship Id="rId7" Type="http://schemas.openxmlformats.org/officeDocument/2006/relationships/image" Target="../media/image8.svg"/><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3" Type="http://schemas.openxmlformats.org/officeDocument/2006/relationships/image" Target="../media/image4.svg"/><Relationship Id="rId2" Type="http://schemas.openxmlformats.org/officeDocument/2006/relationships/image" Target="../media/image3.png"/><Relationship Id="rId13" Type="http://schemas.openxmlformats.org/officeDocument/2006/relationships/notesSlide" Target="../notesSlides/notesSlide14.xml"/><Relationship Id="rId12" Type="http://schemas.openxmlformats.org/officeDocument/2006/relationships/slideLayout" Target="../slideLayouts/slideLayout12.xml"/><Relationship Id="rId11" Type="http://schemas.openxmlformats.org/officeDocument/2006/relationships/image" Target="../media/image12.svg"/><Relationship Id="rId10" Type="http://schemas.openxmlformats.org/officeDocument/2006/relationships/image" Target="../media/image11.png"/><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gradFill rotWithShape="1">
            <a:gsLst>
              <a:gs pos="0">
                <a:srgbClr val="000000">
                  <a:alpha val="60000"/>
                </a:srgbClr>
              </a:gs>
              <a:gs pos="50000">
                <a:srgbClr val="000000">
                  <a:alpha val="40000"/>
                </a:srgbClr>
              </a:gs>
              <a:gs pos="100000">
                <a:srgbClr val="000000">
                  <a:alpha val="75000"/>
                </a:srgbClr>
              </a:gs>
            </a:gsLst>
            <a:lin ang="5400000"/>
          </a:gra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540000"/>
            <a:ext cx="12192000" cy="165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数据工程第一讲：</a:t>
            </a:r>
            <a:b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从手工处理到系统化思维</a:t>
            </a:r>
            <a:endParaRPr lang="en-US" sz="1100"/>
          </a:p>
        </p:txBody>
      </p:sp>
      <p:sp>
        <p:nvSpPr>
          <p:cNvPr id="4" name="AutoShape 4"/>
          <p:cNvSpPr/>
          <p:nvPr/>
        </p:nvSpPr>
        <p:spPr>
          <a:xfrm>
            <a:off x="0" y="4445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0"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告别重复劳动，拥抱工程化思维</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本讲内容概览</a:t>
            </a:r>
            <a:endParaRPr lang="en-US" sz="1100"/>
          </a:p>
        </p:txBody>
      </p:sp>
      <p:sp>
        <p:nvSpPr>
          <p:cNvPr id="4" name="AutoShape 4"/>
          <p:cNvSpPr/>
          <p:nvPr/>
        </p:nvSpPr>
        <p:spPr>
          <a:xfrm>
            <a:off x="762000" y="1651000"/>
            <a:ext cx="3467100" cy="22225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34671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41500"/>
            <a:ext cx="30861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我们为何在此？</a:t>
            </a:r>
            <a:endParaRPr lang="en-US" sz="1100"/>
          </a:p>
        </p:txBody>
      </p:sp>
      <p:sp>
        <p:nvSpPr>
          <p:cNvPr id="7" name="AutoShape 7"/>
          <p:cNvSpPr/>
          <p:nvPr/>
        </p:nvSpPr>
        <p:spPr>
          <a:xfrm>
            <a:off x="952500" y="2349500"/>
            <a:ext cx="30861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真实案例：一场“数据噩梦”</a:t>
            </a:r>
            <a:endParaRPr lang="en-US" sz="1100"/>
          </a:p>
        </p:txBody>
      </p:sp>
      <p:sp>
        <p:nvSpPr>
          <p:cNvPr id="8" name="AutoShape 8"/>
          <p:cNvSpPr/>
          <p:nvPr/>
        </p:nvSpPr>
        <p:spPr>
          <a:xfrm>
            <a:off x="952500" y="2857500"/>
            <a:ext cx="30861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从一个真实的业务场景切入，沉浸式感受在缺乏工程化方法时，手工处理海量数据所面临的效率低下、极易出错的现实困境。</a:t>
            </a:r>
            <a:endParaRPr lang="en-US" sz="1100"/>
          </a:p>
        </p:txBody>
      </p:sp>
      <p:sp>
        <p:nvSpPr>
          <p:cNvPr id="9" name="AutoShape 9"/>
          <p:cNvSpPr/>
          <p:nvPr/>
        </p:nvSpPr>
        <p:spPr>
          <a:xfrm>
            <a:off x="4394200" y="1651000"/>
            <a:ext cx="3467100" cy="22225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4394200" y="1651000"/>
            <a:ext cx="34671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4584700" y="1841500"/>
            <a:ext cx="30861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问题出在哪里？</a:t>
            </a:r>
            <a:endParaRPr lang="en-US" sz="1100"/>
          </a:p>
        </p:txBody>
      </p:sp>
      <p:sp>
        <p:nvSpPr>
          <p:cNvPr id="12" name="AutoShape 12"/>
          <p:cNvSpPr/>
          <p:nvPr/>
        </p:nvSpPr>
        <p:spPr>
          <a:xfrm>
            <a:off x="4584700" y="2349500"/>
            <a:ext cx="30861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痛点：非增值性劳动陷阱</a:t>
            </a:r>
            <a:endParaRPr lang="en-US" sz="1100"/>
          </a:p>
        </p:txBody>
      </p:sp>
      <p:sp>
        <p:nvSpPr>
          <p:cNvPr id="13" name="AutoShape 13"/>
          <p:cNvSpPr/>
          <p:nvPr/>
        </p:nvSpPr>
        <p:spPr>
          <a:xfrm>
            <a:off x="4584700" y="2857500"/>
            <a:ext cx="30861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深入剖析现有工作流，发现大量时间被消耗在数据搬运、格式转换等无价值环节。我们将重新定义效率瓶颈，看清技术工具的缺失点。</a:t>
            </a:r>
            <a:endParaRPr lang="en-US" sz="1100"/>
          </a:p>
        </p:txBody>
      </p:sp>
      <p:sp>
        <p:nvSpPr>
          <p:cNvPr id="14" name="AutoShape 14"/>
          <p:cNvSpPr/>
          <p:nvPr/>
        </p:nvSpPr>
        <p:spPr>
          <a:xfrm>
            <a:off x="8026400" y="1651000"/>
            <a:ext cx="3467100" cy="22225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8026400" y="1651000"/>
            <a:ext cx="34671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8216900" y="1841500"/>
            <a:ext cx="30861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出路在何方？</a:t>
            </a:r>
            <a:endParaRPr lang="en-US" sz="1100"/>
          </a:p>
        </p:txBody>
      </p:sp>
      <p:sp>
        <p:nvSpPr>
          <p:cNvPr id="17" name="AutoShape 17"/>
          <p:cNvSpPr/>
          <p:nvPr/>
        </p:nvSpPr>
        <p:spPr>
          <a:xfrm>
            <a:off x="8216900" y="2349500"/>
            <a:ext cx="30861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破局：数据工程核心范式</a:t>
            </a:r>
            <a:endParaRPr lang="en-US" sz="1100"/>
          </a:p>
        </p:txBody>
      </p:sp>
      <p:sp>
        <p:nvSpPr>
          <p:cNvPr id="18" name="AutoShape 18"/>
          <p:cNvSpPr/>
          <p:nvPr/>
        </p:nvSpPr>
        <p:spPr>
          <a:xfrm>
            <a:off x="8216900" y="2857500"/>
            <a:ext cx="30861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正式引入“数据工程”的科学概念，从根本上理解系统化、自动化处理数据的工程思想。这不仅是工具的升级，更是工作方式的本质跃迁。</a:t>
            </a:r>
            <a:endParaRPr lang="en-US" sz="1100"/>
          </a:p>
        </p:txBody>
      </p:sp>
      <p:sp>
        <p:nvSpPr>
          <p:cNvPr id="19" name="AutoShape 19"/>
          <p:cNvSpPr/>
          <p:nvPr/>
        </p:nvSpPr>
        <p:spPr>
          <a:xfrm>
            <a:off x="762000" y="4127500"/>
            <a:ext cx="5207000" cy="20955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762000" y="4127500"/>
            <a:ext cx="5207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952500" y="43180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它能带来什么？</a:t>
            </a:r>
            <a:endParaRPr lang="en-US" sz="1100"/>
          </a:p>
        </p:txBody>
      </p:sp>
      <p:sp>
        <p:nvSpPr>
          <p:cNvPr id="22" name="AutoShape 22"/>
          <p:cNvSpPr/>
          <p:nvPr/>
        </p:nvSpPr>
        <p:spPr>
          <a:xfrm>
            <a:off x="952500" y="4826000"/>
            <a:ext cx="4826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价值：个人成长与组织跃迁的双重红利</a:t>
            </a:r>
            <a:endParaRPr lang="en-US" sz="1100"/>
          </a:p>
        </p:txBody>
      </p:sp>
      <p:sp>
        <p:nvSpPr>
          <p:cNvPr id="23" name="AutoShape 23"/>
          <p:cNvSpPr/>
          <p:nvPr/>
        </p:nvSpPr>
        <p:spPr>
          <a:xfrm>
            <a:off x="952500" y="5334000"/>
            <a:ext cx="482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探讨数据工程如何释放个人核心创造力，让工作更具技术含金量；同时分析其在企业数字化转型中，如何通过提升数据流转效率，驱动业务的敏捷响应与科学决策。</a:t>
            </a:r>
            <a:endParaRPr lang="en-US" sz="1100"/>
          </a:p>
        </p:txBody>
      </p:sp>
      <p:sp>
        <p:nvSpPr>
          <p:cNvPr id="24" name="AutoShape 24"/>
          <p:cNvSpPr/>
          <p:nvPr/>
        </p:nvSpPr>
        <p:spPr>
          <a:xfrm>
            <a:off x="6223000" y="4127500"/>
            <a:ext cx="5207000" cy="20955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6223000" y="4127500"/>
            <a:ext cx="5207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6413500" y="43180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我们如何实践？</a:t>
            </a:r>
            <a:endParaRPr lang="en-US" sz="1100"/>
          </a:p>
        </p:txBody>
      </p:sp>
      <p:sp>
        <p:nvSpPr>
          <p:cNvPr id="27" name="AutoShape 27"/>
          <p:cNvSpPr/>
          <p:nvPr/>
        </p:nvSpPr>
        <p:spPr>
          <a:xfrm>
            <a:off x="6413500" y="4826000"/>
            <a:ext cx="4826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落地：从理论到实战的研讨工坊</a:t>
            </a:r>
            <a:endParaRPr lang="en-US" sz="1100"/>
          </a:p>
        </p:txBody>
      </p:sp>
      <p:sp>
        <p:nvSpPr>
          <p:cNvPr id="28" name="AutoShape 28"/>
          <p:cNvSpPr/>
          <p:nvPr/>
        </p:nvSpPr>
        <p:spPr>
          <a:xfrm>
            <a:off x="6413500" y="5334000"/>
            <a:ext cx="482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拒绝纸上谈兵，通过两个精选的互动议题，引导大家将所学的数据工程理论框架，快速映射到实际工作场景中。共同探讨解决方案，掌握可落地的工程化思维与方法。</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学完本讲，你将获得什么？</a:t>
            </a:r>
            <a:endParaRPr lang="en-US" sz="1100"/>
          </a:p>
        </p:txBody>
      </p:sp>
      <p:sp>
        <p:nvSpPr>
          <p:cNvPr id="4" name="AutoShape 4"/>
          <p:cNvSpPr/>
          <p:nvPr/>
        </p:nvSpPr>
        <p:spPr>
          <a:xfrm>
            <a:off x="762000" y="1651000"/>
            <a:ext cx="3556000" cy="4508500"/>
          </a:xfrm>
          <a:prstGeom prst="roundRect">
            <a:avLst>
              <a:gd name="adj" fmla="val 0"/>
            </a:avLst>
          </a:prstGeom>
          <a:solidFill>
            <a:srgbClr val="FFFFFF">
              <a:alpha val="94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3556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41500"/>
            <a:ext cx="317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知识目标 KNOWLEDGE</a:t>
            </a:r>
            <a:endParaRPr lang="en-US" sz="1100"/>
          </a:p>
        </p:txBody>
      </p:sp>
      <p:sp>
        <p:nvSpPr>
          <p:cNvPr id="7" name="AutoShape 7"/>
          <p:cNvSpPr/>
          <p:nvPr/>
        </p:nvSpPr>
        <p:spPr>
          <a:xfrm>
            <a:off x="952500" y="2540000"/>
            <a:ext cx="3175000" cy="1206500"/>
          </a:xfrm>
          <a:prstGeom prst="roundRect">
            <a:avLst>
              <a:gd name="adj" fmla="val 0"/>
            </a:avLst>
          </a:prstGeom>
          <a:solidFill>
            <a:srgbClr val="F97316">
              <a:alpha val="8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079500" y="2603500"/>
            <a:ext cx="292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精准识别问题</a:t>
            </a:r>
            <a:endParaRPr lang="en-US" sz="1100"/>
          </a:p>
        </p:txBody>
      </p:sp>
      <p:sp>
        <p:nvSpPr>
          <p:cNvPr id="9" name="AutoShape 9"/>
          <p:cNvSpPr/>
          <p:nvPr/>
        </p:nvSpPr>
        <p:spPr>
          <a:xfrm>
            <a:off x="1079500" y="2984500"/>
            <a:ext cx="2921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能够敏锐捕捉日常数据处理中效率低下的环节，快速定位重复性劳动场景，并前瞻性发现潜在的人为操作失误风险。</a:t>
            </a:r>
            <a:endParaRPr lang="en-US" sz="1100"/>
          </a:p>
        </p:txBody>
      </p:sp>
      <p:sp>
        <p:nvSpPr>
          <p:cNvPr id="10" name="AutoShape 10"/>
          <p:cNvSpPr/>
          <p:nvPr/>
        </p:nvSpPr>
        <p:spPr>
          <a:xfrm>
            <a:off x="952500" y="3810000"/>
            <a:ext cx="3175000" cy="1206500"/>
          </a:xfrm>
          <a:prstGeom prst="roundRect">
            <a:avLst>
              <a:gd name="adj" fmla="val 0"/>
            </a:avLst>
          </a:prstGeom>
          <a:solidFill>
            <a:srgbClr val="F97316">
              <a:alpha val="8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79500" y="3873500"/>
            <a:ext cx="292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清晰定义核心概念</a:t>
            </a:r>
            <a:endParaRPr lang="en-US" sz="1100"/>
          </a:p>
        </p:txBody>
      </p:sp>
      <p:sp>
        <p:nvSpPr>
          <p:cNvPr id="12" name="AutoShape 12"/>
          <p:cNvSpPr/>
          <p:nvPr/>
        </p:nvSpPr>
        <p:spPr>
          <a:xfrm>
            <a:off x="1079500" y="4254500"/>
            <a:ext cx="2921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准确界定数据工程的本质内涵，厘清其与数据分析、数据科学的区别与内在联系，建立起正确的专业知识框架。</a:t>
            </a:r>
            <a:endParaRPr lang="en-US" sz="1100"/>
          </a:p>
        </p:txBody>
      </p:sp>
      <p:sp>
        <p:nvSpPr>
          <p:cNvPr id="13" name="AutoShape 13"/>
          <p:cNvSpPr/>
          <p:nvPr/>
        </p:nvSpPr>
        <p:spPr>
          <a:xfrm>
            <a:off x="952500" y="5080000"/>
            <a:ext cx="3175000" cy="1016000"/>
          </a:xfrm>
          <a:prstGeom prst="roundRect">
            <a:avLst>
              <a:gd name="adj" fmla="val 0"/>
            </a:avLst>
          </a:prstGeom>
          <a:solidFill>
            <a:srgbClr val="F97316">
              <a:alpha val="8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1079500" y="5143500"/>
            <a:ext cx="292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理解工程化价值</a:t>
            </a:r>
            <a:endParaRPr lang="en-US" sz="1100"/>
          </a:p>
        </p:txBody>
      </p:sp>
      <p:sp>
        <p:nvSpPr>
          <p:cNvPr id="15" name="AutoShape 15"/>
          <p:cNvSpPr/>
          <p:nvPr/>
        </p:nvSpPr>
        <p:spPr>
          <a:xfrm>
            <a:off x="1079500" y="5524500"/>
            <a:ext cx="2921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认识到数据工程思维对业务提效与数字化转型的普适意义。</a:t>
            </a:r>
            <a:endParaRPr lang="en-US" sz="1100"/>
          </a:p>
        </p:txBody>
      </p:sp>
      <p:sp>
        <p:nvSpPr>
          <p:cNvPr id="16" name="AutoShape 16"/>
          <p:cNvSpPr/>
          <p:nvPr/>
        </p:nvSpPr>
        <p:spPr>
          <a:xfrm>
            <a:off x="4508500" y="1651000"/>
            <a:ext cx="3556000" cy="4508500"/>
          </a:xfrm>
          <a:prstGeom prst="roundRect">
            <a:avLst>
              <a:gd name="adj" fmla="val 0"/>
            </a:avLst>
          </a:prstGeom>
          <a:solidFill>
            <a:srgbClr val="FFFFFF">
              <a:alpha val="94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4508500" y="1651000"/>
            <a:ext cx="3556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4699000" y="1841500"/>
            <a:ext cx="317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能力目标 SKILLS</a:t>
            </a:r>
            <a:endParaRPr lang="en-US" sz="1100"/>
          </a:p>
        </p:txBody>
      </p:sp>
      <p:sp>
        <p:nvSpPr>
          <p:cNvPr id="19" name="AutoShape 19"/>
          <p:cNvSpPr/>
          <p:nvPr/>
        </p:nvSpPr>
        <p:spPr>
          <a:xfrm>
            <a:off x="4699000" y="2540000"/>
            <a:ext cx="3175000" cy="1778000"/>
          </a:xfrm>
          <a:prstGeom prst="roundRect">
            <a:avLst>
              <a:gd name="adj" fmla="val 0"/>
            </a:avLst>
          </a:prstGeom>
          <a:solidFill>
            <a:srgbClr val="F97316">
              <a:alpha val="8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4826000" y="2603500"/>
            <a:ext cx="292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流程拆解与优化</a:t>
            </a:r>
            <a:endParaRPr lang="en-US" sz="1100"/>
          </a:p>
        </p:txBody>
      </p:sp>
      <p:sp>
        <p:nvSpPr>
          <p:cNvPr id="21" name="AutoShape 21"/>
          <p:cNvSpPr/>
          <p:nvPr/>
        </p:nvSpPr>
        <p:spPr>
          <a:xfrm>
            <a:off x="4826000" y="2984500"/>
            <a:ext cx="2921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掌握“非增值性劳动”分析方法，对现有数据工作流进行全链路拆解。能够识别关键瓶颈，制定切实可行的优化策略，从源头减少不必要的人工干预，显著提升数据处理的整体效率。</a:t>
            </a:r>
            <a:endParaRPr lang="en-US" sz="1100"/>
          </a:p>
        </p:txBody>
      </p:sp>
      <p:sp>
        <p:nvSpPr>
          <p:cNvPr id="22" name="AutoShape 22"/>
          <p:cNvSpPr/>
          <p:nvPr/>
        </p:nvSpPr>
        <p:spPr>
          <a:xfrm>
            <a:off x="4699000" y="4381500"/>
            <a:ext cx="3175000" cy="1778000"/>
          </a:xfrm>
          <a:prstGeom prst="roundRect">
            <a:avLst>
              <a:gd name="adj" fmla="val 0"/>
            </a:avLst>
          </a:prstGeom>
          <a:solidFill>
            <a:srgbClr val="F97316">
              <a:alpha val="8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4826000" y="4445000"/>
            <a:ext cx="292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接口与标准设计</a:t>
            </a:r>
            <a:endParaRPr lang="en-US" sz="1100"/>
          </a:p>
        </p:txBody>
      </p:sp>
      <p:sp>
        <p:nvSpPr>
          <p:cNvPr id="24" name="AutoShape 24"/>
          <p:cNvSpPr/>
          <p:nvPr/>
        </p:nvSpPr>
        <p:spPr>
          <a:xfrm>
            <a:off x="4826000" y="4826000"/>
            <a:ext cx="2921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具备设计基础数据接口规范的能力，统一文件格式与字段规则。这将打通不同环节的数据流通，消除信息孤岛，为后续的自动化工具对接和系统集成提供标准化的“语言”，让数据流转更顺畅。</a:t>
            </a:r>
            <a:endParaRPr lang="en-US" sz="1100"/>
          </a:p>
        </p:txBody>
      </p:sp>
      <p:sp>
        <p:nvSpPr>
          <p:cNvPr id="25" name="AutoShape 25"/>
          <p:cNvSpPr/>
          <p:nvPr/>
        </p:nvSpPr>
        <p:spPr>
          <a:xfrm>
            <a:off x="8255000" y="1651000"/>
            <a:ext cx="3556000" cy="4508500"/>
          </a:xfrm>
          <a:prstGeom prst="roundRect">
            <a:avLst>
              <a:gd name="adj" fmla="val 0"/>
            </a:avLst>
          </a:prstGeom>
          <a:solidFill>
            <a:srgbClr val="FFFFFF">
              <a:alpha val="94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8255000" y="1651000"/>
            <a:ext cx="3556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8445500" y="1841500"/>
            <a:ext cx="317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素养目标 MINDSET</a:t>
            </a:r>
            <a:endParaRPr lang="en-US" sz="1100"/>
          </a:p>
        </p:txBody>
      </p:sp>
      <p:sp>
        <p:nvSpPr>
          <p:cNvPr id="28" name="AutoShape 28"/>
          <p:cNvSpPr/>
          <p:nvPr/>
        </p:nvSpPr>
        <p:spPr>
          <a:xfrm>
            <a:off x="8445500" y="2540000"/>
            <a:ext cx="3175000" cy="1778000"/>
          </a:xfrm>
          <a:prstGeom prst="roundRect">
            <a:avLst>
              <a:gd name="adj" fmla="val 0"/>
            </a:avLst>
          </a:prstGeom>
          <a:solidFill>
            <a:srgbClr val="F97316">
              <a:alpha val="8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8572500" y="2603500"/>
            <a:ext cx="292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工程化思维跃迁</a:t>
            </a:r>
            <a:endParaRPr lang="en-US" sz="1100"/>
          </a:p>
        </p:txBody>
      </p:sp>
      <p:sp>
        <p:nvSpPr>
          <p:cNvPr id="30" name="AutoShape 30"/>
          <p:cNvSpPr/>
          <p:nvPr/>
        </p:nvSpPr>
        <p:spPr>
          <a:xfrm>
            <a:off x="8572500" y="2984500"/>
            <a:ext cx="2921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完成从“头疼医头、脚疼医脚”的手动解决模式，向“系统性解决问题”的范式转换。学会用工具化、标准化的工程思维去应对复杂业务场景，将一次性的解决方案转化为可复用、可扩展的长效机制。</a:t>
            </a:r>
            <a:endParaRPr lang="en-US" sz="1100"/>
          </a:p>
        </p:txBody>
      </p:sp>
      <p:sp>
        <p:nvSpPr>
          <p:cNvPr id="31" name="AutoShape 31"/>
          <p:cNvSpPr/>
          <p:nvPr/>
        </p:nvSpPr>
        <p:spPr>
          <a:xfrm>
            <a:off x="8445500" y="4381500"/>
            <a:ext cx="3175000" cy="1778000"/>
          </a:xfrm>
          <a:prstGeom prst="roundRect">
            <a:avLst>
              <a:gd name="adj" fmla="val 0"/>
            </a:avLst>
          </a:prstGeom>
          <a:solidFill>
            <a:srgbClr val="F97316">
              <a:alpha val="8000"/>
            </a:srgbClr>
          </a:solidFill>
          <a:ln w="25400" cap="flat" cmpd="sng">
            <a:noFill/>
            <a:prstDash val="solid"/>
            <a:round/>
          </a:ln>
        </p:spPr>
        <p:txBody>
          <a:bodyPr vert="horz" wrap="square" lIns="63500" tIns="63500" rIns="63500" bIns="63500" rtlCol="0" anchor="ctr"/>
          <a:lstStyle/>
          <a:p>
            <a:pPr algn="ctr">
              <a:defRPr/>
            </a:pPr>
          </a:p>
        </p:txBody>
      </p:sp>
      <p:sp>
        <p:nvSpPr>
          <p:cNvPr id="32" name="AutoShape 32"/>
          <p:cNvSpPr/>
          <p:nvPr/>
        </p:nvSpPr>
        <p:spPr>
          <a:xfrm>
            <a:off x="8572500" y="4445000"/>
            <a:ext cx="292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价值认同与内化</a:t>
            </a:r>
            <a:endParaRPr lang="en-US" sz="1100"/>
          </a:p>
        </p:txBody>
      </p:sp>
      <p:sp>
        <p:nvSpPr>
          <p:cNvPr id="33" name="AutoShape 33"/>
          <p:cNvSpPr/>
          <p:nvPr/>
        </p:nvSpPr>
        <p:spPr>
          <a:xfrm>
            <a:off x="8572500" y="4826000"/>
            <a:ext cx="2921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不仅掌握技术方法，更要深刻认同数据工程的底层价值。将这种高效、可靠的工作理念融入日常工作习惯，在面对新挑战时能主动寻求工程化的解决方案，成为推动业务数字化落地的有力执行者。</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案例导入：一个真实的“数据噩梦”</a:t>
            </a:r>
            <a:endParaRPr lang="en-US" sz="1100"/>
          </a:p>
        </p:txBody>
      </p:sp>
      <p:sp>
        <p:nvSpPr>
          <p:cNvPr id="4" name="AutoShape 4"/>
          <p:cNvSpPr/>
          <p:nvPr/>
        </p:nvSpPr>
        <p:spPr>
          <a:xfrm>
            <a:off x="762000" y="1778000"/>
            <a:ext cx="3556000" cy="3429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3556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2032000"/>
            <a:ext cx="317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项目背景</a:t>
            </a:r>
            <a:endParaRPr lang="en-US" sz="1100"/>
          </a:p>
        </p:txBody>
      </p:sp>
      <p:sp>
        <p:nvSpPr>
          <p:cNvPr id="7" name="AutoShape 7"/>
          <p:cNvSpPr/>
          <p:nvPr/>
        </p:nvSpPr>
        <p:spPr>
          <a:xfrm>
            <a:off x="952500" y="2794000"/>
            <a:ext cx="3175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一个顶尖的经济学研究团队，承接了一项名为“中国价格项目”的重要课题。这是一项旨在长期追踪中国市场价格动态的宏大研究，其成果将为宏观经济分析提供关键的底层数据支撑。</a:t>
            </a:r>
            <a:endParaRPr lang="en-US" sz="1100"/>
          </a:p>
        </p:txBody>
      </p:sp>
      <p:sp>
        <p:nvSpPr>
          <p:cNvPr id="8" name="AutoShape 8"/>
          <p:cNvSpPr/>
          <p:nvPr/>
        </p:nvSpPr>
        <p:spPr>
          <a:xfrm>
            <a:off x="4508500" y="1778000"/>
            <a:ext cx="3556000" cy="3429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4508500" y="1778000"/>
            <a:ext cx="3556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4699000" y="2032000"/>
            <a:ext cx="317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核心任务</a:t>
            </a:r>
            <a:endParaRPr lang="en-US" sz="1100"/>
          </a:p>
        </p:txBody>
      </p:sp>
      <p:sp>
        <p:nvSpPr>
          <p:cNvPr id="11" name="AutoShape 11"/>
          <p:cNvSpPr/>
          <p:nvPr/>
        </p:nvSpPr>
        <p:spPr>
          <a:xfrm>
            <a:off x="4699000" y="2794000"/>
            <a:ext cx="3175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团队需要保持高频的数据采集节奏，每日、每周、每月不间断地从数十个主流电商平台及线下零售渠道中，精准抓取数百万种不同品类商品的实时价格信息。数据的广度、深度与时效性是项目的核心要求。</a:t>
            </a:r>
            <a:endParaRPr lang="en-US" sz="1100"/>
          </a:p>
        </p:txBody>
      </p:sp>
      <p:sp>
        <p:nvSpPr>
          <p:cNvPr id="12" name="AutoShape 12"/>
          <p:cNvSpPr/>
          <p:nvPr/>
        </p:nvSpPr>
        <p:spPr>
          <a:xfrm>
            <a:off x="8255000" y="1778000"/>
            <a:ext cx="3556000" cy="3429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8255000" y="1778000"/>
            <a:ext cx="3556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8445500" y="2032000"/>
            <a:ext cx="317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初始模式</a:t>
            </a:r>
            <a:endParaRPr lang="en-US" sz="1100"/>
          </a:p>
        </p:txBody>
      </p:sp>
      <p:sp>
        <p:nvSpPr>
          <p:cNvPr id="15" name="AutoShape 15"/>
          <p:cNvSpPr/>
          <p:nvPr/>
        </p:nvSpPr>
        <p:spPr>
          <a:xfrm>
            <a:off x="8445500" y="2794000"/>
            <a:ext cx="3175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项目起步阶段，受限于技术条件，团队采用了最原始的</a:t>
            </a: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手动采集模式</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。大量研究助理每天面对海量网页，逐条查找商品、复制价格、销量等信息，再机械地粘贴到Excel表格中，这种重复性工作占据了团队绝大部分精力。</a:t>
            </a:r>
            <a:endParaRPr lang="en-US" sz="1100"/>
          </a:p>
        </p:txBody>
      </p:sp>
      <p:sp>
        <p:nvSpPr>
          <p:cNvPr id="16" name="AutoShape 16"/>
          <p:cNvSpPr/>
          <p:nvPr/>
        </p:nvSpPr>
        <p:spPr>
          <a:xfrm>
            <a:off x="762000" y="5461000"/>
            <a:ext cx="11049000" cy="1143000"/>
          </a:xfrm>
          <a:prstGeom prst="roundRect">
            <a:avLst>
              <a:gd name="adj" fmla="val 0"/>
            </a:avLst>
          </a:prstGeom>
          <a:solidFill>
            <a:srgbClr val="F97316">
              <a:alpha val="15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762000" y="5461000"/>
            <a:ext cx="50800" cy="11430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1016000" y="5524500"/>
            <a:ext cx="10414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这种高度依赖人工的操作模式，不仅效率极其低下、极易出现人为误差，更让这支高素质的研究团队陷入了巨大的时间成本与人力成本的双重消耗中。数据的获取过程成为了整个项目最大的瓶颈——这便是我们要探讨的“数据噩梦”的开端。</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困境一：无尽的重复，时间的黑洞</a:t>
            </a:r>
            <a:endParaRPr lang="en-US" sz="1100"/>
          </a:p>
        </p:txBody>
      </p:sp>
      <p:sp>
        <p:nvSpPr>
          <p:cNvPr id="4" name="AutoShape 4"/>
          <p:cNvSpPr/>
          <p:nvPr/>
        </p:nvSpPr>
        <p:spPr>
          <a:xfrm>
            <a:off x="762000" y="1651000"/>
            <a:ext cx="3505200" cy="3175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35052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41500"/>
            <a:ext cx="31242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日常工作的“时间陷阱”</a:t>
            </a:r>
            <a:endParaRPr lang="en-US" sz="1100"/>
          </a:p>
        </p:txBody>
      </p:sp>
      <p:sp>
        <p:nvSpPr>
          <p:cNvPr id="7" name="AutoShape 7"/>
          <p:cNvSpPr/>
          <p:nvPr/>
        </p:nvSpPr>
        <p:spPr>
          <a:xfrm>
            <a:off x="952500" y="2413000"/>
            <a:ext cx="31242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早9点准时打开十几个浏览器标签，对照长长的商品清单逐个检索。复制价格、规格与促销文案，再切换到塞满数据的巨型Excel文件中粘贴。这套毫无创造性的机械流程，在研究助理小王的日常中日复一日，成为难以挣脱的惯性循环。</a:t>
            </a:r>
            <a:endParaRPr lang="en-US" sz="1100"/>
          </a:p>
        </p:txBody>
      </p:sp>
      <p:sp>
        <p:nvSpPr>
          <p:cNvPr id="8" name="AutoShape 8"/>
          <p:cNvSpPr/>
          <p:nvPr/>
        </p:nvSpPr>
        <p:spPr>
          <a:xfrm>
            <a:off x="952500" y="4064000"/>
            <a:ext cx="3124200" cy="635000"/>
          </a:xfrm>
          <a:prstGeom prst="roundRect">
            <a:avLst>
              <a:gd name="adj" fmla="val 0"/>
            </a:avLst>
          </a:prstGeom>
          <a:solidFill>
            <a:srgbClr val="F97316">
              <a:alpha val="8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79500" y="4140200"/>
            <a:ext cx="2870200" cy="482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现状：无价值的重复劳动占据全天</a:t>
            </a:r>
            <a:endParaRPr lang="en-US" sz="1100"/>
          </a:p>
        </p:txBody>
      </p:sp>
      <p:sp>
        <p:nvSpPr>
          <p:cNvPr id="10" name="AutoShape 10"/>
          <p:cNvSpPr/>
          <p:nvPr/>
        </p:nvSpPr>
        <p:spPr>
          <a:xfrm>
            <a:off x="4483100" y="1651000"/>
            <a:ext cx="3505200" cy="3175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4483100" y="1651000"/>
            <a:ext cx="35052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4673600" y="1841500"/>
            <a:ext cx="31242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惊人的低效数据</a:t>
            </a:r>
            <a:endParaRPr lang="en-US" sz="1100"/>
          </a:p>
        </p:txBody>
      </p:sp>
      <p:sp>
        <p:nvSpPr>
          <p:cNvPr id="13" name="AutoShape 13"/>
          <p:cNvSpPr/>
          <p:nvPr/>
        </p:nvSpPr>
        <p:spPr>
          <a:xfrm>
            <a:off x="4673600" y="2413000"/>
            <a:ext cx="1016000" cy="1206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4673600" y="2476500"/>
            <a:ext cx="1016000" cy="444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2</a:t>
            </a:r>
            <a:r>
              <a:rPr lang="en-US" sz="1400" b="0"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min</a:t>
            </a:r>
            <a:endParaRPr lang="en-US" sz="1100"/>
          </a:p>
        </p:txBody>
      </p:sp>
      <p:sp>
        <p:nvSpPr>
          <p:cNvPr id="15" name="AutoShape 15"/>
          <p:cNvSpPr/>
          <p:nvPr/>
        </p:nvSpPr>
        <p:spPr>
          <a:xfrm>
            <a:off x="4673600" y="3048000"/>
            <a:ext cx="1016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单商品采集耗时</a:t>
            </a:r>
            <a:endParaRPr lang="en-US" sz="1100"/>
          </a:p>
        </p:txBody>
      </p:sp>
      <p:cxnSp>
        <p:nvCxnSpPr>
          <p:cNvPr id="16" name="Connector 16"/>
          <p:cNvCxnSpPr/>
          <p:nvPr/>
        </p:nvCxnSpPr>
        <p:spPr>
          <a:xfrm rot="5363814">
            <a:off x="5149850" y="3009933"/>
            <a:ext cx="12065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7" name="AutoShape 17"/>
          <p:cNvSpPr/>
          <p:nvPr/>
        </p:nvSpPr>
        <p:spPr>
          <a:xfrm>
            <a:off x="5778500" y="2413000"/>
            <a:ext cx="1016000" cy="1206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5778500" y="2476500"/>
            <a:ext cx="1016000" cy="444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240</a:t>
            </a:r>
            <a:endParaRPr lang="en-US" sz="1100"/>
          </a:p>
        </p:txBody>
      </p:sp>
      <p:sp>
        <p:nvSpPr>
          <p:cNvPr id="19" name="AutoShape 19"/>
          <p:cNvSpPr/>
          <p:nvPr/>
        </p:nvSpPr>
        <p:spPr>
          <a:xfrm>
            <a:off x="5778500" y="3048000"/>
            <a:ext cx="1016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单人单日极限量</a:t>
            </a:r>
            <a:endParaRPr lang="en-US" sz="1100"/>
          </a:p>
        </p:txBody>
      </p:sp>
      <p:cxnSp>
        <p:nvCxnSpPr>
          <p:cNvPr id="20" name="Connector 20"/>
          <p:cNvCxnSpPr/>
          <p:nvPr/>
        </p:nvCxnSpPr>
        <p:spPr>
          <a:xfrm rot="5363814">
            <a:off x="6254750" y="3009933"/>
            <a:ext cx="12065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21" name="AutoShape 21"/>
          <p:cNvSpPr/>
          <p:nvPr/>
        </p:nvSpPr>
        <p:spPr>
          <a:xfrm>
            <a:off x="6883400" y="2413000"/>
            <a:ext cx="1016000" cy="1206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6883400" y="2476500"/>
            <a:ext cx="1016000" cy="444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40+</a:t>
            </a:r>
            <a:r>
              <a:rPr lang="en-US" sz="1400" b="0"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天</a:t>
            </a:r>
            <a:endParaRPr lang="en-US" sz="1100"/>
          </a:p>
        </p:txBody>
      </p:sp>
      <p:sp>
        <p:nvSpPr>
          <p:cNvPr id="23" name="AutoShape 23"/>
          <p:cNvSpPr/>
          <p:nvPr/>
        </p:nvSpPr>
        <p:spPr>
          <a:xfrm>
            <a:off x="6883400" y="3048000"/>
            <a:ext cx="1016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万级SKU攻坚期</a:t>
            </a:r>
            <a:endParaRPr lang="en-US" sz="1100"/>
          </a:p>
        </p:txBody>
      </p:sp>
      <p:sp>
        <p:nvSpPr>
          <p:cNvPr id="24" name="AutoShape 24"/>
          <p:cNvSpPr/>
          <p:nvPr/>
        </p:nvSpPr>
        <p:spPr>
          <a:xfrm>
            <a:off x="4673600" y="3937000"/>
            <a:ext cx="3124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面对海量市场数据，人工处理的效率天花板显而易见，项目推进的时间成本呈指数级上升。</a:t>
            </a:r>
            <a:endParaRPr lang="en-US" sz="1100"/>
          </a:p>
        </p:txBody>
      </p:sp>
      <p:sp>
        <p:nvSpPr>
          <p:cNvPr id="25" name="AutoShape 25"/>
          <p:cNvSpPr/>
          <p:nvPr/>
        </p:nvSpPr>
        <p:spPr>
          <a:xfrm>
            <a:off x="8204200" y="1651000"/>
            <a:ext cx="3505200" cy="3175000"/>
          </a:xfrm>
          <a:prstGeom prst="roundRect">
            <a:avLst>
              <a:gd name="adj" fmla="val 0"/>
            </a:avLst>
          </a:prstGeom>
          <a:solidFill>
            <a:srgbClr val="F97316">
              <a:alpha val="96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8394700" y="1841500"/>
            <a:ext cx="31242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触目惊心的时间消耗</a:t>
            </a:r>
            <a:endParaRPr lang="en-US" sz="1100"/>
          </a:p>
        </p:txBody>
      </p:sp>
      <p:sp>
        <p:nvSpPr>
          <p:cNvPr id="27" name="AutoShape 27"/>
          <p:cNvSpPr/>
          <p:nvPr/>
        </p:nvSpPr>
        <p:spPr>
          <a:xfrm>
            <a:off x="8394700" y="2413000"/>
            <a:ext cx="31242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6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80%</a:t>
            </a:r>
            <a:endParaRPr lang="en-US" sz="1100"/>
          </a:p>
        </p:txBody>
      </p:sp>
      <p:sp>
        <p:nvSpPr>
          <p:cNvPr id="28" name="AutoShape 28"/>
          <p:cNvSpPr/>
          <p:nvPr/>
        </p:nvSpPr>
        <p:spPr>
          <a:xfrm>
            <a:off x="8394700" y="3429000"/>
            <a:ext cx="31242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FFF7ED"/>
                </a:solidFill>
                <a:latin typeface="Noto Sans SC" panose="020B0200000000000000" charset="-122"/>
                <a:ea typeface="Noto Sans SC" panose="020B0200000000000000" charset="-122"/>
                <a:cs typeface="Noto Sans SC" panose="020B0200000000000000" charset="-122"/>
                <a:sym typeface="Noto Sans SC" panose="020B0200000000000000" charset="-122"/>
              </a:rPr>
              <a:t>这是一个令人震惊的比例——助理团队近八成的工作时间，都被消耗在无意义的复制与粘贴中。这不仅是工作效率的严重浪费，更是对核心人力资源的巨大损耗。</a:t>
            </a:r>
            <a:endParaRPr lang="en-US" sz="1100"/>
          </a:p>
        </p:txBody>
      </p:sp>
      <p:sp>
        <p:nvSpPr>
          <p:cNvPr id="29" name="AutoShape 29"/>
          <p:cNvSpPr/>
          <p:nvPr/>
        </p:nvSpPr>
        <p:spPr>
          <a:xfrm>
            <a:off x="762000" y="5080000"/>
            <a:ext cx="10947400" cy="1397000"/>
          </a:xfrm>
          <a:prstGeom prst="roundRect">
            <a:avLst>
              <a:gd name="adj" fmla="val 0"/>
            </a:avLst>
          </a:prstGeom>
          <a:solidFill>
            <a:srgbClr val="1F2937">
              <a:alpha val="78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1079500" y="5232400"/>
            <a:ext cx="1028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当人工对抗海量数据：一个吞噬效率的“时间黑洞”</a:t>
            </a:r>
            <a:endParaRPr lang="en-US" sz="1100"/>
          </a:p>
        </p:txBody>
      </p:sp>
      <p:sp>
        <p:nvSpPr>
          <p:cNvPr id="31" name="AutoShape 31"/>
          <p:cNvSpPr/>
          <p:nvPr/>
        </p:nvSpPr>
        <p:spPr>
          <a:xfrm>
            <a:off x="1079500" y="5715000"/>
            <a:ext cx="10287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传统的手工采集模式，在面对10万级SKU的市场时，其弊端暴露无遗。它不仅吞噬着员工宝贵的工作精力，更让业务的响应速度永远无法突破人工生理极限。这种低水平的重复作业，是制约业务快速发展的关键瓶颈，技术变革已迫在眉睫。</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困境二：脆弱的系统，错误的温床</a:t>
            </a:r>
            <a:endParaRPr lang="en-US" sz="1100"/>
          </a:p>
        </p:txBody>
      </p:sp>
      <p:sp>
        <p:nvSpPr>
          <p:cNvPr id="4" name="AutoShape 4"/>
          <p:cNvSpPr/>
          <p:nvPr/>
        </p:nvSpPr>
        <p:spPr>
          <a:xfrm>
            <a:off x="762000" y="1651000"/>
            <a:ext cx="5270500" cy="2667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2705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41500"/>
            <a:ext cx="4889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人员变动风险</a:t>
            </a:r>
            <a:endParaRPr lang="en-US" sz="1100"/>
          </a:p>
        </p:txBody>
      </p:sp>
      <p:sp>
        <p:nvSpPr>
          <p:cNvPr id="7" name="AutoShape 7"/>
          <p:cNvSpPr/>
          <p:nvPr/>
        </p:nvSpPr>
        <p:spPr>
          <a:xfrm>
            <a:off x="952500" y="2413000"/>
            <a:ext cx="4889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核心助理毕业离职，其长期积累的业务经验、操作技巧与特殊场景处理方法未能形成标准化文档，导致关键知识资产直接流失。</a:t>
            </a:r>
            <a:endParaRPr lang="en-US" sz="1100"/>
          </a:p>
        </p:txBody>
      </p:sp>
      <p:sp>
        <p:nvSpPr>
          <p:cNvPr id="8" name="AutoShape 8"/>
          <p:cNvSpPr/>
          <p:nvPr/>
        </p:nvSpPr>
        <p:spPr>
          <a:xfrm>
            <a:off x="952500" y="3365500"/>
            <a:ext cx="4889500" cy="825500"/>
          </a:xfrm>
          <a:prstGeom prst="roundRect">
            <a:avLst>
              <a:gd name="adj" fmla="val 0"/>
            </a:avLst>
          </a:prstGeom>
          <a:solidFill>
            <a:srgbClr val="FFF7ED">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79500" y="3429000"/>
            <a:ext cx="4635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C2410C"/>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关键隐患：</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新人上手周期长，效率断崖式下跌；且系统运行高度依赖个人能力，形成“一人离岗，全线停摆”的单点故障风险。</a:t>
            </a:r>
            <a:endParaRPr lang="en-US" sz="1100"/>
          </a:p>
        </p:txBody>
      </p:sp>
      <p:sp>
        <p:nvSpPr>
          <p:cNvPr id="10" name="AutoShape 10"/>
          <p:cNvSpPr/>
          <p:nvPr/>
        </p:nvSpPr>
        <p:spPr>
          <a:xfrm>
            <a:off x="6286500" y="1651000"/>
            <a:ext cx="5270500" cy="2667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6286500" y="1651000"/>
            <a:ext cx="52705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477000" y="1841500"/>
            <a:ext cx="4889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操作失误风险</a:t>
            </a:r>
            <a:endParaRPr lang="en-US" sz="1100"/>
          </a:p>
        </p:txBody>
      </p:sp>
      <p:sp>
        <p:nvSpPr>
          <p:cNvPr id="13" name="AutoShape 13"/>
          <p:cNvSpPr/>
          <p:nvPr/>
        </p:nvSpPr>
        <p:spPr>
          <a:xfrm>
            <a:off x="6477000" y="2413000"/>
            <a:ext cx="4889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员工因身体不适或精神疲劳，在手动数据录入环节发生失误，如将商品A的核心数据误填入商品B的对应字段，造成基础信息错位。</a:t>
            </a:r>
            <a:endParaRPr lang="en-US" sz="1100"/>
          </a:p>
        </p:txBody>
      </p:sp>
      <p:sp>
        <p:nvSpPr>
          <p:cNvPr id="14" name="AutoShape 14"/>
          <p:cNvSpPr/>
          <p:nvPr/>
        </p:nvSpPr>
        <p:spPr>
          <a:xfrm>
            <a:off x="6477000" y="3365500"/>
            <a:ext cx="4889500" cy="825500"/>
          </a:xfrm>
          <a:prstGeom prst="roundRect">
            <a:avLst>
              <a:gd name="adj" fmla="val 0"/>
            </a:avLst>
          </a:prstGeom>
          <a:solidFill>
            <a:srgbClr val="FFF7ED">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604000" y="3429000"/>
            <a:ext cx="4635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C2410C"/>
                </a:solidFill>
                <a:latin typeface="Noto Sans SC" panose="020B0200000000000000" charset="-122"/>
                <a:ea typeface="Noto Sans SC" panose="020B0200000000000000" charset="-122"/>
                <a:cs typeface="Noto Sans SC" panose="020B0200000000000000" charset="-122"/>
                <a:sym typeface="Noto Sans SC" panose="020B0200000000000000" charset="-122"/>
              </a:rPr>
              <a:t>隐蔽危机：</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错误隐蔽性极强，常规校验难以发现；单一数据的偏差会通过后续复杂的业务分析层层放大，最终导致决策判断出现根本性错误。</a:t>
            </a:r>
            <a:endParaRPr lang="en-US" sz="1100"/>
          </a:p>
        </p:txBody>
      </p:sp>
      <p:sp>
        <p:nvSpPr>
          <p:cNvPr id="16" name="AutoShape 16"/>
          <p:cNvSpPr/>
          <p:nvPr/>
        </p:nvSpPr>
        <p:spPr>
          <a:xfrm>
            <a:off x="762000" y="4572000"/>
            <a:ext cx="10795000" cy="1778000"/>
          </a:xfrm>
          <a:prstGeom prst="roundRect">
            <a:avLst>
              <a:gd name="adj" fmla="val 0"/>
            </a:avLst>
          </a:prstGeom>
          <a:solidFill>
            <a:srgbClr val="F97316">
              <a:alpha val="94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1079500" y="4762500"/>
            <a:ext cx="1003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不可持续的“人力驱动”模式</a:t>
            </a:r>
            <a:endParaRPr lang="en-US" sz="1100"/>
          </a:p>
        </p:txBody>
      </p:sp>
      <p:sp>
        <p:nvSpPr>
          <p:cNvPr id="18" name="AutoShape 18"/>
          <p:cNvSpPr/>
          <p:nvPr/>
        </p:nvSpPr>
        <p:spPr>
          <a:xfrm>
            <a:off x="1079500" y="5334000"/>
            <a:ext cx="10033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FF7ED"/>
                </a:solidFill>
                <a:latin typeface="Noto Sans SC" panose="020B0200000000000000" charset="-122"/>
                <a:ea typeface="Noto Sans SC" panose="020B0200000000000000" charset="-122"/>
                <a:cs typeface="Noto Sans SC" panose="020B0200000000000000" charset="-122"/>
                <a:sym typeface="Noto Sans SC" panose="020B0200000000000000" charset="-122"/>
              </a:rPr>
              <a:t>这种高度依赖人工记忆、重复手工操作且缺乏有效复核机制的工作模式，本质上是一个充满不确定性的“错误温床”。它不仅让业务连续性面临巨大挑战，更可能因微小的人为疏漏，给最终的商业决策带来不可挽回的偏差。变革，是突破这一困境的唯一出路。</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你是否也经历过这样的“数据循环”？</a:t>
            </a:r>
            <a:endParaRPr lang="en-US" sz="1100"/>
          </a:p>
        </p:txBody>
      </p:sp>
      <p:sp>
        <p:nvSpPr>
          <p:cNvPr id="4" name="AutoShape 4"/>
          <p:cNvSpPr/>
          <p:nvPr/>
        </p:nvSpPr>
        <p:spPr>
          <a:xfrm>
            <a:off x="762000" y="1651000"/>
            <a:ext cx="2667000" cy="2095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2667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889000" y="1841500"/>
            <a:ext cx="241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数据收集</a:t>
            </a:r>
            <a:endParaRPr lang="en-US" sz="1100"/>
          </a:p>
        </p:txBody>
      </p:sp>
      <p:sp>
        <p:nvSpPr>
          <p:cNvPr id="7" name="AutoShape 7"/>
          <p:cNvSpPr/>
          <p:nvPr/>
        </p:nvSpPr>
        <p:spPr>
          <a:xfrm>
            <a:off x="889000" y="2413000"/>
            <a:ext cx="2413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从邮件、FTP、数据库、业务系统等分散的源头，耗费时间下载各类原始数据文件，是繁琐工作的第一步。</a:t>
            </a:r>
            <a:endParaRPr lang="en-US" sz="1100"/>
          </a:p>
        </p:txBody>
      </p:sp>
      <p:sp>
        <p:nvSpPr>
          <p:cNvPr id="8" name="AutoShape 8"/>
          <p:cNvSpPr/>
          <p:nvPr/>
        </p:nvSpPr>
        <p:spPr>
          <a:xfrm>
            <a:off x="3581400" y="1651000"/>
            <a:ext cx="2667000" cy="2095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3581400" y="1651000"/>
            <a:ext cx="2667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3708400" y="1841500"/>
            <a:ext cx="241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数据清洗</a:t>
            </a:r>
            <a:endParaRPr lang="en-US" sz="1100"/>
          </a:p>
        </p:txBody>
      </p:sp>
      <p:sp>
        <p:nvSpPr>
          <p:cNvPr id="11" name="AutoShape 11"/>
          <p:cNvSpPr/>
          <p:nvPr/>
        </p:nvSpPr>
        <p:spPr>
          <a:xfrm>
            <a:off x="3708400" y="2413000"/>
            <a:ext cx="2413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面对格式混乱的数据：日期不统一、数值夹杂文本、字段名称各异，需要人工逐条核对修正，极易出错且耗时。</a:t>
            </a:r>
            <a:endParaRPr lang="en-US" sz="1100"/>
          </a:p>
        </p:txBody>
      </p:sp>
      <p:sp>
        <p:nvSpPr>
          <p:cNvPr id="12" name="AutoShape 12"/>
          <p:cNvSpPr/>
          <p:nvPr/>
        </p:nvSpPr>
        <p:spPr>
          <a:xfrm>
            <a:off x="6400800" y="1651000"/>
            <a:ext cx="2667000" cy="2095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400800" y="1651000"/>
            <a:ext cx="2667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6527800" y="1841500"/>
            <a:ext cx="241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数据预处理</a:t>
            </a:r>
            <a:endParaRPr lang="en-US" sz="1100"/>
          </a:p>
        </p:txBody>
      </p:sp>
      <p:sp>
        <p:nvSpPr>
          <p:cNvPr id="15" name="AutoShape 15"/>
          <p:cNvSpPr/>
          <p:nvPr/>
        </p:nvSpPr>
        <p:spPr>
          <a:xfrm>
            <a:off x="6527800" y="2413000"/>
            <a:ext cx="2413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熟练运用VLOOKUP、数据透视表等工具，将多张孤立的表格进行关联、合并与格式转换，为分析搭建基础。</a:t>
            </a:r>
            <a:endParaRPr lang="en-US" sz="1100"/>
          </a:p>
        </p:txBody>
      </p:sp>
      <p:sp>
        <p:nvSpPr>
          <p:cNvPr id="16" name="AutoShape 16"/>
          <p:cNvSpPr/>
          <p:nvPr/>
        </p:nvSpPr>
        <p:spPr>
          <a:xfrm>
            <a:off x="9220200" y="1651000"/>
            <a:ext cx="2667000" cy="2095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9220200" y="1651000"/>
            <a:ext cx="2667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9347200" y="1841500"/>
            <a:ext cx="241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分析与可视化</a:t>
            </a:r>
            <a:endParaRPr lang="en-US" sz="1100"/>
          </a:p>
        </p:txBody>
      </p:sp>
      <p:sp>
        <p:nvSpPr>
          <p:cNvPr id="19" name="AutoShape 19"/>
          <p:cNvSpPr/>
          <p:nvPr/>
        </p:nvSpPr>
        <p:spPr>
          <a:xfrm>
            <a:off x="9347200" y="2413000"/>
            <a:ext cx="2413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基于规整后的数据计算关键业务指标，制作图表和报表。这是产生业务价值的核心环节，但往往已没有多少时间深耕。</a:t>
            </a:r>
            <a:endParaRPr lang="en-US" sz="1100"/>
          </a:p>
        </p:txBody>
      </p:sp>
      <p:sp>
        <p:nvSpPr>
          <p:cNvPr id="20" name="AutoShape 20"/>
          <p:cNvSpPr/>
          <p:nvPr/>
        </p:nvSpPr>
        <p:spPr>
          <a:xfrm>
            <a:off x="762000" y="4064000"/>
            <a:ext cx="10998200" cy="2095500"/>
          </a:xfrm>
          <a:prstGeom prst="roundRect">
            <a:avLst>
              <a:gd name="adj" fmla="val 0"/>
            </a:avLst>
          </a:prstGeom>
          <a:solidFill>
            <a:srgbClr val="1F2937">
              <a:alpha val="85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762000" y="4064000"/>
            <a:ext cx="76200" cy="2095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1079500" y="4254500"/>
            <a:ext cx="10287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核心矛盾：被琐碎工作吞噬的价值时间</a:t>
            </a:r>
            <a:endParaRPr lang="en-US" sz="1100"/>
          </a:p>
        </p:txBody>
      </p:sp>
      <p:sp>
        <p:nvSpPr>
          <p:cNvPr id="23" name="AutoShape 23"/>
          <p:cNvSpPr/>
          <p:nvPr/>
        </p:nvSpPr>
        <p:spPr>
          <a:xfrm>
            <a:off x="1079500" y="4953000"/>
            <a:ext cx="10287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在这个冗长的流程中，我们真正用于深度“分析”、挖掘业务规律、形成决策“洞察”的时间到底占比多少？</a:t>
            </a:r>
            <a:br>
              <a:rPr lang="en-US" sz="15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5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大部分时间都消耗在了数据搬运和整理上，而非真正创造价值的思考与判断。</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80%的时间，花在了“非分析”的体力活上</a:t>
            </a:r>
            <a:endParaRPr lang="en-US" sz="1100"/>
          </a:p>
        </p:txBody>
      </p:sp>
      <p:sp>
        <p:nvSpPr>
          <p:cNvPr id="4" name="AutoShape 4"/>
          <p:cNvSpPr/>
          <p:nvPr/>
        </p:nvSpPr>
        <p:spPr>
          <a:xfrm>
            <a:off x="762000" y="1651000"/>
            <a:ext cx="10668000" cy="1587500"/>
          </a:xfrm>
          <a:prstGeom prst="roundRect">
            <a:avLst>
              <a:gd name="adj" fmla="val 0"/>
            </a:avLst>
          </a:prstGeom>
          <a:solidFill>
            <a:srgbClr val="1F2937">
              <a:alpha val="7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778000"/>
            <a:ext cx="101600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F3F4F6"/>
                </a:solidFill>
                <a:latin typeface="Noto Sans SC" panose="020B0200000000000000" charset="-122"/>
                <a:ea typeface="Noto Sans SC" panose="020B0200000000000000" charset="-122"/>
                <a:cs typeface="Noto Sans SC" panose="020B0200000000000000" charset="-122"/>
                <a:sym typeface="Noto Sans SC" panose="020B0200000000000000" charset="-122"/>
              </a:rPr>
              <a:t>行业共识表明，在一个典型的数据项目全生命周期中，高达</a:t>
            </a: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60% 到 80%</a:t>
            </a:r>
            <a:r>
              <a:rPr lang="en-US" sz="1400" b="0" i="0" u="none" strike="noStrike">
                <a:solidFill>
                  <a:srgbClr val="F3F4F6"/>
                </a:solidFill>
                <a:latin typeface="Noto Sans SC" panose="020B0200000000000000" charset="-122"/>
                <a:ea typeface="Noto Sans SC" panose="020B0200000000000000" charset="-122"/>
                <a:cs typeface="Noto Sans SC" panose="020B0200000000000000" charset="-122"/>
                <a:sym typeface="Noto Sans SC" panose="020B0200000000000000" charset="-122"/>
              </a:rPr>
              <a:t>的宝贵时间并非用于核心的业务洞察与价值分析，而是被消耗在繁琐的数据收集、反复清洗和底层预处理中。这类占据大量人力却对最终业务产出贡献有限的工作，被业内定义为</a:t>
            </a:r>
            <a:r>
              <a:rPr lang="en-US" sz="14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“非增值性劳动”</a:t>
            </a:r>
            <a:r>
              <a:rPr lang="en-US" sz="1400" b="0" i="0" u="none" strike="noStrike">
                <a:solidFill>
                  <a:srgbClr val="F3F4F6"/>
                </a:solidFill>
                <a:latin typeface="Noto Sans SC" panose="020B0200000000000000" charset="-122"/>
                <a:ea typeface="Noto Sans SC" panose="020B0200000000000000" charset="-122"/>
                <a:cs typeface="Noto Sans SC" panose="020B0200000000000000" charset="-122"/>
                <a:sym typeface="Noto Sans SC" panose="020B0200000000000000" charset="-122"/>
              </a:rPr>
              <a:t>，是数据工作者效率提升的最大瓶颈。</a:t>
            </a:r>
            <a:endParaRPr lang="en-US" sz="1100"/>
          </a:p>
        </p:txBody>
      </p:sp>
      <p:sp>
        <p:nvSpPr>
          <p:cNvPr id="6" name="AutoShape 6"/>
          <p:cNvSpPr/>
          <p:nvPr/>
        </p:nvSpPr>
        <p:spPr>
          <a:xfrm>
            <a:off x="762000" y="3429000"/>
            <a:ext cx="3429000" cy="2476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762000" y="3429000"/>
            <a:ext cx="3429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952500" y="3619500"/>
            <a:ext cx="304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脆弱性 Fragility</a:t>
            </a:r>
            <a:endParaRPr lang="en-US" sz="1100"/>
          </a:p>
        </p:txBody>
      </p:sp>
      <p:sp>
        <p:nvSpPr>
          <p:cNvPr id="9" name="AutoShape 9"/>
          <p:cNvSpPr/>
          <p:nvPr/>
        </p:nvSpPr>
        <p:spPr>
          <a:xfrm>
            <a:off x="952500" y="4318000"/>
            <a:ext cx="3048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数据处理流程过度依赖人工操作，每一次格式调整、数据筛选都可能引入人为偏差。一旦上游数据源发生微小变动，下游的分析逻辑就可能全盘失效，容错能力极低。</a:t>
            </a:r>
            <a:endParaRPr lang="en-US" sz="1100"/>
          </a:p>
        </p:txBody>
      </p:sp>
      <p:sp>
        <p:nvSpPr>
          <p:cNvPr id="10" name="AutoShape 10"/>
          <p:cNvSpPr/>
          <p:nvPr/>
        </p:nvSpPr>
        <p:spPr>
          <a:xfrm>
            <a:off x="4381500" y="3429000"/>
            <a:ext cx="3429000" cy="2476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4381500" y="3429000"/>
            <a:ext cx="3429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4572000" y="3619500"/>
            <a:ext cx="304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不可复用性 Non-Reusability</a:t>
            </a:r>
            <a:endParaRPr lang="en-US" sz="1100"/>
          </a:p>
        </p:txBody>
      </p:sp>
      <p:sp>
        <p:nvSpPr>
          <p:cNvPr id="13" name="AutoShape 13"/>
          <p:cNvSpPr/>
          <p:nvPr/>
        </p:nvSpPr>
        <p:spPr>
          <a:xfrm>
            <a:off x="4572000" y="4318000"/>
            <a:ext cx="3048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项目之间缺乏标准化的流程与工具沉淀，每次新的分析需求都像是从零开始搭建积木。过往的处理经验和脚本无法快速迁移，导致同样的清洗逻辑被反复编写，严重浪费人力资源。</a:t>
            </a:r>
            <a:endParaRPr lang="en-US" sz="1100"/>
          </a:p>
        </p:txBody>
      </p:sp>
      <p:sp>
        <p:nvSpPr>
          <p:cNvPr id="14" name="AutoShape 14"/>
          <p:cNvSpPr/>
          <p:nvPr/>
        </p:nvSpPr>
        <p:spPr>
          <a:xfrm>
            <a:off x="8001000" y="3429000"/>
            <a:ext cx="3429000" cy="2476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8001000" y="3429000"/>
            <a:ext cx="3429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8191500" y="3619500"/>
            <a:ext cx="304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低效能 Inefficiency</a:t>
            </a:r>
            <a:endParaRPr lang="en-US" sz="1100"/>
          </a:p>
        </p:txBody>
      </p:sp>
      <p:sp>
        <p:nvSpPr>
          <p:cNvPr id="17" name="AutoShape 17"/>
          <p:cNvSpPr/>
          <p:nvPr/>
        </p:nvSpPr>
        <p:spPr>
          <a:xfrm>
            <a:off x="8191500" y="4318000"/>
            <a:ext cx="3048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面对如今爆发式增长的海量异构数据，传统的手工处理方式如同“用勺子舀海水”。处理速度远远跟不上业务迭代的节奏，不仅拉长了项目周期，更让关键决策的制定失去了时效性。</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破局之道：引入“数据工程”思维</a:t>
            </a:r>
            <a:endParaRPr lang="en-US" sz="1100"/>
          </a:p>
        </p:txBody>
      </p:sp>
      <p:sp>
        <p:nvSpPr>
          <p:cNvPr id="4" name="AutoShape 4"/>
          <p:cNvSpPr/>
          <p:nvPr/>
        </p:nvSpPr>
        <p:spPr>
          <a:xfrm>
            <a:off x="762000" y="1651000"/>
            <a:ext cx="3429000" cy="4191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3429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905000"/>
            <a:ext cx="304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核心定义</a:t>
            </a:r>
            <a:endParaRPr lang="en-US" sz="1100"/>
          </a:p>
        </p:txBody>
      </p:sp>
      <p:sp>
        <p:nvSpPr>
          <p:cNvPr id="7" name="AutoShape 7"/>
          <p:cNvSpPr/>
          <p:nvPr/>
        </p:nvSpPr>
        <p:spPr>
          <a:xfrm>
            <a:off x="952500" y="2667000"/>
            <a:ext cx="30480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数据工程是一门应用软件工程的方法论、原则和技术手段，来设计、构建和维护可扩展、可复用、高可靠的数据处理系统的学科。它是连接杂乱原始数据与上层数据应用之间的关键工程桥梁。</a:t>
            </a:r>
            <a:endParaRPr lang="en-US" sz="1100"/>
          </a:p>
        </p:txBody>
      </p:sp>
      <p:sp>
        <p:nvSpPr>
          <p:cNvPr id="8" name="AutoShape 8"/>
          <p:cNvSpPr/>
          <p:nvPr/>
        </p:nvSpPr>
        <p:spPr>
          <a:xfrm>
            <a:off x="952500" y="4699000"/>
            <a:ext cx="3048000" cy="1016000"/>
          </a:xfrm>
          <a:prstGeom prst="roundRect">
            <a:avLst>
              <a:gd name="adj" fmla="val 0"/>
            </a:avLst>
          </a:prstGeom>
          <a:solidFill>
            <a:srgbClr val="FFF7ED">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79500" y="4826000"/>
            <a:ext cx="279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C2410C"/>
                </a:solidFill>
                <a:latin typeface="Noto Sans SC" panose="020B0200000000000000" charset="-122"/>
                <a:ea typeface="Noto Sans SC" panose="020B0200000000000000" charset="-122"/>
                <a:cs typeface="Noto Sans SC" panose="020B0200000000000000" charset="-122"/>
                <a:sym typeface="Noto Sans SC" panose="020B0200000000000000" charset="-122"/>
              </a:rPr>
              <a:t>本质是将软件工程的严谨性引入数据领域，用工程化手段解决数据问题。</a:t>
            </a:r>
            <a:endParaRPr lang="en-US" sz="1100"/>
          </a:p>
        </p:txBody>
      </p:sp>
      <p:sp>
        <p:nvSpPr>
          <p:cNvPr id="10" name="AutoShape 10"/>
          <p:cNvSpPr/>
          <p:nvPr/>
        </p:nvSpPr>
        <p:spPr>
          <a:xfrm>
            <a:off x="4445000" y="1651000"/>
            <a:ext cx="3429000" cy="4191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4445000" y="1651000"/>
            <a:ext cx="3429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4635500" y="1905000"/>
            <a:ext cx="304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通俗视角</a:t>
            </a:r>
            <a:endParaRPr lang="en-US" sz="1100"/>
          </a:p>
        </p:txBody>
      </p:sp>
      <p:sp>
        <p:nvSpPr>
          <p:cNvPr id="13" name="AutoShape 13"/>
          <p:cNvSpPr/>
          <p:nvPr/>
        </p:nvSpPr>
        <p:spPr>
          <a:xfrm>
            <a:off x="4635500" y="2667000"/>
            <a:ext cx="30480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把数据处理中反复出现的繁琐、易出错的人工步骤，通过代码开发与系统搭建的方式，实现全流程的自动化、标准化与平台化。让数据流转不再依赖个人经验，而是像工厂流水线一样高效、稳定且可复制。</a:t>
            </a:r>
            <a:endParaRPr lang="en-US" sz="1100"/>
          </a:p>
        </p:txBody>
      </p:sp>
      <p:sp>
        <p:nvSpPr>
          <p:cNvPr id="14" name="AutoShape 14"/>
          <p:cNvSpPr/>
          <p:nvPr/>
        </p:nvSpPr>
        <p:spPr>
          <a:xfrm>
            <a:off x="4635500" y="4699000"/>
            <a:ext cx="3048000" cy="1016000"/>
          </a:xfrm>
          <a:prstGeom prst="roundRect">
            <a:avLst>
              <a:gd name="adj" fmla="val 0"/>
            </a:avLst>
          </a:prstGeom>
          <a:solidFill>
            <a:srgbClr val="FFF7ED">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4762500" y="4826000"/>
            <a:ext cx="279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C2410C"/>
                </a:solidFill>
                <a:latin typeface="Noto Sans SC" panose="020B0200000000000000" charset="-122"/>
                <a:ea typeface="Noto Sans SC" panose="020B0200000000000000" charset="-122"/>
                <a:cs typeface="Noto Sans SC" panose="020B0200000000000000" charset="-122"/>
                <a:sym typeface="Noto Sans SC" panose="020B0200000000000000" charset="-122"/>
              </a:rPr>
              <a:t>从“人治”走向“法治”，将一次性的临时脚本升级为长期运行的自动化服务。</a:t>
            </a:r>
            <a:endParaRPr lang="en-US" sz="1100"/>
          </a:p>
        </p:txBody>
      </p:sp>
      <p:sp>
        <p:nvSpPr>
          <p:cNvPr id="16" name="AutoShape 16"/>
          <p:cNvSpPr/>
          <p:nvPr/>
        </p:nvSpPr>
        <p:spPr>
          <a:xfrm>
            <a:off x="8128000" y="1651000"/>
            <a:ext cx="3429000" cy="4191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8128000" y="1651000"/>
            <a:ext cx="3429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8318500" y="1905000"/>
            <a:ext cx="304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终极目标</a:t>
            </a:r>
            <a:endParaRPr lang="en-US" sz="1100"/>
          </a:p>
        </p:txBody>
      </p:sp>
      <p:sp>
        <p:nvSpPr>
          <p:cNvPr id="19" name="AutoShape 19"/>
          <p:cNvSpPr/>
          <p:nvPr/>
        </p:nvSpPr>
        <p:spPr>
          <a:xfrm>
            <a:off x="8318500" y="2667000"/>
            <a:ext cx="30480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构建稳定、高效、可扩展的数据管道（Data Pipeline）。让异构数据能够在不同业务系统间无缝流转、自动清洗与转化，最终为后续的商业智能分析、AI模型训练以及业务决策提供高质量、高时效性的底层数据支撑。</a:t>
            </a:r>
            <a:endParaRPr lang="en-US" sz="1100"/>
          </a:p>
        </p:txBody>
      </p:sp>
      <p:sp>
        <p:nvSpPr>
          <p:cNvPr id="20" name="AutoShape 20"/>
          <p:cNvSpPr/>
          <p:nvPr/>
        </p:nvSpPr>
        <p:spPr>
          <a:xfrm>
            <a:off x="8318500" y="4699000"/>
            <a:ext cx="3048000" cy="1016000"/>
          </a:xfrm>
          <a:prstGeom prst="roundRect">
            <a:avLst>
              <a:gd name="adj" fmla="val 0"/>
            </a:avLst>
          </a:prstGeom>
          <a:solidFill>
            <a:srgbClr val="FFF7ED">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8445500" y="4826000"/>
            <a:ext cx="279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C2410C"/>
                </a:solidFill>
                <a:latin typeface="Noto Sans SC" panose="020B0200000000000000" charset="-122"/>
                <a:ea typeface="Noto Sans SC" panose="020B0200000000000000" charset="-122"/>
                <a:cs typeface="Noto Sans SC" panose="020B0200000000000000" charset="-122"/>
                <a:sym typeface="Noto Sans SC" panose="020B0200000000000000" charset="-122"/>
              </a:rPr>
              <a:t>打通数据全链路，消除信息孤岛，让数据真正成为流动的业务血液。</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角色界定：数据工程师 vs. 数据分析师</a:t>
            </a:r>
            <a:endParaRPr lang="en-US" sz="1100"/>
          </a:p>
        </p:txBody>
      </p:sp>
      <p:sp>
        <p:nvSpPr>
          <p:cNvPr id="4" name="AutoShape 4"/>
          <p:cNvSpPr/>
          <p:nvPr/>
        </p:nvSpPr>
        <p:spPr>
          <a:xfrm>
            <a:off x="762000" y="1651000"/>
            <a:ext cx="5270500" cy="3238500"/>
          </a:xfrm>
          <a:prstGeom prst="roundRect">
            <a:avLst>
              <a:gd name="adj" fmla="val 0"/>
            </a:avLst>
          </a:prstGeom>
          <a:solidFill>
            <a:srgbClr val="FFFFFF">
              <a:alpha val="94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2705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41500"/>
            <a:ext cx="4889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数据工程师 (Data Engineer)</a:t>
            </a:r>
            <a:endParaRPr lang="en-US" sz="1100"/>
          </a:p>
        </p:txBody>
      </p:sp>
      <p:sp>
        <p:nvSpPr>
          <p:cNvPr id="7" name="AutoShape 7"/>
          <p:cNvSpPr/>
          <p:nvPr/>
        </p:nvSpPr>
        <p:spPr>
          <a:xfrm>
            <a:off x="952500" y="2413000"/>
            <a:ext cx="4889500" cy="711200"/>
          </a:xfrm>
          <a:prstGeom prst="roundRect">
            <a:avLst>
              <a:gd name="adj" fmla="val 0"/>
            </a:avLst>
          </a:prstGeom>
          <a:solidFill>
            <a:srgbClr val="F97316">
              <a:alpha val="9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079500" y="2438400"/>
            <a:ext cx="4635500" cy="660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数据基础设施的建设者</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搭建稳固的数据底座，将散落的信息汇聚成有序的资源，支撑上层所有业务应用。</a:t>
            </a:r>
            <a:endParaRPr lang="en-US" sz="1100"/>
          </a:p>
        </p:txBody>
      </p:sp>
      <p:sp>
        <p:nvSpPr>
          <p:cNvPr id="9" name="AutoShape 9"/>
          <p:cNvSpPr/>
          <p:nvPr/>
        </p:nvSpPr>
        <p:spPr>
          <a:xfrm>
            <a:off x="952500" y="3200400"/>
            <a:ext cx="4889500" cy="8636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专注于设计高可用数据库架构、开发自动化的 ETL/ELT 数据清洗管道，并持续监控维护数据链路的稳定性，确保海量数据从源头到存储端的高效流转与安全。</a:t>
            </a:r>
            <a:endParaRPr lang="en-US" sz="1100"/>
          </a:p>
        </p:txBody>
      </p:sp>
      <p:sp>
        <p:nvSpPr>
          <p:cNvPr id="10" name="AutoShape 10"/>
          <p:cNvSpPr/>
          <p:nvPr/>
        </p:nvSpPr>
        <p:spPr>
          <a:xfrm>
            <a:off x="952500" y="4165600"/>
            <a:ext cx="4889500" cy="660400"/>
          </a:xfrm>
          <a:prstGeom prst="roundRect">
            <a:avLst>
              <a:gd name="adj" fmla="val 0"/>
            </a:avLst>
          </a:prstGeom>
          <a:solidFill>
            <a:srgbClr val="F3F4F6">
              <a:alpha val="85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79500" y="4203700"/>
            <a:ext cx="4635500" cy="584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交付</a:t>
            </a:r>
            <a:r>
              <a:rPr lang="en-US" sz="13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高质量、高可用、易访问</a:t>
            </a: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的数据“原材料”，让下游无需关注底层实现，直接取用。</a:t>
            </a:r>
            <a:endParaRPr lang="en-US" sz="1100"/>
          </a:p>
        </p:txBody>
      </p:sp>
      <p:sp>
        <p:nvSpPr>
          <p:cNvPr id="12" name="AutoShape 12"/>
          <p:cNvSpPr/>
          <p:nvPr/>
        </p:nvSpPr>
        <p:spPr>
          <a:xfrm>
            <a:off x="6223000" y="1651000"/>
            <a:ext cx="5270500" cy="3238500"/>
          </a:xfrm>
          <a:prstGeom prst="roundRect">
            <a:avLst>
              <a:gd name="adj" fmla="val 0"/>
            </a:avLst>
          </a:prstGeom>
          <a:solidFill>
            <a:srgbClr val="FFFFFF">
              <a:alpha val="94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223000" y="1651000"/>
            <a:ext cx="52705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6413500" y="1841500"/>
            <a:ext cx="4889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数据分析师 (Data Analyst)</a:t>
            </a:r>
            <a:endParaRPr lang="en-US" sz="1100"/>
          </a:p>
        </p:txBody>
      </p:sp>
      <p:sp>
        <p:nvSpPr>
          <p:cNvPr id="15" name="AutoShape 15"/>
          <p:cNvSpPr/>
          <p:nvPr/>
        </p:nvSpPr>
        <p:spPr>
          <a:xfrm>
            <a:off x="6413500" y="2413000"/>
            <a:ext cx="4889500" cy="711200"/>
          </a:xfrm>
          <a:prstGeom prst="roundRect">
            <a:avLst>
              <a:gd name="adj" fmla="val 0"/>
            </a:avLst>
          </a:prstGeom>
          <a:solidFill>
            <a:srgbClr val="F97316">
              <a:alpha val="9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6540500" y="2438400"/>
            <a:ext cx="4635500" cy="660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数据价值的挖掘者</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深入业务场景，从繁杂的数据中提炼核心洞察，将信息转化为可执行的行动指南。</a:t>
            </a:r>
            <a:endParaRPr lang="en-US" sz="1100"/>
          </a:p>
        </p:txBody>
      </p:sp>
      <p:sp>
        <p:nvSpPr>
          <p:cNvPr id="17" name="AutoShape 17"/>
          <p:cNvSpPr/>
          <p:nvPr/>
        </p:nvSpPr>
        <p:spPr>
          <a:xfrm>
            <a:off x="6413500" y="3200400"/>
            <a:ext cx="4889500" cy="8636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理解业务痛点与目标，利用分析工具对结构化数据进行深度探查，构建业务模型，发现关键趋势、异常和潜在机会，形成直观的分析结论。</a:t>
            </a:r>
            <a:endParaRPr lang="en-US" sz="1100"/>
          </a:p>
        </p:txBody>
      </p:sp>
      <p:sp>
        <p:nvSpPr>
          <p:cNvPr id="18" name="AutoShape 18"/>
          <p:cNvSpPr/>
          <p:nvPr/>
        </p:nvSpPr>
        <p:spPr>
          <a:xfrm>
            <a:off x="6413500" y="4165600"/>
            <a:ext cx="4889500" cy="660400"/>
          </a:xfrm>
          <a:prstGeom prst="roundRect">
            <a:avLst>
              <a:gd name="adj" fmla="val 0"/>
            </a:avLst>
          </a:prstGeom>
          <a:solidFill>
            <a:srgbClr val="F3F4F6">
              <a:alpha val="85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6540500" y="4203700"/>
            <a:ext cx="4635500" cy="584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产出</a:t>
            </a:r>
            <a:r>
              <a:rPr lang="en-US" sz="13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有价值的业务策略</a:t>
            </a: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，辅助决策者做出科学判断，驱动产品优化、运营提效与商业增长。</a:t>
            </a:r>
            <a:endParaRPr lang="en-US" sz="1100"/>
          </a:p>
        </p:txBody>
      </p:sp>
      <p:sp>
        <p:nvSpPr>
          <p:cNvPr id="20" name="AutoShape 20"/>
          <p:cNvSpPr/>
          <p:nvPr/>
        </p:nvSpPr>
        <p:spPr>
          <a:xfrm>
            <a:off x="762000" y="5080000"/>
            <a:ext cx="10731500" cy="1206500"/>
          </a:xfrm>
          <a:prstGeom prst="roundRect">
            <a:avLst>
              <a:gd name="adj" fmla="val 0"/>
            </a:avLst>
          </a:prstGeom>
          <a:solidFill>
            <a:srgbClr val="1F2937">
              <a:alpha val="78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762000" y="5080000"/>
            <a:ext cx="63500" cy="1206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1016000" y="5156200"/>
            <a:ext cx="9906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协作共生：基建铺路，应用前行</a:t>
            </a:r>
            <a:endParaRPr lang="en-US" sz="1100"/>
          </a:p>
        </p:txBody>
      </p:sp>
      <p:sp>
        <p:nvSpPr>
          <p:cNvPr id="23" name="AutoShape 23"/>
          <p:cNvSpPr/>
          <p:nvPr/>
        </p:nvSpPr>
        <p:spPr>
          <a:xfrm>
            <a:off x="1016000" y="5524500"/>
            <a:ext cx="1003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工程师通过构建坚实的底层管道，将杂乱无章的原始信息转化为规整可用的资源池；数据分析师则站在“巨人的肩膀”上，专注于业务逻辑与价值挖掘。二者如同“修路”与“造车”，缺一不可，共同构成了从数据产生到价值落地的完整闭环。</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范式转换：两种思维模式的根本不同</a:t>
            </a:r>
            <a:endParaRPr lang="en-US" sz="1100"/>
          </a:p>
        </p:txBody>
      </p:sp>
      <p:sp>
        <p:nvSpPr>
          <p:cNvPr id="4" name="AutoShape 4"/>
          <p:cNvSpPr/>
          <p:nvPr/>
        </p:nvSpPr>
        <p:spPr>
          <a:xfrm>
            <a:off x="762000" y="1524000"/>
            <a:ext cx="5270500" cy="3556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524000"/>
            <a:ext cx="5270500" cy="457200"/>
          </a:xfrm>
          <a:prstGeom prst="roundRect">
            <a:avLst>
              <a:gd name="adj" fmla="val 0"/>
            </a:avLst>
          </a:prstGeom>
          <a:solidFill>
            <a:srgbClr val="E5E7EB">
              <a:alpha val="85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5621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手工数据处理 (Manual)</a:t>
            </a:r>
            <a:endParaRPr lang="en-US" sz="1100"/>
          </a:p>
        </p:txBody>
      </p:sp>
      <p:sp>
        <p:nvSpPr>
          <p:cNvPr id="7" name="AutoShape 7"/>
          <p:cNvSpPr/>
          <p:nvPr/>
        </p:nvSpPr>
        <p:spPr>
          <a:xfrm>
            <a:off x="889000" y="2095500"/>
            <a:ext cx="2476500" cy="1206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952500" y="2133600"/>
            <a:ext cx="23495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操作主体 &amp; 核心思想</a:t>
            </a:r>
            <a:endParaRPr lang="en-US" sz="1100"/>
          </a:p>
        </p:txBody>
      </p:sp>
      <p:sp>
        <p:nvSpPr>
          <p:cNvPr id="9" name="AutoShape 9"/>
          <p:cNvSpPr/>
          <p:nvPr/>
        </p:nvSpPr>
        <p:spPr>
          <a:xfrm>
            <a:off x="952500" y="2438400"/>
            <a:ext cx="2349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依赖分析师或助理的人工操作，核心目标是解决眼前的一次性问题，快速完成当下的临时任务。</a:t>
            </a:r>
            <a:endParaRPr lang="en-US" sz="1100"/>
          </a:p>
        </p:txBody>
      </p:sp>
      <p:sp>
        <p:nvSpPr>
          <p:cNvPr id="10" name="AutoShape 10"/>
          <p:cNvSpPr/>
          <p:nvPr/>
        </p:nvSpPr>
        <p:spPr>
          <a:xfrm>
            <a:off x="3492500" y="2095500"/>
            <a:ext cx="2476500" cy="1206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3556000" y="2133600"/>
            <a:ext cx="23495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容错与质量控制</a:t>
            </a:r>
            <a:endParaRPr lang="en-US" sz="1100"/>
          </a:p>
        </p:txBody>
      </p:sp>
      <p:sp>
        <p:nvSpPr>
          <p:cNvPr id="12" name="AutoShape 12"/>
          <p:cNvSpPr/>
          <p:nvPr/>
        </p:nvSpPr>
        <p:spPr>
          <a:xfrm>
            <a:off x="3556000" y="2438400"/>
            <a:ext cx="2349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缺乏系统性校验，通常是事后发现错误再补救，依赖人工反复校对，不仅效率低且极易出现疏漏。</a:t>
            </a:r>
            <a:endParaRPr lang="en-US" sz="1100"/>
          </a:p>
        </p:txBody>
      </p:sp>
      <p:sp>
        <p:nvSpPr>
          <p:cNvPr id="13" name="AutoShape 13"/>
          <p:cNvSpPr/>
          <p:nvPr/>
        </p:nvSpPr>
        <p:spPr>
          <a:xfrm>
            <a:off x="889000" y="3365500"/>
            <a:ext cx="2476500" cy="1206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952500" y="3403600"/>
            <a:ext cx="23495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复用性与扩展性</a:t>
            </a:r>
            <a:endParaRPr lang="en-US" sz="1100"/>
          </a:p>
        </p:txBody>
      </p:sp>
      <p:sp>
        <p:nvSpPr>
          <p:cNvPr id="15" name="AutoShape 15"/>
          <p:cNvSpPr/>
          <p:nvPr/>
        </p:nvSpPr>
        <p:spPr>
          <a:xfrm>
            <a:off x="952500" y="3708400"/>
            <a:ext cx="2349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几乎没有复用价值，每次分析都需从零开始；面对海量数据时处理缓慢，难以支撑业务的快速迭代。</a:t>
            </a:r>
            <a:endParaRPr lang="en-US" sz="1100"/>
          </a:p>
        </p:txBody>
      </p:sp>
      <p:sp>
        <p:nvSpPr>
          <p:cNvPr id="16" name="AutoShape 16"/>
          <p:cNvSpPr/>
          <p:nvPr/>
        </p:nvSpPr>
        <p:spPr>
          <a:xfrm>
            <a:off x="3492500" y="3365500"/>
            <a:ext cx="2476500" cy="1206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3556000" y="3403600"/>
            <a:ext cx="23495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最终交付成果</a:t>
            </a:r>
            <a:endParaRPr lang="en-US" sz="1100"/>
          </a:p>
        </p:txBody>
      </p:sp>
      <p:sp>
        <p:nvSpPr>
          <p:cNvPr id="18" name="AutoShape 18"/>
          <p:cNvSpPr/>
          <p:nvPr/>
        </p:nvSpPr>
        <p:spPr>
          <a:xfrm>
            <a:off x="3556000" y="3708400"/>
            <a:ext cx="2349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一份孤立的静态分析报告或图表，仅能服务于单次决策，无法形成持续的数据资产积累。</a:t>
            </a:r>
            <a:endParaRPr lang="en-US" sz="1100"/>
          </a:p>
        </p:txBody>
      </p:sp>
      <p:cxnSp>
        <p:nvCxnSpPr>
          <p:cNvPr id="19" name="Connector 19"/>
          <p:cNvCxnSpPr/>
          <p:nvPr/>
        </p:nvCxnSpPr>
        <p:spPr>
          <a:xfrm rot="5387722">
            <a:off x="4381500" y="3295661"/>
            <a:ext cx="3556000" cy="12700"/>
          </a:xfrm>
          <a:prstGeom prst="straightConnector1">
            <a:avLst/>
          </a:prstGeom>
          <a:solidFill>
            <a:srgbClr val="DEE0E3">
              <a:alpha val="100000"/>
            </a:srgbClr>
          </a:solidFill>
          <a:ln w="12700" cap="flat" cmpd="sng">
            <a:solidFill>
              <a:srgbClr val="F97316">
                <a:alpha val="30000"/>
              </a:srgbClr>
            </a:solidFill>
            <a:prstDash val="dash"/>
            <a:round/>
            <a:headEnd type="none" w="med" len="med"/>
            <a:tailEnd type="none" w="med" len="med"/>
          </a:ln>
        </p:spPr>
      </p:cxnSp>
      <p:sp>
        <p:nvSpPr>
          <p:cNvPr id="20" name="AutoShape 20"/>
          <p:cNvSpPr/>
          <p:nvPr/>
        </p:nvSpPr>
        <p:spPr>
          <a:xfrm>
            <a:off x="6223000" y="1524000"/>
            <a:ext cx="5270500" cy="3556000"/>
          </a:xfrm>
          <a:prstGeom prst="roundRect">
            <a:avLst>
              <a:gd name="adj" fmla="val 0"/>
            </a:avLst>
          </a:prstGeom>
          <a:solidFill>
            <a:srgbClr val="FFF7ED">
              <a:alpha val="95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6223000" y="1524000"/>
            <a:ext cx="5270500" cy="457200"/>
          </a:xfrm>
          <a:prstGeom prst="roundRect">
            <a:avLst>
              <a:gd name="adj" fmla="val 0"/>
            </a:avLst>
          </a:prstGeom>
          <a:solidFill>
            <a:srgbClr val="FFEDD5">
              <a:alpha val="95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6413500" y="15621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C2410C"/>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数据工程 (Engineering)</a:t>
            </a:r>
            <a:endParaRPr lang="en-US" sz="1100"/>
          </a:p>
        </p:txBody>
      </p:sp>
      <p:sp>
        <p:nvSpPr>
          <p:cNvPr id="23" name="AutoShape 23"/>
          <p:cNvSpPr/>
          <p:nvPr/>
        </p:nvSpPr>
        <p:spPr>
          <a:xfrm>
            <a:off x="6350000" y="2095500"/>
            <a:ext cx="2476500" cy="1206500"/>
          </a:xfrm>
          <a:prstGeom prst="roundRect">
            <a:avLst>
              <a:gd name="adj" fmla="val 0"/>
            </a:avLst>
          </a:prstGeom>
          <a:solidFill>
            <a:srgbClr val="FFEDD5">
              <a:alpha val="75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6413500" y="2133600"/>
            <a:ext cx="23495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C2410C"/>
                </a:solidFill>
                <a:latin typeface="Noto Sans SC" panose="020B0200000000000000" charset="-122"/>
                <a:ea typeface="Noto Sans SC" panose="020B0200000000000000" charset="-122"/>
                <a:cs typeface="Noto Sans SC" panose="020B0200000000000000" charset="-122"/>
                <a:sym typeface="Noto Sans SC" panose="020B0200000000000000" charset="-122"/>
              </a:rPr>
              <a:t>操作主体 &amp; 核心思想</a:t>
            </a:r>
            <a:endParaRPr lang="en-US" sz="1100"/>
          </a:p>
        </p:txBody>
      </p:sp>
      <p:sp>
        <p:nvSpPr>
          <p:cNvPr id="25" name="AutoShape 25"/>
          <p:cNvSpPr/>
          <p:nvPr/>
        </p:nvSpPr>
        <p:spPr>
          <a:xfrm>
            <a:off x="6413500" y="2438400"/>
            <a:ext cx="2349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基于自动化脚本与系统，由工程师构建底层逻辑。核心是解决一类可重复的问题，从根源优化流程。</a:t>
            </a:r>
            <a:endParaRPr lang="en-US" sz="1100"/>
          </a:p>
        </p:txBody>
      </p:sp>
      <p:sp>
        <p:nvSpPr>
          <p:cNvPr id="26" name="AutoShape 26"/>
          <p:cNvSpPr/>
          <p:nvPr/>
        </p:nvSpPr>
        <p:spPr>
          <a:xfrm>
            <a:off x="8890000" y="2095500"/>
            <a:ext cx="2476500" cy="1206500"/>
          </a:xfrm>
          <a:prstGeom prst="roundRect">
            <a:avLst>
              <a:gd name="adj" fmla="val 0"/>
            </a:avLst>
          </a:prstGeom>
          <a:solidFill>
            <a:srgbClr val="FFEDD5">
              <a:alpha val="75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8953500" y="2133600"/>
            <a:ext cx="23495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C2410C"/>
                </a:solidFill>
                <a:latin typeface="Noto Sans SC" panose="020B0200000000000000" charset="-122"/>
                <a:ea typeface="Noto Sans SC" panose="020B0200000000000000" charset="-122"/>
                <a:cs typeface="Noto Sans SC" panose="020B0200000000000000" charset="-122"/>
                <a:sym typeface="Noto Sans SC" panose="020B0200000000000000" charset="-122"/>
              </a:rPr>
              <a:t>容错与质量控制</a:t>
            </a:r>
            <a:endParaRPr lang="en-US" sz="1100"/>
          </a:p>
        </p:txBody>
      </p:sp>
      <p:sp>
        <p:nvSpPr>
          <p:cNvPr id="28" name="AutoShape 28"/>
          <p:cNvSpPr/>
          <p:nvPr/>
        </p:nvSpPr>
        <p:spPr>
          <a:xfrm>
            <a:off x="8953500" y="2438400"/>
            <a:ext cx="2349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建立全流程风控体系，事前预防异常、事中自动拦截错误、事后智能告警，确保数据的准确性。</a:t>
            </a:r>
            <a:endParaRPr lang="en-US" sz="1100"/>
          </a:p>
        </p:txBody>
      </p:sp>
      <p:sp>
        <p:nvSpPr>
          <p:cNvPr id="29" name="AutoShape 29"/>
          <p:cNvSpPr/>
          <p:nvPr/>
        </p:nvSpPr>
        <p:spPr>
          <a:xfrm>
            <a:off x="6350000" y="3365500"/>
            <a:ext cx="2476500" cy="1206500"/>
          </a:xfrm>
          <a:prstGeom prst="roundRect">
            <a:avLst>
              <a:gd name="adj" fmla="val 0"/>
            </a:avLst>
          </a:prstGeom>
          <a:solidFill>
            <a:srgbClr val="FFEDD5">
              <a:alpha val="75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6413500" y="3403600"/>
            <a:ext cx="23495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C2410C"/>
                </a:solidFill>
                <a:latin typeface="Noto Sans SC" panose="020B0200000000000000" charset="-122"/>
                <a:ea typeface="Noto Sans SC" panose="020B0200000000000000" charset="-122"/>
                <a:cs typeface="Noto Sans SC" panose="020B0200000000000000" charset="-122"/>
                <a:sym typeface="Noto Sans SC" panose="020B0200000000000000" charset="-122"/>
              </a:rPr>
              <a:t>复用性与扩展性</a:t>
            </a:r>
            <a:endParaRPr lang="en-US" sz="1100"/>
          </a:p>
        </p:txBody>
      </p:sp>
      <p:sp>
        <p:nvSpPr>
          <p:cNvPr id="31" name="AutoShape 31"/>
          <p:cNvSpPr/>
          <p:nvPr/>
        </p:nvSpPr>
        <p:spPr>
          <a:xfrm>
            <a:off x="6413500" y="3708400"/>
            <a:ext cx="2349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采用模块化、可配置的组件设计，一次开发多次复用；天然支持横向扩展，从容应对海量数据。</a:t>
            </a:r>
            <a:endParaRPr lang="en-US" sz="1100"/>
          </a:p>
        </p:txBody>
      </p:sp>
      <p:sp>
        <p:nvSpPr>
          <p:cNvPr id="32" name="AutoShape 32"/>
          <p:cNvSpPr/>
          <p:nvPr/>
        </p:nvSpPr>
        <p:spPr>
          <a:xfrm>
            <a:off x="8890000" y="3365500"/>
            <a:ext cx="2476500" cy="1206500"/>
          </a:xfrm>
          <a:prstGeom prst="roundRect">
            <a:avLst>
              <a:gd name="adj" fmla="val 0"/>
            </a:avLst>
          </a:prstGeom>
          <a:solidFill>
            <a:srgbClr val="FFEDD5">
              <a:alpha val="75000"/>
            </a:srgbClr>
          </a:solidFill>
          <a:ln w="25400" cap="flat" cmpd="sng">
            <a:noFill/>
            <a:prstDash val="solid"/>
            <a:round/>
          </a:ln>
        </p:spPr>
        <p:txBody>
          <a:bodyPr vert="horz" wrap="square" lIns="63500" tIns="63500" rIns="63500" bIns="63500" rtlCol="0" anchor="ctr"/>
          <a:lstStyle/>
          <a:p>
            <a:pPr algn="ctr">
              <a:defRPr/>
            </a:pPr>
          </a:p>
        </p:txBody>
      </p:sp>
      <p:sp>
        <p:nvSpPr>
          <p:cNvPr id="33" name="AutoShape 33"/>
          <p:cNvSpPr/>
          <p:nvPr/>
        </p:nvSpPr>
        <p:spPr>
          <a:xfrm>
            <a:off x="8953500" y="3403600"/>
            <a:ext cx="23495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C2410C"/>
                </a:solidFill>
                <a:latin typeface="Noto Sans SC" panose="020B0200000000000000" charset="-122"/>
                <a:ea typeface="Noto Sans SC" panose="020B0200000000000000" charset="-122"/>
                <a:cs typeface="Noto Sans SC" panose="020B0200000000000000" charset="-122"/>
                <a:sym typeface="Noto Sans SC" panose="020B0200000000000000" charset="-122"/>
              </a:rPr>
              <a:t>最终交付成果</a:t>
            </a:r>
            <a:endParaRPr lang="en-US" sz="1100"/>
          </a:p>
        </p:txBody>
      </p:sp>
      <p:sp>
        <p:nvSpPr>
          <p:cNvPr id="34" name="AutoShape 34"/>
          <p:cNvSpPr/>
          <p:nvPr/>
        </p:nvSpPr>
        <p:spPr>
          <a:xfrm>
            <a:off x="8953500" y="3708400"/>
            <a:ext cx="2349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构建出稳定、可靠、可维护的数据处理系统，作为企业的数据基础设施，持续赋能业务发展。</a:t>
            </a:r>
            <a:endParaRPr lang="en-US" sz="1100"/>
          </a:p>
        </p:txBody>
      </p:sp>
      <p:sp>
        <p:nvSpPr>
          <p:cNvPr id="35" name="AutoShape 35"/>
          <p:cNvSpPr/>
          <p:nvPr/>
        </p:nvSpPr>
        <p:spPr>
          <a:xfrm>
            <a:off x="762000" y="5207000"/>
            <a:ext cx="10731500" cy="1333500"/>
          </a:xfrm>
          <a:prstGeom prst="roundRect">
            <a:avLst>
              <a:gd name="adj" fmla="val 0"/>
            </a:avLst>
          </a:prstGeom>
          <a:solidFill>
            <a:srgbClr val="F97316">
              <a:alpha val="92000"/>
            </a:srgbClr>
          </a:solidFill>
          <a:ln w="25400" cap="flat" cmpd="sng">
            <a:noFill/>
            <a:prstDash val="solid"/>
            <a:round/>
          </a:ln>
        </p:spPr>
        <p:txBody>
          <a:bodyPr vert="horz" wrap="square" lIns="63500" tIns="63500" rIns="63500" bIns="63500" rtlCol="0" anchor="ctr"/>
          <a:lstStyle/>
          <a:p>
            <a:pPr algn="ctr">
              <a:defRPr/>
            </a:pPr>
          </a:p>
        </p:txBody>
      </p:sp>
      <p:sp>
        <p:nvSpPr>
          <p:cNvPr id="36" name="AutoShape 36"/>
          <p:cNvSpPr/>
          <p:nvPr/>
        </p:nvSpPr>
        <p:spPr>
          <a:xfrm>
            <a:off x="1016000" y="5283200"/>
            <a:ext cx="10160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核心思维跃迁</a:t>
            </a:r>
            <a:endParaRPr lang="en-US" sz="1100"/>
          </a:p>
        </p:txBody>
      </p:sp>
      <p:sp>
        <p:nvSpPr>
          <p:cNvPr id="37" name="AutoShape 37"/>
          <p:cNvSpPr/>
          <p:nvPr/>
        </p:nvSpPr>
        <p:spPr>
          <a:xfrm>
            <a:off x="1016000" y="5715000"/>
            <a:ext cx="10160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FFF7ED"/>
                </a:solidFill>
                <a:latin typeface="Noto Sans SC" panose="020B0200000000000000" charset="-122"/>
                <a:ea typeface="Noto Sans SC" panose="020B0200000000000000" charset="-122"/>
                <a:cs typeface="Noto Sans SC" panose="020B0200000000000000" charset="-122"/>
                <a:sym typeface="Noto Sans SC" panose="020B0200000000000000" charset="-122"/>
              </a:rPr>
              <a:t>从「为这次分析做什么」的单点执行思维，彻底升级为「如何构建一个系统，让下一次分析更简单」的体系化建设思维。这不仅是工作方法的改变，更是从被动响应需求到主动创造长期价值的关键跨越。</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对个人的价值：从“工具人”到“创造者”</a:t>
            </a:r>
            <a:endParaRPr lang="en-US" sz="1100"/>
          </a:p>
        </p:txBody>
      </p:sp>
      <p:sp>
        <p:nvSpPr>
          <p:cNvPr id="4" name="AutoShape 4"/>
          <p:cNvSpPr/>
          <p:nvPr/>
        </p:nvSpPr>
        <p:spPr>
          <a:xfrm>
            <a:off x="762000" y="1651000"/>
            <a:ext cx="3467100" cy="4445000"/>
          </a:xfrm>
          <a:prstGeom prst="roundRect">
            <a:avLst>
              <a:gd name="adj" fmla="val 0"/>
            </a:avLst>
          </a:prstGeom>
          <a:solidFill>
            <a:srgbClr val="FFFFFF">
              <a:alpha val="94000"/>
            </a:srgbClr>
          </a:solidFill>
          <a:ln w="12700" cap="flat" cmpd="sng">
            <a:solidFill>
              <a:srgbClr val="E5E7EB">
                <a:alpha val="8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34671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41500"/>
            <a:ext cx="30861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告别重复劳动，提升效率</a:t>
            </a:r>
            <a:endParaRPr lang="en-US" sz="1100"/>
          </a:p>
        </p:txBody>
      </p:sp>
      <p:sp>
        <p:nvSpPr>
          <p:cNvPr id="7" name="AutoShape 7"/>
          <p:cNvSpPr/>
          <p:nvPr/>
        </p:nvSpPr>
        <p:spPr>
          <a:xfrm>
            <a:off x="952500" y="2540000"/>
            <a:ext cx="3086100" cy="1143000"/>
          </a:xfrm>
          <a:prstGeom prst="roundRect">
            <a:avLst>
              <a:gd name="adj" fmla="val 0"/>
            </a:avLst>
          </a:prstGeom>
          <a:solidFill>
            <a:srgbClr val="FFEDD5">
              <a:alpha val="6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079500" y="2603500"/>
            <a:ext cx="28321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日常痛点：机械性重复工作</a:t>
            </a:r>
            <a:endParaRPr lang="en-US" sz="1100"/>
          </a:p>
        </p:txBody>
      </p:sp>
      <p:sp>
        <p:nvSpPr>
          <p:cNvPr id="9" name="AutoShape 9"/>
          <p:cNvSpPr/>
          <p:nvPr/>
        </p:nvSpPr>
        <p:spPr>
          <a:xfrm>
            <a:off x="1079500" y="2946400"/>
            <a:ext cx="28321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每月耗费数小时手动合并、清洗销售数据，繁琐的“体力活”挤占了核心工作时间，让精力消耗在无意义的重复流程中。</a:t>
            </a:r>
            <a:endParaRPr lang="en-US" sz="1100"/>
          </a:p>
        </p:txBody>
      </p:sp>
      <p:sp>
        <p:nvSpPr>
          <p:cNvPr id="10" name="AutoShape 10"/>
          <p:cNvSpPr/>
          <p:nvPr/>
        </p:nvSpPr>
        <p:spPr>
          <a:xfrm>
            <a:off x="952500" y="3873500"/>
            <a:ext cx="30861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编写自动化Python脚本，将所有流程代码化。从此每月只需一键运行，系统自动完成数据的拉取、清洗与报表生成。</a:t>
            </a:r>
            <a:endParaRPr lang="en-US" sz="1100"/>
          </a:p>
        </p:txBody>
      </p:sp>
      <p:sp>
        <p:nvSpPr>
          <p:cNvPr id="11" name="AutoShape 11"/>
          <p:cNvSpPr/>
          <p:nvPr/>
        </p:nvSpPr>
        <p:spPr>
          <a:xfrm>
            <a:off x="952500" y="4826000"/>
            <a:ext cx="3086100" cy="1143000"/>
          </a:xfrm>
          <a:prstGeom prst="roundRect">
            <a:avLst>
              <a:gd name="adj" fmla="val 0"/>
            </a:avLst>
          </a:prstGeom>
          <a:solidFill>
            <a:srgbClr val="F97316">
              <a:alpha val="8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079500" y="4889500"/>
            <a:ext cx="28321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C2410C"/>
                </a:solidFill>
                <a:latin typeface="Noto Sans SC" panose="020B0200000000000000" charset="-122"/>
                <a:ea typeface="Noto Sans SC" panose="020B0200000000000000" charset="-122"/>
                <a:cs typeface="Noto Sans SC" panose="020B0200000000000000" charset="-122"/>
                <a:sym typeface="Noto Sans SC" panose="020B0200000000000000" charset="-122"/>
              </a:rPr>
              <a:t>价值：时间的“复利”回报</a:t>
            </a:r>
            <a:endParaRPr lang="en-US" sz="1100"/>
          </a:p>
        </p:txBody>
      </p:sp>
      <p:sp>
        <p:nvSpPr>
          <p:cNvPr id="13" name="AutoShape 13"/>
          <p:cNvSpPr/>
          <p:nvPr/>
        </p:nvSpPr>
        <p:spPr>
          <a:xfrm>
            <a:off x="1079500" y="5232400"/>
            <a:ext cx="28321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彻底从繁琐操作中解放，把节省的时间投入到深度业务分析与策略思考中，让工作产出更具含金量。</a:t>
            </a:r>
            <a:endParaRPr lang="en-US" sz="1100"/>
          </a:p>
        </p:txBody>
      </p:sp>
      <p:sp>
        <p:nvSpPr>
          <p:cNvPr id="14" name="AutoShape 14"/>
          <p:cNvSpPr/>
          <p:nvPr/>
        </p:nvSpPr>
        <p:spPr>
          <a:xfrm>
            <a:off x="4445000" y="1651000"/>
            <a:ext cx="3467100" cy="4445000"/>
          </a:xfrm>
          <a:prstGeom prst="roundRect">
            <a:avLst>
              <a:gd name="adj" fmla="val 0"/>
            </a:avLst>
          </a:prstGeom>
          <a:solidFill>
            <a:srgbClr val="FFFFFF">
              <a:alpha val="94000"/>
            </a:srgbClr>
          </a:solidFill>
          <a:ln w="12700" cap="flat" cmpd="sng">
            <a:solidFill>
              <a:srgbClr val="E5E7EB">
                <a:alpha val="8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4445000" y="1651000"/>
            <a:ext cx="34671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4635500" y="1841500"/>
            <a:ext cx="30861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减少人为错误，提升专业度</a:t>
            </a:r>
            <a:endParaRPr lang="en-US" sz="1100"/>
          </a:p>
        </p:txBody>
      </p:sp>
      <p:sp>
        <p:nvSpPr>
          <p:cNvPr id="17" name="AutoShape 17"/>
          <p:cNvSpPr/>
          <p:nvPr/>
        </p:nvSpPr>
        <p:spPr>
          <a:xfrm>
            <a:off x="4635500" y="2540000"/>
            <a:ext cx="3086100" cy="1143000"/>
          </a:xfrm>
          <a:prstGeom prst="roundRect">
            <a:avLst>
              <a:gd name="adj" fmla="val 0"/>
            </a:avLst>
          </a:prstGeom>
          <a:solidFill>
            <a:srgbClr val="FFEDD5">
              <a:alpha val="6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4762500" y="2603500"/>
            <a:ext cx="28321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日常痛点：人工操作的不确定性</a:t>
            </a:r>
            <a:endParaRPr lang="en-US" sz="1100"/>
          </a:p>
        </p:txBody>
      </p:sp>
      <p:sp>
        <p:nvSpPr>
          <p:cNvPr id="19" name="AutoShape 19"/>
          <p:cNvSpPr/>
          <p:nvPr/>
        </p:nvSpPr>
        <p:spPr>
          <a:xfrm>
            <a:off x="4762500" y="2946400"/>
            <a:ext cx="28321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手动制作报表时极易出现引用错误，如VLOOKUP函数错位或数据复制遗漏，导致决策依据失真，甚至引发业务判断偏差。</a:t>
            </a:r>
            <a:endParaRPr lang="en-US" sz="1100"/>
          </a:p>
        </p:txBody>
      </p:sp>
      <p:sp>
        <p:nvSpPr>
          <p:cNvPr id="20" name="AutoShape 20"/>
          <p:cNvSpPr/>
          <p:nvPr/>
        </p:nvSpPr>
        <p:spPr>
          <a:xfrm>
            <a:off x="4635500" y="3873500"/>
            <a:ext cx="30861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以标准化的代码逻辑替代人工干预，确保每一步数据处理的一致性与准确性。自动化执行消除了疲劳和疏忽带来的风险。</a:t>
            </a:r>
            <a:endParaRPr lang="en-US" sz="1100"/>
          </a:p>
        </p:txBody>
      </p:sp>
      <p:sp>
        <p:nvSpPr>
          <p:cNvPr id="21" name="AutoShape 21"/>
          <p:cNvSpPr/>
          <p:nvPr/>
        </p:nvSpPr>
        <p:spPr>
          <a:xfrm>
            <a:off x="4635500" y="4826000"/>
            <a:ext cx="3086100" cy="1143000"/>
          </a:xfrm>
          <a:prstGeom prst="roundRect">
            <a:avLst>
              <a:gd name="adj" fmla="val 0"/>
            </a:avLst>
          </a:prstGeom>
          <a:solidFill>
            <a:srgbClr val="F97316">
              <a:alpha val="8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4762500" y="4889500"/>
            <a:ext cx="28321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C2410C"/>
                </a:solidFill>
                <a:latin typeface="Noto Sans SC" panose="020B0200000000000000" charset="-122"/>
                <a:ea typeface="Noto Sans SC" panose="020B0200000000000000" charset="-122"/>
                <a:cs typeface="Noto Sans SC" panose="020B0200000000000000" charset="-122"/>
                <a:sym typeface="Noto Sans SC" panose="020B0200000000000000" charset="-122"/>
              </a:rPr>
              <a:t>价值：专业信任的构建</a:t>
            </a:r>
            <a:endParaRPr lang="en-US" sz="1100"/>
          </a:p>
        </p:txBody>
      </p:sp>
      <p:sp>
        <p:nvSpPr>
          <p:cNvPr id="23" name="AutoShape 23"/>
          <p:cNvSpPr/>
          <p:nvPr/>
        </p:nvSpPr>
        <p:spPr>
          <a:xfrm>
            <a:off x="4762500" y="5232400"/>
            <a:ext cx="28321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工作成果的高可靠性不仅减少了返工成本，更在团队中树立了严谨、专业的个人形象，成为值得信赖的业务伙伴。</a:t>
            </a:r>
            <a:endParaRPr lang="en-US" sz="1100"/>
          </a:p>
        </p:txBody>
      </p:sp>
      <p:sp>
        <p:nvSpPr>
          <p:cNvPr id="24" name="AutoShape 24"/>
          <p:cNvSpPr/>
          <p:nvPr/>
        </p:nvSpPr>
        <p:spPr>
          <a:xfrm>
            <a:off x="8128000" y="1651000"/>
            <a:ext cx="3467100" cy="4445000"/>
          </a:xfrm>
          <a:prstGeom prst="roundRect">
            <a:avLst>
              <a:gd name="adj" fmla="val 0"/>
            </a:avLst>
          </a:prstGeom>
          <a:solidFill>
            <a:srgbClr val="FFFFFF">
              <a:alpha val="94000"/>
            </a:srgbClr>
          </a:solidFill>
          <a:ln w="12700" cap="flat" cmpd="sng">
            <a:solidFill>
              <a:srgbClr val="E5E7EB">
                <a:alpha val="80000"/>
              </a:srgbClr>
            </a:solidFill>
            <a:prstDash val="solid"/>
            <a:round/>
          </a:ln>
        </p:spPr>
        <p:txBody>
          <a:bodyPr vert="horz" wrap="square" lIns="63500" tIns="63500" rIns="63500" bIns="63500" rtlCol="0" anchor="ctr"/>
          <a:lstStyle/>
          <a:p>
            <a:pPr algn="ctr">
              <a:defRPr/>
            </a:pPr>
          </a:p>
        </p:txBody>
      </p:sp>
      <p:sp>
        <p:nvSpPr>
          <p:cNvPr id="25" name="AutoShape 25"/>
          <p:cNvSpPr/>
          <p:nvPr/>
        </p:nvSpPr>
        <p:spPr>
          <a:xfrm>
            <a:off x="8128000" y="1651000"/>
            <a:ext cx="34671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8318500" y="1841500"/>
            <a:ext cx="30861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提升职业竞争力</a:t>
            </a:r>
            <a:endParaRPr lang="en-US" sz="1100"/>
          </a:p>
        </p:txBody>
      </p:sp>
      <p:sp>
        <p:nvSpPr>
          <p:cNvPr id="27" name="AutoShape 27"/>
          <p:cNvSpPr/>
          <p:nvPr/>
        </p:nvSpPr>
        <p:spPr>
          <a:xfrm>
            <a:off x="8318500" y="2540000"/>
            <a:ext cx="3086100" cy="1143000"/>
          </a:xfrm>
          <a:prstGeom prst="roundRect">
            <a:avLst>
              <a:gd name="adj" fmla="val 0"/>
            </a:avLst>
          </a:prstGeom>
          <a:solidFill>
            <a:srgbClr val="FFEDD5">
              <a:alpha val="6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8445500" y="2603500"/>
            <a:ext cx="28321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行业趋势：技术重塑工作边界</a:t>
            </a:r>
            <a:endParaRPr lang="en-US" sz="1100"/>
          </a:p>
        </p:txBody>
      </p:sp>
      <p:sp>
        <p:nvSpPr>
          <p:cNvPr id="29" name="AutoShape 29"/>
          <p:cNvSpPr/>
          <p:nvPr/>
        </p:nvSpPr>
        <p:spPr>
          <a:xfrm>
            <a:off x="8445500" y="2946400"/>
            <a:ext cx="28321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随着AI与低代码工具普及，基础的数据搬运与报表工作正快速被自动化替代。仅掌握基础操作已难以形成核心优势。</a:t>
            </a:r>
            <a:endParaRPr lang="en-US" sz="1100"/>
          </a:p>
        </p:txBody>
      </p:sp>
      <p:sp>
        <p:nvSpPr>
          <p:cNvPr id="30" name="AutoShape 30"/>
          <p:cNvSpPr/>
          <p:nvPr/>
        </p:nvSpPr>
        <p:spPr>
          <a:xfrm>
            <a:off x="8318500" y="3873500"/>
            <a:ext cx="30861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掌握数据工程思维，意味着具备了构建、优化自动化系统的能力。从被动执行任务转变为主动设计工具，解决更复杂的业务问题。</a:t>
            </a:r>
            <a:endParaRPr lang="en-US" sz="1100"/>
          </a:p>
        </p:txBody>
      </p:sp>
      <p:sp>
        <p:nvSpPr>
          <p:cNvPr id="31" name="AutoShape 31"/>
          <p:cNvSpPr/>
          <p:nvPr/>
        </p:nvSpPr>
        <p:spPr>
          <a:xfrm>
            <a:off x="8318500" y="4826000"/>
            <a:ext cx="3086100" cy="1143000"/>
          </a:xfrm>
          <a:prstGeom prst="roundRect">
            <a:avLst>
              <a:gd name="adj" fmla="val 0"/>
            </a:avLst>
          </a:prstGeom>
          <a:solidFill>
            <a:srgbClr val="F97316">
              <a:alpha val="8000"/>
            </a:srgbClr>
          </a:solidFill>
          <a:ln w="25400" cap="flat" cmpd="sng">
            <a:noFill/>
            <a:prstDash val="solid"/>
            <a:round/>
          </a:ln>
        </p:spPr>
        <p:txBody>
          <a:bodyPr vert="horz" wrap="square" lIns="63500" tIns="63500" rIns="63500" bIns="63500" rtlCol="0" anchor="ctr"/>
          <a:lstStyle/>
          <a:p>
            <a:pPr algn="ctr">
              <a:defRPr/>
            </a:pPr>
          </a:p>
        </p:txBody>
      </p:sp>
      <p:sp>
        <p:nvSpPr>
          <p:cNvPr id="32" name="AutoShape 32"/>
          <p:cNvSpPr/>
          <p:nvPr/>
        </p:nvSpPr>
        <p:spPr>
          <a:xfrm>
            <a:off x="8445500" y="4889500"/>
            <a:ext cx="28321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C2410C"/>
                </a:solidFill>
                <a:latin typeface="Noto Sans SC" panose="020B0200000000000000" charset="-122"/>
                <a:ea typeface="Noto Sans SC" panose="020B0200000000000000" charset="-122"/>
                <a:cs typeface="Noto Sans SC" panose="020B0200000000000000" charset="-122"/>
                <a:sym typeface="Noto Sans SC" panose="020B0200000000000000" charset="-122"/>
              </a:rPr>
              <a:t>价值：稀缺的高阶能力</a:t>
            </a:r>
            <a:endParaRPr lang="en-US" sz="1100"/>
          </a:p>
        </p:txBody>
      </p:sp>
      <p:sp>
        <p:nvSpPr>
          <p:cNvPr id="33" name="AutoShape 33"/>
          <p:cNvSpPr/>
          <p:nvPr/>
        </p:nvSpPr>
        <p:spPr>
          <a:xfrm>
            <a:off x="8445500" y="5232400"/>
            <a:ext cx="28321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这不仅是效率的提升，更是职业角色的跃迁。拥有“创造者”思维，让你在未来的人才竞争中拥有不可替代的独特优势。</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对组织的价值：数字化转型的基石</a:t>
            </a:r>
            <a:endParaRPr lang="en-US" sz="1100"/>
          </a:p>
        </p:txBody>
      </p:sp>
      <p:sp>
        <p:nvSpPr>
          <p:cNvPr id="4" name="AutoShape 4"/>
          <p:cNvSpPr/>
          <p:nvPr/>
        </p:nvSpPr>
        <p:spPr>
          <a:xfrm>
            <a:off x="762000" y="1651000"/>
            <a:ext cx="5207000" cy="4572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207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905000"/>
            <a:ext cx="4699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打破数据孤岛 (Data Silos)</a:t>
            </a:r>
            <a:endParaRPr lang="en-US" sz="1100"/>
          </a:p>
        </p:txBody>
      </p:sp>
      <p:sp>
        <p:nvSpPr>
          <p:cNvPr id="7" name="AutoShape 7"/>
          <p:cNvSpPr/>
          <p:nvPr/>
        </p:nvSpPr>
        <p:spPr>
          <a:xfrm>
            <a:off x="1016000" y="2667000"/>
            <a:ext cx="4699000" cy="1206500"/>
          </a:xfrm>
          <a:prstGeom prst="roundRect">
            <a:avLst>
              <a:gd name="adj" fmla="val 0"/>
            </a:avLst>
          </a:prstGeom>
          <a:solidFill>
            <a:srgbClr val="F97316">
              <a:alpha val="8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143000" y="2730500"/>
            <a:ext cx="444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现状：信息割裂，视角受限</a:t>
            </a:r>
            <a:endParaRPr lang="en-US" sz="1100"/>
          </a:p>
        </p:txBody>
      </p:sp>
      <p:sp>
        <p:nvSpPr>
          <p:cNvPr id="9" name="AutoShape 9"/>
          <p:cNvSpPr/>
          <p:nvPr/>
        </p:nvSpPr>
        <p:spPr>
          <a:xfrm>
            <a:off x="1143000" y="3073400"/>
            <a:ext cx="4445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销售、财务与用户行为数据分散在CRM、ERP与日志文件中，系统间壁垒森严。各部门仅能看到局部数据，形成彼此孤立的信息断层，无法支撑跨业务线的综合分析。</a:t>
            </a:r>
            <a:endParaRPr lang="en-US" sz="1100"/>
          </a:p>
        </p:txBody>
      </p:sp>
      <p:sp>
        <p:nvSpPr>
          <p:cNvPr id="10" name="AutoShape 10"/>
          <p:cNvSpPr/>
          <p:nvPr/>
        </p:nvSpPr>
        <p:spPr>
          <a:xfrm>
            <a:off x="1016000" y="4000500"/>
            <a:ext cx="4699000" cy="1206500"/>
          </a:xfrm>
          <a:prstGeom prst="roundRect">
            <a:avLst>
              <a:gd name="adj" fmla="val 0"/>
            </a:avLst>
          </a:prstGeom>
          <a:solidFill>
            <a:srgbClr val="F97316">
              <a:alpha val="8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143000" y="4064000"/>
            <a:ext cx="444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方案：统一平台，融合异构</a:t>
            </a:r>
            <a:endParaRPr lang="en-US" sz="1100"/>
          </a:p>
        </p:txBody>
      </p:sp>
      <p:sp>
        <p:nvSpPr>
          <p:cNvPr id="12" name="AutoShape 12"/>
          <p:cNvSpPr/>
          <p:nvPr/>
        </p:nvSpPr>
        <p:spPr>
          <a:xfrm>
            <a:off x="1143000" y="4406900"/>
            <a:ext cx="4445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搭建统一数据平台与数仓架构，通过ETL/ELT技术清洗、转换并融合多源异构数据。消除不同系统间的数据格式与语义差异，让原本割裂的信息在同一个平台上实现互联互通。</a:t>
            </a:r>
            <a:endParaRPr lang="en-US" sz="1100"/>
          </a:p>
        </p:txBody>
      </p:sp>
      <p:sp>
        <p:nvSpPr>
          <p:cNvPr id="13" name="AutoShape 13"/>
          <p:cNvSpPr/>
          <p:nvPr/>
        </p:nvSpPr>
        <p:spPr>
          <a:xfrm>
            <a:off x="1016000" y="5334000"/>
            <a:ext cx="4699000" cy="825500"/>
          </a:xfrm>
          <a:prstGeom prst="roundRect">
            <a:avLst>
              <a:gd name="adj" fmla="val 0"/>
            </a:avLst>
          </a:prstGeom>
          <a:solidFill>
            <a:srgbClr val="FFEDD5">
              <a:alpha val="85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1143000" y="5372100"/>
            <a:ext cx="4445000" cy="7366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C2410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a:t>
            </a:r>
            <a:r>
              <a:rPr lang="en-US" sz="1200" b="0" i="0" u="none" strike="noStrike">
                <a:solidFill>
                  <a:srgbClr val="431407">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打破壁垒形成全局视图，为管理层提供实时准确的决策依据，大幅减少跨部门沟通成本与信息不对称。</a:t>
            </a:r>
            <a:endParaRPr lang="en-US" sz="1100"/>
          </a:p>
        </p:txBody>
      </p:sp>
      <p:cxnSp>
        <p:nvCxnSpPr>
          <p:cNvPr id="15" name="Connector 15"/>
          <p:cNvCxnSpPr/>
          <p:nvPr/>
        </p:nvCxnSpPr>
        <p:spPr>
          <a:xfrm rot="5390177">
            <a:off x="3873500" y="3994159"/>
            <a:ext cx="4445000" cy="12700"/>
          </a:xfrm>
          <a:prstGeom prst="straightConnector1">
            <a:avLst/>
          </a:prstGeom>
          <a:solidFill>
            <a:srgbClr val="DEE0E3">
              <a:alpha val="100000"/>
            </a:srgbClr>
          </a:solidFill>
          <a:ln w="12700" cap="flat" cmpd="sng">
            <a:solidFill>
              <a:srgbClr val="F97316">
                <a:alpha val="25000"/>
              </a:srgbClr>
            </a:solidFill>
            <a:prstDash val="solid"/>
            <a:round/>
            <a:headEnd type="none" w="med" len="med"/>
            <a:tailEnd type="none" w="med" len="med"/>
          </a:ln>
        </p:spPr>
      </p:cxnSp>
      <p:sp>
        <p:nvSpPr>
          <p:cNvPr id="16" name="AutoShape 16"/>
          <p:cNvSpPr/>
          <p:nvPr/>
        </p:nvSpPr>
        <p:spPr>
          <a:xfrm>
            <a:off x="6223000" y="1651000"/>
            <a:ext cx="5207000" cy="4572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6223000" y="1651000"/>
            <a:ext cx="5207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477000" y="1905000"/>
            <a:ext cx="4699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沉淀数据资产 (Data Asset)</a:t>
            </a:r>
            <a:endParaRPr lang="en-US" sz="1100"/>
          </a:p>
        </p:txBody>
      </p:sp>
      <p:sp>
        <p:nvSpPr>
          <p:cNvPr id="19" name="AutoShape 19"/>
          <p:cNvSpPr/>
          <p:nvPr/>
        </p:nvSpPr>
        <p:spPr>
          <a:xfrm>
            <a:off x="6477000" y="2667000"/>
            <a:ext cx="4699000" cy="1206500"/>
          </a:xfrm>
          <a:prstGeom prst="roundRect">
            <a:avLst>
              <a:gd name="adj" fmla="val 0"/>
            </a:avLst>
          </a:prstGeom>
          <a:solidFill>
            <a:srgbClr val="F97316">
              <a:alpha val="8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6604000" y="2730500"/>
            <a:ext cx="444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现状：经验流失，重复造轮</a:t>
            </a:r>
            <a:endParaRPr lang="en-US" sz="1100"/>
          </a:p>
        </p:txBody>
      </p:sp>
      <p:sp>
        <p:nvSpPr>
          <p:cNvPr id="21" name="AutoShape 21"/>
          <p:cNvSpPr/>
          <p:nvPr/>
        </p:nvSpPr>
        <p:spPr>
          <a:xfrm>
            <a:off x="6604000" y="3073400"/>
            <a:ext cx="4445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分析师各自为战，数据处理逻辑分散在本地脚本与临时报表中。关键的业务理解与清洗经验随人员流动而流失，新人接手时往往需要从零开始，造成大量重复劳动与效率损耗。</a:t>
            </a:r>
            <a:endParaRPr lang="en-US" sz="1100"/>
          </a:p>
        </p:txBody>
      </p:sp>
      <p:sp>
        <p:nvSpPr>
          <p:cNvPr id="22" name="AutoShape 22"/>
          <p:cNvSpPr/>
          <p:nvPr/>
        </p:nvSpPr>
        <p:spPr>
          <a:xfrm>
            <a:off x="6477000" y="4000500"/>
            <a:ext cx="4699000" cy="1206500"/>
          </a:xfrm>
          <a:prstGeom prst="roundRect">
            <a:avLst>
              <a:gd name="adj" fmla="val 0"/>
            </a:avLst>
          </a:prstGeom>
          <a:solidFill>
            <a:srgbClr val="F97316">
              <a:alpha val="8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6604000" y="4064000"/>
            <a:ext cx="444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方案：标准固化，中台赋能</a:t>
            </a:r>
            <a:endParaRPr lang="en-US" sz="1100"/>
          </a:p>
        </p:txBody>
      </p:sp>
      <p:sp>
        <p:nvSpPr>
          <p:cNvPr id="24" name="AutoShape 24"/>
          <p:cNvSpPr/>
          <p:nvPr/>
        </p:nvSpPr>
        <p:spPr>
          <a:xfrm>
            <a:off x="6604000" y="4406900"/>
            <a:ext cx="4445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标准化数据开发流程，将业务规则固化为可复用的模型与管道。构建企业级数据中台，把隐性的个人经验转化为显性的系统逻辑，实现数据资产的统一管理与快速复用。</a:t>
            </a:r>
            <a:endParaRPr lang="en-US" sz="1100"/>
          </a:p>
        </p:txBody>
      </p:sp>
      <p:sp>
        <p:nvSpPr>
          <p:cNvPr id="25" name="AutoShape 25"/>
          <p:cNvSpPr/>
          <p:nvPr/>
        </p:nvSpPr>
        <p:spPr>
          <a:xfrm>
            <a:off x="6477000" y="5334000"/>
            <a:ext cx="4699000" cy="825500"/>
          </a:xfrm>
          <a:prstGeom prst="roundRect">
            <a:avLst>
              <a:gd name="adj" fmla="val 0"/>
            </a:avLst>
          </a:prstGeom>
          <a:solidFill>
            <a:srgbClr val="FFEDD5">
              <a:alpha val="85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6604000" y="5372100"/>
            <a:ext cx="4445000" cy="7366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C2410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a:t>
            </a:r>
            <a:r>
              <a:rPr lang="en-US" sz="1200" b="0" i="0" u="none" strike="noStrike">
                <a:solidFill>
                  <a:srgbClr val="431407">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形成可继承的智力资产，降低对核心人员的依赖，持续积累组织数据能力，为业务创新提供稳定、高质量的数据底座。</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课堂研讨一：分享你的“数据噩梦”</a:t>
            </a:r>
            <a:endParaRPr lang="en-US" sz="1100"/>
          </a:p>
        </p:txBody>
      </p:sp>
      <p:sp>
        <p:nvSpPr>
          <p:cNvPr id="4" name="AutoShape 4"/>
          <p:cNvSpPr/>
          <p:nvPr/>
        </p:nvSpPr>
        <p:spPr>
          <a:xfrm>
            <a:off x="762000" y="1524000"/>
            <a:ext cx="10668000" cy="1714500"/>
          </a:xfrm>
          <a:prstGeom prst="roundRect">
            <a:avLst>
              <a:gd name="adj" fmla="val 0"/>
            </a:avLst>
          </a:prstGeom>
          <a:solidFill>
            <a:srgbClr val="FFFFFF">
              <a:alpha val="94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524000"/>
            <a:ext cx="76200" cy="17145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651000"/>
            <a:ext cx="100330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请回顾你最近一次处理数据的经历（课程作业、实习或个人项目），列举出最让你感到烦躁、最耗费时间的三个具体操作。</a:t>
            </a:r>
            <a:endParaRPr lang="en-US" sz="1100"/>
          </a:p>
          <a:p>
            <a:pPr marL="0" indent="0" algn="l">
              <a:lnSpc>
                <a:spcPct val="117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深入思考：这些操作是否存在某种共性？它们是否只是简单的体力劳动？如果将这些工作交给程序，是否可以被自动化解决？</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762000" y="3429000"/>
            <a:ext cx="2603500" cy="1841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762000" y="3429000"/>
            <a:ext cx="2603500" cy="381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14400" y="3619500"/>
            <a:ext cx="304800" cy="304800"/>
          </a:xfrm>
          <a:prstGeom prst="rect">
            <a:avLst/>
          </a:prstGeom>
        </p:spPr>
      </p:pic>
      <p:sp>
        <p:nvSpPr>
          <p:cNvPr id="10" name="AutoShape 10"/>
          <p:cNvSpPr/>
          <p:nvPr/>
        </p:nvSpPr>
        <p:spPr>
          <a:xfrm>
            <a:off x="1333500" y="3581400"/>
            <a:ext cx="190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重复复制粘贴</a:t>
            </a:r>
            <a:endParaRPr lang="en-US" sz="1100"/>
          </a:p>
        </p:txBody>
      </p:sp>
      <p:sp>
        <p:nvSpPr>
          <p:cNvPr id="11" name="AutoShape 11"/>
          <p:cNvSpPr/>
          <p:nvPr/>
        </p:nvSpPr>
        <p:spPr>
          <a:xfrm>
            <a:off x="914400" y="4127500"/>
            <a:ext cx="23114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是否在反复地复制粘贴数据？这种无意义的机械操作不仅效率低，还极易在重复中引入人为错误。</a:t>
            </a:r>
            <a:endParaRPr lang="en-US" sz="1100"/>
          </a:p>
        </p:txBody>
      </p:sp>
      <p:sp>
        <p:nvSpPr>
          <p:cNvPr id="12" name="AutoShape 12"/>
          <p:cNvSpPr/>
          <p:nvPr/>
        </p:nvSpPr>
        <p:spPr>
          <a:xfrm>
            <a:off x="3467100" y="3429000"/>
            <a:ext cx="2603500" cy="1841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3467100" y="3429000"/>
            <a:ext cx="2603500" cy="381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619500" y="3619500"/>
            <a:ext cx="304800" cy="304800"/>
          </a:xfrm>
          <a:prstGeom prst="rect">
            <a:avLst/>
          </a:prstGeom>
        </p:spPr>
      </p:pic>
      <p:sp>
        <p:nvSpPr>
          <p:cNvPr id="15" name="AutoShape 15"/>
          <p:cNvSpPr/>
          <p:nvPr/>
        </p:nvSpPr>
        <p:spPr>
          <a:xfrm>
            <a:off x="4038600" y="3581400"/>
            <a:ext cx="190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格式混乱不一</a:t>
            </a:r>
            <a:endParaRPr lang="en-US" sz="1100"/>
          </a:p>
        </p:txBody>
      </p:sp>
      <p:sp>
        <p:nvSpPr>
          <p:cNvPr id="16" name="AutoShape 16"/>
          <p:cNvSpPr/>
          <p:nvPr/>
        </p:nvSpPr>
        <p:spPr>
          <a:xfrm>
            <a:off x="3619500" y="4127500"/>
            <a:ext cx="23114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是否总在处理日期、单位、编码的格式不一致？为了让数据对齐，不得不花费大量时间做“清洗”工作。</a:t>
            </a:r>
            <a:endParaRPr lang="en-US" sz="1100"/>
          </a:p>
        </p:txBody>
      </p:sp>
      <p:sp>
        <p:nvSpPr>
          <p:cNvPr id="17" name="AutoShape 17"/>
          <p:cNvSpPr/>
          <p:nvPr/>
        </p:nvSpPr>
        <p:spPr>
          <a:xfrm>
            <a:off x="6172200" y="3429000"/>
            <a:ext cx="2603500" cy="1841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172200" y="3429000"/>
            <a:ext cx="2603500" cy="381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324600" y="3619500"/>
            <a:ext cx="304800" cy="304800"/>
          </a:xfrm>
          <a:prstGeom prst="rect">
            <a:avLst/>
          </a:prstGeom>
        </p:spPr>
      </p:pic>
      <p:sp>
        <p:nvSpPr>
          <p:cNvPr id="20" name="AutoShape 20"/>
          <p:cNvSpPr/>
          <p:nvPr/>
        </p:nvSpPr>
        <p:spPr>
          <a:xfrm>
            <a:off x="6743700" y="3581400"/>
            <a:ext cx="190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手动合并表格</a:t>
            </a:r>
            <a:endParaRPr lang="en-US" sz="1100"/>
          </a:p>
        </p:txBody>
      </p:sp>
      <p:sp>
        <p:nvSpPr>
          <p:cNvPr id="21" name="AutoShape 21"/>
          <p:cNvSpPr/>
          <p:nvPr/>
        </p:nvSpPr>
        <p:spPr>
          <a:xfrm>
            <a:off x="6324600" y="4127500"/>
            <a:ext cx="23114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是否需要在多个Excel或CSV文件间来回切换，手动查找和合并信息？这不仅枯燥，还容易造成数据遗漏。</a:t>
            </a:r>
            <a:endParaRPr lang="en-US" sz="1100"/>
          </a:p>
        </p:txBody>
      </p:sp>
      <p:sp>
        <p:nvSpPr>
          <p:cNvPr id="22" name="AutoShape 22"/>
          <p:cNvSpPr/>
          <p:nvPr/>
        </p:nvSpPr>
        <p:spPr>
          <a:xfrm>
            <a:off x="8877300" y="3429000"/>
            <a:ext cx="2603500" cy="1841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8877300" y="3429000"/>
            <a:ext cx="2603500" cy="381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029700" y="3619500"/>
            <a:ext cx="304800" cy="304800"/>
          </a:xfrm>
          <a:prstGeom prst="rect">
            <a:avLst/>
          </a:prstGeom>
        </p:spPr>
      </p:pic>
      <p:sp>
        <p:nvSpPr>
          <p:cNvPr id="25" name="AutoShape 25"/>
          <p:cNvSpPr/>
          <p:nvPr/>
        </p:nvSpPr>
        <p:spPr>
          <a:xfrm>
            <a:off x="9448800" y="3581400"/>
            <a:ext cx="190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流程推倒重来</a:t>
            </a:r>
            <a:endParaRPr lang="en-US" sz="1100"/>
          </a:p>
        </p:txBody>
      </p:sp>
      <p:sp>
        <p:nvSpPr>
          <p:cNvPr id="26" name="AutoShape 26"/>
          <p:cNvSpPr/>
          <p:nvPr/>
        </p:nvSpPr>
        <p:spPr>
          <a:xfrm>
            <a:off x="9029700" y="4127500"/>
            <a:ext cx="23114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是否因为一个微小的输入错误，就需要重新运行整个繁琐的处理流程？时间就这样被一次次无效重试消耗。</a:t>
            </a:r>
            <a:endParaRPr lang="en-US" sz="1100"/>
          </a:p>
        </p:txBody>
      </p:sp>
      <p:sp>
        <p:nvSpPr>
          <p:cNvPr id="27" name="AutoShape 27"/>
          <p:cNvSpPr/>
          <p:nvPr/>
        </p:nvSpPr>
        <p:spPr>
          <a:xfrm>
            <a:off x="762000" y="5461000"/>
            <a:ext cx="10668000" cy="1079500"/>
          </a:xfrm>
          <a:prstGeom prst="roundRect">
            <a:avLst>
              <a:gd name="adj" fmla="val 0"/>
            </a:avLst>
          </a:prstGeom>
          <a:solidFill>
            <a:srgbClr val="FFF7ED">
              <a:alpha val="95000"/>
            </a:srgbClr>
          </a:solidFill>
          <a:ln w="25400" cap="flat" cmpd="sng">
            <a:noFill/>
            <a:prstDash val="solid"/>
            <a:round/>
          </a:ln>
        </p:spPr>
        <p:txBody>
          <a:bodyPr vert="horz" wrap="square" lIns="63500" tIns="63500" rIns="63500" bIns="63500" rtlCol="0" anchor="ctr"/>
          <a:lstStyle/>
          <a:p>
            <a:pPr algn="ctr">
              <a:defRPr/>
            </a:pPr>
          </a:p>
        </p:txBody>
      </p:sp>
      <p:pic>
        <p:nvPicPr>
          <p:cNvPr id="28" name="Picture 2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52500" y="5588000"/>
            <a:ext cx="304800" cy="304800"/>
          </a:xfrm>
          <a:prstGeom prst="rect">
            <a:avLst/>
          </a:prstGeom>
        </p:spPr>
      </p:pic>
      <p:sp>
        <p:nvSpPr>
          <p:cNvPr id="29" name="AutoShape 29"/>
          <p:cNvSpPr/>
          <p:nvPr/>
        </p:nvSpPr>
        <p:spPr>
          <a:xfrm>
            <a:off x="1397000" y="5562600"/>
            <a:ext cx="977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1" i="0" u="none" strike="noStrike">
                <a:solidFill>
                  <a:srgbClr val="9A3412"/>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核心思考：</a:t>
            </a:r>
            <a:r>
              <a:rPr lang="en-US" sz="1300" b="0" i="0" u="none" strike="noStrike">
                <a:solidFill>
                  <a:srgbClr val="431407">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这些看似琐碎的“噩梦”并非偶然，它们往往是数据工作流中可以被自动化的关键点。找到这些痛点的共性，就是我们开启高效数据处理、迈向自动化解决方案的第一步。</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课堂研讨二：设计一个“班级成绩管理系统”</a:t>
            </a:r>
            <a:endParaRPr lang="en-US" sz="1100"/>
          </a:p>
        </p:txBody>
      </p:sp>
      <p:sp>
        <p:nvSpPr>
          <p:cNvPr id="4" name="AutoShape 4"/>
          <p:cNvSpPr/>
          <p:nvPr/>
        </p:nvSpPr>
        <p:spPr>
          <a:xfrm>
            <a:off x="762000" y="1524000"/>
            <a:ext cx="10668000" cy="1905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524000"/>
            <a:ext cx="76200" cy="19050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79500" y="1651000"/>
            <a:ext cx="990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核心任务：定义“自动化”的标准接口</a:t>
            </a:r>
            <a:endParaRPr lang="en-US" sz="1100"/>
          </a:p>
        </p:txBody>
      </p:sp>
      <p:sp>
        <p:nvSpPr>
          <p:cNvPr id="7" name="AutoShape 7"/>
          <p:cNvSpPr/>
          <p:nvPr/>
        </p:nvSpPr>
        <p:spPr>
          <a:xfrm>
            <a:off x="1079500" y="2159000"/>
            <a:ext cx="10033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假设你是学习委员，需要从各位任课老师处接收课程原始分数表并导入系统自动处理。为了避免重复的手动格式调整，实现流程的“自动化”，你必须为老师们制定一套严格的标准。请思考：为了让数据能被系统无缝识别和处理，你需要强制规定哪些关键的“标准接口”？</a:t>
            </a:r>
            <a:endParaRPr lang="en-US" sz="1100"/>
          </a:p>
        </p:txBody>
      </p:sp>
      <p:sp>
        <p:nvSpPr>
          <p:cNvPr id="8" name="AutoShape 8"/>
          <p:cNvSpPr/>
          <p:nvPr/>
        </p:nvSpPr>
        <p:spPr>
          <a:xfrm>
            <a:off x="762000" y="3683000"/>
            <a:ext cx="5207000" cy="2286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762000" y="3683000"/>
            <a:ext cx="5207000" cy="50800"/>
          </a:xfrm>
          <a:prstGeom prst="roundRect">
            <a:avLst>
              <a:gd name="adj" fmla="val 0"/>
            </a:avLst>
          </a:prstGeom>
          <a:solidFill>
            <a:srgbClr val="F97316">
              <a:alpha val="7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016000" y="3873500"/>
            <a:ext cx="4572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维度一：文件格式规范</a:t>
            </a:r>
            <a:endParaRPr lang="en-US" sz="1100"/>
          </a:p>
        </p:txBody>
      </p:sp>
      <p:sp>
        <p:nvSpPr>
          <p:cNvPr id="11" name="AutoShape 11"/>
          <p:cNvSpPr/>
          <p:nvPr/>
        </p:nvSpPr>
        <p:spPr>
          <a:xfrm>
            <a:off x="1016000" y="4445000"/>
            <a:ext cx="4699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这是数据交换的物理载体标准。需明确：统一使用的文件格式（如兼容性更强的 .csv 还是功能更全的 .xlsx）；统一的文件命名规则（例如“课程名称_学年学期_任课教师.xlsx”）；以及文件的编码方式（如 UTF-8），确保不同系统打开时不出现乱码。</a:t>
            </a:r>
            <a:endParaRPr lang="en-US" sz="1100"/>
          </a:p>
        </p:txBody>
      </p:sp>
      <p:cxnSp>
        <p:nvCxnSpPr>
          <p:cNvPr id="12" name="Connector 12"/>
          <p:cNvCxnSpPr/>
          <p:nvPr/>
        </p:nvCxnSpPr>
        <p:spPr>
          <a:xfrm rot="5380901">
            <a:off x="5016500" y="4819668"/>
            <a:ext cx="2286000" cy="12700"/>
          </a:xfrm>
          <a:prstGeom prst="straightConnector1">
            <a:avLst/>
          </a:prstGeom>
          <a:solidFill>
            <a:srgbClr val="DEE0E3">
              <a:alpha val="100000"/>
            </a:srgbClr>
          </a:solidFill>
          <a:ln w="12700" cap="flat" cmpd="sng">
            <a:solidFill>
              <a:srgbClr val="1F2937">
                <a:alpha val="15000"/>
              </a:srgbClr>
            </a:solidFill>
            <a:prstDash val="solid"/>
            <a:round/>
            <a:headEnd type="none" w="med" len="med"/>
            <a:tailEnd type="none" w="med" len="med"/>
          </a:ln>
        </p:spPr>
      </p:cxnSp>
      <p:sp>
        <p:nvSpPr>
          <p:cNvPr id="13" name="AutoShape 13"/>
          <p:cNvSpPr/>
          <p:nvPr/>
        </p:nvSpPr>
        <p:spPr>
          <a:xfrm>
            <a:off x="6350000" y="3683000"/>
            <a:ext cx="5207000" cy="2286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6350000" y="3683000"/>
            <a:ext cx="5207000" cy="50800"/>
          </a:xfrm>
          <a:prstGeom prst="roundRect">
            <a:avLst>
              <a:gd name="adj" fmla="val 0"/>
            </a:avLst>
          </a:prstGeom>
          <a:solidFill>
            <a:srgbClr val="F97316">
              <a:alpha val="7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604000" y="3873500"/>
            <a:ext cx="4572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维度二：数据内容规则</a:t>
            </a:r>
            <a:endParaRPr lang="en-US" sz="1100"/>
          </a:p>
        </p:txBody>
      </p:sp>
      <p:sp>
        <p:nvSpPr>
          <p:cNvPr id="16" name="AutoShape 16"/>
          <p:cNvSpPr/>
          <p:nvPr/>
        </p:nvSpPr>
        <p:spPr>
          <a:xfrm>
            <a:off x="6604000" y="4445000"/>
            <a:ext cx="4699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这是数据本身的逻辑标准。需约定：必须包含的关键字段（如唯一的“学号”、“姓名”、“最终成绩”）；字段名的统一中文命名（避免“StuID”与“学号”混用）；以及数据的取值格式（如成绩保留小数位数、缺考标记为“缺考”而非“0分”或“N/A”）。</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本讲核心要点回顾</a:t>
            </a:r>
            <a:endParaRPr lang="en-US" sz="1100"/>
          </a:p>
        </p:txBody>
      </p:sp>
      <p:sp>
        <p:nvSpPr>
          <p:cNvPr id="4" name="AutoShape 4"/>
          <p:cNvSpPr/>
          <p:nvPr/>
        </p:nvSpPr>
        <p:spPr>
          <a:xfrm>
            <a:off x="762000" y="1651000"/>
            <a:ext cx="5207000" cy="2222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207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415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问题的提出</a:t>
            </a:r>
            <a:endParaRPr lang="en-US" sz="1100"/>
          </a:p>
        </p:txBody>
      </p:sp>
      <p:sp>
        <p:nvSpPr>
          <p:cNvPr id="7" name="AutoShape 7"/>
          <p:cNvSpPr/>
          <p:nvPr/>
        </p:nvSpPr>
        <p:spPr>
          <a:xfrm>
            <a:off x="952500" y="2413000"/>
            <a:ext cx="4826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我们共同剖析了传统手工数据处理模式的三大核心痛点：</a:t>
            </a:r>
            <a:r>
              <a:rPr lang="en-US" sz="13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低效、脆弱、不可复用</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。这些问题不仅制约了业务响应速度，更在数据量级增长时成为了阻碍效率提升的关键瓶颈。</a:t>
            </a:r>
            <a:endParaRPr lang="en-US" sz="1100"/>
          </a:p>
        </p:txBody>
      </p:sp>
      <p:sp>
        <p:nvSpPr>
          <p:cNvPr id="8" name="AutoShape 8"/>
          <p:cNvSpPr/>
          <p:nvPr/>
        </p:nvSpPr>
        <p:spPr>
          <a:xfrm>
            <a:off x="6223000" y="1651000"/>
            <a:ext cx="5207000" cy="2222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6223000" y="1651000"/>
            <a:ext cx="5207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6413500" y="18415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核心概念</a:t>
            </a:r>
            <a:endParaRPr lang="en-US" sz="1100"/>
          </a:p>
        </p:txBody>
      </p:sp>
      <p:sp>
        <p:nvSpPr>
          <p:cNvPr id="11" name="AutoShape 11"/>
          <p:cNvSpPr/>
          <p:nvPr/>
        </p:nvSpPr>
        <p:spPr>
          <a:xfrm>
            <a:off x="6413500" y="2413000"/>
            <a:ext cx="4826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正式引入了</a:t>
            </a:r>
            <a:r>
              <a:rPr lang="en-US" sz="13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数据工程</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——一门将软件工程方法深度应用于数据领域的学科。它通过构建可扩展、可维护的自动化数据处理系统，实现了从原始数据到高价值资产的高效转化。</a:t>
            </a:r>
            <a:endParaRPr lang="en-US" sz="1100"/>
          </a:p>
        </p:txBody>
      </p:sp>
      <p:sp>
        <p:nvSpPr>
          <p:cNvPr id="12" name="AutoShape 12"/>
          <p:cNvSpPr/>
          <p:nvPr/>
        </p:nvSpPr>
        <p:spPr>
          <a:xfrm>
            <a:off x="762000" y="4064000"/>
            <a:ext cx="5207000" cy="2222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762000" y="4064000"/>
            <a:ext cx="5207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952500" y="42545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范式转变</a:t>
            </a:r>
            <a:endParaRPr lang="en-US" sz="1100"/>
          </a:p>
        </p:txBody>
      </p:sp>
      <p:sp>
        <p:nvSpPr>
          <p:cNvPr id="15" name="AutoShape 15"/>
          <p:cNvSpPr/>
          <p:nvPr/>
        </p:nvSpPr>
        <p:spPr>
          <a:xfrm>
            <a:off x="952500" y="4826000"/>
            <a:ext cx="4826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课程的核心在于思维模式的升级：从依赖个人经验的</a:t>
            </a:r>
            <a:r>
              <a:rPr lang="en-US" sz="13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“手工解决问题”</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，跃迁到具备工程思维的</a:t>
            </a:r>
            <a:r>
              <a:rPr lang="en-US" sz="13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“系统化解决问题”</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。这种转变让我们能以更标准化、规模化的方式应对复杂多变的数据需求。</a:t>
            </a:r>
            <a:endParaRPr lang="en-US" sz="1100"/>
          </a:p>
        </p:txBody>
      </p:sp>
      <p:sp>
        <p:nvSpPr>
          <p:cNvPr id="16" name="AutoShape 16"/>
          <p:cNvSpPr/>
          <p:nvPr/>
        </p:nvSpPr>
        <p:spPr>
          <a:xfrm>
            <a:off x="6223000" y="4064000"/>
            <a:ext cx="5207000" cy="2222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6223000" y="4064000"/>
            <a:ext cx="5207000" cy="508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413500" y="42545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价值所在</a:t>
            </a:r>
            <a:endParaRPr lang="en-US" sz="1100"/>
          </a:p>
        </p:txBody>
      </p:sp>
      <p:sp>
        <p:nvSpPr>
          <p:cNvPr id="19" name="AutoShape 19"/>
          <p:cNvSpPr/>
          <p:nvPr/>
        </p:nvSpPr>
        <p:spPr>
          <a:xfrm>
            <a:off x="6413500" y="4826000"/>
            <a:ext cx="4826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数据工程不仅为个人带来了</a:t>
            </a:r>
            <a:r>
              <a:rPr lang="en-US" sz="13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职业竞争力的跃升</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，更成为了企业实现</a:t>
            </a:r>
            <a:r>
              <a:rPr lang="en-US" sz="13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数字化转型</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的底层技术基石。它所带来的效率提升与数据资产沉淀，是在数据驱动时代不可或缺的普适价值。</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课后作业：巩固与思考</a:t>
            </a:r>
            <a:endParaRPr lang="en-US" sz="1100"/>
          </a:p>
        </p:txBody>
      </p:sp>
      <p:sp>
        <p:nvSpPr>
          <p:cNvPr id="4" name="AutoShape 4"/>
          <p:cNvSpPr/>
          <p:nvPr/>
        </p:nvSpPr>
        <p:spPr>
          <a:xfrm>
            <a:off x="762000" y="1524000"/>
            <a:ext cx="5715000" cy="33020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952500" y="1651000"/>
            <a:ext cx="5334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概念辨析：界定数据工程范畴</a:t>
            </a:r>
            <a:endParaRPr lang="en-US" sz="1100"/>
          </a:p>
        </p:txBody>
      </p:sp>
      <p:sp>
        <p:nvSpPr>
          <p:cNvPr id="6" name="AutoShape 6"/>
          <p:cNvSpPr/>
          <p:nvPr/>
        </p:nvSpPr>
        <p:spPr>
          <a:xfrm>
            <a:off x="952500" y="2286000"/>
            <a:ext cx="1752600" cy="1587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16000" y="2349500"/>
            <a:ext cx="16256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任务一：自动化采集</a:t>
            </a:r>
            <a:endParaRPr lang="en-US" sz="1100"/>
          </a:p>
        </p:txBody>
      </p:sp>
      <p:sp>
        <p:nvSpPr>
          <p:cNvPr id="8" name="AutoShape 8"/>
          <p:cNvSpPr/>
          <p:nvPr/>
        </p:nvSpPr>
        <p:spPr>
          <a:xfrm>
            <a:off x="1016000" y="2794000"/>
            <a:ext cx="16256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编写脚本自动下载新闻并入库。这属于数据工程的核心环节吗？请阐述理由。</a:t>
            </a:r>
            <a:endParaRPr lang="en-US" sz="1100"/>
          </a:p>
        </p:txBody>
      </p:sp>
      <p:sp>
        <p:nvSpPr>
          <p:cNvPr id="9" name="AutoShape 9"/>
          <p:cNvSpPr/>
          <p:nvPr/>
        </p:nvSpPr>
        <p:spPr>
          <a:xfrm>
            <a:off x="2806700" y="2286000"/>
            <a:ext cx="1752600" cy="1587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2870200" y="2349500"/>
            <a:ext cx="16256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任务二：业务分析</a:t>
            </a:r>
            <a:endParaRPr lang="en-US" sz="1100"/>
          </a:p>
        </p:txBody>
      </p:sp>
      <p:sp>
        <p:nvSpPr>
          <p:cNvPr id="11" name="AutoShape 11"/>
          <p:cNvSpPr/>
          <p:nvPr/>
        </p:nvSpPr>
        <p:spPr>
          <a:xfrm>
            <a:off x="2870200" y="2794000"/>
            <a:ext cx="16256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用Excel透视表分析销售趋势。这是数据工程工作，还是属于其他领域？</a:t>
            </a:r>
            <a:endParaRPr lang="en-US" sz="1100"/>
          </a:p>
        </p:txBody>
      </p:sp>
      <p:sp>
        <p:nvSpPr>
          <p:cNvPr id="12" name="AutoShape 12"/>
          <p:cNvSpPr/>
          <p:nvPr/>
        </p:nvSpPr>
        <p:spPr>
          <a:xfrm>
            <a:off x="4660900" y="2286000"/>
            <a:ext cx="1752600" cy="1587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4724400" y="2349500"/>
            <a:ext cx="16256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任务三：架构设计</a:t>
            </a:r>
            <a:endParaRPr lang="en-US" sz="1100"/>
          </a:p>
        </p:txBody>
      </p:sp>
      <p:sp>
        <p:nvSpPr>
          <p:cNvPr id="14" name="AutoShape 14"/>
          <p:cNvSpPr/>
          <p:nvPr/>
        </p:nvSpPr>
        <p:spPr>
          <a:xfrm>
            <a:off x="4724400" y="2794000"/>
            <a:ext cx="16256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设计客户与交易数据库结构。这是否是数据工程的基础建设工作？</a:t>
            </a:r>
            <a:endParaRPr lang="en-US" sz="1100"/>
          </a:p>
        </p:txBody>
      </p:sp>
      <p:sp>
        <p:nvSpPr>
          <p:cNvPr id="15" name="AutoShape 15"/>
          <p:cNvSpPr/>
          <p:nvPr/>
        </p:nvSpPr>
        <p:spPr>
          <a:xfrm>
            <a:off x="952500" y="4064000"/>
            <a:ext cx="5461000" cy="698500"/>
          </a:xfrm>
          <a:prstGeom prst="roundRect">
            <a:avLst>
              <a:gd name="adj" fmla="val 0"/>
            </a:avLst>
          </a:prstGeom>
          <a:solidFill>
            <a:srgbClr val="FFEDD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1079500" y="4127500"/>
            <a:ext cx="5207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C2410C"/>
                </a:solidFill>
                <a:latin typeface="Noto Sans SC" panose="020B0200000000000000" charset="-122"/>
                <a:ea typeface="Noto Sans SC" panose="020B0200000000000000" charset="-122"/>
                <a:cs typeface="Noto Sans SC" panose="020B0200000000000000" charset="-122"/>
                <a:sym typeface="Noto Sans SC" panose="020B0200000000000000" charset="-122"/>
              </a:rPr>
              <a:t>💡 关键提示：判断的核心标准在于工作是否涉及数据的采集、存储、处理架构的底层构建，而非单纯的业务层面数据分析操作。</a:t>
            </a:r>
            <a:endParaRPr lang="en-US" sz="1100"/>
          </a:p>
        </p:txBody>
      </p:sp>
      <p:cxnSp>
        <p:nvCxnSpPr>
          <p:cNvPr id="17" name="Connector 17"/>
          <p:cNvCxnSpPr/>
          <p:nvPr/>
        </p:nvCxnSpPr>
        <p:spPr>
          <a:xfrm rot="5386777">
            <a:off x="5080000" y="3168662"/>
            <a:ext cx="3302000" cy="12700"/>
          </a:xfrm>
          <a:prstGeom prst="straightConnector1">
            <a:avLst/>
          </a:prstGeom>
          <a:solidFill>
            <a:srgbClr val="DEE0E3">
              <a:alpha val="100000"/>
            </a:srgbClr>
          </a:solidFill>
          <a:ln w="12700" cap="flat" cmpd="sng">
            <a:solidFill>
              <a:srgbClr val="D1D5DB">
                <a:alpha val="80000"/>
              </a:srgbClr>
            </a:solidFill>
            <a:prstDash val="dash"/>
            <a:round/>
            <a:headEnd type="none" w="med" len="med"/>
            <a:tailEnd type="none" w="med" len="med"/>
          </a:ln>
        </p:spPr>
      </p:cxnSp>
      <p:sp>
        <p:nvSpPr>
          <p:cNvPr id="18" name="AutoShape 18"/>
          <p:cNvSpPr/>
          <p:nvPr/>
        </p:nvSpPr>
        <p:spPr>
          <a:xfrm>
            <a:off x="6858000" y="1524000"/>
            <a:ext cx="4826000" cy="3302000"/>
          </a:xfrm>
          <a:prstGeom prst="roundRect">
            <a:avLst>
              <a:gd name="adj" fmla="val 0"/>
            </a:avLst>
          </a:prstGeom>
          <a:solidFill>
            <a:srgbClr val="F97316">
              <a:alpha val="92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7048500" y="1651000"/>
            <a:ext cx="4445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深度思考：发现自动化痛点</a:t>
            </a:r>
            <a:endParaRPr lang="en-US" sz="1100"/>
          </a:p>
        </p:txBody>
      </p:sp>
      <p:sp>
        <p:nvSpPr>
          <p:cNvPr id="20" name="AutoShape 20"/>
          <p:cNvSpPr/>
          <p:nvPr/>
        </p:nvSpPr>
        <p:spPr>
          <a:xfrm>
            <a:off x="7048500" y="2286000"/>
            <a:ext cx="44450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FFF7ED"/>
                </a:solidFill>
                <a:latin typeface="Noto Sans SC" panose="020B0200000000000000" charset="-122"/>
                <a:ea typeface="Noto Sans SC" panose="020B0200000000000000" charset="-122"/>
                <a:cs typeface="Noto Sans SC" panose="020B0200000000000000" charset="-122"/>
                <a:sym typeface="Noto Sans SC" panose="020B0200000000000000" charset="-122"/>
              </a:rPr>
              <a:t>在日常学习、工作或生活中，你是否正面临着重复、繁琐且耗时的手动数据处理问题？比如每日的报表整合、信息搬运、数据清洗等。请尝试用一句话清晰描述你希望解决的问题场景。</a:t>
            </a:r>
            <a:endParaRPr lang="en-US" sz="1100"/>
          </a:p>
        </p:txBody>
      </p:sp>
      <p:sp>
        <p:nvSpPr>
          <p:cNvPr id="21" name="AutoShape 21"/>
          <p:cNvSpPr/>
          <p:nvPr/>
        </p:nvSpPr>
        <p:spPr>
          <a:xfrm>
            <a:off x="7048500" y="3810000"/>
            <a:ext cx="4445000" cy="952500"/>
          </a:xfrm>
          <a:prstGeom prst="roundRect">
            <a:avLst>
              <a:gd name="adj" fmla="val 0"/>
            </a:avLst>
          </a:prstGeom>
          <a:solidFill>
            <a:srgbClr val="FFFFFF">
              <a:alpha val="25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7175500" y="3873500"/>
            <a:ext cx="4191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行动指引：</a:t>
            </a:r>
            <a:r>
              <a:rPr lang="en-US" sz="1200" b="0" i="0" u="none" strike="noStrike">
                <a:solidFill>
                  <a:srgbClr val="FFEDD5"/>
                </a:solidFill>
                <a:latin typeface="Noto Sans SC" panose="020B0200000000000000" charset="-122"/>
                <a:ea typeface="Noto Sans SC" panose="020B0200000000000000" charset="-122"/>
                <a:cs typeface="Noto Sans SC" panose="020B0200000000000000" charset="-122"/>
                <a:sym typeface="Noto Sans SC" panose="020B0200000000000000" charset="-122"/>
              </a:rPr>
              <a:t>明确具体的问题场景 + 定义期望达成的自动化目标，这就是你将数据工程落地应用的第一步。</a:t>
            </a:r>
            <a:endParaRPr lang="en-US" sz="1100"/>
          </a:p>
        </p:txBody>
      </p:sp>
      <p:sp>
        <p:nvSpPr>
          <p:cNvPr id="23" name="AutoShape 23"/>
          <p:cNvSpPr/>
          <p:nvPr/>
        </p:nvSpPr>
        <p:spPr>
          <a:xfrm>
            <a:off x="762000" y="5080000"/>
            <a:ext cx="10922000" cy="1397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762000" y="5080000"/>
            <a:ext cx="50800" cy="13970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1016000" y="5207000"/>
            <a:ext cx="10287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作业核心目标：</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通过这两个维度的练习，不仅要清晰区分数据工程与数据分析的核心边界，更重要的是建立“实际问题 → 自动化方案 → 工程化落地”的思维链条。试着动笔写下你的答案，从理论走向实践，开启属于你的数据工程探索之旅。</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7206</Words>
  <Application>WPS 演示</Application>
  <PresentationFormat/>
  <Paragraphs>407</Paragraphs>
  <Slides>17</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17</vt:i4>
      </vt:variant>
    </vt:vector>
  </HeadingPairs>
  <TitlesOfParts>
    <vt:vector size="26" baseType="lpstr">
      <vt:lpstr>Arial</vt:lpstr>
      <vt:lpstr>宋体</vt:lpstr>
      <vt:lpstr>Wingdings</vt:lpstr>
      <vt:lpstr>Arial</vt:lpstr>
      <vt:lpstr>Noto Sans SC</vt:lpstr>
      <vt:lpstr>微软雅黑</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没事找事</cp:lastModifiedBy>
  <cp:revision>1</cp:revision>
  <dcterms:created xsi:type="dcterms:W3CDTF">2026-06-01T02:07:52Z</dcterms:created>
  <dcterms:modified xsi:type="dcterms:W3CDTF">2026-06-01T02:07:52Z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{"Label":"1","ContentProducer":"001191110102MACQD9K64010000","ProduceID":"7645669412796599505","ReservedCode1":"","ContentPropagator":"","PropagateID":"","ReservedCode2":""}</vt:lpwstr>
  </property>
  <property fmtid="{D5CDD505-2E9C-101B-9397-08002B2CF9AE}" pid="3" name="ICV">
    <vt:lpwstr>E00940219B5D449ABAEAE12F9A0357B8_12</vt:lpwstr>
  </property>
  <property fmtid="{D5CDD505-2E9C-101B-9397-08002B2CF9AE}" pid="4" name="KSOProductBuildVer">
    <vt:lpwstr>2052-12.1.0.20784</vt:lpwstr>
  </property>
</Properties>
</file>