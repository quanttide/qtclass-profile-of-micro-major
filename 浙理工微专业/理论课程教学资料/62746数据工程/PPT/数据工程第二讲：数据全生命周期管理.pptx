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数据工程第二讲。在上一讲中，我们了解了数据工程的基本思想。今天，我们将深入探讨数据工程的核心框架——数据全生命周期管理。我们将学习如何构建一个端到端的数据流水线，将数据从原始状态一步步转化为有价值的洞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本次课程将分为五个部分。我们将从一个案例开始，直观感受数据流水线的运作，然后深入学习数据生命周期的七个阶段和数据质量控制的方法。最后通过课堂研讨和小结，巩固所学知识。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学完本讲，你将能够准确描述数据生命周期的七个阶段，并掌握数据质量控制的方法。更重要的是，你将建立起“流水线”思维和严谨的数据质量意识，这对于成为一名优秀的数据工程师至关重要。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让我们从一个案例开始。假设你是一个数据项目的唯一负责人，你需要完成从数据获取、加工、计算、呈现到维护的全过程。这个过程就像一个工厂的流水线，数据在其中一步步流动和变化。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流水线的背后，是一个标准化的理论模型——数据生命周期。它包含七个核心阶段：采集、存储、预处理、分析、可视化、传输和备份归档。每个阶段都有其明确的任务和关键点，其中预处理是最耗时也最核心的工程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重点解析预处理阶段。这个阶段的核心工作包括清洗、转换和集成。清洗是去除空值、重复和格式错误；转换是统一单位和数据类型；集成是合并来自不同源头的数据。这一系列操作，旨在将原始的“脏数据”变成可供分析的“干净数据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有了流水线，如何保证产出的质量？答案是设置“数据质量门禁”。在每个环节，我们都要进行完整性、一致性和准确性的校验，确保有问题的数据不会流入下一个环节，从源头上保证数据的质量。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生命周期的每个阶段，都存在特定的风险。例如，采集阶段可能遇到数据源中断，预处理阶段可能出现逻辑错误。数据工程师的工作，就是针对这些风险，设计出工程化的解决方案，如心跳监测、数据血缘追踪、加密传输等，确保整个流水线的稳定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课堂研讨时间。我们来做一个生活化的类比：统计宿舍月度开销。请大家思考，这个过程如何映射到我们今天学习的数据生命周期中？数据采集、预处理、可视化分别对应哪些环节？这个练习能帮助大家更好地理解抽象的理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研讨题，让我们来识别风险并设计防御措施。假设你负责收集全校学生的体测数据，可能会遇到哪些数据失真的风险？你会如何设计规则来规避这些风险？这个练习能帮助大家将数据质量控制的知识应用到实际场景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这里就接近尾声了。我们回顾一下，今天我们学习了数据生命周期模型，它为我们构建了数据工程的时空观。通过将数据处理流程标准化，我们将手工操作转化为了可控的流水线。这个框架是后续学习更复杂系统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课后请大家完成一道场景分析题。某电商公司出现了大量的“0元订单”，请大家从数据生命周期的角度，分析可能的原因并提出排查方案。这道题能很好地检验大家对今天所学知识的掌握程度。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数据工程第二讲：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数据全生命周期管理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构建端到端的流水线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本讲内容概览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案例导入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从一个人的数据项目开始，直观感受数据流水线的运作流程，建立对数据工作全流程的初步认知与直观体验。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651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609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499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667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系统学习数据生命周期的七个核心阶段，理解数据从产生、采集、处理、存储到分析应用的完整流转逻辑与关键要素。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1651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71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关键实践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667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掌握数据质量控制的核心方法与执行标准，学习如何在实际操作中识别异常、清洗数据，保障数据的准确性与可用性。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41500" y="431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016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将理论知识与实际业务问题相结合，通过小组研讨与真实案例拆解，探讨数据项目中常见的执行难点与解决方案，在交流互动中加深对知识的深度理解与灵活运用能力。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4064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86500" y="4064000"/>
            <a:ext cx="5397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66000" y="431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课堂小结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0165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回顾本讲核心知识要点，梳理数据工作的关键方法论体系。同时布置课后实践作业，引导大家将课堂所学的理论与技能，转化为解决实际工作中数据问题的具体能力。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学完本讲，你将获得什么？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05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KNOWLEDGE</a:t>
            </a:r>
            <a:endParaRPr lang="en-US" sz="1400" b="0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3750">
            <a:off x="9525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84500"/>
            <a:ext cx="3111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准确描述数据生命周期的七个核心阶段及其内在逻辑关系；清晰区分预处理与分析、存储与备份等不同阶段的核心业务任务；并能敏锐识别各阶段常见的“脏数据”来源，掌握初步的质量控制原则与手段，为后续处理打下理论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60900" y="1905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endParaRPr lang="en-US" sz="1400" b="0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3750">
            <a:off x="46609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2984500"/>
            <a:ext cx="3111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独立绘制完整数据生命周期流程图的实操能力；在面对复杂业务场景时，能够主动识别各环节潜在的数据质量风险点，并结合业务需求设计出具有针对性、可落地的质量控制措施，将理论知识转化为解决实际问题的工程能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905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素养目标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MINDSET</a:t>
            </a:r>
            <a:endParaRPr lang="en-US" sz="1400" b="0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83820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82000" y="2984500"/>
            <a:ext cx="3111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流水线”思维模式，深刻理解数据处理是环环相扣的系统工程；培养严谨、规范的数据质量意识，将数据治理的理念融入到日常工作的每一个环节中，从而在根源上保障数据资产的准确性、完整性与可用性，形成专业的数据工程职业素养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案例导入：一个人的数据流水线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25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设你是“中国价格项目”的唯一创始人，需要独立完成从获取数据到最后备份的所有工作。你就像一个微型数据工厂，没有团队协助，每一个环节都需要亲手搭建，让数据像流水一样高效流转，形成一条完整的个人数据自动化流水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14400" y="2984500"/>
            <a:ext cx="3124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 · Acquisition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4925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编写自动化爬虫程序，每日定时定点抓取主流电商平台的实时价格与销量数据，突破信息壁垒，构建项目所需的原始数据源，是整个流水线的起点。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857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8575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33900" y="2984500"/>
            <a:ext cx="3124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加工 · Processing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33900" y="34925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对抓取到的杂乱HTML源码进行清洗，去除广告、噪点和无效字符。通过正则匹配精准提取核心信息，将非结构化文本转化为结构化、可计算的标准价格数值。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857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28575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53400" y="2984500"/>
            <a:ext cx="3124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 · Analysis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53400" y="34925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基于预设的业务规则与权重模型，对标准化后的基础数据进行数学计算。剔除异常波动值，通过加权平均等算法，得出能真实反映市场动态的核心价格指数。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762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7625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4400" y="48641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呈现 · Visualization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" y="53721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将枯燥的计算结果转化为直观的可视化报表与动态数据仪表盘。通过折线图、热力图等形式，让复杂的市场趋势一目了然，为业务判断和决策提供清晰、易懂的视觉依据，完成数据价值的输出。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762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7625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75400" y="48641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 · Maintenance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75400" y="53721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建立长效的数据管理机制，定期清理过期冗余数据以释放存储资源；同时执行自动化的异地备份策略，确保历史数据资产的安全性与可追溯性，为后续复盘与模型迭代提供可靠的历史依据。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核心理论：数据生命周期的七个阶段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9220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22400"/>
            <a:ext cx="1054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数据处理并非杂乱无章，而是遵循一个标准化的流程。这七个核心阶段构成了完整的数据生命周期，从原始数据的获取到最终的归档，每一步都决定了数据价值的挖掘深度与应用成效。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641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26416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260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 Collection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667000"/>
            <a:ext cx="241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从各类数据源获取原始数据，是整个生命周期的起点，决定了数据的基础质量。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302000"/>
            <a:ext cx="24130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65200" y="3327400"/>
            <a:ext cx="2260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关键：确保数据源的合法性、准确性与持续稳定性，避免无效采集。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05200" y="2159000"/>
            <a:ext cx="2641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05200" y="2159000"/>
            <a:ext cx="26416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632200" y="2260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 Storage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32200" y="2667000"/>
            <a:ext cx="241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将原始或中间态数据持久化，为后续处理提供随时可用的访问基础。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32200" y="3302000"/>
            <a:ext cx="24130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08400" y="3327400"/>
            <a:ext cx="2260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关键：根据数据量级与读写特征，选择高可用、高扩展的存储引擎。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48400" y="2159000"/>
            <a:ext cx="2641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48400" y="2159000"/>
            <a:ext cx="26416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75400" y="2260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 Preprocessing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75400" y="2667000"/>
            <a:ext cx="241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清洗、转换、集成原始数据，将其转化为适合深度分析的“干净数据”。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75400" y="3302000"/>
            <a:ext cx="24130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51600" y="3327400"/>
            <a:ext cx="2260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核心：最耗时环节！决定了后续模型的准确性与有效性。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91600" y="2159000"/>
            <a:ext cx="2641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991600" y="2159000"/>
            <a:ext cx="26416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18600" y="2260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 Analysis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18600" y="2667000"/>
            <a:ext cx="241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应用算法模型与统计方法，从海量数据中提取规律、洞察与商业价值。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18600" y="3302000"/>
            <a:ext cx="24130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194800" y="3327400"/>
            <a:ext cx="2260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关键：回归业务逻辑，避免技术炫技，产出可落地的决策依据。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4254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42545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89000" y="43561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 Visualization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89000" y="4762500"/>
            <a:ext cx="32131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将抽象的分析结果转化为直观的图表、报表或仪表盘，降低信息理解门槛。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89000" y="5397500"/>
            <a:ext cx="32131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65200" y="5422900"/>
            <a:ext cx="3060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关键：设计符合直觉的交互与呈现，准确传达数据结论，避免信息误导。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419600" y="4254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419600" y="42545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4546600" y="43561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 Transmission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46600" y="4762500"/>
            <a:ext cx="32131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构建安全通道，将核心数据或分析成果从生产系统高效传递至消费端。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546600" y="5397500"/>
            <a:ext cx="32131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4622800" y="5422900"/>
            <a:ext cx="3060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关键：保障传输链路的稳定性、数据完整性与隐私安全，防止泄露。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077200" y="4254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8077200" y="42545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204200" y="43561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备份与归档 Backup &amp; Archive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204200" y="4762500"/>
            <a:ext cx="32131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对历史数据进行异地冗余保存或低成本冷存储，作为最后的数据防线。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204200" y="5397500"/>
            <a:ext cx="32131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280400" y="5422900"/>
            <a:ext cx="3060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关键：满足合规审计要求，确保在故障或灾难发生时数据可恢复。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重点解析：预处理阶段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25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是数据工程中工作量最大、最考验工程师能力的核心环节。在这个阶段，我们需要通过一系列严谨的操作，将杂乱无章、存在缺失或错误的“原始数据”进行系统性加工，最终转化为结构清晰、质量可靠、可供后续分析使用的“可信数据”，为业务决策奠定坚实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 Cleaning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147">
            <a:off x="9525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7846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37846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去除空值与无效记录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识别并处理缺失字段，直接删除无业务价值的重复或损坏数据记录。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085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5085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格式标准化纠错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统一日期、时间与数值格式，修正异常字符，确保数据格式一致性。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2921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45000" y="292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35500" y="31115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转换 Transformation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147">
            <a:off x="46355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35500" y="37846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62500" y="37846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物理量与逻辑统一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将不同单位数据换算至统一标准，完成字符串到数值类型的强制转换。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5500" y="45085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762500" y="45085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业务规则规范化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映射文本标签至标准代码（如性别、状态），使数据符合业务分析模型。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2921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28000" y="292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18500" y="31115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Integration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147">
            <a:off x="83185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318500" y="37846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445500" y="37846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多源数据融合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关联来自不同业务系统的异构数据，通过主键匹配完成数据合并。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18500" y="4508500"/>
            <a:ext cx="381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445500" y="45085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冲突消解与整合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解决同一实体在不同来源中的信息矛盾，清洗并保留最高质量数据。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588000"/>
            <a:ext cx="10833100" cy="10160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588000"/>
            <a:ext cx="508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16000" y="56515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这一阶段不仅是技术层面的数据处理，更是从源头把控数据质量的关键。成功的预处理能显著降低后续建模与分析的偏差，让数据真正成为驱动业务增长的可靠资产。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关键实践：数据质量门禁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25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流水线的各个环节，我们需要设置严格的“数据质量门禁”。这就像生产线上的质检关卡，通过前置的自动化检查，确保不符合标准的“次品”数据不会流入下游环节，从源头保障数据资产的可靠性与可用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464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完整性校验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544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检查核心关键字段是否存在缺失或空值。这是数据记录可用的基础，确保业务事件的关键信息没有遗漏。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18000"/>
            <a:ext cx="31115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381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场景示例：</a:t>
            </a:r>
            <a:r>
              <a:rPr lang="en-US" sz="1200" b="0" i="0" u="none" strike="noStrike">
                <a:solidFill>
                  <a:srgbClr val="43140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一条有效的订单记录，必须完整包含“订单ID”和“交易金额”。缺少任一关键信息，该记录将被拦截。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83100" y="2794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831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73600" y="29464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一致性校验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73600" y="34544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检查数据的格式、单位、编码规则是否统一。消除因标准不一致导致的理解偏差，保证数据处理的统一性。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73600" y="4318000"/>
            <a:ext cx="31115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00600" y="4381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场景示例：</a:t>
            </a:r>
            <a:r>
              <a:rPr lang="en-US" sz="1200" b="0" i="0" u="none" strike="noStrike">
                <a:solidFill>
                  <a:srgbClr val="43140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所有商品价格单位统一为“元”，日期字段严格遵循“YYYY-MM-DD”格式，避免因格式混乱造成统计错误。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04200" y="2794000"/>
            <a:ext cx="34671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2042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94700" y="29464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准确性校验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94700" y="34544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验证数据是否符合客观常识、业务逻辑与合理范围。过滤掉明显错误或异常的数值，防止错误结论产生。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94700" y="4318000"/>
            <a:ext cx="31115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521700" y="4381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场景示例：</a:t>
            </a:r>
            <a:r>
              <a:rPr lang="en-US" sz="1200" b="0" i="0" u="none" strike="noStrike">
                <a:solidFill>
                  <a:srgbClr val="43140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用户年龄不可能超过150岁，商品库存与价格也不应出现负数。此类违背常识的数据会被直接标记异常。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909300" cy="1016000"/>
          </a:xfrm>
          <a:prstGeom prst="roundRect">
            <a:avLst>
              <a:gd name="adj" fmla="val 0"/>
            </a:avLst>
          </a:prstGeom>
          <a:solidFill>
            <a:srgbClr val="FFF7ED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46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537200"/>
            <a:ext cx="10414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这三项校验构成了数据流水线的第一道防线。通过自动化的规则引擎，在数据进入核心业务系统前进行拦截，将事后的“亡羊补牢”转变为事前的“未雨绸缪”，从而大幅降低后续数据治理的成本。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各阶段的风险与工程化解决方案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526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采集阶段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3241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核心任务：获取原始业务数据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风险：数据源意外中断、接口格式频繁变更，导致数据无法正常接入。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2349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5814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心跳监测 · 版本控制机制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81400" y="1651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814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771900" y="17526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预处理阶段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71900" y="2286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835400" y="23241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核心任务：清洗与格式转换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71900" y="2921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风险：清洗逻辑缺陷引发错误、误删有效数据，造成关键信息丢失。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771900" y="3556000"/>
            <a:ext cx="2349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835400" y="35814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数据血缘 · 操作回滚机制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00800" y="1651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008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91300" y="17526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分析阶段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91300" y="2286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54800" y="23241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核心任务：建模计算与推理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91300" y="2921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风险：算法存在系统性偏差、模型过拟合，导致输出结果偏离实际。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91300" y="3556000"/>
            <a:ext cx="2349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54800" y="35814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交叉验证 · 模型实时监控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20200" y="1651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2202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410700" y="17526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传输阶段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410700" y="2286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474200" y="23241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核心任务：数据分发与共享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410700" y="2921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风险：网络波动致数据丢失、敏感信息泄露、越权访问等安全隐患。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410700" y="3556000"/>
            <a:ext cx="2349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474200" y="35814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加密通道 · MD5完整性校验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62000" y="4318000"/>
            <a:ext cx="11125200" cy="1968500"/>
          </a:xfrm>
          <a:prstGeom prst="roundRect">
            <a:avLst>
              <a:gd name="adj" fmla="val 0"/>
            </a:avLst>
          </a:prstGeom>
          <a:solidFill>
            <a:srgbClr val="FFF7ED">
              <a:alpha val="92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1016000" y="4445000"/>
            <a:ext cx="1054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工程化保障核心价值：从被动应对到主动防御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4953000"/>
            <a:ext cx="1054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全链路的工程化手段，我们将原本不可控的业务数据风险转化为可监控、可追溯、可恢复的标准化流程。从数据源的实时心跳监测到最终交付的安全校验，每一环都建立了严密的防御体系。这不仅大幅降低了数据生产事故率，更确保了下游业务决策基于高质量、高可用的数据资产，为业务的敏捷迭代和智能化升级提供了坚实可靠的数据底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课堂研讨一：流程映射与生活化类比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812800" cy="330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81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16891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统计宿舍月度开销并分摊水电费，还原真实生活中的数据流转过程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159000"/>
            <a:ext cx="1028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请以宿舍为单位，共同绘制专属的“数据生命周期图”。在绘制过程中，请深度思考数据从产生到最终呈现的完整链路，特别是每个环节的关键动作与潜在问题，将抽象的数据理论具象化到日常开销管理中。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352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数据采集：源头追溯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3937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核心思考：数据是在哪个环节产生的？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45085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生活实例：线下购物的小票凭证、线上支付的账单截图、室友间的口头消费记录等。思考这些原始记录的准确性与完整性。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317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815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36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16500" y="3352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预处理：清洗与规整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3937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核心思考：最难处理的问题是什么？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45085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执行难点：如何界定公共开销与私人开销？金额的小数点进位如何统一？零散的纸质数据如何数字化录入以避免错误？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3175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01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3365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636000" y="3352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可视化：结果呈现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91500" y="3937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核心思考：最终结果如何展示？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5085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展示形式：用饼图看各项开销占比，用表格列明细，用柱状图对比每周支出。让枯燥的数字变成直观、易理解的图表。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12700" cap="flat" cmpd="sng">
            <a:solidFill>
              <a:srgbClr val="F9731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5880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587500" y="5588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现在，请大家分组讨论 15 分钟，将刚才的思考落实到纸上，画出你们宿舍的专属“数据生命周期图”。通过这个生活化的练习，我们将更深刻地理解数据在业务场景中的流转逻辑。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课堂研讨二：风险识别与防御设计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05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研讨场景设定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新学期伊始，学校需要完成全校学生的体质健康测试工作。作为数据处理负责人，你需要汇总各班级上报的原始体测数据，其中核心关键指标为学生的身高与体重信息，用于生成全校体测健康报告。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70400" y="1651000"/>
            <a:ext cx="3505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704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60900" y="18415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核心研讨任务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413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请基于数据采集全流程，独立思考并列举出三个可能导致数据失真的关键环节。针对每一个识别出的风险点，设计一个可落地的工程技术手段或业务规则，从源头规避数据质量问题，确保最终统计结果的准确性。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78800" y="1651000"/>
            <a:ext cx="3505200" cy="2921000"/>
          </a:xfrm>
          <a:prstGeom prst="roundRect">
            <a:avLst>
              <a:gd name="adj" fmla="val 0"/>
            </a:avLst>
          </a:prstGeom>
          <a:solidFill>
            <a:srgbClr val="F97316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69300" y="18415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思路参考示例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69300" y="241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7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潜在风险：</a:t>
            </a:r>
            <a:r>
              <a:rPr lang="en-US" sz="1300" b="0" i="0" u="none" strike="noStrike">
                <a:solidFill>
                  <a:srgbClr val="FFED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数据采集终端，学生手动录入时易出现单位混淆，如将身高“180cm”误填为“18”。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69300" y="3429000"/>
            <a:ext cx="31242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96300" y="3492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防御方案：</a:t>
            </a:r>
            <a:r>
              <a:rPr lang="en-US" sz="1300" b="0" i="0" u="none" strike="noStrike">
                <a:solidFill>
                  <a:srgbClr val="FFF1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系统增加数据合理性校验规则，限定身高范围为 100cm - 220cm，超出范围自动报错拦截。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92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50800" cy="14605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79500" y="4953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思考引导：数据质量的防线在哪里？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79500" y="5524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基础的格式校验，我们还可以从数据源头的采集工具、中间的传输过程以及最终的入库标准等多个维度构建防御体系。请结合你过往的经验，思考在实际业务中如何通过技术手段将这些“隐形”的风险显性化，并在发生前进行有效拦截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431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核心时空观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数据生命周期模型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556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单一操作视角，本章为我们构建了数据工程的宏观时空观——数据生命周期。它定义了数据从产生、流转到消亡的完整旅程，帮助我们跳出碎片化的执行，建立起对数据全流程的系统性认知，这是理解数据价值流转与工程化建设的底层逻辑起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50800" cy="431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84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七步标准范式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工程化流水线 Pipeline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990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556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原本依赖经验、零散且不可控的手工处理，系统拆解为采集、存储、预处理、分析、可视化、传输、备份七大标准阶段。这一范式将混沌的人工操作转化为标准化、自动化的流水线，不仅大幅提升了执行效率，更实现了数据处理过程的可监控、可复用与可扩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50800" cy="431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0" y="184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后续进阶基石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复杂治理的必要前提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3820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3556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这一基础框架并非终点，而是迈向更复杂领域的新起点。它是后续深入学习跨团队多角色协作模式、大规模数据资产治理、以及高可用企业级数据平台架构设计的必要知识准备，为解决更实际的工程问题提供了坚实的理论支撑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1905000"/>
            <a:ext cx="1778000" cy="4572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1930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场景分析题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990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某电商公司近期在业务复盘时发现，销售核心报表中出现了大量异常的“0元订单”数据，这直接影响了销售额统计、库存核算以及后续的经营决策。请你从</a:t>
            </a: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数据生命周期管理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流程视角出发，推测可能导致该异常问题的至少三个关键环节（例如：数据采集时的接口误读、预处理环节的价格字段误删、计算逻辑的错误映射等），并针对每个推测环节提出具有可操作性的排查与验证方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381500"/>
            <a:ext cx="9906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450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41500" y="44704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思考提示：可重点回顾数据采集的准确性、ETL处理的完整性、数据存储的一致性以及业务规则应用的合理性等环节，结合具体的技术实现逻辑进行推导。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6896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请将你的分析报告整理成文档（不少于300字），于下节课开始前提交至课程学习平台，我们将选取典型案例进行课堂点评。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4909</Words>
  <Application>WPS 演示</Application>
  <PresentationFormat/>
  <Paragraphs>287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2026-06-01T02:07:48Z</dcterms:created>
  <dcterms:modified xsi:type="dcterms:W3CDTF">2026-06-01T02:07:48Z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{"Label":"1","ContentProducer":"001191110102MACQD9K64010000","ProduceID":"7645669441774587070","ReservedCode1":"","ContentPropagator":"","PropagateID":"","ReservedCode2":""}</vt:lpwstr>
  </property>
  <property fmtid="{D5CDD505-2E9C-101B-9397-08002B2CF9AE}" pid="3" name="ICV">
    <vt:lpwstr>C1FCE0508F0B459A9A064BF50C765C02_12</vt:lpwstr>
  </property>
  <property fmtid="{D5CDD505-2E9C-101B-9397-08002B2CF9AE}" pid="4" name="KSOProductBuildVer">
    <vt:lpwstr>2052-12.1.0.20784</vt:lpwstr>
  </property>
</Properties>
</file>