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数据工程第三讲。在前两讲中，我们主要关注的是个人如何利用工具和技术完成数据任务。今天，我们将视角从“单兵作战”升级到“团队协同”，探讨当数据团队规模扩大时，如何通过工程治理的策略，解决协作中的摩擦和挑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本次课程将分为六个部分。我们将从一个案例入手，引出团队协作的痛点，然后深入学习协同系统工程的三大治理原则：可观测性、依赖管理和解耦设计。最后通过课堂研讨和小结，巩固所学知识。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让我们回到熟悉的案例。当项目从一个人扩展到三个人时，即使分工明确，也会出现各种协作问题。比如接口错位、信息黑洞、连锁故障等。这些问题表明，仅仅依靠口头沟通的“人治”方式已经行不通了，我们必须引入工程治理的思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个治理原则是可观测性。简单来说，就是给我们的数据管道装上“监控摄像头”，让我们能清晰地看到数据流转的全过程。实现可观测性主要依赖于指标、日志和追踪这“三驾马车”，它们从不同维度描述了系统状态，帮助我们及时发现异常。</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在可观测性中，一个非常关键的实践是数据血缘追踪。它就像数据的“运单号”，记录了数据从哪里来，到哪里去。有了数据血缘，我们就能快速进行问题溯源和影响分析，大大提升协作效率。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治理原则是依赖管理。它的核心是理顺任务间的先后关系。我们可以使用像Airflow这样的工具，通过代码定义任务间的依赖关系。同时，我们还需要定义服务等级协议（SLA），作为团队间的契约，明确交付标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这里是一个Airflow的示例代码。我们定义了三个任务：fetch_prices, clean_data, analyze_data。然后通过`&gt;&gt;`操作符，清晰地定义了它们之间的依赖关系：fetch任务完成后，clean任务才能开始；clean任务完成后，analyze任务才能开始。这样就将协作关系代码化、自动化了。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治理原则是解耦与容错。解耦是将系统拆分为独立的模块，降低相互影响。容错是确保单个环节的故障不会导致整个系统崩溃。一个很好的类比是家里的并联电路，一个电器短路不会影响其他电器正常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现代数据架构中，解耦思想无处不在。例如，数据湖实现了存算分离，让不同的计算引擎可以独立工作。事件驱动架构使用消息队列作为缓冲，实现了生产者和消费者的完全解耦。这些设计都极大地增强了系统的韧性和可扩展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是课堂研讨时间。请大家回忆一次失败的团队项目经历。思考一下，这其中是否存在依赖管理、可观测性或解耦方面的问题？如果重来一次，你会如何设计规则来改善协作？这个讨论能帮助大家将理论与自身经验结合起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第二个研讨题，让我们来设计一份《团队数据协作公约》。如果你来制定规则，你会选择哪三条最关键的规则来确保团队协作的顺畅？这个练习能帮助大家将今天学到的治理原则应用到实践中。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课程到这里就接近尾声了。我们回顾一下，今天我们学习了将混乱的人际协作转化为有序工业化流程的三大核心原则：可观测性、依赖管理和解耦设计。这标志着我们的视角从技术上升到了系统工程层面。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课后请大家完成一道案例分析题。某公司市场部和技术部之间出现了数据交付问题，请大家结合今天学习的三大治理原则，提出改进措施。这道题能很好地检验大家对知识的掌握和应用能力。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5" Type="http://schemas.openxmlformats.org/officeDocument/2006/relationships/notesSlide" Target="../notesSlides/notesSlide2.xml"/><Relationship Id="rId14" Type="http://schemas.openxmlformats.org/officeDocument/2006/relationships/slideLayout" Target="../slideLayouts/slideLayout12.xml"/><Relationship Id="rId13" Type="http://schemas.openxmlformats.org/officeDocument/2006/relationships/image" Target="../media/image14.svg"/><Relationship Id="rId12" Type="http://schemas.openxmlformats.org/officeDocument/2006/relationships/image" Target="../media/image13.png"/><Relationship Id="rId11" Type="http://schemas.openxmlformats.org/officeDocument/2006/relationships/image" Target="../media/image12.svg"/><Relationship Id="rId10" Type="http://schemas.openxmlformats.org/officeDocument/2006/relationships/image" Target="../media/image11.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2.xml"/><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18.svg"/><Relationship Id="rId4" Type="http://schemas.openxmlformats.org/officeDocument/2006/relationships/image" Target="../media/image17.png"/><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A0A0C">
                  <a:alpha val="55000"/>
                </a:srgbClr>
              </a:gs>
              <a:gs pos="100000">
                <a:srgbClr val="050508">
                  <a:alpha val="85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413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数据工程第三讲：协同系统工程</a:t>
            </a:r>
            <a:endParaRPr lang="en-US" sz="1100"/>
          </a:p>
        </p:txBody>
      </p:sp>
      <p:sp>
        <p:nvSpPr>
          <p:cNvPr id="4" name="AutoShape 4"/>
          <p:cNvSpPr/>
          <p:nvPr/>
        </p:nvSpPr>
        <p:spPr>
          <a:xfrm>
            <a:off x="0" y="3683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多角色数据协作的治理策略</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本讲内容概览</a:t>
            </a:r>
            <a:endParaRPr lang="en-US" sz="1100"/>
          </a:p>
        </p:txBody>
      </p:sp>
      <p:sp>
        <p:nvSpPr>
          <p:cNvPr id="4" name="AutoShape 4"/>
          <p:cNvSpPr/>
          <p:nvPr/>
        </p:nvSpPr>
        <p:spPr>
          <a:xfrm>
            <a:off x="762000" y="1651000"/>
            <a:ext cx="3492500" cy="2095500"/>
          </a:xfrm>
          <a:prstGeom prst="roundRect">
            <a:avLst>
              <a:gd name="adj" fmla="val 0"/>
            </a:avLst>
          </a:prstGeom>
          <a:solidFill>
            <a:srgbClr val="FFFFFF">
              <a:alpha val="88000"/>
            </a:srgbClr>
          </a:solidFill>
          <a:ln w="12700" cap="flat" cmpd="sng">
            <a:solidFill>
              <a:srgbClr val="F97316">
                <a:alpha val="1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841500"/>
            <a:ext cx="355600" cy="355600"/>
          </a:xfrm>
          <a:prstGeom prst="rect">
            <a:avLst/>
          </a:prstGeom>
        </p:spPr>
      </p:pic>
      <p:sp>
        <p:nvSpPr>
          <p:cNvPr id="7" name="AutoShape 7"/>
          <p:cNvSpPr/>
          <p:nvPr/>
        </p:nvSpPr>
        <p:spPr>
          <a:xfrm>
            <a:off x="1460500" y="18415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课程导入</a:t>
            </a:r>
            <a:endParaRPr lang="en-US" sz="1100"/>
          </a:p>
        </p:txBody>
      </p:sp>
      <p:sp>
        <p:nvSpPr>
          <p:cNvPr id="8" name="AutoShape 8"/>
          <p:cNvSpPr/>
          <p:nvPr/>
        </p:nvSpPr>
        <p:spPr>
          <a:xfrm>
            <a:off x="952500" y="2413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从单兵作战模式向高效团队协同转型过程中，剖析实际遇到的协作壁垒与痛点，以此引出本课程的核心议题与学习目标。</a:t>
            </a:r>
            <a:endParaRPr lang="en-US" sz="1100"/>
          </a:p>
        </p:txBody>
      </p:sp>
      <p:sp>
        <p:nvSpPr>
          <p:cNvPr id="9" name="AutoShape 9"/>
          <p:cNvSpPr/>
          <p:nvPr/>
        </p:nvSpPr>
        <p:spPr>
          <a:xfrm>
            <a:off x="4470400" y="1651000"/>
            <a:ext cx="3492500" cy="2095500"/>
          </a:xfrm>
          <a:prstGeom prst="roundRect">
            <a:avLst>
              <a:gd name="adj" fmla="val 0"/>
            </a:avLst>
          </a:prstGeom>
          <a:solidFill>
            <a:srgbClr val="FFFFFF">
              <a:alpha val="88000"/>
            </a:srgbClr>
          </a:solidFill>
          <a:ln w="12700" cap="flat" cmpd="sng">
            <a:solidFill>
              <a:srgbClr val="F97316">
                <a:alpha val="1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470400" y="1651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1841500"/>
            <a:ext cx="355600" cy="355600"/>
          </a:xfrm>
          <a:prstGeom prst="rect">
            <a:avLst/>
          </a:prstGeom>
        </p:spPr>
      </p:pic>
      <p:sp>
        <p:nvSpPr>
          <p:cNvPr id="12" name="AutoShape 12"/>
          <p:cNvSpPr/>
          <p:nvPr/>
        </p:nvSpPr>
        <p:spPr>
          <a:xfrm>
            <a:off x="5168900" y="18415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可观测性原则</a:t>
            </a:r>
            <a:endParaRPr lang="en-US" sz="1100"/>
          </a:p>
        </p:txBody>
      </p:sp>
      <p:sp>
        <p:nvSpPr>
          <p:cNvPr id="13" name="AutoShape 13"/>
          <p:cNvSpPr/>
          <p:nvPr/>
        </p:nvSpPr>
        <p:spPr>
          <a:xfrm>
            <a:off x="4660900" y="2413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构建全链路的系统感知体系，打破信息黑盒，让运行状态、异常波动和潜在风险都能被及时捕捉，真正做到问题“看得见”。</a:t>
            </a:r>
            <a:endParaRPr lang="en-US" sz="1100"/>
          </a:p>
        </p:txBody>
      </p:sp>
      <p:sp>
        <p:nvSpPr>
          <p:cNvPr id="14" name="AutoShape 14"/>
          <p:cNvSpPr/>
          <p:nvPr/>
        </p:nvSpPr>
        <p:spPr>
          <a:xfrm>
            <a:off x="8153400" y="1651000"/>
            <a:ext cx="3492500" cy="2095500"/>
          </a:xfrm>
          <a:prstGeom prst="roundRect">
            <a:avLst>
              <a:gd name="adj" fmla="val 0"/>
            </a:avLst>
          </a:prstGeom>
          <a:solidFill>
            <a:srgbClr val="FFFFFF">
              <a:alpha val="88000"/>
            </a:srgbClr>
          </a:solidFill>
          <a:ln w="12700" cap="flat" cmpd="sng">
            <a:solidFill>
              <a:srgbClr val="F97316">
                <a:alpha val="15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153400" y="1651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43900" y="1841500"/>
            <a:ext cx="355600" cy="355600"/>
          </a:xfrm>
          <a:prstGeom prst="rect">
            <a:avLst/>
          </a:prstGeom>
        </p:spPr>
      </p:pic>
      <p:sp>
        <p:nvSpPr>
          <p:cNvPr id="17" name="AutoShape 17"/>
          <p:cNvSpPr/>
          <p:nvPr/>
        </p:nvSpPr>
        <p:spPr>
          <a:xfrm>
            <a:off x="8851900" y="18415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依赖管理原则</a:t>
            </a:r>
            <a:endParaRPr lang="en-US" sz="1100"/>
          </a:p>
        </p:txBody>
      </p:sp>
      <p:sp>
        <p:nvSpPr>
          <p:cNvPr id="18" name="AutoShape 18"/>
          <p:cNvSpPr/>
          <p:nvPr/>
        </p:nvSpPr>
        <p:spPr>
          <a:xfrm>
            <a:off x="8343900" y="2413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系统梳理服务与模块间的调用链路，规范交互接口与数据流转，让复杂的业务依赖关系变得清晰、可控，实现逻辑上的“理得顺”。</a:t>
            </a:r>
            <a:endParaRPr lang="en-US" sz="1100"/>
          </a:p>
        </p:txBody>
      </p:sp>
      <p:sp>
        <p:nvSpPr>
          <p:cNvPr id="19" name="AutoShape 19"/>
          <p:cNvSpPr/>
          <p:nvPr/>
        </p:nvSpPr>
        <p:spPr>
          <a:xfrm>
            <a:off x="762000" y="3937000"/>
            <a:ext cx="3492500" cy="2095500"/>
          </a:xfrm>
          <a:prstGeom prst="roundRect">
            <a:avLst>
              <a:gd name="adj" fmla="val 0"/>
            </a:avLst>
          </a:prstGeom>
          <a:solidFill>
            <a:srgbClr val="FFFFFF">
              <a:alpha val="88000"/>
            </a:srgbClr>
          </a:solidFill>
          <a:ln w="12700" cap="flat" cmpd="sng">
            <a:solidFill>
              <a:srgbClr val="F97316">
                <a:alpha val="15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762000" y="3937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4127500"/>
            <a:ext cx="355600" cy="355600"/>
          </a:xfrm>
          <a:prstGeom prst="rect">
            <a:avLst/>
          </a:prstGeom>
        </p:spPr>
      </p:pic>
      <p:sp>
        <p:nvSpPr>
          <p:cNvPr id="22" name="AutoShape 22"/>
          <p:cNvSpPr/>
          <p:nvPr/>
        </p:nvSpPr>
        <p:spPr>
          <a:xfrm>
            <a:off x="1460500" y="41275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解耦设计原则</a:t>
            </a:r>
            <a:endParaRPr lang="en-US" sz="1100"/>
          </a:p>
        </p:txBody>
      </p:sp>
      <p:sp>
        <p:nvSpPr>
          <p:cNvPr id="23" name="AutoShape 23"/>
          <p:cNvSpPr/>
          <p:nvPr/>
        </p:nvSpPr>
        <p:spPr>
          <a:xfrm>
            <a:off x="952500" y="4699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通过合理的架构拆分与边界定义，将强耦合转化为弱关联，有效阻断故障的扩散与风险的传导，达成风险层面的“隔得开”。</a:t>
            </a:r>
            <a:endParaRPr lang="en-US" sz="1100"/>
          </a:p>
        </p:txBody>
      </p:sp>
      <p:sp>
        <p:nvSpPr>
          <p:cNvPr id="24" name="AutoShape 24"/>
          <p:cNvSpPr/>
          <p:nvPr/>
        </p:nvSpPr>
        <p:spPr>
          <a:xfrm>
            <a:off x="4470400" y="3937000"/>
            <a:ext cx="3492500" cy="2095500"/>
          </a:xfrm>
          <a:prstGeom prst="roundRect">
            <a:avLst>
              <a:gd name="adj" fmla="val 0"/>
            </a:avLst>
          </a:prstGeom>
          <a:solidFill>
            <a:srgbClr val="FFFFFF">
              <a:alpha val="88000"/>
            </a:srgbClr>
          </a:solidFill>
          <a:ln w="12700" cap="flat" cmpd="sng">
            <a:solidFill>
              <a:srgbClr val="F97316">
                <a:alpha val="15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4470400" y="3937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60900" y="4127500"/>
            <a:ext cx="355600" cy="355600"/>
          </a:xfrm>
          <a:prstGeom prst="rect">
            <a:avLst/>
          </a:prstGeom>
        </p:spPr>
      </p:pic>
      <p:sp>
        <p:nvSpPr>
          <p:cNvPr id="27" name="AutoShape 27"/>
          <p:cNvSpPr/>
          <p:nvPr/>
        </p:nvSpPr>
        <p:spPr>
          <a:xfrm>
            <a:off x="5168900" y="41275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实战案例研讨</a:t>
            </a:r>
            <a:endParaRPr lang="en-US" sz="1100"/>
          </a:p>
        </p:txBody>
      </p:sp>
      <p:sp>
        <p:nvSpPr>
          <p:cNvPr id="28" name="AutoShape 28"/>
          <p:cNvSpPr/>
          <p:nvPr/>
        </p:nvSpPr>
        <p:spPr>
          <a:xfrm>
            <a:off x="4660900" y="4699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结合企业真实的技术与业务场景，分组进行深度研讨，将课程中的理论模型转化为可落地的解决方案，在实践中加深理解。</a:t>
            </a:r>
            <a:endParaRPr lang="en-US" sz="1100"/>
          </a:p>
        </p:txBody>
      </p:sp>
      <p:sp>
        <p:nvSpPr>
          <p:cNvPr id="29" name="AutoShape 29"/>
          <p:cNvSpPr/>
          <p:nvPr/>
        </p:nvSpPr>
        <p:spPr>
          <a:xfrm>
            <a:off x="8153400" y="3937000"/>
            <a:ext cx="3492500" cy="2095500"/>
          </a:xfrm>
          <a:prstGeom prst="roundRect">
            <a:avLst>
              <a:gd name="adj" fmla="val 0"/>
            </a:avLst>
          </a:prstGeom>
          <a:solidFill>
            <a:srgbClr val="FFFFFF">
              <a:alpha val="88000"/>
            </a:srgbClr>
          </a:solidFill>
          <a:ln w="12700" cap="flat" cmpd="sng">
            <a:solidFill>
              <a:srgbClr val="F97316">
                <a:alpha val="15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8153400" y="3937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43900" y="4127500"/>
            <a:ext cx="355600" cy="355600"/>
          </a:xfrm>
          <a:prstGeom prst="rect">
            <a:avLst/>
          </a:prstGeom>
        </p:spPr>
      </p:pic>
      <p:sp>
        <p:nvSpPr>
          <p:cNvPr id="32" name="AutoShape 32"/>
          <p:cNvSpPr/>
          <p:nvPr/>
        </p:nvSpPr>
        <p:spPr>
          <a:xfrm>
            <a:off x="8851900" y="41275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课程总结回顾</a:t>
            </a:r>
            <a:endParaRPr lang="en-US" sz="1100"/>
          </a:p>
        </p:txBody>
      </p:sp>
      <p:sp>
        <p:nvSpPr>
          <p:cNvPr id="33" name="AutoShape 33"/>
          <p:cNvSpPr/>
          <p:nvPr/>
        </p:nvSpPr>
        <p:spPr>
          <a:xfrm>
            <a:off x="8343900" y="4699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系统回顾三大核心治理原则的应用场景与关键要点，总结本次课程的精华内容，并布置针对性的课后作业，帮助大家巩固学习成果。</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案例导入：China's Prices Project 的协作困境</a:t>
            </a:r>
            <a:endParaRPr lang="en-US" sz="1100"/>
          </a:p>
        </p:txBody>
      </p:sp>
      <p:sp>
        <p:nvSpPr>
          <p:cNvPr id="4" name="AutoShape 4"/>
          <p:cNvSpPr/>
          <p:nvPr/>
        </p:nvSpPr>
        <p:spPr>
          <a:xfrm>
            <a:off x="762000" y="1524000"/>
            <a:ext cx="3492500" cy="1587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3492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6764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数据采集工程师（你）</a:t>
            </a:r>
            <a:endParaRPr lang="en-US" sz="1100"/>
          </a:p>
        </p:txBody>
      </p:sp>
      <p:sp>
        <p:nvSpPr>
          <p:cNvPr id="7" name="AutoShape 7"/>
          <p:cNvSpPr/>
          <p:nvPr/>
        </p:nvSpPr>
        <p:spPr>
          <a:xfrm>
            <a:off x="889000" y="21590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负责编写网络爬虫脚本，全天候抓取目标电商平台的实时价格原始数据，是数据产线的第一道关口。</a:t>
            </a:r>
            <a:endParaRPr lang="en-US" sz="1100"/>
          </a:p>
        </p:txBody>
      </p:sp>
      <p:sp>
        <p:nvSpPr>
          <p:cNvPr id="8" name="AutoShape 8"/>
          <p:cNvSpPr/>
          <p:nvPr/>
        </p:nvSpPr>
        <p:spPr>
          <a:xfrm>
            <a:off x="4470400" y="1524000"/>
            <a:ext cx="3492500" cy="1587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470400" y="1524000"/>
            <a:ext cx="3492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597400" y="16764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数据处理工程师（小明）</a:t>
            </a:r>
            <a:endParaRPr lang="en-US" sz="1100"/>
          </a:p>
        </p:txBody>
      </p:sp>
      <p:sp>
        <p:nvSpPr>
          <p:cNvPr id="11" name="AutoShape 11"/>
          <p:cNvSpPr/>
          <p:nvPr/>
        </p:nvSpPr>
        <p:spPr>
          <a:xfrm>
            <a:off x="4597400" y="21590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承接原始数据，执行ETL清洗与转换工作，将杂乱的原始数据规整为下游可直接消费的结构化数据格式。</a:t>
            </a:r>
            <a:endParaRPr lang="en-US" sz="1100"/>
          </a:p>
        </p:txBody>
      </p:sp>
      <p:sp>
        <p:nvSpPr>
          <p:cNvPr id="12" name="AutoShape 12"/>
          <p:cNvSpPr/>
          <p:nvPr/>
        </p:nvSpPr>
        <p:spPr>
          <a:xfrm>
            <a:off x="8191500" y="1524000"/>
            <a:ext cx="3492500" cy="1587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191500" y="1524000"/>
            <a:ext cx="3492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318500" y="16764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数据分析师（小红）</a:t>
            </a:r>
            <a:endParaRPr lang="en-US" sz="1100"/>
          </a:p>
        </p:txBody>
      </p:sp>
      <p:sp>
        <p:nvSpPr>
          <p:cNvPr id="15" name="AutoShape 15"/>
          <p:cNvSpPr/>
          <p:nvPr/>
        </p:nvSpPr>
        <p:spPr>
          <a:xfrm>
            <a:off x="8318500" y="21590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基于处理后的数据进行业务逻辑分析，制作可视化报表与趋势洞察，为业务决策提供关键的数据支撑。</a:t>
            </a:r>
            <a:endParaRPr lang="en-US" sz="1100"/>
          </a:p>
        </p:txBody>
      </p:sp>
      <p:sp>
        <p:nvSpPr>
          <p:cNvPr id="16" name="AutoShape 16"/>
          <p:cNvSpPr/>
          <p:nvPr/>
        </p:nvSpPr>
        <p:spPr>
          <a:xfrm>
            <a:off x="762000" y="3302000"/>
            <a:ext cx="34925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3302000"/>
            <a:ext cx="50800" cy="1841500"/>
          </a:xfrm>
          <a:prstGeom prst="roundRect">
            <a:avLst>
              <a:gd name="adj" fmla="val 0"/>
            </a:avLst>
          </a:prstGeom>
          <a:solidFill>
            <a:srgbClr val="F97316">
              <a:alpha val="7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14400" y="34290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接口数据错位：格式不兼容</a:t>
            </a:r>
            <a:endParaRPr lang="en-US" sz="1100"/>
          </a:p>
        </p:txBody>
      </p:sp>
      <p:sp>
        <p:nvSpPr>
          <p:cNvPr id="19" name="AutoShape 19"/>
          <p:cNvSpPr/>
          <p:nvPr/>
        </p:nvSpPr>
        <p:spPr>
          <a:xfrm>
            <a:off x="914400" y="39370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爬虫产出带货币符号的字符串（如“¥199.00”），但下游脚本强依赖纯数字浮点数格式。类型不匹配导致数据解析环节直接抛出异常，整条链路阻塞。</a:t>
            </a:r>
            <a:endParaRPr lang="en-US" sz="1100"/>
          </a:p>
        </p:txBody>
      </p:sp>
      <p:sp>
        <p:nvSpPr>
          <p:cNvPr id="20" name="AutoShape 20"/>
          <p:cNvSpPr/>
          <p:nvPr/>
        </p:nvSpPr>
        <p:spPr>
          <a:xfrm>
            <a:off x="4470400" y="3302000"/>
            <a:ext cx="34925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470400" y="3302000"/>
            <a:ext cx="50800" cy="1841500"/>
          </a:xfrm>
          <a:prstGeom prst="roundRect">
            <a:avLst>
              <a:gd name="adj" fmla="val 0"/>
            </a:avLst>
          </a:prstGeom>
          <a:solidFill>
            <a:srgbClr val="F97316">
              <a:alpha val="7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4622800" y="34290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关键信息黑洞：断层难发现</a:t>
            </a:r>
            <a:endParaRPr lang="en-US" sz="1100"/>
          </a:p>
        </p:txBody>
      </p:sp>
      <p:sp>
        <p:nvSpPr>
          <p:cNvPr id="23" name="AutoShape 23"/>
          <p:cNvSpPr/>
          <p:nvPr/>
        </p:nvSpPr>
        <p:spPr>
          <a:xfrm>
            <a:off x="4622800" y="39370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源网站结构更新导致核心的“商品类别”字段缺失，而上游未做监控。直到分析师进行业务归因时，才发现关键维度数据丢失，导致报告返工与决策延迟。</a:t>
            </a:r>
            <a:endParaRPr lang="en-US" sz="1100"/>
          </a:p>
        </p:txBody>
      </p:sp>
      <p:sp>
        <p:nvSpPr>
          <p:cNvPr id="24" name="AutoShape 24"/>
          <p:cNvSpPr/>
          <p:nvPr/>
        </p:nvSpPr>
        <p:spPr>
          <a:xfrm>
            <a:off x="8191500" y="3302000"/>
            <a:ext cx="34925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8191500" y="3302000"/>
            <a:ext cx="50800" cy="1841500"/>
          </a:xfrm>
          <a:prstGeom prst="roundRect">
            <a:avLst>
              <a:gd name="adj" fmla="val 0"/>
            </a:avLst>
          </a:prstGeom>
          <a:solidFill>
            <a:srgbClr val="F97316">
              <a:alpha val="7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343900" y="34290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变更连锁故障：沟通失效</a:t>
            </a:r>
            <a:endParaRPr lang="en-US" sz="1100"/>
          </a:p>
        </p:txBody>
      </p:sp>
      <p:sp>
        <p:nvSpPr>
          <p:cNvPr id="27" name="AutoShape 27"/>
          <p:cNvSpPr/>
          <p:nvPr/>
        </p:nvSpPr>
        <p:spPr>
          <a:xfrm>
            <a:off x="8343900" y="39370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为优化性能，私自将数据输出格式由CSV改为Parquet却未同步通知。上下游系统无适配逻辑，引发从处理到分析全流程瘫痪，排查与恢复耗时数小时。</a:t>
            </a:r>
            <a:endParaRPr lang="en-US" sz="1100"/>
          </a:p>
        </p:txBody>
      </p:sp>
      <p:sp>
        <p:nvSpPr>
          <p:cNvPr id="28" name="AutoShape 28"/>
          <p:cNvSpPr/>
          <p:nvPr/>
        </p:nvSpPr>
        <p:spPr>
          <a:xfrm>
            <a:off x="762000" y="5334000"/>
            <a:ext cx="10922000" cy="1206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1016000" y="5461000"/>
            <a:ext cx="1041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核心洞察：从“人治”走向“工程治理”</a:t>
            </a:r>
            <a:endParaRPr lang="en-US" sz="1100"/>
          </a:p>
        </p:txBody>
      </p:sp>
      <p:sp>
        <p:nvSpPr>
          <p:cNvPr id="30" name="AutoShape 30"/>
          <p:cNvSpPr/>
          <p:nvPr/>
        </p:nvSpPr>
        <p:spPr>
          <a:xfrm>
            <a:off x="1016000" y="5842000"/>
            <a:ext cx="1041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当项目从单兵作战升级为团队协作，依靠“人治”的口头约定与事后补救已不再可靠。我们必须引入工程治理的理念，通过标准化的接口规范、自动化的质量校验和透明的变更流程，将人为失误的风险降到最低。</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治理原则一：可观测性</a:t>
            </a:r>
            <a:endParaRPr lang="en-US" sz="1100"/>
          </a:p>
        </p:txBody>
      </p:sp>
      <p:sp>
        <p:nvSpPr>
          <p:cNvPr id="4" name="AutoShape 4"/>
          <p:cNvSpPr/>
          <p:nvPr/>
        </p:nvSpPr>
        <p:spPr>
          <a:xfrm>
            <a:off x="762000" y="1524000"/>
            <a:ext cx="10668000" cy="1397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510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给数据管道装上“监控摄像头”</a:t>
            </a:r>
            <a:endParaRPr lang="en-US" sz="1100"/>
          </a:p>
          <a:p>
            <a:pPr marL="0" indent="0" algn="l">
              <a:lnSpc>
                <a:spcPct val="117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观测性是指通过对系统输出的外部表现（如日志、指标、追踪），无需侵入内部代码即可推断系统内部状态的能力。它让我们能够像观察物理世界一样，清晰地看到数据流转的全过程，在问题发生时快速定位根源，而非盲目猜测。</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3175000"/>
            <a:ext cx="3429000" cy="279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3175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89000" y="3365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指标 (Metrics)</a:t>
            </a:r>
            <a:endParaRPr lang="en-US" sz="1100"/>
          </a:p>
        </p:txBody>
      </p:sp>
      <p:sp>
        <p:nvSpPr>
          <p:cNvPr id="9" name="AutoShape 9"/>
          <p:cNvSpPr/>
          <p:nvPr/>
        </p:nvSpPr>
        <p:spPr>
          <a:xfrm>
            <a:off x="889000" y="40005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对系统状态的量化抽象，是可聚合、可统计的时间序列数据。它是系统的“体检报告”，用数字直观反映运行健康度。</a:t>
            </a:r>
            <a:endParaRPr lang="en-US" sz="1100"/>
          </a:p>
        </p:txBody>
      </p:sp>
      <p:sp>
        <p:nvSpPr>
          <p:cNvPr id="10" name="AutoShape 10"/>
          <p:cNvSpPr/>
          <p:nvPr/>
        </p:nvSpPr>
        <p:spPr>
          <a:xfrm>
            <a:off x="889000" y="4953000"/>
            <a:ext cx="3175000" cy="9525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990600" y="5029200"/>
            <a:ext cx="298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核心应用：</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实时监控数据吞吐量、延迟、错误率等关键性能指标，支持趋势分析与阈值告警。</a:t>
            </a:r>
            <a:endParaRPr lang="en-US" sz="1100"/>
          </a:p>
        </p:txBody>
      </p:sp>
      <p:sp>
        <p:nvSpPr>
          <p:cNvPr id="12" name="AutoShape 12"/>
          <p:cNvSpPr/>
          <p:nvPr/>
        </p:nvSpPr>
        <p:spPr>
          <a:xfrm>
            <a:off x="4445000" y="3175000"/>
            <a:ext cx="3429000" cy="279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445000" y="3175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572000" y="3365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日志 (Logs)</a:t>
            </a:r>
            <a:endParaRPr lang="en-US" sz="1100"/>
          </a:p>
        </p:txBody>
      </p:sp>
      <p:sp>
        <p:nvSpPr>
          <p:cNvPr id="15" name="AutoShape 15"/>
          <p:cNvSpPr/>
          <p:nvPr/>
        </p:nvSpPr>
        <p:spPr>
          <a:xfrm>
            <a:off x="4572000" y="40005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系统运行时离散的、有时间戳的事件记录。它是系统的“黑匣子”，完整保留了事件发生的上下文细节。</a:t>
            </a:r>
            <a:endParaRPr lang="en-US" sz="1100"/>
          </a:p>
        </p:txBody>
      </p:sp>
      <p:sp>
        <p:nvSpPr>
          <p:cNvPr id="16" name="AutoShape 16"/>
          <p:cNvSpPr/>
          <p:nvPr/>
        </p:nvSpPr>
        <p:spPr>
          <a:xfrm>
            <a:off x="4572000" y="4953000"/>
            <a:ext cx="3175000" cy="9525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673600" y="5029200"/>
            <a:ext cx="298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核心应用：</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记录数据处理的具体逻辑和异常信息，是事后进行故障排查、审计合规与根因分析的重要依据。</a:t>
            </a:r>
            <a:endParaRPr lang="en-US" sz="1100"/>
          </a:p>
        </p:txBody>
      </p:sp>
      <p:sp>
        <p:nvSpPr>
          <p:cNvPr id="18" name="AutoShape 18"/>
          <p:cNvSpPr/>
          <p:nvPr/>
        </p:nvSpPr>
        <p:spPr>
          <a:xfrm>
            <a:off x="8128000" y="3175000"/>
            <a:ext cx="3429000" cy="279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128000" y="3175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255000" y="3365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追踪 (Traces)</a:t>
            </a:r>
            <a:endParaRPr lang="en-US" sz="1100"/>
          </a:p>
        </p:txBody>
      </p:sp>
      <p:sp>
        <p:nvSpPr>
          <p:cNvPr id="21" name="AutoShape 21"/>
          <p:cNvSpPr/>
          <p:nvPr/>
        </p:nvSpPr>
        <p:spPr>
          <a:xfrm>
            <a:off x="8255000" y="40005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分布式系统中，一个请求从产生到结束的完整调用链路视图。它是系统的“导航地图”，串联起各个独立的服务节点。</a:t>
            </a:r>
            <a:endParaRPr lang="en-US" sz="1100"/>
          </a:p>
        </p:txBody>
      </p:sp>
      <p:sp>
        <p:nvSpPr>
          <p:cNvPr id="22" name="AutoShape 22"/>
          <p:cNvSpPr/>
          <p:nvPr/>
        </p:nvSpPr>
        <p:spPr>
          <a:xfrm>
            <a:off x="8255000" y="4953000"/>
            <a:ext cx="3175000" cy="9525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356600" y="5029200"/>
            <a:ext cx="298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核心应用：</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还原数据请求的端到端路径，识别链路中的性能瓶颈、服务依赖关系以及跨服务的错误传播。</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关键实践：数据血缘追踪</a:t>
            </a:r>
            <a:endParaRPr lang="en-US" sz="1100"/>
          </a:p>
        </p:txBody>
      </p:sp>
      <p:sp>
        <p:nvSpPr>
          <p:cNvPr id="4" name="AutoShape 4"/>
          <p:cNvSpPr/>
          <p:nvPr/>
        </p:nvSpPr>
        <p:spPr>
          <a:xfrm>
            <a:off x="762000" y="1651000"/>
            <a:ext cx="10668000" cy="1460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76200" cy="1460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79500" y="1752600"/>
            <a:ext cx="127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核心定义</a:t>
            </a:r>
            <a:endParaRPr lang="en-US" sz="1100"/>
          </a:p>
        </p:txBody>
      </p:sp>
      <p:sp>
        <p:nvSpPr>
          <p:cNvPr id="7" name="AutoShape 7"/>
          <p:cNvSpPr/>
          <p:nvPr/>
        </p:nvSpPr>
        <p:spPr>
          <a:xfrm>
            <a:off x="1079500" y="2184400"/>
            <a:ext cx="1003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血缘是一种全链路的追踪技术，它精准记录了数据的原始来源与最终去向，清晰还原数据在系统内部的流转、转换与计算全过程。它不仅是数据的“出生证明”，更是其在生命周期中每一次变动的“成长档案”。</a:t>
            </a:r>
            <a:endParaRPr lang="en-US" sz="1100"/>
          </a:p>
        </p:txBody>
      </p:sp>
      <p:sp>
        <p:nvSpPr>
          <p:cNvPr id="8" name="AutoShape 8"/>
          <p:cNvSpPr/>
          <p:nvPr/>
        </p:nvSpPr>
        <p:spPr>
          <a:xfrm>
            <a:off x="762000" y="3238500"/>
            <a:ext cx="10668000" cy="120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3238500"/>
            <a:ext cx="609600" cy="1206500"/>
          </a:xfrm>
          <a:prstGeom prst="roundRect">
            <a:avLst>
              <a:gd name="adj" fmla="val 0"/>
            </a:avLst>
          </a:prstGeom>
          <a:solidFill>
            <a:srgbClr val="F97316">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0900" y="3403600"/>
            <a:ext cx="431800" cy="431800"/>
          </a:xfrm>
          <a:prstGeom prst="rect">
            <a:avLst/>
          </a:prstGeom>
        </p:spPr>
      </p:pic>
      <p:sp>
        <p:nvSpPr>
          <p:cNvPr id="11" name="AutoShape 11"/>
          <p:cNvSpPr/>
          <p:nvPr/>
        </p:nvSpPr>
        <p:spPr>
          <a:xfrm>
            <a:off x="1651000" y="3340100"/>
            <a:ext cx="939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这就像物流公司为每一件包裹赋予的唯一运单号，无论中转多少次，都能通过单号追溯全流程物流信息。在数据世界里，血缘就是数据的“专属运单号”，让不可见的流转变得有迹可循。</a:t>
            </a:r>
            <a:endParaRPr lang="en-US" sz="1100"/>
          </a:p>
        </p:txBody>
      </p:sp>
      <p:sp>
        <p:nvSpPr>
          <p:cNvPr id="12" name="AutoShape 12"/>
          <p:cNvSpPr/>
          <p:nvPr/>
        </p:nvSpPr>
        <p:spPr>
          <a:xfrm>
            <a:off x="762000" y="4635500"/>
            <a:ext cx="52070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6355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826000"/>
            <a:ext cx="355600" cy="355600"/>
          </a:xfrm>
          <a:prstGeom prst="rect">
            <a:avLst/>
          </a:prstGeom>
        </p:spPr>
      </p:pic>
      <p:sp>
        <p:nvSpPr>
          <p:cNvPr id="15" name="AutoShape 15"/>
          <p:cNvSpPr/>
          <p:nvPr/>
        </p:nvSpPr>
        <p:spPr>
          <a:xfrm>
            <a:off x="1460500" y="48133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问题溯源：快速定位故障源头</a:t>
            </a:r>
            <a:endParaRPr lang="en-US" sz="1100"/>
          </a:p>
        </p:txBody>
      </p:sp>
      <p:sp>
        <p:nvSpPr>
          <p:cNvPr id="16" name="AutoShape 16"/>
          <p:cNvSpPr/>
          <p:nvPr/>
        </p:nvSpPr>
        <p:spPr>
          <a:xfrm>
            <a:off x="952500" y="53594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当业务侧发现数据异常或报表错误时，无需人工排查，通过血缘图可立即回溯数据生成链路，精准定位上游哪个环节（如数据源、计算逻辑）出现了问题，大幅缩短故障响应时间。</a:t>
            </a:r>
            <a:endParaRPr lang="en-US" sz="1100"/>
          </a:p>
        </p:txBody>
      </p:sp>
      <p:cxnSp>
        <p:nvCxnSpPr>
          <p:cNvPr id="17" name="Connector 17"/>
          <p:cNvCxnSpPr/>
          <p:nvPr/>
        </p:nvCxnSpPr>
        <p:spPr>
          <a:xfrm rot="5372498">
            <a:off x="5365750" y="5549925"/>
            <a:ext cx="1587500" cy="12700"/>
          </a:xfrm>
          <a:prstGeom prst="straightConnector1">
            <a:avLst/>
          </a:prstGeom>
          <a:solidFill>
            <a:srgbClr val="DEE0E3">
              <a:alpha val="100000"/>
            </a:srgbClr>
          </a:solidFill>
          <a:ln w="12700" cap="flat" cmpd="sng">
            <a:solidFill>
              <a:srgbClr val="F97316">
                <a:alpha val="25000"/>
              </a:srgbClr>
            </a:solidFill>
            <a:prstDash val="solid"/>
            <a:round/>
            <a:headEnd type="none" w="med" len="med"/>
            <a:tailEnd type="none" w="med" len="med"/>
          </a:ln>
        </p:spPr>
      </p:cxnSp>
      <p:sp>
        <p:nvSpPr>
          <p:cNvPr id="18" name="AutoShape 18"/>
          <p:cNvSpPr/>
          <p:nvPr/>
        </p:nvSpPr>
        <p:spPr>
          <a:xfrm>
            <a:off x="6223000" y="4635500"/>
            <a:ext cx="52070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223000" y="46355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4826000"/>
            <a:ext cx="355600" cy="355600"/>
          </a:xfrm>
          <a:prstGeom prst="rect">
            <a:avLst/>
          </a:prstGeom>
        </p:spPr>
      </p:pic>
      <p:sp>
        <p:nvSpPr>
          <p:cNvPr id="21" name="AutoShape 21"/>
          <p:cNvSpPr/>
          <p:nvPr/>
        </p:nvSpPr>
        <p:spPr>
          <a:xfrm>
            <a:off x="6921500" y="48133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影响分析：降低变更风险</a:t>
            </a:r>
            <a:endParaRPr lang="en-US" sz="1100"/>
          </a:p>
        </p:txBody>
      </p:sp>
      <p:sp>
        <p:nvSpPr>
          <p:cNvPr id="22" name="AutoShape 22"/>
          <p:cNvSpPr/>
          <p:nvPr/>
        </p:nvSpPr>
        <p:spPr>
          <a:xfrm>
            <a:off x="6413500" y="53594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在进行上游逻辑调整（如接口升级、字段修改）前，利用血缘图清晰预判所有受影响的下游任务与业务报表。提前通知相关方并制定应对方案，有效避免因不知情而导致的业务中断或决策失误。</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治理原则二：依赖管理</a:t>
            </a:r>
            <a:endParaRPr lang="en-US" sz="1100"/>
          </a:p>
        </p:txBody>
      </p:sp>
      <p:sp>
        <p:nvSpPr>
          <p:cNvPr id="4" name="AutoShape 4"/>
          <p:cNvSpPr/>
          <p:nvPr/>
        </p:nvSpPr>
        <p:spPr>
          <a:xfrm>
            <a:off x="762000" y="1524000"/>
            <a:ext cx="10668000" cy="120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587500"/>
            <a:ext cx="1016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理顺任务间的“先后关系”是数据工程的核心逻辑。在工程实践中，这一关系通常通过</a:t>
            </a: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有向无环图（DAG, Directed Acyclic Graph）</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来数学化描述，它清晰界定了任务执行的拓扑顺序，是实现数据流水线自动化调度、避免循环依赖的底层技术基础。</a:t>
            </a:r>
            <a:endParaRPr lang="en-US" sz="1100"/>
          </a:p>
        </p:txBody>
      </p:sp>
      <p:sp>
        <p:nvSpPr>
          <p:cNvPr id="6" name="AutoShape 6"/>
          <p:cNvSpPr/>
          <p:nvPr/>
        </p:nvSpPr>
        <p:spPr>
          <a:xfrm>
            <a:off x="762000" y="2921000"/>
            <a:ext cx="5207000" cy="1968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921000"/>
            <a:ext cx="50800" cy="1968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3022600"/>
            <a:ext cx="469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明确上下游关系</a:t>
            </a:r>
            <a:endParaRPr lang="en-US" sz="1100"/>
          </a:p>
        </p:txBody>
      </p:sp>
      <p:sp>
        <p:nvSpPr>
          <p:cNvPr id="9" name="AutoShape 9"/>
          <p:cNvSpPr/>
          <p:nvPr/>
        </p:nvSpPr>
        <p:spPr>
          <a:xfrm>
            <a:off x="1016000" y="3530600"/>
            <a:ext cx="469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借助 Apache Airflow 等专业工作流工具，通过代码化方式精准定义任务间的依赖链路。上游任务的成功完成是下游任务启动的必要条件，这种强约束机制从根本上避免了执行时序的混乱，保障了复杂数据处理流程的正确性与一致性。</a:t>
            </a:r>
            <a:endParaRPr lang="en-US" sz="1100"/>
          </a:p>
        </p:txBody>
      </p:sp>
      <p:sp>
        <p:nvSpPr>
          <p:cNvPr id="10" name="AutoShape 10"/>
          <p:cNvSpPr/>
          <p:nvPr/>
        </p:nvSpPr>
        <p:spPr>
          <a:xfrm>
            <a:off x="6223000" y="2921000"/>
            <a:ext cx="5207000" cy="1968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2921000"/>
            <a:ext cx="50800" cy="1968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77000" y="3022600"/>
            <a:ext cx="469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定义服务等级协议 (SLA)</a:t>
            </a:r>
            <a:endParaRPr lang="en-US" sz="1100"/>
          </a:p>
        </p:txBody>
      </p:sp>
      <p:sp>
        <p:nvSpPr>
          <p:cNvPr id="13" name="AutoShape 13"/>
          <p:cNvSpPr/>
          <p:nvPr/>
        </p:nvSpPr>
        <p:spPr>
          <a:xfrm>
            <a:off x="6477000" y="3530600"/>
            <a:ext cx="469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建立上下游数据团队间的正式交付契约，明确数据产品的交付内容、时间窗口与质量标准。SLA 不仅是对交付结果的承诺，更是日常运维排障的量化依据，帮助团队快速定位责任方，确保数据服务的稳定性与业务可预期性。</a:t>
            </a:r>
            <a:endParaRPr lang="en-US" sz="1100"/>
          </a:p>
        </p:txBody>
      </p:sp>
      <p:sp>
        <p:nvSpPr>
          <p:cNvPr id="14" name="AutoShape 14"/>
          <p:cNvSpPr/>
          <p:nvPr/>
        </p:nvSpPr>
        <p:spPr>
          <a:xfrm>
            <a:off x="762000" y="5080000"/>
            <a:ext cx="10668000" cy="1397000"/>
          </a:xfrm>
          <a:prstGeom prst="roundRect">
            <a:avLst>
              <a:gd name="adj" fmla="val 0"/>
            </a:avLst>
          </a:prstGeom>
          <a:solidFill>
            <a:srgbClr val="FFF7ED">
              <a:alpha val="96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5270500"/>
            <a:ext cx="406400" cy="406400"/>
          </a:xfrm>
          <a:prstGeom prst="rect">
            <a:avLst/>
          </a:prstGeom>
        </p:spPr>
      </p:pic>
      <p:sp>
        <p:nvSpPr>
          <p:cNvPr id="16" name="AutoShape 16"/>
          <p:cNvSpPr/>
          <p:nvPr/>
        </p:nvSpPr>
        <p:spPr>
          <a:xfrm>
            <a:off x="1651000" y="5270500"/>
            <a:ext cx="927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通俗类比：项目管理中的甘特图</a:t>
            </a:r>
            <a:endParaRPr lang="en-US" sz="1100"/>
          </a:p>
        </p:txBody>
      </p:sp>
      <p:sp>
        <p:nvSpPr>
          <p:cNvPr id="17" name="AutoShape 17"/>
          <p:cNvSpPr/>
          <p:nvPr/>
        </p:nvSpPr>
        <p:spPr>
          <a:xfrm>
            <a:off x="1651000" y="5715000"/>
            <a:ext cx="952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AG与SLA共同构成了数据工程的“进度表”。它让每一个数据任务都有明确的“前置条件”和“交付期限”，将无形的数据流转转化为可视化的执行计划，让复杂的流水线变得可追踪、可管理，让团队协作像精密仪器一样有序运转。</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深度解析：DAG与Airflow示例</a:t>
            </a:r>
            <a:endParaRPr lang="en-US" sz="1100"/>
          </a:p>
        </p:txBody>
      </p:sp>
      <p:sp>
        <p:nvSpPr>
          <p:cNvPr id="4" name="AutoShape 4"/>
          <p:cNvSpPr/>
          <p:nvPr/>
        </p:nvSpPr>
        <p:spPr>
          <a:xfrm>
            <a:off x="762000" y="1651000"/>
            <a:ext cx="10668000" cy="4572000"/>
          </a:xfrm>
          <a:prstGeom prst="roundRect">
            <a:avLst>
              <a:gd name="adj" fmla="val 0"/>
            </a:avLst>
          </a:prstGeom>
          <a:solidFill>
            <a:srgbClr val="1E1E23">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10668000" cy="63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10160000" cy="406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from airflow import DAG</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from airflow.operators.python import PythonOperator</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from datetime import datetime</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default_args = {</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A7F3D0"/>
                </a:solidFill>
                <a:latin typeface="Consolas" panose="020B0609020204030204"/>
                <a:ea typeface="Consolas" panose="020B0609020204030204"/>
                <a:cs typeface="Consolas" panose="020B0609020204030204"/>
                <a:sym typeface="Consolas" panose="020B0609020204030204"/>
              </a:rPr>
              <a:t>'owner'</a:t>
            </a: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a:t>
            </a:r>
            <a:r>
              <a:rPr lang="en-US" sz="1300" b="0" i="0" u="none" strike="noStrike">
                <a:solidFill>
                  <a:srgbClr val="C4B5FD"/>
                </a:solidFill>
                <a:latin typeface="Consolas" panose="020B0609020204030204"/>
                <a:ea typeface="Consolas" panose="020B0609020204030204"/>
                <a:cs typeface="Consolas" panose="020B0609020204030204"/>
                <a:sym typeface="Consolas" panose="020B0609020204030204"/>
              </a:rPr>
              <a:t>'data_team'</a:t>
            </a: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A7F3D0"/>
                </a:solidFill>
                <a:latin typeface="Consolas" panose="020B0609020204030204"/>
                <a:ea typeface="Consolas" panose="020B0609020204030204"/>
                <a:cs typeface="Consolas" panose="020B0609020204030204"/>
                <a:sym typeface="Consolas" panose="020B0609020204030204"/>
              </a:rPr>
              <a:t>'start_date'</a:t>
            </a: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 datetime(</a:t>
            </a:r>
            <a:r>
              <a:rPr lang="en-US" sz="1300" b="0" i="0" u="none" strike="noStrike">
                <a:solidFill>
                  <a:srgbClr val="FDBA74"/>
                </a:solidFill>
                <a:latin typeface="Consolas" panose="020B0609020204030204"/>
                <a:ea typeface="Consolas" panose="020B0609020204030204"/>
                <a:cs typeface="Consolas" panose="020B0609020204030204"/>
                <a:sym typeface="Consolas" panose="020B0609020204030204"/>
              </a:rPr>
              <a:t>2026</a:t>
            </a: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a:t>
            </a:r>
            <a:r>
              <a:rPr lang="en-US" sz="1300" b="0" i="0" u="none" strike="noStrike">
                <a:solidFill>
                  <a:srgbClr val="FDBA74"/>
                </a:solidFill>
                <a:latin typeface="Consolas" panose="020B0609020204030204"/>
                <a:ea typeface="Consolas" panose="020B0609020204030204"/>
                <a:cs typeface="Consolas" panose="020B0609020204030204"/>
                <a:sym typeface="Consolas" panose="020B0609020204030204"/>
              </a:rPr>
              <a:t>1</a:t>
            </a: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a:t>
            </a:r>
            <a:r>
              <a:rPr lang="en-US" sz="1300" b="0" i="0" u="none" strike="noStrike">
                <a:solidFill>
                  <a:srgbClr val="FDBA74"/>
                </a:solidFill>
                <a:latin typeface="Consolas" panose="020B0609020204030204"/>
                <a:ea typeface="Consolas" panose="020B0609020204030204"/>
                <a:cs typeface="Consolas" panose="020B0609020204030204"/>
                <a:sym typeface="Consolas" panose="020B0609020204030204"/>
              </a:rPr>
              <a:t>1</a:t>
            </a: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with DAG(</a:t>
            </a:r>
            <a:r>
              <a:rPr lang="en-US" sz="1300" b="0" i="0" u="none" strike="noStrike">
                <a:solidFill>
                  <a:srgbClr val="C4B5FD"/>
                </a:solidFill>
                <a:latin typeface="Consolas" panose="020B0609020204030204"/>
                <a:ea typeface="Consolas" panose="020B0609020204030204"/>
                <a:cs typeface="Consolas" panose="020B0609020204030204"/>
                <a:sym typeface="Consolas" panose="020B0609020204030204"/>
              </a:rPr>
              <a:t>'prices_pipeline'</a:t>
            </a: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 default_args=default_args, schedule_interval=</a:t>
            </a:r>
            <a:r>
              <a:rPr lang="en-US" sz="1300" b="0" i="0" u="none" strike="noStrike">
                <a:solidFill>
                  <a:srgbClr val="C4B5FD"/>
                </a:solidFill>
                <a:latin typeface="Consolas" panose="020B0609020204030204"/>
                <a:ea typeface="Consolas" panose="020B0609020204030204"/>
                <a:cs typeface="Consolas" panose="020B0609020204030204"/>
                <a:sym typeface="Consolas" panose="020B0609020204030204"/>
              </a:rPr>
              <a:t>'@daily'</a:t>
            </a: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 as dag:</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def fetch_prices():</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9CA3AF"/>
                </a:solidFill>
                <a:latin typeface="Consolas" panose="020B0609020204030204"/>
                <a:ea typeface="Consolas" panose="020B0609020204030204"/>
                <a:cs typeface="Consolas" panose="020B0609020204030204"/>
                <a:sym typeface="Consolas" panose="020B0609020204030204"/>
              </a:rPr>
              <a:t># 数据采集：抓取目标数据源的原始价格信息</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pass</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def clean_data():</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9CA3AF"/>
                </a:solidFill>
                <a:latin typeface="Consolas" panose="020B0609020204030204"/>
                <a:ea typeface="Consolas" panose="020B0609020204030204"/>
                <a:cs typeface="Consolas" panose="020B0609020204030204"/>
                <a:sym typeface="Consolas" panose="020B0609020204030204"/>
              </a:rPr>
              <a:t># 数据清洗：处理异常值、缺失值与格式转换</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pass</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def analyze_data():</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9CA3AF"/>
                </a:solidFill>
                <a:latin typeface="Consolas" panose="020B0609020204030204"/>
                <a:ea typeface="Consolas" panose="020B0609020204030204"/>
                <a:cs typeface="Consolas" panose="020B0609020204030204"/>
                <a:sym typeface="Consolas" panose="020B0609020204030204"/>
              </a:rPr>
              <a:t># 业务分析：计算均价、涨幅并生成可视化报表</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pass</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fetch_task = PythonOperator(task_id=</a:t>
            </a:r>
            <a:r>
              <a:rPr lang="en-US" sz="1300" b="0" i="0" u="none" strike="noStrike">
                <a:solidFill>
                  <a:srgbClr val="C4B5FD"/>
                </a:solidFill>
                <a:latin typeface="Consolas" panose="020B0609020204030204"/>
                <a:ea typeface="Consolas" panose="020B0609020204030204"/>
                <a:cs typeface="Consolas" panose="020B0609020204030204"/>
                <a:sym typeface="Consolas" panose="020B0609020204030204"/>
              </a:rPr>
              <a:t>'fetch_prices'</a:t>
            </a: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 python_callable=fetch_prices)</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clean_task = PythonOperator(task_id=</a:t>
            </a:r>
            <a:r>
              <a:rPr lang="en-US" sz="1300" b="0" i="0" u="none" strike="noStrike">
                <a:solidFill>
                  <a:srgbClr val="C4B5FD"/>
                </a:solidFill>
                <a:latin typeface="Consolas" panose="020B0609020204030204"/>
                <a:ea typeface="Consolas" panose="020B0609020204030204"/>
                <a:cs typeface="Consolas" panose="020B0609020204030204"/>
                <a:sym typeface="Consolas" panose="020B0609020204030204"/>
              </a:rPr>
              <a:t>'clean_data'</a:t>
            </a: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 python_callable=clean_data)</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analyze_task = PythonOperator(task_id=</a:t>
            </a:r>
            <a:r>
              <a:rPr lang="en-US" sz="1300" b="0" i="0" u="none" strike="noStrike">
                <a:solidFill>
                  <a:srgbClr val="C4B5FD"/>
                </a:solidFill>
                <a:latin typeface="Consolas" panose="020B0609020204030204"/>
                <a:ea typeface="Consolas" panose="020B0609020204030204"/>
                <a:cs typeface="Consolas" panose="020B0609020204030204"/>
                <a:sym typeface="Consolas" panose="020B0609020204030204"/>
              </a:rPr>
              <a:t>'analyze_data'</a:t>
            </a: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 python_callable=analyze_data)</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1" i="0" u="none" strike="noStrike">
                <a:solidFill>
                  <a:srgbClr val="F97316"/>
                </a:solidFill>
                <a:latin typeface="Consolas" panose="020B0609020204030204"/>
                <a:ea typeface="Consolas" panose="020B0609020204030204"/>
                <a:cs typeface="Consolas" panose="020B0609020204030204"/>
                <a:sym typeface="Consolas" panose="020B0609020204030204"/>
              </a:rPr>
              <a:t># 核心逻辑：定义任务执行的依赖关系链</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1D5DB"/>
                </a:solidFill>
                <a:latin typeface="Consolas" panose="020B0609020204030204"/>
                <a:ea typeface="Consolas" panose="020B0609020204030204"/>
                <a:cs typeface="Consolas" panose="020B0609020204030204"/>
                <a:sym typeface="Consolas" panose="020B0609020204030204"/>
              </a:rPr>
              <a:t>fetch_task &gt;&gt; clean_task &gt;&gt; analyze_task</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治理原则三：解耦与容错</a:t>
            </a:r>
            <a:endParaRPr lang="en-US" sz="1100"/>
          </a:p>
        </p:txBody>
      </p:sp>
      <p:sp>
        <p:nvSpPr>
          <p:cNvPr id="4" name="AutoShape 4"/>
          <p:cNvSpPr/>
          <p:nvPr/>
        </p:nvSpPr>
        <p:spPr>
          <a:xfrm>
            <a:off x="762000" y="1651000"/>
            <a:ext cx="5270500" cy="1968500"/>
          </a:xfrm>
          <a:prstGeom prst="roundRect">
            <a:avLst>
              <a:gd name="adj" fmla="val 0"/>
            </a:avLst>
          </a:prstGeom>
          <a:solidFill>
            <a:srgbClr val="FFFFFF">
              <a:alpha val="95000"/>
            </a:srgbClr>
          </a:solidFill>
          <a:ln w="12700" cap="flat" cmpd="sng">
            <a:solidFill>
              <a:srgbClr val="F97316">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77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解耦 (Decoupling)</a:t>
            </a:r>
            <a:endParaRPr lang="en-US" sz="1100"/>
          </a:p>
        </p:txBody>
      </p:sp>
      <p:sp>
        <p:nvSpPr>
          <p:cNvPr id="7" name="AutoShape 7"/>
          <p:cNvSpPr/>
          <p:nvPr/>
        </p:nvSpPr>
        <p:spPr>
          <a:xfrm>
            <a:off x="952500" y="2286000"/>
            <a:ext cx="488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将复杂的单体系统科学拆解为多个相对独立的功能模块，打破强耦合的网状依赖。模块间通过标准化、稳定的接口进行通信，使每个部分都能独立演进、开发和部署，从而提升系统的灵活性与维护效率。</a:t>
            </a:r>
            <a:endParaRPr lang="en-US" sz="1100"/>
          </a:p>
        </p:txBody>
      </p:sp>
      <p:sp>
        <p:nvSpPr>
          <p:cNvPr id="8" name="AutoShape 8"/>
          <p:cNvSpPr/>
          <p:nvPr/>
        </p:nvSpPr>
        <p:spPr>
          <a:xfrm>
            <a:off x="6223000" y="1651000"/>
            <a:ext cx="5270500" cy="1968500"/>
          </a:xfrm>
          <a:prstGeom prst="roundRect">
            <a:avLst>
              <a:gd name="adj" fmla="val 0"/>
            </a:avLst>
          </a:prstGeom>
          <a:solidFill>
            <a:srgbClr val="FFFFFF">
              <a:alpha val="95000"/>
            </a:srgbClr>
          </a:solidFill>
          <a:ln w="12700" cap="flat" cmpd="sng">
            <a:solidFill>
              <a:srgbClr val="F97316">
                <a:alpha val="25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223000" y="1651000"/>
            <a:ext cx="5270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13500" y="177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容错 (Fault Tolerance)</a:t>
            </a:r>
            <a:endParaRPr lang="en-US" sz="1100"/>
          </a:p>
        </p:txBody>
      </p:sp>
      <p:sp>
        <p:nvSpPr>
          <p:cNvPr id="11" name="AutoShape 11"/>
          <p:cNvSpPr/>
          <p:nvPr/>
        </p:nvSpPr>
        <p:spPr>
          <a:xfrm>
            <a:off x="6413500" y="2286000"/>
            <a:ext cx="488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系统的“免疫力”设计。当某个节点、服务或链路发生故障时，系统具备自动发现问题、隔离风险并通过预设预案（如熔断、降级、重试）快速恢复的能力，确保局部错误不会扩散，核心业务功能依然稳定运行。</a:t>
            </a:r>
            <a:endParaRPr lang="en-US" sz="1100"/>
          </a:p>
        </p:txBody>
      </p:sp>
      <p:sp>
        <p:nvSpPr>
          <p:cNvPr id="12" name="AutoShape 12"/>
          <p:cNvSpPr/>
          <p:nvPr/>
        </p:nvSpPr>
        <p:spPr>
          <a:xfrm>
            <a:off x="762000" y="3873500"/>
            <a:ext cx="5270500" cy="2159000"/>
          </a:xfrm>
          <a:prstGeom prst="roundRect">
            <a:avLst>
              <a:gd name="adj" fmla="val 0"/>
            </a:avLst>
          </a:prstGeom>
          <a:solidFill>
            <a:srgbClr val="FFF7ED">
              <a:alpha val="92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952500" y="40005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实施手段一：引入缓冲机制</a:t>
            </a:r>
            <a:endParaRPr lang="en-US" sz="1100"/>
          </a:p>
        </p:txBody>
      </p:sp>
      <p:sp>
        <p:nvSpPr>
          <p:cNvPr id="14" name="AutoShape 14"/>
          <p:cNvSpPr/>
          <p:nvPr/>
        </p:nvSpPr>
        <p:spPr>
          <a:xfrm>
            <a:off x="952500" y="4508500"/>
            <a:ext cx="488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在上下游任务之间建立中间“暂存区”，例如引入消息队列或数据湖。这能有效实现存算分离或生产者-消费者解耦，平滑处理流量洪峰，避免上游的瞬时高压直接冲击下游服务。</a:t>
            </a:r>
            <a:endParaRPr lang="en-US" sz="1100"/>
          </a:p>
        </p:txBody>
      </p:sp>
      <p:sp>
        <p:nvSpPr>
          <p:cNvPr id="15" name="AutoShape 15"/>
          <p:cNvSpPr/>
          <p:nvPr/>
        </p:nvSpPr>
        <p:spPr>
          <a:xfrm>
            <a:off x="952500" y="5461000"/>
            <a:ext cx="4889500" cy="457200"/>
          </a:xfrm>
          <a:prstGeom prst="roundRect">
            <a:avLst>
              <a:gd name="adj" fmla="val 0"/>
            </a:avLst>
          </a:prstGeom>
          <a:solidFill>
            <a:srgbClr val="F97316">
              <a:alpha val="15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41400" y="5486400"/>
            <a:ext cx="469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核心价值：削峰填谷，缓冲差异，解耦时序依赖</a:t>
            </a:r>
            <a:endParaRPr lang="en-US" sz="1100"/>
          </a:p>
        </p:txBody>
      </p:sp>
      <p:sp>
        <p:nvSpPr>
          <p:cNvPr id="17" name="AutoShape 17"/>
          <p:cNvSpPr/>
          <p:nvPr/>
        </p:nvSpPr>
        <p:spPr>
          <a:xfrm>
            <a:off x="6223000" y="3873500"/>
            <a:ext cx="5270500" cy="2159000"/>
          </a:xfrm>
          <a:prstGeom prst="roundRect">
            <a:avLst>
              <a:gd name="adj" fmla="val 0"/>
            </a:avLst>
          </a:prstGeom>
          <a:solidFill>
            <a:srgbClr val="FFF7ED">
              <a:alpha val="92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413500" y="40005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实施手段二：隔离影响范围</a:t>
            </a:r>
            <a:endParaRPr lang="en-US" sz="1100"/>
          </a:p>
        </p:txBody>
      </p:sp>
      <p:sp>
        <p:nvSpPr>
          <p:cNvPr id="19" name="AutoShape 19"/>
          <p:cNvSpPr/>
          <p:nvPr/>
        </p:nvSpPr>
        <p:spPr>
          <a:xfrm>
            <a:off x="6413500" y="4508500"/>
            <a:ext cx="488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通过线程池隔离、舱壁模式或微服务拆分，构建物理或逻辑上的独立运行环境。这确保了单个组件的故障（如资源耗尽、响应超时）被限制在可控范围内，防止单点失效引发“雪崩效应”拖垮整个系统。</a:t>
            </a:r>
            <a:endParaRPr lang="en-US" sz="1100"/>
          </a:p>
        </p:txBody>
      </p:sp>
      <p:sp>
        <p:nvSpPr>
          <p:cNvPr id="20" name="AutoShape 20"/>
          <p:cNvSpPr/>
          <p:nvPr/>
        </p:nvSpPr>
        <p:spPr>
          <a:xfrm>
            <a:off x="6413500" y="5461000"/>
            <a:ext cx="4889500" cy="457200"/>
          </a:xfrm>
          <a:prstGeom prst="roundRect">
            <a:avLst>
              <a:gd name="adj" fmla="val 0"/>
            </a:avLst>
          </a:prstGeom>
          <a:solidFill>
            <a:srgbClr val="F97316">
              <a:alpha val="1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502400" y="5486400"/>
            <a:ext cx="469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核心价值：故障熔断，保障系统整体高可用性</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深度解析：现代数据架构中的解耦</a:t>
            </a:r>
            <a:endParaRPr lang="en-US" sz="1100"/>
          </a:p>
        </p:txBody>
      </p:sp>
      <p:sp>
        <p:nvSpPr>
          <p:cNvPr id="4" name="AutoShape 4"/>
          <p:cNvSpPr/>
          <p:nvPr/>
        </p:nvSpPr>
        <p:spPr>
          <a:xfrm>
            <a:off x="762000" y="1651000"/>
            <a:ext cx="5270500" cy="43815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762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68500"/>
            <a:ext cx="482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数据湖 (Data Lake)</a:t>
            </a:r>
            <a:endParaRPr lang="en-US" sz="1100"/>
          </a:p>
        </p:txBody>
      </p:sp>
      <p:sp>
        <p:nvSpPr>
          <p:cNvPr id="7" name="AutoShape 7"/>
          <p:cNvSpPr/>
          <p:nvPr/>
        </p:nvSpPr>
        <p:spPr>
          <a:xfrm>
            <a:off x="1016000" y="2794000"/>
            <a:ext cx="4762500" cy="10795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2857500"/>
            <a:ext cx="4508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存算分离：</a:t>
            </a: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将底层统一存储层（如S3、HDFS）与上层计算引擎（如Spark、Presto）彻底解耦，打破传统一体机的紧耦合部署模式，重构数据处理的底层逻辑。</a:t>
            </a:r>
            <a:endParaRPr lang="en-US" sz="1100"/>
          </a:p>
        </p:txBody>
      </p:sp>
      <p:sp>
        <p:nvSpPr>
          <p:cNvPr id="9" name="AutoShape 9"/>
          <p:cNvSpPr/>
          <p:nvPr/>
        </p:nvSpPr>
        <p:spPr>
          <a:xfrm>
            <a:off x="1016000" y="4064000"/>
            <a:ext cx="4762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核心解耦价值</a:t>
            </a:r>
            <a:endParaRPr lang="en-US" sz="1100"/>
          </a:p>
        </p:txBody>
      </p:sp>
      <p:sp>
        <p:nvSpPr>
          <p:cNvPr id="10" name="AutoShape 10"/>
          <p:cNvSpPr/>
          <p:nvPr/>
        </p:nvSpPr>
        <p:spPr>
          <a:xfrm>
            <a:off x="1016000" y="4572000"/>
            <a:ext cx="4762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层资源可独立按需扩展、技术栈灵活升级，互不影响业务运行；同时让数据分析与数据科学团队共享同一份原始数据源，各自灵活选用计算工具并行作业，既避免了资源抢占，又消除了重复数据拷贝，显著提升研发迭代与业务响应效率。</a:t>
            </a:r>
            <a:endParaRPr lang="en-US" sz="1100"/>
          </a:p>
        </p:txBody>
      </p:sp>
      <p:sp>
        <p:nvSpPr>
          <p:cNvPr id="11" name="AutoShape 11"/>
          <p:cNvSpPr/>
          <p:nvPr/>
        </p:nvSpPr>
        <p:spPr>
          <a:xfrm>
            <a:off x="6223000" y="1651000"/>
            <a:ext cx="5270500" cy="43815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1651000"/>
            <a:ext cx="5270500" cy="762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77000" y="1968500"/>
            <a:ext cx="482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事件驱动架构 (EDA)</a:t>
            </a:r>
            <a:endParaRPr lang="en-US" sz="1100"/>
          </a:p>
        </p:txBody>
      </p:sp>
      <p:sp>
        <p:nvSpPr>
          <p:cNvPr id="14" name="AutoShape 14"/>
          <p:cNvSpPr/>
          <p:nvPr/>
        </p:nvSpPr>
        <p:spPr>
          <a:xfrm>
            <a:off x="6477000" y="2794000"/>
            <a:ext cx="4762500" cy="10795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604000" y="2857500"/>
            <a:ext cx="4508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异步缓冲：</a:t>
            </a: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引入高性能分布式消息队列（如Kafka、RabbitMQ）作为核心通信层，作为数据生产者与消费者之间的“异步桥梁”，隔离生产与消费的直接依赖。</a:t>
            </a:r>
            <a:endParaRPr lang="en-US" sz="1100"/>
          </a:p>
        </p:txBody>
      </p:sp>
      <p:sp>
        <p:nvSpPr>
          <p:cNvPr id="16" name="AutoShape 16"/>
          <p:cNvSpPr/>
          <p:nvPr/>
        </p:nvSpPr>
        <p:spPr>
          <a:xfrm>
            <a:off x="6477000" y="4064000"/>
            <a:ext cx="4762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核心解耦价值</a:t>
            </a:r>
            <a:endParaRPr lang="en-US" sz="1100"/>
          </a:p>
        </p:txBody>
      </p:sp>
      <p:sp>
        <p:nvSpPr>
          <p:cNvPr id="17" name="AutoShape 17"/>
          <p:cNvSpPr/>
          <p:nvPr/>
        </p:nvSpPr>
        <p:spPr>
          <a:xfrm>
            <a:off x="6477000" y="4572000"/>
            <a:ext cx="4762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生产侧（业务系统、采集端）与消费侧（ETL、实时服务）的完全时空解耦，下游可按自身处理能力弹性拉取数据；面对上游流量洪峰或短暂服务故障时，消息持久化机制保障数据零丢失，有效削峰填谷，大幅增强了系统在复杂高并发场景下的稳定性与可维护性。</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课堂研讨一：类比分析与复盘</a:t>
            </a:r>
            <a:endParaRPr lang="en-US" sz="1100"/>
          </a:p>
        </p:txBody>
      </p:sp>
      <p:sp>
        <p:nvSpPr>
          <p:cNvPr id="4" name="AutoShape 4"/>
          <p:cNvSpPr/>
          <p:nvPr/>
        </p:nvSpPr>
        <p:spPr>
          <a:xfrm>
            <a:off x="762000" y="1651000"/>
            <a:ext cx="3429000" cy="2794000"/>
          </a:xfrm>
          <a:prstGeom prst="roundRect">
            <a:avLst>
              <a:gd name="adj" fmla="val 0"/>
            </a:avLst>
          </a:prstGeom>
          <a:solidFill>
            <a:srgbClr val="FFFFFF">
              <a:alpha val="90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04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依赖管理</a:t>
            </a:r>
            <a:endParaRPr lang="en-US" sz="1100"/>
          </a:p>
        </p:txBody>
      </p:sp>
      <p:sp>
        <p:nvSpPr>
          <p:cNvPr id="7" name="AutoShape 7"/>
          <p:cNvSpPr/>
          <p:nvPr/>
        </p:nvSpPr>
        <p:spPr>
          <a:xfrm>
            <a:off x="952500" y="2413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在项目中，是否出现过“上游成员未按时交付，导致后续所有人无法推进工作”的情况？任务间的强耦合往往是效率的隐形杀手。</a:t>
            </a:r>
            <a:endParaRPr lang="en-US" sz="1100"/>
          </a:p>
        </p:txBody>
      </p:sp>
      <p:sp>
        <p:nvSpPr>
          <p:cNvPr id="8" name="AutoShape 8"/>
          <p:cNvSpPr/>
          <p:nvPr/>
        </p:nvSpPr>
        <p:spPr>
          <a:xfrm>
            <a:off x="952500" y="3556000"/>
            <a:ext cx="3048000" cy="698500"/>
          </a:xfrm>
          <a:prstGeom prst="roundRect">
            <a:avLst>
              <a:gd name="adj" fmla="val 0"/>
            </a:avLst>
          </a:prstGeom>
          <a:solidFill>
            <a:srgbClr val="FFEDD5">
              <a:alpha val="7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619500"/>
            <a:ext cx="279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a:t>
            </a:r>
            <a:r>
              <a:rPr lang="en-US" sz="1200" b="0" i="0" u="none" strike="noStrike">
                <a:solidFill>
                  <a:srgbClr val="43140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进度停滞与责任推诿，单点故障引发全局阻塞。</a:t>
            </a:r>
            <a:endParaRPr lang="en-US" sz="1100"/>
          </a:p>
        </p:txBody>
      </p:sp>
      <p:sp>
        <p:nvSpPr>
          <p:cNvPr id="10" name="AutoShape 10"/>
          <p:cNvSpPr/>
          <p:nvPr/>
        </p:nvSpPr>
        <p:spPr>
          <a:xfrm>
            <a:off x="4381500" y="1651000"/>
            <a:ext cx="3429000" cy="2794000"/>
          </a:xfrm>
          <a:prstGeom prst="roundRect">
            <a:avLst>
              <a:gd name="adj" fmla="val 0"/>
            </a:avLst>
          </a:prstGeom>
          <a:solidFill>
            <a:srgbClr val="FFFFFF">
              <a:alpha val="90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81500" y="1651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572000" y="1841500"/>
            <a:ext cx="304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可观测性</a:t>
            </a:r>
            <a:endParaRPr lang="en-US" sz="1100"/>
          </a:p>
        </p:txBody>
      </p:sp>
      <p:sp>
        <p:nvSpPr>
          <p:cNvPr id="13" name="AutoShape 13"/>
          <p:cNvSpPr/>
          <p:nvPr/>
        </p:nvSpPr>
        <p:spPr>
          <a:xfrm>
            <a:off x="4572000" y="2413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当项目出现延期或质量问题时，团队能否第一时间定位到具体责任人与问题环节？信息的不透明会放大协作的不确定性。</a:t>
            </a:r>
            <a:endParaRPr lang="en-US" sz="1100"/>
          </a:p>
        </p:txBody>
      </p:sp>
      <p:sp>
        <p:nvSpPr>
          <p:cNvPr id="14" name="AutoShape 14"/>
          <p:cNvSpPr/>
          <p:nvPr/>
        </p:nvSpPr>
        <p:spPr>
          <a:xfrm>
            <a:off x="4572000" y="3556000"/>
            <a:ext cx="3048000" cy="698500"/>
          </a:xfrm>
          <a:prstGeom prst="roundRect">
            <a:avLst>
              <a:gd name="adj" fmla="val 0"/>
            </a:avLst>
          </a:prstGeom>
          <a:solidFill>
            <a:srgbClr val="FFEDD5">
              <a:alpha val="7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699000" y="3619500"/>
            <a:ext cx="279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a:t>
            </a:r>
            <a:r>
              <a:rPr lang="en-US" sz="1200" b="0" i="0" u="none" strike="noStrike">
                <a:solidFill>
                  <a:srgbClr val="43140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黑盒作业与信息滞后，排查问题消耗大量沟通成本。</a:t>
            </a:r>
            <a:endParaRPr lang="en-US" sz="1100"/>
          </a:p>
        </p:txBody>
      </p:sp>
      <p:sp>
        <p:nvSpPr>
          <p:cNvPr id="16" name="AutoShape 16"/>
          <p:cNvSpPr/>
          <p:nvPr/>
        </p:nvSpPr>
        <p:spPr>
          <a:xfrm>
            <a:off x="8001000" y="1651000"/>
            <a:ext cx="3429000" cy="2794000"/>
          </a:xfrm>
          <a:prstGeom prst="roundRect">
            <a:avLst>
              <a:gd name="adj" fmla="val 0"/>
            </a:avLst>
          </a:prstGeom>
          <a:solidFill>
            <a:srgbClr val="FFFFFF">
              <a:alpha val="90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001000" y="1651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191500" y="1841500"/>
            <a:ext cx="304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解耦与治理</a:t>
            </a:r>
            <a:endParaRPr lang="en-US" sz="1100"/>
          </a:p>
        </p:txBody>
      </p:sp>
      <p:sp>
        <p:nvSpPr>
          <p:cNvPr id="19" name="AutoShape 19"/>
          <p:cNvSpPr/>
          <p:nvPr/>
        </p:nvSpPr>
        <p:spPr>
          <a:xfrm>
            <a:off x="8191500" y="2413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如果给你一次重来的机会，你会设计哪些规则、流程或工具，来规避之前的风险？如何让复杂的协作变得有序且可预期？</a:t>
            </a:r>
            <a:endParaRPr lang="en-US" sz="1100"/>
          </a:p>
        </p:txBody>
      </p:sp>
      <p:sp>
        <p:nvSpPr>
          <p:cNvPr id="20" name="AutoShape 20"/>
          <p:cNvSpPr/>
          <p:nvPr/>
        </p:nvSpPr>
        <p:spPr>
          <a:xfrm>
            <a:off x="8191500" y="3556000"/>
            <a:ext cx="3048000" cy="698500"/>
          </a:xfrm>
          <a:prstGeom prst="roundRect">
            <a:avLst>
              <a:gd name="adj" fmla="val 0"/>
            </a:avLst>
          </a:prstGeom>
          <a:solidFill>
            <a:srgbClr val="FFEDD5">
              <a:alpha val="7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318500" y="3619500"/>
            <a:ext cx="279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核心思考：</a:t>
            </a:r>
            <a:r>
              <a:rPr lang="en-US" sz="1200" b="0" i="0" u="none" strike="noStrike">
                <a:solidFill>
                  <a:srgbClr val="43140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标准化动作与工具赋能，构建抗脆弱的协作系统。</a:t>
            </a:r>
            <a:endParaRPr lang="en-US" sz="1100"/>
          </a:p>
        </p:txBody>
      </p:sp>
      <p:sp>
        <p:nvSpPr>
          <p:cNvPr id="22" name="AutoShape 22"/>
          <p:cNvSpPr/>
          <p:nvPr/>
        </p:nvSpPr>
        <p:spPr>
          <a:xfrm>
            <a:off x="762000" y="4699000"/>
            <a:ext cx="10668000" cy="1651000"/>
          </a:xfrm>
          <a:prstGeom prst="roundRect">
            <a:avLst>
              <a:gd name="adj" fmla="val 0"/>
            </a:avLst>
          </a:prstGeom>
          <a:solidFill>
            <a:srgbClr val="FFF7ED">
              <a:alpha val="95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62000" y="4699000"/>
            <a:ext cx="76200" cy="1651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079500" y="4851400"/>
            <a:ext cx="990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研讨目的：从经验中提炼治理智慧</a:t>
            </a:r>
            <a:endParaRPr lang="en-US" sz="1100"/>
          </a:p>
        </p:txBody>
      </p:sp>
      <p:sp>
        <p:nvSpPr>
          <p:cNvPr id="25" name="AutoShape 25"/>
          <p:cNvSpPr/>
          <p:nvPr/>
        </p:nvSpPr>
        <p:spPr>
          <a:xfrm>
            <a:off x="1079500" y="5397500"/>
            <a:ext cx="990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跳出具体项目的执行细节，从一次失败的经历中抽象出通用的管理问题。通过这三个维度的复盘，我们将深刻理解：在复杂的团队协作中，建立清晰的依赖边界、透明的过程反馈机制以及标准化的治理体系，是保障项目成功的关键基石。</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课堂研讨二：方案设计与接口定义</a:t>
            </a:r>
            <a:endParaRPr lang="en-US" sz="1100"/>
          </a:p>
        </p:txBody>
      </p:sp>
      <p:sp>
        <p:nvSpPr>
          <p:cNvPr id="4" name="AutoShape 4"/>
          <p:cNvSpPr/>
          <p:nvPr/>
        </p:nvSpPr>
        <p:spPr>
          <a:xfrm>
            <a:off x="762000" y="1524000"/>
            <a:ext cx="10668000" cy="1270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51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回到“爬虫-清洗-分析”三人协作模型，为了避免数据理解偏差与变更不同步，我们需要一份极简的《团队数据协作公约》。请思考并选出你认为最关键的 3 条规则，以此明确数据流转的标准，建立团队内部的数据信任与高效协同机制。</a:t>
            </a:r>
            <a:endParaRPr lang="en-US" sz="1100"/>
          </a:p>
        </p:txBody>
      </p:sp>
      <p:sp>
        <p:nvSpPr>
          <p:cNvPr id="6" name="AutoShape 6"/>
          <p:cNvSpPr/>
          <p:nvPr/>
        </p:nvSpPr>
        <p:spPr>
          <a:xfrm>
            <a:off x="762000" y="3048000"/>
            <a:ext cx="3492500" cy="2222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3048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32385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依赖与 SLA 标准</a:t>
            </a:r>
            <a:endParaRPr lang="en-US" sz="1100"/>
          </a:p>
        </p:txBody>
      </p:sp>
      <p:sp>
        <p:nvSpPr>
          <p:cNvPr id="9" name="AutoShape 9"/>
          <p:cNvSpPr/>
          <p:nvPr/>
        </p:nvSpPr>
        <p:spPr>
          <a:xfrm>
            <a:off x="952500" y="3810000"/>
            <a:ext cx="3111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明确数据交付的“时间契约”与“格式契约”。例如：每日早 8 点前完成前一日全量数据更新，必须以指定 Schema 的 Parquet 格式归档至约定目录，从源头确保数据的时效性与可用性。</a:t>
            </a:r>
            <a:endParaRPr lang="en-US" sz="1100"/>
          </a:p>
        </p:txBody>
      </p:sp>
      <p:sp>
        <p:nvSpPr>
          <p:cNvPr id="10" name="AutoShape 10"/>
          <p:cNvSpPr/>
          <p:nvPr/>
        </p:nvSpPr>
        <p:spPr>
          <a:xfrm>
            <a:off x="4419600" y="3048000"/>
            <a:ext cx="3492500" cy="2222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419600" y="3048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10100" y="32385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全链路可观测性</a:t>
            </a:r>
            <a:endParaRPr lang="en-US" sz="1100"/>
          </a:p>
        </p:txBody>
      </p:sp>
      <p:sp>
        <p:nvSpPr>
          <p:cNvPr id="13" name="AutoShape 13"/>
          <p:cNvSpPr/>
          <p:nvPr/>
        </p:nvSpPr>
        <p:spPr>
          <a:xfrm>
            <a:off x="4610100" y="3810000"/>
            <a:ext cx="3111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让数据问题“看得见”。所有处理环节需输出结构化标准日志，对空值率、延迟等核心质量指标实施实时监控，一旦出现异常波动立即触发自动告警，变“被动救火”为“主动预警”。</a:t>
            </a:r>
            <a:endParaRPr lang="en-US" sz="1100"/>
          </a:p>
        </p:txBody>
      </p:sp>
      <p:sp>
        <p:nvSpPr>
          <p:cNvPr id="14" name="AutoShape 14"/>
          <p:cNvSpPr/>
          <p:nvPr/>
        </p:nvSpPr>
        <p:spPr>
          <a:xfrm>
            <a:off x="8064500" y="3048000"/>
            <a:ext cx="3492500" cy="2222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064500" y="3048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255000" y="32385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变更与沟通机制</a:t>
            </a:r>
            <a:endParaRPr lang="en-US" sz="1100"/>
          </a:p>
        </p:txBody>
      </p:sp>
      <p:sp>
        <p:nvSpPr>
          <p:cNvPr id="17" name="AutoShape 17"/>
          <p:cNvSpPr/>
          <p:nvPr/>
        </p:nvSpPr>
        <p:spPr>
          <a:xfrm>
            <a:off x="8255000" y="3810000"/>
            <a:ext cx="3111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控制变更带来的连锁反应。任何 Schema 调整或接口修改，必须提前 24 小时在团队 Wiki 发布公告，并强制获得下游所有依赖方的书面确认后再执行，防止因“静默修改”导致下游业务崩溃。</a:t>
            </a:r>
            <a:endParaRPr lang="en-US" sz="1100"/>
          </a:p>
        </p:txBody>
      </p:sp>
      <p:sp>
        <p:nvSpPr>
          <p:cNvPr id="18" name="AutoShape 18"/>
          <p:cNvSpPr/>
          <p:nvPr/>
        </p:nvSpPr>
        <p:spPr>
          <a:xfrm>
            <a:off x="762000" y="5461000"/>
            <a:ext cx="10795000" cy="1079500"/>
          </a:xfrm>
          <a:prstGeom prst="roundRect">
            <a:avLst>
              <a:gd name="adj" fmla="val 0"/>
            </a:avLst>
          </a:prstGeom>
          <a:solidFill>
            <a:srgbClr val="F97316">
              <a:alpha val="1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5461000"/>
            <a:ext cx="50800" cy="1079500"/>
          </a:xfrm>
          <a:prstGeom prst="roundRect">
            <a:avLst>
              <a:gd name="adj" fmla="val 0"/>
            </a:avLst>
          </a:prstGeom>
          <a:solidFill>
            <a:srgbClr val="F97316">
              <a:alpha val="7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016000" y="5562600"/>
            <a:ext cx="1028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思考引导：</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三条规则分别从“交付标准”、“质量保障”和“变更控制”三个维度，为团队协作建立了底层的“交通规则”。在实际业务中，你可以根据数据的敏感度、业务的实时性要求，将这些原则细化为更具操作性的执行手册。</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本章小结</a:t>
            </a:r>
            <a:endParaRPr lang="en-US" sz="1100"/>
          </a:p>
        </p:txBody>
      </p:sp>
      <p:sp>
        <p:nvSpPr>
          <p:cNvPr id="4" name="AutoShape 4"/>
          <p:cNvSpPr/>
          <p:nvPr/>
        </p:nvSpPr>
        <p:spPr>
          <a:xfrm>
            <a:off x="762000" y="1651000"/>
            <a:ext cx="10668000" cy="1460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106680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1397000" cy="1016000"/>
          </a:xfrm>
          <a:prstGeom prst="roundRect">
            <a:avLst>
              <a:gd name="adj" fmla="val 0"/>
            </a:avLst>
          </a:prstGeom>
          <a:solidFill>
            <a:srgbClr val="F97316">
              <a:alpha val="1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1905000"/>
            <a:ext cx="1397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思维</a:t>
            </a:r>
            <a:b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跃迁</a:t>
            </a:r>
            <a:endParaRPr lang="en-US" sz="1100"/>
          </a:p>
        </p:txBody>
      </p:sp>
      <p:cxnSp>
        <p:nvCxnSpPr>
          <p:cNvPr id="8" name="Connector 8"/>
          <p:cNvCxnSpPr/>
          <p:nvPr/>
        </p:nvCxnSpPr>
        <p:spPr>
          <a:xfrm rot="5357030">
            <a:off x="2032000" y="2343190"/>
            <a:ext cx="1016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nvSpPr>
        <p:spPr>
          <a:xfrm>
            <a:off x="2730500" y="1841500"/>
            <a:ext cx="838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本章标志着数据工程的视角发生了根本性转变：从单一的“技术实现”层面，上升到了宏观的“管理科学”与“系统工程”层面。这不仅是技术手段的迭代，更是对复杂系统运行规律的深度认知，让我们能够以更高维度去审视和解决数据建设中的难题。</a:t>
            </a:r>
            <a:endParaRPr lang="en-US" sz="1100"/>
          </a:p>
        </p:txBody>
      </p:sp>
      <p:sp>
        <p:nvSpPr>
          <p:cNvPr id="10" name="AutoShape 10"/>
          <p:cNvSpPr/>
          <p:nvPr/>
        </p:nvSpPr>
        <p:spPr>
          <a:xfrm>
            <a:off x="762000" y="3238500"/>
            <a:ext cx="3492500" cy="1714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62000" y="3238500"/>
            <a:ext cx="3492500" cy="254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952500" y="33655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可观测性：让问题“看得见”</a:t>
            </a:r>
            <a:endParaRPr lang="en-US" sz="1100"/>
          </a:p>
        </p:txBody>
      </p:sp>
      <p:sp>
        <p:nvSpPr>
          <p:cNvPr id="13" name="AutoShape 13"/>
          <p:cNvSpPr/>
          <p:nvPr/>
        </p:nvSpPr>
        <p:spPr>
          <a:xfrm>
            <a:off x="952500" y="38735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建立全链路的监控体系与状态感知机制，打破信息不对称，让潜在风险与执行偏差在第一时间暴露。拒绝“黑盒”运行，为问题的快速定位和决策提供透明依据。</a:t>
            </a:r>
            <a:endParaRPr lang="en-US" sz="1100"/>
          </a:p>
        </p:txBody>
      </p:sp>
      <p:sp>
        <p:nvSpPr>
          <p:cNvPr id="14" name="AutoShape 14"/>
          <p:cNvSpPr/>
          <p:nvPr/>
        </p:nvSpPr>
        <p:spPr>
          <a:xfrm>
            <a:off x="4381500" y="3238500"/>
            <a:ext cx="3492500" cy="1714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381500" y="3238500"/>
            <a:ext cx="3492500" cy="254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572000" y="33655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依赖管理：让关系“理得顺”</a:t>
            </a:r>
            <a:endParaRPr lang="en-US" sz="1100"/>
          </a:p>
        </p:txBody>
      </p:sp>
      <p:sp>
        <p:nvSpPr>
          <p:cNvPr id="17" name="AutoShape 17"/>
          <p:cNvSpPr/>
          <p:nvPr/>
        </p:nvSpPr>
        <p:spPr>
          <a:xfrm>
            <a:off x="4572000" y="38735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系统梳理上下游数据流转与任务耦合关系，明确各方责任边界。将模糊、随意的人际协作转化为标准化的接口定义与契约约束，大幅降低沟通成本与协作摩擦。</a:t>
            </a:r>
            <a:endParaRPr lang="en-US" sz="1100"/>
          </a:p>
        </p:txBody>
      </p:sp>
      <p:sp>
        <p:nvSpPr>
          <p:cNvPr id="18" name="AutoShape 18"/>
          <p:cNvSpPr/>
          <p:nvPr/>
        </p:nvSpPr>
        <p:spPr>
          <a:xfrm>
            <a:off x="8001000" y="3238500"/>
            <a:ext cx="3492500" cy="1714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001000" y="3238500"/>
            <a:ext cx="3492500" cy="254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191500" y="33655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解耦设计：让风险“隔得开”</a:t>
            </a:r>
            <a:endParaRPr lang="en-US" sz="1100"/>
          </a:p>
        </p:txBody>
      </p:sp>
      <p:sp>
        <p:nvSpPr>
          <p:cNvPr id="21" name="AutoShape 21"/>
          <p:cNvSpPr/>
          <p:nvPr/>
        </p:nvSpPr>
        <p:spPr>
          <a:xfrm>
            <a:off x="8191500" y="38735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通过模块化与服务化架构隔离故障域，构建“高内聚、低耦合”的执行单元。有效避免单点失效引发的系统性连锁崩溃，显著提升数据工程系统的稳定性与抗风险能力。</a:t>
            </a:r>
            <a:endParaRPr lang="en-US" sz="1100"/>
          </a:p>
        </p:txBody>
      </p:sp>
      <p:sp>
        <p:nvSpPr>
          <p:cNvPr id="22" name="AutoShape 22"/>
          <p:cNvSpPr/>
          <p:nvPr/>
        </p:nvSpPr>
        <p:spPr>
          <a:xfrm>
            <a:off x="762000" y="5143500"/>
            <a:ext cx="10668000" cy="1270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62000" y="5143500"/>
            <a:ext cx="106680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52500" y="5270500"/>
            <a:ext cx="1397000" cy="1016000"/>
          </a:xfrm>
          <a:prstGeom prst="roundRect">
            <a:avLst>
              <a:gd name="adj" fmla="val 0"/>
            </a:avLst>
          </a:prstGeom>
          <a:solidFill>
            <a:srgbClr val="F97316">
              <a:alpha val="12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952500" y="5334000"/>
            <a:ext cx="1397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基石</a:t>
            </a:r>
            <a:b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奠定</a:t>
            </a:r>
            <a:endParaRPr lang="en-US" sz="1100"/>
          </a:p>
        </p:txBody>
      </p:sp>
      <p:cxnSp>
        <p:nvCxnSpPr>
          <p:cNvPr id="26" name="Connector 26"/>
          <p:cNvCxnSpPr/>
          <p:nvPr/>
        </p:nvCxnSpPr>
        <p:spPr>
          <a:xfrm rot="5357030">
            <a:off x="2032000" y="5772190"/>
            <a:ext cx="1016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7" name="AutoShape 27"/>
          <p:cNvSpPr/>
          <p:nvPr/>
        </p:nvSpPr>
        <p:spPr>
          <a:xfrm>
            <a:off x="2730500" y="5270500"/>
            <a:ext cx="838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本章探讨的治理思想并非终点，而是后续深入研究复杂数据研发流程、构建企业级数据平台的重要理论基石。它为我们在面对大规模、高并发的数据业务场景时，提供了一套可落地的方法论，帮助我们构建出既高效又具备长期演进能力的数据工程体系。</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课后作业</a:t>
            </a:r>
            <a:endParaRPr lang="en-US" sz="1100"/>
          </a:p>
        </p:txBody>
      </p:sp>
      <p:sp>
        <p:nvSpPr>
          <p:cNvPr id="4" name="AutoShape 4"/>
          <p:cNvSpPr/>
          <p:nvPr/>
        </p:nvSpPr>
        <p:spPr>
          <a:xfrm>
            <a:off x="762000" y="1524000"/>
            <a:ext cx="10668000" cy="1460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256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案例背景：跨部门数据交付的“水土不服”</a:t>
            </a:r>
            <a:endParaRPr lang="en-US" sz="1100"/>
          </a:p>
        </p:txBody>
      </p:sp>
      <p:sp>
        <p:nvSpPr>
          <p:cNvPr id="6" name="AutoShape 6"/>
          <p:cNvSpPr/>
          <p:nvPr/>
        </p:nvSpPr>
        <p:spPr>
          <a:xfrm>
            <a:off x="1016000" y="20320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某公司市场部向技术部提出需求“获取近一年销售数据”，但技术部交付的JSON格式数据让仅熟悉Excel的市场同事难以使用；更严重的是，数据中混杂了大量内部测试产生的虚假订单，导致业务分析工作无法正常开展。这一冲突暴露了技术与业务协作中的流程与标准缺失。</a:t>
            </a:r>
            <a:endParaRPr lang="en-US" sz="1100"/>
          </a:p>
        </p:txBody>
      </p:sp>
      <p:sp>
        <p:nvSpPr>
          <p:cNvPr id="7" name="AutoShape 7"/>
          <p:cNvSpPr/>
          <p:nvPr/>
        </p:nvSpPr>
        <p:spPr>
          <a:xfrm>
            <a:off x="762000" y="3175000"/>
            <a:ext cx="10668000" cy="1206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32512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思考与任务</a:t>
            </a:r>
            <a:endParaRPr lang="en-US" sz="1100"/>
          </a:p>
        </p:txBody>
      </p:sp>
      <p:sp>
        <p:nvSpPr>
          <p:cNvPr id="9" name="AutoShape 9"/>
          <p:cNvSpPr/>
          <p:nvPr/>
        </p:nvSpPr>
        <p:spPr>
          <a:xfrm>
            <a:off x="1016000" y="3683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请结合本章学习的“可观测性、依赖管理、解耦”三大系统治理原则，针对上述场景提出至少两条切实可行的改进措施。要求措施需紧扣业务痛点，能有效避免同类数据交付与质量问题的再次发生。</a:t>
            </a:r>
            <a:endParaRPr lang="en-US" sz="1100"/>
          </a:p>
        </p:txBody>
      </p:sp>
      <p:sp>
        <p:nvSpPr>
          <p:cNvPr id="10" name="AutoShape 10"/>
          <p:cNvSpPr/>
          <p:nvPr/>
        </p:nvSpPr>
        <p:spPr>
          <a:xfrm>
            <a:off x="762000" y="4572000"/>
            <a:ext cx="3429000" cy="1905000"/>
          </a:xfrm>
          <a:prstGeom prst="roundRect">
            <a:avLst>
              <a:gd name="adj" fmla="val 0"/>
            </a:avLst>
          </a:prstGeom>
          <a:solidFill>
            <a:srgbClr val="FFF7ED">
              <a:alpha val="9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62000" y="4572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952500" y="4699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依赖管理与SLA规范</a:t>
            </a:r>
            <a:endParaRPr lang="en-US" sz="1100"/>
          </a:p>
        </p:txBody>
      </p:sp>
      <p:sp>
        <p:nvSpPr>
          <p:cNvPr id="13" name="AutoShape 13"/>
          <p:cNvSpPr/>
          <p:nvPr/>
        </p:nvSpPr>
        <p:spPr>
          <a:xfrm>
            <a:off x="952500" y="52070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是否应在技术与业务部门间制定明确的数据交付SLA？例如约定交付格式、时效与数据口径。明确双方的责任边界，将隐性的协作需求转化为标准化的服务协议，从源头减少沟通成本。</a:t>
            </a:r>
            <a:endParaRPr lang="en-US" sz="1100"/>
          </a:p>
        </p:txBody>
      </p:sp>
      <p:sp>
        <p:nvSpPr>
          <p:cNvPr id="14" name="AutoShape 14"/>
          <p:cNvSpPr/>
          <p:nvPr/>
        </p:nvSpPr>
        <p:spPr>
          <a:xfrm>
            <a:off x="4381500" y="4572000"/>
            <a:ext cx="3429000" cy="1905000"/>
          </a:xfrm>
          <a:prstGeom prst="roundRect">
            <a:avLst>
              <a:gd name="adj" fmla="val 0"/>
            </a:avLst>
          </a:prstGeom>
          <a:solidFill>
            <a:srgbClr val="FFF7ED">
              <a:alpha val="9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381500" y="4572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572000" y="4699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数据可观测性建设</a:t>
            </a:r>
            <a:endParaRPr lang="en-US" sz="1100"/>
          </a:p>
        </p:txBody>
      </p:sp>
      <p:sp>
        <p:nvSpPr>
          <p:cNvPr id="17" name="AutoShape 17"/>
          <p:cNvSpPr/>
          <p:nvPr/>
        </p:nvSpPr>
        <p:spPr>
          <a:xfrm>
            <a:off x="4572000" y="52070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技术部是否在数据导出环节缺乏质量校验机制？建立数据质量的可观测性体系，对数据的完整性、准确性和有效性进行实时监控与清洗，自动剔除脏数据，确保对外输出数据的可用性与可信度。</a:t>
            </a:r>
            <a:endParaRPr lang="en-US" sz="1100"/>
          </a:p>
        </p:txBody>
      </p:sp>
      <p:sp>
        <p:nvSpPr>
          <p:cNvPr id="18" name="AutoShape 18"/>
          <p:cNvSpPr/>
          <p:nvPr/>
        </p:nvSpPr>
        <p:spPr>
          <a:xfrm>
            <a:off x="8001000" y="4572000"/>
            <a:ext cx="3429000" cy="1905000"/>
          </a:xfrm>
          <a:prstGeom prst="roundRect">
            <a:avLst>
              <a:gd name="adj" fmla="val 0"/>
            </a:avLst>
          </a:prstGeom>
          <a:solidFill>
            <a:srgbClr val="FFF7ED">
              <a:alpha val="9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001000" y="4572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191500" y="4699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业务与技术解耦</a:t>
            </a:r>
            <a:endParaRPr lang="en-US" sz="1100"/>
          </a:p>
        </p:txBody>
      </p:sp>
      <p:sp>
        <p:nvSpPr>
          <p:cNvPr id="21" name="AutoShape 21"/>
          <p:cNvSpPr/>
          <p:nvPr/>
        </p:nvSpPr>
        <p:spPr>
          <a:xfrm>
            <a:off x="8191500" y="52070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能否搭建自助式BI查询平台？让业务人员摆脱对技术人员的依赖，通过可视化界面自主获取数据。这不仅解耦了双方的工作流，还通过统一的服务接口实现数据的安全共享，提升业务响应速度。</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5818</Words>
  <Application>WPS 演示</Application>
  <PresentationFormat/>
  <Paragraphs>245</Paragraphs>
  <Slides>13</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13</vt:i4>
      </vt:variant>
    </vt:vector>
  </HeadingPairs>
  <TitlesOfParts>
    <vt:vector size="23" baseType="lpstr">
      <vt:lpstr>Arial</vt:lpstr>
      <vt:lpstr>宋体</vt:lpstr>
      <vt:lpstr>Wingdings</vt:lpstr>
      <vt:lpstr>Arial</vt:lpstr>
      <vt:lpstr>Noto Sans SC</vt:lpstr>
      <vt:lpstr>Consolas</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没事找事</cp:lastModifiedBy>
  <cp:revision>1</cp:revision>
  <dcterms:created xsi:type="dcterms:W3CDTF">2026-06-01T02:07:45Z</dcterms:created>
  <dcterms:modified xsi:type="dcterms:W3CDTF">2026-06-01T02:07:45Z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{"Label":"1","ContentProducer":"001191110102MACQD9K64010000","ProduceID":"7645685875829263572","ReservedCode1":"","ContentPropagator":"","PropagateID":"","ReservedCode2":""}</vt:lpwstr>
  </property>
  <property fmtid="{D5CDD505-2E9C-101B-9397-08002B2CF9AE}" pid="3" name="ICV">
    <vt:lpwstr>C5DF708C0B9345BCABDE4BB4B93F5910_12</vt:lpwstr>
  </property>
  <property fmtid="{D5CDD505-2E9C-101B-9397-08002B2CF9AE}" pid="4" name="KSOProductBuildVer">
    <vt:lpwstr>2052-12.1.0.20784</vt:lpwstr>
  </property>
</Properties>
</file>