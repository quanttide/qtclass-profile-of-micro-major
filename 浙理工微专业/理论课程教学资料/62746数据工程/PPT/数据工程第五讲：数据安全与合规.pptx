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数据工程第五讲。在前几讲中，我们学习了如何构建高效的数据管道。今天，我们将探讨一个同等重要的话题——数据安全与合规。在数据共享和交换日益频繁的今天，如何在释放数据价值的同时，保护好数据安全，是每一位数据工程师必须面对的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学完本讲，你将能够识别数据共享中的核心风险，理解数据脱敏、加密等安全技术，并掌握数据合规的基本框架。更重要的是，你将建立起数据安全与合规的职业意识，内化“数据要'通'必须先'治'，数据要'用'必须先'防'”的核心理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让我们从一个案例开始。当一个项目需要整合多个来源的数据时，我们会面临三个棘手的问题：标准异构、隐私红线和权责模糊。这些问题严重阻碍了数据的流通和价值释放。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些问题揭示了数据流通的“不可能三角”：数据价值、数据安全和流通效率三者难以兼得。本讲的核心思想就是“数据要'通'必须先'治'，数据要'用'必须先'防'”，通过标准化和安全合规，在三者之间找到平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首先是技术方案。第一步是标准化，也就是“治”。通过元数据管理和Schema约束，我们为数据建立统一的“通用语言”，这是实现数据互通的基础。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第二步是数据脱敏，这是“防”的重要手段。它分为静态脱敏和动态脱敏。静态脱敏适用于非生产环境，是不可逆的；动态脱敏适用于生产环境，根据用户权限实时遮蔽敏感信息，兼顾了安全与灵活。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第三步是加密与传输安全。我们需要同时保护数据在传输过程和存储状态下的安全。传输层安全主要依靠HTTPS协议，而存储层安全则可以通过哈希、对称加密和非对称加密等技术实现。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除了技术，我们还需要建立合规框架。第一个原则是最小必要原则，核心思想就是“够用就好”。我们应该只收集和使用实现目的所必需的最少数据，避免过度收集。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第二个原则是授权与确权机制。我们必须在收集数据前获得用户的明示同意，并清晰界定数据的所有权、使用权等权利归属。这是推动数据合作的法律基础。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第三个原则是审计与追溯。我们需要记录所有数据访问和操作行为，形成不可篡改的日志。这不仅能起到威慑作用，还能在发生安全事件时进行溯源和取证。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为了更有效地管理数据安全，我们可以根据数据的敏感程度划分安全等级，并采取差异化的保护策略。从公开数据到机密数据，保护措施应逐级加强。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是课堂研讨时间。我们来做一个生活化的类比：组织班级聚餐收集联系方式。请大家思考，如何应用最小必要原则设计收集表？如何通过数据脱敏保护同学隐私？这个练习能帮助大家将抽象的合规原则应用到实际生活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第二个研讨题，让我们进行一次攻防模拟。假设你是黑客，你会如何攻击助学金评定系统？如果你是数据工程师，你又会如何设计防御规则？这个练习能帮助大家建立安全攻防思维。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程到这里就接近尾声了。我们回顾一下，今天我们学习了数据安全与合规的核心知识，包括标准化、脱敏与加密技术，以及合规意识的重要性。一名优秀的数据工程师，不仅要让数据流动，更要让数据安全地流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课后请大家完成两道作业题。一道判断题，帮助大家巩固合规意识。一道方案设计题，让大家实践数据共享方案的设计。这两道题能很好地检验大家对今天所学知识的掌握程度。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2.xml"/><Relationship Id="rId7" Type="http://schemas.openxmlformats.org/officeDocument/2006/relationships/image" Target="../media/image4.svg"/><Relationship Id="rId6" Type="http://schemas.openxmlformats.org/officeDocument/2006/relationships/image" Target="../media/image3.png"/><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54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数据工程第五讲：数据安全与合规</a:t>
            </a:r>
            <a:endParaRPr lang="en-US" sz="1100"/>
          </a:p>
        </p:txBody>
      </p:sp>
      <p:sp>
        <p:nvSpPr>
          <p:cNvPr id="4" name="AutoShape 4"/>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共享交换中的防御机制</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学习目标</a:t>
            </a:r>
            <a:endParaRPr lang="en-US" sz="1100"/>
          </a:p>
        </p:txBody>
      </p:sp>
      <p:sp>
        <p:nvSpPr>
          <p:cNvPr id="4" name="AutoShape 4"/>
          <p:cNvSpPr/>
          <p:nvPr/>
        </p:nvSpPr>
        <p:spPr>
          <a:xfrm>
            <a:off x="762000" y="1651000"/>
            <a:ext cx="3467100" cy="4445000"/>
          </a:xfrm>
          <a:prstGeom prst="roundRect">
            <a:avLst>
              <a:gd name="adj" fmla="val 0"/>
            </a:avLst>
          </a:prstGeom>
          <a:solidFill>
            <a:srgbClr val="FFFFFF">
              <a:alpha val="92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0861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知识目标</a:t>
            </a:r>
            <a:endParaRPr lang="en-US" sz="1100"/>
          </a:p>
        </p:txBody>
      </p:sp>
      <p:cxnSp>
        <p:nvCxnSpPr>
          <p:cNvPr id="7" name="Connector 7"/>
          <p:cNvCxnSpPr/>
          <p:nvPr/>
        </p:nvCxnSpPr>
        <p:spPr>
          <a:xfrm rot="-13861">
            <a:off x="952513" y="2406650"/>
            <a:ext cx="3149600" cy="12700"/>
          </a:xfrm>
          <a:prstGeom prst="straightConnector1">
            <a:avLst/>
          </a:prstGeom>
          <a:solidFill>
            <a:srgbClr val="DEE0E3">
              <a:alpha val="100000"/>
            </a:srgbClr>
          </a:solidFill>
          <a:ln w="12700" cap="flat" cmpd="sng">
            <a:solidFill>
              <a:srgbClr val="F97316">
                <a:alpha val="15000"/>
              </a:srgbClr>
            </a:solidFill>
            <a:prstDash val="solid"/>
            <a:round/>
            <a:headEnd type="none" w="med" len="med"/>
            <a:tailEnd type="none" w="med" len="med"/>
          </a:ln>
        </p:spPr>
      </p:cxnSp>
      <p:sp>
        <p:nvSpPr>
          <p:cNvPr id="8" name="AutoShape 8"/>
          <p:cNvSpPr/>
          <p:nvPr/>
        </p:nvSpPr>
        <p:spPr>
          <a:xfrm>
            <a:off x="952500" y="2603500"/>
            <a:ext cx="30861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精准识别核心风险</a:t>
            </a:r>
            <a:endParaRPr lang="en-US" sz="1100"/>
          </a:p>
        </p:txBody>
      </p:sp>
      <p:sp>
        <p:nvSpPr>
          <p:cNvPr id="9" name="AutoShape 9"/>
          <p:cNvSpPr/>
          <p:nvPr/>
        </p:nvSpPr>
        <p:spPr>
          <a:xfrm>
            <a:off x="952500" y="3048000"/>
            <a:ext cx="30861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能够敏锐捕捉跨组织数据共享中的关键隐患，包括隐私信息泄露、多系统数据标准异构冲突，以及数据权属界定与责任划分不清带来的潜在法律风险。</a:t>
            </a:r>
            <a:endParaRPr lang="en-US" sz="1100"/>
          </a:p>
        </p:txBody>
      </p:sp>
      <p:sp>
        <p:nvSpPr>
          <p:cNvPr id="10" name="AutoShape 10"/>
          <p:cNvSpPr/>
          <p:nvPr/>
        </p:nvSpPr>
        <p:spPr>
          <a:xfrm>
            <a:off x="952500" y="4191000"/>
            <a:ext cx="30861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掌握合规与技术体系</a:t>
            </a:r>
            <a:endParaRPr lang="en-US" sz="1100"/>
          </a:p>
        </p:txBody>
      </p:sp>
      <p:sp>
        <p:nvSpPr>
          <p:cNvPr id="11" name="AutoShape 11"/>
          <p:cNvSpPr/>
          <p:nvPr/>
        </p:nvSpPr>
        <p:spPr>
          <a:xfrm>
            <a:off x="952500" y="4635500"/>
            <a:ext cx="3086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透彻理解数据脱敏、加密等防护技术的底层逻辑与应用边界；熟练阐述数据合规的基础框架，特别是最小必要原则的适用场景与授权确权的核心机制。</a:t>
            </a:r>
            <a:endParaRPr lang="en-US" sz="1100"/>
          </a:p>
        </p:txBody>
      </p:sp>
      <p:sp>
        <p:nvSpPr>
          <p:cNvPr id="12" name="AutoShape 12"/>
          <p:cNvSpPr/>
          <p:nvPr/>
        </p:nvSpPr>
        <p:spPr>
          <a:xfrm>
            <a:off x="4445000" y="1651000"/>
            <a:ext cx="3467100" cy="4445000"/>
          </a:xfrm>
          <a:prstGeom prst="roundRect">
            <a:avLst>
              <a:gd name="adj" fmla="val 0"/>
            </a:avLst>
          </a:prstGeom>
          <a:solidFill>
            <a:srgbClr val="FFFFFF">
              <a:alpha val="92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4450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35500" y="1841500"/>
            <a:ext cx="30861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能力目标</a:t>
            </a:r>
            <a:endParaRPr lang="en-US" sz="1100"/>
          </a:p>
        </p:txBody>
      </p:sp>
      <p:cxnSp>
        <p:nvCxnSpPr>
          <p:cNvPr id="15" name="Connector 15"/>
          <p:cNvCxnSpPr/>
          <p:nvPr/>
        </p:nvCxnSpPr>
        <p:spPr>
          <a:xfrm rot="-13861">
            <a:off x="4635513" y="2406650"/>
            <a:ext cx="3149600" cy="12700"/>
          </a:xfrm>
          <a:prstGeom prst="straightConnector1">
            <a:avLst/>
          </a:prstGeom>
          <a:solidFill>
            <a:srgbClr val="DEE0E3">
              <a:alpha val="100000"/>
            </a:srgbClr>
          </a:solidFill>
          <a:ln w="12700" cap="flat" cmpd="sng">
            <a:solidFill>
              <a:srgbClr val="F97316">
                <a:alpha val="15000"/>
              </a:srgbClr>
            </a:solidFill>
            <a:prstDash val="solid"/>
            <a:round/>
            <a:headEnd type="none" w="med" len="med"/>
            <a:tailEnd type="none" w="med" len="med"/>
          </a:ln>
        </p:spPr>
      </p:cxnSp>
      <p:sp>
        <p:nvSpPr>
          <p:cNvPr id="16" name="AutoShape 16"/>
          <p:cNvSpPr/>
          <p:nvPr/>
        </p:nvSpPr>
        <p:spPr>
          <a:xfrm>
            <a:off x="4635500" y="2603500"/>
            <a:ext cx="30861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风险系统性研判能力</a:t>
            </a:r>
            <a:endParaRPr lang="en-US" sz="1100"/>
          </a:p>
        </p:txBody>
      </p:sp>
      <p:sp>
        <p:nvSpPr>
          <p:cNvPr id="17" name="AutoShape 17"/>
          <p:cNvSpPr/>
          <p:nvPr/>
        </p:nvSpPr>
        <p:spPr>
          <a:xfrm>
            <a:off x="4635500" y="3048000"/>
            <a:ext cx="30861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面对真实的跨组织数据流通业务场景，能够建立结构化的分析视角，将复杂的业务流程拆解，系统性地排查出数据流转各环节中潜在的安全与合规漏洞。</a:t>
            </a:r>
            <a:endParaRPr lang="en-US" sz="1100"/>
          </a:p>
        </p:txBody>
      </p:sp>
      <p:sp>
        <p:nvSpPr>
          <p:cNvPr id="18" name="AutoShape 18"/>
          <p:cNvSpPr/>
          <p:nvPr/>
        </p:nvSpPr>
        <p:spPr>
          <a:xfrm>
            <a:off x="4635500" y="4191000"/>
            <a:ext cx="30861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落地性方案设计能力</a:t>
            </a:r>
            <a:endParaRPr lang="en-US" sz="1100"/>
          </a:p>
        </p:txBody>
      </p:sp>
      <p:sp>
        <p:nvSpPr>
          <p:cNvPr id="19" name="AutoShape 19"/>
          <p:cNvSpPr/>
          <p:nvPr/>
        </p:nvSpPr>
        <p:spPr>
          <a:xfrm>
            <a:off x="4635500" y="4635500"/>
            <a:ext cx="3086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针对已识别的具体风险，能够结合业务实际需求，设计出具备可行性的数据脱敏实施方案。在保障数据可用价值的同时，有效规避敏感信息泄露，平衡安全与效率。</a:t>
            </a:r>
            <a:endParaRPr lang="en-US" sz="1100"/>
          </a:p>
        </p:txBody>
      </p:sp>
      <p:sp>
        <p:nvSpPr>
          <p:cNvPr id="20" name="AutoShape 20"/>
          <p:cNvSpPr/>
          <p:nvPr/>
        </p:nvSpPr>
        <p:spPr>
          <a:xfrm>
            <a:off x="8128000" y="1651000"/>
            <a:ext cx="3467100" cy="4445000"/>
          </a:xfrm>
          <a:prstGeom prst="roundRect">
            <a:avLst>
              <a:gd name="adj" fmla="val 0"/>
            </a:avLst>
          </a:prstGeom>
          <a:solidFill>
            <a:srgbClr val="FFFFFF">
              <a:alpha val="92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1280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318500" y="1841500"/>
            <a:ext cx="30861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素养目标</a:t>
            </a:r>
            <a:endParaRPr lang="en-US" sz="1100"/>
          </a:p>
        </p:txBody>
      </p:sp>
      <p:cxnSp>
        <p:nvCxnSpPr>
          <p:cNvPr id="23" name="Connector 23"/>
          <p:cNvCxnSpPr/>
          <p:nvPr/>
        </p:nvCxnSpPr>
        <p:spPr>
          <a:xfrm rot="-13861">
            <a:off x="8318513" y="2406650"/>
            <a:ext cx="3149600" cy="12700"/>
          </a:xfrm>
          <a:prstGeom prst="straightConnector1">
            <a:avLst/>
          </a:prstGeom>
          <a:solidFill>
            <a:srgbClr val="DEE0E3">
              <a:alpha val="100000"/>
            </a:srgbClr>
          </a:solidFill>
          <a:ln w="12700" cap="flat" cmpd="sng">
            <a:solidFill>
              <a:srgbClr val="F97316">
                <a:alpha val="15000"/>
              </a:srgbClr>
            </a:solidFill>
            <a:prstDash val="solid"/>
            <a:round/>
            <a:headEnd type="none" w="med" len="med"/>
            <a:tailEnd type="none" w="med" len="med"/>
          </a:ln>
        </p:spPr>
      </p:cxnSp>
      <p:sp>
        <p:nvSpPr>
          <p:cNvPr id="24" name="AutoShape 24"/>
          <p:cNvSpPr/>
          <p:nvPr/>
        </p:nvSpPr>
        <p:spPr>
          <a:xfrm>
            <a:off x="8318500" y="2603500"/>
            <a:ext cx="30861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内化职业安全本能</a:t>
            </a:r>
            <a:endParaRPr lang="en-US" sz="1100"/>
          </a:p>
        </p:txBody>
      </p:sp>
      <p:sp>
        <p:nvSpPr>
          <p:cNvPr id="25" name="AutoShape 25"/>
          <p:cNvSpPr/>
          <p:nvPr/>
        </p:nvSpPr>
        <p:spPr>
          <a:xfrm>
            <a:off x="8318500" y="3048000"/>
            <a:ext cx="30861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将数据安全红线与合规底线意识深度融入日常工作，使其成为数据工程师的职业本能。在每一次数据处理与共享操作前，主动进行安全评估与合规校验。</a:t>
            </a:r>
            <a:endParaRPr lang="en-US" sz="1100"/>
          </a:p>
        </p:txBody>
      </p:sp>
      <p:sp>
        <p:nvSpPr>
          <p:cNvPr id="26" name="AutoShape 26"/>
          <p:cNvSpPr/>
          <p:nvPr/>
        </p:nvSpPr>
        <p:spPr>
          <a:xfrm>
            <a:off x="8318500" y="4191000"/>
            <a:ext cx="3086100" cy="14605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420100" y="4254500"/>
            <a:ext cx="2857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践行“先治后通，先防后用”</a:t>
            </a:r>
            <a:endParaRPr lang="en-US" sz="1100"/>
          </a:p>
        </p:txBody>
      </p:sp>
      <p:sp>
        <p:nvSpPr>
          <p:cNvPr id="28" name="AutoShape 28"/>
          <p:cNvSpPr/>
          <p:nvPr/>
        </p:nvSpPr>
        <p:spPr>
          <a:xfrm>
            <a:off x="8420100" y="46990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深刻理解并贯彻核心治理理念：数据的高效流通必须建立在良好的治理基础之上，数据的价值挖掘必须以严密的安全防护为前提。</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案例导入：数据共享的困境</a:t>
            </a:r>
            <a:endParaRPr lang="en-US" sz="1100"/>
          </a:p>
        </p:txBody>
      </p:sp>
      <p:sp>
        <p:nvSpPr>
          <p:cNvPr id="4" name="AutoShape 4"/>
          <p:cNvSpPr/>
          <p:nvPr/>
        </p:nvSpPr>
        <p:spPr>
          <a:xfrm>
            <a:off x="762000" y="1524000"/>
            <a:ext cx="10922000" cy="1143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1041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在“China's Prices Project”项目中，团队需要整合来自淘宝、京东、拼多多等多个主流电商平台的实时交易数据。然而，在数据汇聚与初步融合的过程中，他们并没有顺利进入分析阶段，反而遇到了三个阻碍数据高效流通与价值释放的核心技术与管理难题。</a:t>
            </a:r>
            <a:endParaRPr lang="en-US" sz="1100"/>
          </a:p>
        </p:txBody>
      </p:sp>
      <p:sp>
        <p:nvSpPr>
          <p:cNvPr id="6" name="AutoShape 6"/>
          <p:cNvSpPr/>
          <p:nvPr/>
        </p:nvSpPr>
        <p:spPr>
          <a:xfrm>
            <a:off x="762000" y="2921000"/>
            <a:ext cx="3467100" cy="304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111500"/>
            <a:ext cx="30861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标准异构</a:t>
            </a:r>
            <a:endParaRPr lang="en-US" sz="1100"/>
          </a:p>
        </p:txBody>
      </p:sp>
      <p:sp>
        <p:nvSpPr>
          <p:cNvPr id="9" name="AutoShape 9"/>
          <p:cNvSpPr/>
          <p:nvPr/>
        </p:nvSpPr>
        <p:spPr>
          <a:xfrm>
            <a:off x="952500" y="3683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各平台的商品字段命名规则混乱，数据格式（如日期、金额）和数据类型不统一，使得不同来源的数据如同使用不同语言的信息孤岛，无法直接互通。</a:t>
            </a:r>
            <a:endParaRPr lang="en-US" sz="1100"/>
          </a:p>
        </p:txBody>
      </p:sp>
      <p:sp>
        <p:nvSpPr>
          <p:cNvPr id="10" name="AutoShape 10"/>
          <p:cNvSpPr/>
          <p:nvPr/>
        </p:nvSpPr>
        <p:spPr>
          <a:xfrm>
            <a:off x="952500" y="4889500"/>
            <a:ext cx="3086100" cy="10160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978400"/>
            <a:ext cx="2832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直接后果：</a:t>
            </a:r>
            <a:r>
              <a:rPr lang="en-US" sz="1200" b="0"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数据无法直接合并分析，需投入大量人力进行清洗与转换，严重影响项目推进效率。</a:t>
            </a:r>
            <a:endParaRPr lang="en-US" sz="1100"/>
          </a:p>
        </p:txBody>
      </p:sp>
      <p:sp>
        <p:nvSpPr>
          <p:cNvPr id="12" name="AutoShape 12"/>
          <p:cNvSpPr/>
          <p:nvPr/>
        </p:nvSpPr>
        <p:spPr>
          <a:xfrm>
            <a:off x="4394200" y="2921000"/>
            <a:ext cx="3467100" cy="304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94200" y="292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84700" y="3111500"/>
            <a:ext cx="30861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隐私红线</a:t>
            </a:r>
            <a:endParaRPr lang="en-US" sz="1100"/>
          </a:p>
        </p:txBody>
      </p:sp>
      <p:sp>
        <p:nvSpPr>
          <p:cNvPr id="15" name="AutoShape 15"/>
          <p:cNvSpPr/>
          <p:nvPr/>
        </p:nvSpPr>
        <p:spPr>
          <a:xfrm>
            <a:off x="4584700" y="3683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原始抓取数据中包含大量用户敏感信息，如真实姓名、手机号、收货地址等。这些数据若未经过严格脱敏处理，属于法律严格保护的个人隐私范畴。</a:t>
            </a:r>
            <a:endParaRPr lang="en-US" sz="1100"/>
          </a:p>
        </p:txBody>
      </p:sp>
      <p:sp>
        <p:nvSpPr>
          <p:cNvPr id="16" name="AutoShape 16"/>
          <p:cNvSpPr/>
          <p:nvPr/>
        </p:nvSpPr>
        <p:spPr>
          <a:xfrm>
            <a:off x="4584700" y="4889500"/>
            <a:ext cx="3086100" cy="10160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711700" y="4978400"/>
            <a:ext cx="2832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直接后果：</a:t>
            </a:r>
            <a:r>
              <a:rPr lang="en-US" sz="1200" b="0"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触碰法律与伦理红线，一旦违规使用将面临巨大的合规风险与法律责任，导致数据无法安全入湖。</a:t>
            </a:r>
            <a:endParaRPr lang="en-US" sz="1100"/>
          </a:p>
        </p:txBody>
      </p:sp>
      <p:sp>
        <p:nvSpPr>
          <p:cNvPr id="18" name="AutoShape 18"/>
          <p:cNvSpPr/>
          <p:nvPr/>
        </p:nvSpPr>
        <p:spPr>
          <a:xfrm>
            <a:off x="8039100" y="2921000"/>
            <a:ext cx="3467100" cy="304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39100" y="292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229600" y="3111500"/>
            <a:ext cx="30861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权责模糊</a:t>
            </a:r>
            <a:endParaRPr lang="en-US" sz="1100"/>
          </a:p>
        </p:txBody>
      </p:sp>
      <p:sp>
        <p:nvSpPr>
          <p:cNvPr id="21" name="AutoShape 21"/>
          <p:cNvSpPr/>
          <p:nvPr/>
        </p:nvSpPr>
        <p:spPr>
          <a:xfrm>
            <a:off x="8229600" y="3683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数据采集过程中出现的质量问题难以追溯源头，且各合作方对于数据的所有权、使用权和收益权缺乏清晰、可落地的协议界定。</a:t>
            </a:r>
            <a:endParaRPr lang="en-US" sz="1100"/>
          </a:p>
        </p:txBody>
      </p:sp>
      <p:sp>
        <p:nvSpPr>
          <p:cNvPr id="22" name="AutoShape 22"/>
          <p:cNvSpPr/>
          <p:nvPr/>
        </p:nvSpPr>
        <p:spPr>
          <a:xfrm>
            <a:off x="8229600" y="4889500"/>
            <a:ext cx="3086100" cy="10160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356600" y="4978400"/>
            <a:ext cx="2832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直接后果：</a:t>
            </a:r>
            <a:r>
              <a:rPr lang="en-US" sz="1200" b="0"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信任成本极高，各方难以达成深度合作共识，使得跨平台数据的联合分析与商业应用难以实质性开展。</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核心洞察：数据流通的“不可能三角”</a:t>
            </a:r>
            <a:endParaRPr lang="en-US" sz="1100"/>
          </a:p>
        </p:txBody>
      </p:sp>
      <p:sp>
        <p:nvSpPr>
          <p:cNvPr id="4" name="AutoShape 4"/>
          <p:cNvSpPr/>
          <p:nvPr/>
        </p:nvSpPr>
        <p:spPr>
          <a:xfrm>
            <a:off x="762000" y="1651000"/>
            <a:ext cx="34925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数据价值 (Value)</a:t>
            </a:r>
            <a:endParaRPr lang="en-US" sz="1100"/>
          </a:p>
        </p:txBody>
      </p:sp>
      <p:sp>
        <p:nvSpPr>
          <p:cNvPr id="7" name="AutoShape 7"/>
          <p:cNvSpPr/>
          <p:nvPr/>
        </p:nvSpPr>
        <p:spPr>
          <a:xfrm>
            <a:off x="952500" y="2413000"/>
            <a:ext cx="311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原始全面 · 高分析价值</a:t>
            </a:r>
            <a:endParaRPr lang="en-US" sz="1100"/>
          </a:p>
        </p:txBody>
      </p:sp>
      <p:sp>
        <p:nvSpPr>
          <p:cNvPr id="8" name="AutoShape 8"/>
          <p:cNvSpPr/>
          <p:nvPr/>
        </p:nvSpPr>
        <p:spPr>
          <a:xfrm>
            <a:off x="952500" y="2984500"/>
            <a:ext cx="311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数据越原始、维度越全面，其蕴含的业务洞察价值就越高。未经过度加工的底层数据，能为市场趋势研判、用户行为分析提供最精准的决策支撑。</a:t>
            </a:r>
            <a:endParaRPr lang="en-US" sz="1100"/>
          </a:p>
        </p:txBody>
      </p:sp>
      <p:sp>
        <p:nvSpPr>
          <p:cNvPr id="9" name="AutoShape 9"/>
          <p:cNvSpPr/>
          <p:nvPr/>
        </p:nvSpPr>
        <p:spPr>
          <a:xfrm>
            <a:off x="4470400" y="1651000"/>
            <a:ext cx="34925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4704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609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数据安全 (Security)</a:t>
            </a:r>
            <a:endParaRPr lang="en-US" sz="1100"/>
          </a:p>
        </p:txBody>
      </p:sp>
      <p:sp>
        <p:nvSpPr>
          <p:cNvPr id="12" name="AutoShape 12"/>
          <p:cNvSpPr/>
          <p:nvPr/>
        </p:nvSpPr>
        <p:spPr>
          <a:xfrm>
            <a:off x="4660900" y="2413000"/>
            <a:ext cx="311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合规可控 · 低风险隐患</a:t>
            </a:r>
            <a:endParaRPr lang="en-US" sz="1100"/>
          </a:p>
        </p:txBody>
      </p:sp>
      <p:sp>
        <p:nvSpPr>
          <p:cNvPr id="13" name="AutoShape 13"/>
          <p:cNvSpPr/>
          <p:nvPr/>
        </p:nvSpPr>
        <p:spPr>
          <a:xfrm>
            <a:off x="4660900" y="2984500"/>
            <a:ext cx="311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数据流转全流程越安全、合规体系越完善，用户隐私泄露与企业法律合规风险就越低。严格的权限与加密机制是数据开放的前提与底线。</a:t>
            </a:r>
            <a:endParaRPr lang="en-US" sz="1100"/>
          </a:p>
        </p:txBody>
      </p:sp>
      <p:sp>
        <p:nvSpPr>
          <p:cNvPr id="14" name="AutoShape 14"/>
          <p:cNvSpPr/>
          <p:nvPr/>
        </p:nvSpPr>
        <p:spPr>
          <a:xfrm>
            <a:off x="8191500" y="1651000"/>
            <a:ext cx="34925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1915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3820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流通效率 (Efficiency)</a:t>
            </a:r>
            <a:endParaRPr lang="en-US" sz="1100"/>
          </a:p>
        </p:txBody>
      </p:sp>
      <p:sp>
        <p:nvSpPr>
          <p:cNvPr id="17" name="AutoShape 17"/>
          <p:cNvSpPr/>
          <p:nvPr/>
        </p:nvSpPr>
        <p:spPr>
          <a:xfrm>
            <a:off x="8382000" y="2413000"/>
            <a:ext cx="311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极速流转 · 快商业变现</a:t>
            </a:r>
            <a:endParaRPr lang="en-US" sz="1100"/>
          </a:p>
        </p:txBody>
      </p:sp>
      <p:sp>
        <p:nvSpPr>
          <p:cNvPr id="18" name="AutoShape 18"/>
          <p:cNvSpPr/>
          <p:nvPr/>
        </p:nvSpPr>
        <p:spPr>
          <a:xfrm>
            <a:off x="8382000" y="2984500"/>
            <a:ext cx="311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数据链路越短、调用接口越便捷，商业价值的变现周期就越短。高效的流通网络能让数据资产快速响应市场需求，转化为实际的业务增长动力。</a:t>
            </a:r>
            <a:endParaRPr lang="en-US" sz="1100"/>
          </a:p>
        </p:txBody>
      </p:sp>
      <p:sp>
        <p:nvSpPr>
          <p:cNvPr id="19" name="AutoShape 19"/>
          <p:cNvSpPr/>
          <p:nvPr/>
        </p:nvSpPr>
        <p:spPr>
          <a:xfrm>
            <a:off x="762000" y="4699000"/>
            <a:ext cx="10922000" cy="1651000"/>
          </a:xfrm>
          <a:prstGeom prst="roundRect">
            <a:avLst>
              <a:gd name="adj" fmla="val 0"/>
            </a:avLst>
          </a:prstGeom>
          <a:solidFill>
            <a:srgbClr val="F97316">
              <a:alpha val="94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079500" y="4889500"/>
            <a:ext cx="1028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核心思想：数据要“通”必须先“治”，数据要“用”必须先“防”</a:t>
            </a:r>
            <a:endParaRPr lang="en-US" sz="1100"/>
          </a:p>
        </p:txBody>
      </p:sp>
      <p:sp>
        <p:nvSpPr>
          <p:cNvPr id="21" name="AutoShape 21"/>
          <p:cNvSpPr/>
          <p:nvPr/>
        </p:nvSpPr>
        <p:spPr>
          <a:xfrm>
            <a:off x="1079500" y="5461000"/>
            <a:ext cx="10287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不可能三角的关键在于技术与制度的双重赋能。通过“治”建立标准化的数据治理体系，通过“防”部署主动式的安全合规框架，从而在不牺牲安全的前提下提升流通效率，在保障效率的同时释放数据的核心价值，实现三者的动态平衡。</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技术方案一：标准化</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标准化是通过制定和实施统一的数据规范，让不同来源、不同系统的数据拥有一致的格式、含义与结构。它是打通信息孤岛、实现跨平台数据互联互通的“通用语言”，为后续的整合与应用奠定坚实基础。</a:t>
            </a:r>
            <a:endParaRPr lang="en-US" sz="1100"/>
          </a:p>
        </p:txBody>
      </p:sp>
      <p:sp>
        <p:nvSpPr>
          <p:cNvPr id="6" name="AutoShape 6"/>
          <p:cNvSpPr/>
          <p:nvPr/>
        </p:nvSpPr>
        <p:spPr>
          <a:xfrm>
            <a:off x="762000" y="2921000"/>
            <a:ext cx="5270500" cy="1968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3073400"/>
            <a:ext cx="4762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元数据管理 (Metadata Management)</a:t>
            </a:r>
            <a:endParaRPr lang="en-US" sz="1100"/>
          </a:p>
        </p:txBody>
      </p:sp>
      <p:sp>
        <p:nvSpPr>
          <p:cNvPr id="9" name="AutoShape 9"/>
          <p:cNvSpPr/>
          <p:nvPr/>
        </p:nvSpPr>
        <p:spPr>
          <a:xfrm>
            <a:off x="1016000" y="3556000"/>
            <a:ext cx="476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构建统一的数据字典，对业务概念、字段含义、数据类型、长度等核心属性进行清晰定义，消除语义歧义。</a:t>
            </a:r>
            <a:endParaRPr lang="en-US" sz="1100"/>
          </a:p>
        </p:txBody>
      </p:sp>
      <p:sp>
        <p:nvSpPr>
          <p:cNvPr id="10" name="AutoShape 10"/>
          <p:cNvSpPr/>
          <p:nvPr/>
        </p:nvSpPr>
        <p:spPr>
          <a:xfrm>
            <a:off x="1016000" y="4254500"/>
            <a:ext cx="4762500" cy="5334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4279900"/>
            <a:ext cx="45085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user_id：用户唯一标识，字符串类型，长度固定为32位。</a:t>
            </a:r>
            <a:endParaRPr lang="en-US" sz="1100"/>
          </a:p>
        </p:txBody>
      </p:sp>
      <p:sp>
        <p:nvSpPr>
          <p:cNvPr id="12" name="AutoShape 12"/>
          <p:cNvSpPr/>
          <p:nvPr/>
        </p:nvSpPr>
        <p:spPr>
          <a:xfrm>
            <a:off x="6223000" y="2921000"/>
            <a:ext cx="5270500" cy="1968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292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3073400"/>
            <a:ext cx="4762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Schema 约束 (Schema Enforcement)</a:t>
            </a:r>
            <a:endParaRPr lang="en-US" sz="1100"/>
          </a:p>
        </p:txBody>
      </p:sp>
      <p:sp>
        <p:nvSpPr>
          <p:cNvPr id="15" name="AutoShape 15"/>
          <p:cNvSpPr/>
          <p:nvPr/>
        </p:nvSpPr>
        <p:spPr>
          <a:xfrm>
            <a:off x="6477000" y="3556000"/>
            <a:ext cx="476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在底层存储系统中强制执行数据表的结构标准，从源头把控数据质量，确保只有符合定义规范的数据才能被写入系统。</a:t>
            </a:r>
            <a:endParaRPr lang="en-US" sz="1100"/>
          </a:p>
        </p:txBody>
      </p:sp>
      <p:sp>
        <p:nvSpPr>
          <p:cNvPr id="16" name="AutoShape 16"/>
          <p:cNvSpPr/>
          <p:nvPr/>
        </p:nvSpPr>
        <p:spPr>
          <a:xfrm>
            <a:off x="6477000" y="4254500"/>
            <a:ext cx="4762500" cy="5334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604000" y="4279900"/>
            <a:ext cx="45085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拒绝“脏数据”入库，降低下游清洗与治理的成本。</a:t>
            </a:r>
            <a:endParaRPr lang="en-US" sz="1100"/>
          </a:p>
        </p:txBody>
      </p:sp>
      <p:sp>
        <p:nvSpPr>
          <p:cNvPr id="18" name="AutoShape 18"/>
          <p:cNvSpPr/>
          <p:nvPr/>
        </p:nvSpPr>
        <p:spPr>
          <a:xfrm>
            <a:off x="762000" y="5080000"/>
            <a:ext cx="10731500" cy="1270000"/>
          </a:xfrm>
          <a:prstGeom prst="roundRect">
            <a:avLst>
              <a:gd name="adj" fmla="val 0"/>
            </a:avLst>
          </a:prstGeom>
          <a:solidFill>
            <a:srgbClr val="F97316">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952500" y="5207000"/>
            <a:ext cx="330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提升协作效率</a:t>
            </a:r>
            <a:endParaRPr lang="en-US" sz="1100"/>
          </a:p>
          <a:p>
            <a:pPr marL="0" indent="0" algn="ctr">
              <a:lnSpc>
                <a:spcPct val="100000"/>
              </a:lnSpc>
            </a:pPr>
            <a:r>
              <a:rPr lang="en-US" sz="1200" b="0" i="0" u="none" strike="noStrike">
                <a:solidFill>
                  <a:srgbClr val="FFFFFF">
                    <a:alpha val="9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统一标准减少沟通与转换损耗</a:t>
            </a:r>
            <a:endParaRPr lang="en-US" sz="1200" b="0" i="0" u="none" strike="noStrike">
              <a:solidFill>
                <a:srgbClr val="FFFFFF">
                  <a:alpha val="9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5350892">
            <a:off x="3937000" y="5708695"/>
            <a:ext cx="8890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21" name="AutoShape 21"/>
          <p:cNvSpPr/>
          <p:nvPr/>
        </p:nvSpPr>
        <p:spPr>
          <a:xfrm>
            <a:off x="4508500" y="5207000"/>
            <a:ext cx="330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保证数据质量</a:t>
            </a:r>
            <a:endParaRPr lang="en-US" sz="1100"/>
          </a:p>
          <a:p>
            <a:pPr marL="0" indent="0" algn="ctr">
              <a:lnSpc>
                <a:spcPct val="100000"/>
              </a:lnSpc>
            </a:pPr>
            <a:r>
              <a:rPr lang="en-US" sz="1200" b="0" i="0" u="none" strike="noStrike">
                <a:solidFill>
                  <a:srgbClr val="FFFFFF">
                    <a:alpha val="9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规范结构从源头规避潜在错误</a:t>
            </a:r>
            <a:endParaRPr lang="en-US" sz="1200" b="0" i="0" u="none" strike="noStrike">
              <a:solidFill>
                <a:srgbClr val="FFFFFF">
                  <a:alpha val="9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2" name="Connector 22"/>
          <p:cNvCxnSpPr/>
          <p:nvPr/>
        </p:nvCxnSpPr>
        <p:spPr>
          <a:xfrm rot="5350892">
            <a:off x="7493000" y="5708695"/>
            <a:ext cx="8890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23" name="AutoShape 23"/>
          <p:cNvSpPr/>
          <p:nvPr/>
        </p:nvSpPr>
        <p:spPr>
          <a:xfrm>
            <a:off x="8001000" y="5207000"/>
            <a:ext cx="330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促进资源共享</a:t>
            </a:r>
            <a:endParaRPr lang="en-US" sz="1100"/>
          </a:p>
          <a:p>
            <a:pPr marL="0" indent="0" algn="ctr">
              <a:lnSpc>
                <a:spcPct val="100000"/>
              </a:lnSpc>
            </a:pPr>
            <a:r>
              <a:rPr lang="en-US" sz="1200" b="0" i="0" u="none" strike="noStrike">
                <a:solidFill>
                  <a:srgbClr val="FFFFFF">
                    <a:alpha val="9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打破壁垒实现数据资产复用</a:t>
            </a:r>
            <a:endParaRPr lang="en-US" sz="1200" b="0" i="0" u="none" strike="noStrike">
              <a:solidFill>
                <a:srgbClr val="FFFFFF">
                  <a:alpha val="9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技术方案二：数据脱敏</a:t>
            </a:r>
            <a:endParaRPr lang="en-US" sz="1100"/>
          </a:p>
        </p:txBody>
      </p:sp>
      <p:sp>
        <p:nvSpPr>
          <p:cNvPr id="4" name="AutoShape 4"/>
          <p:cNvSpPr/>
          <p:nvPr/>
        </p:nvSpPr>
        <p:spPr>
          <a:xfrm>
            <a:off x="762000" y="1524000"/>
            <a:ext cx="10668000" cy="1270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0800" cy="1270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不影响数据使用价值的前提下，通过技术手段对敏感信息进行变形处理，使其无法识别具体个人或组织。这是数据安全治理中“防泄露、防滥用”的核心手段，既保留了数据在测试、分析等场景的可用性，又严格保护了用户隐私与业务机密。</a:t>
            </a:r>
            <a:endParaRPr lang="en-US" sz="1100"/>
          </a:p>
        </p:txBody>
      </p:sp>
      <p:sp>
        <p:nvSpPr>
          <p:cNvPr id="7" name="AutoShape 7"/>
          <p:cNvSpPr/>
          <p:nvPr/>
        </p:nvSpPr>
        <p:spPr>
          <a:xfrm>
            <a:off x="762000" y="3048000"/>
            <a:ext cx="5270500" cy="311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048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238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静态脱敏 (Static Masking)</a:t>
            </a:r>
            <a:endParaRPr lang="en-US" sz="1100"/>
          </a:p>
        </p:txBody>
      </p:sp>
      <p:sp>
        <p:nvSpPr>
          <p:cNvPr id="10" name="AutoShape 10"/>
          <p:cNvSpPr/>
          <p:nvPr/>
        </p:nvSpPr>
        <p:spPr>
          <a:xfrm>
            <a:off x="952500" y="3937000"/>
            <a:ext cx="4889500" cy="7620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4038600"/>
            <a:ext cx="304800" cy="304800"/>
          </a:xfrm>
          <a:prstGeom prst="rect">
            <a:avLst/>
          </a:prstGeom>
        </p:spPr>
      </p:pic>
      <p:sp>
        <p:nvSpPr>
          <p:cNvPr id="12" name="AutoShape 12"/>
          <p:cNvSpPr/>
          <p:nvPr/>
        </p:nvSpPr>
        <p:spPr>
          <a:xfrm>
            <a:off x="1524000" y="40005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适用场景：非生产环境数据分发</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常用于开发测试、数据分析、第三方数据共享等场景，脱离原始生产库使用。</a:t>
            </a:r>
            <a:endParaRPr lang="en-US" sz="1100"/>
          </a:p>
        </p:txBody>
      </p:sp>
      <p:sp>
        <p:nvSpPr>
          <p:cNvPr id="13" name="AutoShape 13"/>
          <p:cNvSpPr/>
          <p:nvPr/>
        </p:nvSpPr>
        <p:spPr>
          <a:xfrm>
            <a:off x="952500" y="4826000"/>
            <a:ext cx="4889500" cy="571500"/>
          </a:xfrm>
          <a:prstGeom prst="roundRect">
            <a:avLst>
              <a:gd name="adj" fmla="val 0"/>
            </a:avLst>
          </a:prstGeom>
          <a:solidFill>
            <a:srgbClr val="FFF7ED">
              <a:alpha val="9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4889500"/>
            <a:ext cx="254000" cy="254000"/>
          </a:xfrm>
          <a:prstGeom prst="rect">
            <a:avLst/>
          </a:prstGeom>
        </p:spPr>
      </p:pic>
      <p:sp>
        <p:nvSpPr>
          <p:cNvPr id="15" name="AutoShape 15"/>
          <p:cNvSpPr/>
          <p:nvPr/>
        </p:nvSpPr>
        <p:spPr>
          <a:xfrm>
            <a:off x="1524000" y="48514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核心机制：数据复制时进行</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不可逆</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变形替换</a:t>
            </a:r>
            <a:endParaRPr lang="en-US" sz="1100"/>
          </a:p>
        </p:txBody>
      </p:sp>
      <p:sp>
        <p:nvSpPr>
          <p:cNvPr id="16" name="AutoShape 16"/>
          <p:cNvSpPr/>
          <p:nvPr/>
        </p:nvSpPr>
        <p:spPr>
          <a:xfrm>
            <a:off x="952500" y="55245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示例：原始手机号 13812345678 → 脱敏后 138****5678（结果永久固定，无法还原）。</a:t>
            </a:r>
            <a:endParaRPr lang="en-US" sz="1100"/>
          </a:p>
        </p:txBody>
      </p:sp>
      <p:cxnSp>
        <p:nvCxnSpPr>
          <p:cNvPr id="17" name="Connector 17"/>
          <p:cNvCxnSpPr/>
          <p:nvPr/>
        </p:nvCxnSpPr>
        <p:spPr>
          <a:xfrm rot="5385676">
            <a:off x="4635500" y="4629163"/>
            <a:ext cx="3048000" cy="12700"/>
          </a:xfrm>
          <a:prstGeom prst="straightConnector1">
            <a:avLst/>
          </a:prstGeom>
          <a:solidFill>
            <a:srgbClr val="DEE0E3">
              <a:alpha val="100000"/>
            </a:srgbClr>
          </a:solidFill>
          <a:ln w="12700" cap="flat" cmpd="sng">
            <a:solidFill>
              <a:srgbClr val="D1D5DB">
                <a:alpha val="70000"/>
              </a:srgbClr>
            </a:solidFill>
            <a:prstDash val="solid"/>
            <a:round/>
            <a:headEnd type="none" w="med" len="med"/>
            <a:tailEnd type="none" w="med" len="med"/>
          </a:ln>
        </p:spPr>
      </p:cxnSp>
      <p:sp>
        <p:nvSpPr>
          <p:cNvPr id="18" name="AutoShape 18"/>
          <p:cNvSpPr/>
          <p:nvPr/>
        </p:nvSpPr>
        <p:spPr>
          <a:xfrm>
            <a:off x="6350000" y="3048000"/>
            <a:ext cx="5270500" cy="311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350000" y="3048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540500" y="3238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动态脱敏 (Dynamic Masking)</a:t>
            </a:r>
            <a:endParaRPr lang="en-US" sz="1100"/>
          </a:p>
        </p:txBody>
      </p:sp>
      <p:sp>
        <p:nvSpPr>
          <p:cNvPr id="21" name="AutoShape 21"/>
          <p:cNvSpPr/>
          <p:nvPr/>
        </p:nvSpPr>
        <p:spPr>
          <a:xfrm>
            <a:off x="6540500" y="3937000"/>
            <a:ext cx="4889500" cy="7620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67500" y="4038600"/>
            <a:ext cx="304800" cy="304800"/>
          </a:xfrm>
          <a:prstGeom prst="rect">
            <a:avLst/>
          </a:prstGeom>
        </p:spPr>
      </p:pic>
      <p:sp>
        <p:nvSpPr>
          <p:cNvPr id="23" name="AutoShape 23"/>
          <p:cNvSpPr/>
          <p:nvPr/>
        </p:nvSpPr>
        <p:spPr>
          <a:xfrm>
            <a:off x="7112000" y="40005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适用场景：生产环境实时访问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面向客服、运营等业务人员的日常操作，直接作用于在线业务数据库查询。</a:t>
            </a:r>
            <a:endParaRPr lang="en-US" sz="1100"/>
          </a:p>
        </p:txBody>
      </p:sp>
      <p:sp>
        <p:nvSpPr>
          <p:cNvPr id="24" name="AutoShape 24"/>
          <p:cNvSpPr/>
          <p:nvPr/>
        </p:nvSpPr>
        <p:spPr>
          <a:xfrm>
            <a:off x="6540500" y="4826000"/>
            <a:ext cx="4889500" cy="571500"/>
          </a:xfrm>
          <a:prstGeom prst="roundRect">
            <a:avLst>
              <a:gd name="adj" fmla="val 0"/>
            </a:avLst>
          </a:prstGeom>
          <a:solidFill>
            <a:srgbClr val="FFF7ED">
              <a:alpha val="9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4889500"/>
            <a:ext cx="254000" cy="254000"/>
          </a:xfrm>
          <a:prstGeom prst="rect">
            <a:avLst/>
          </a:prstGeom>
        </p:spPr>
      </p:pic>
      <p:sp>
        <p:nvSpPr>
          <p:cNvPr id="26" name="AutoShape 26"/>
          <p:cNvSpPr/>
          <p:nvPr/>
        </p:nvSpPr>
        <p:spPr>
          <a:xfrm>
            <a:off x="7112000" y="48514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核心机制：基于权限的</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动态遮蔽</a:t>
            </a:r>
            <a:endParaRPr lang="en-US" sz="1100"/>
          </a:p>
        </p:txBody>
      </p:sp>
      <p:sp>
        <p:nvSpPr>
          <p:cNvPr id="27" name="AutoShape 27"/>
          <p:cNvSpPr/>
          <p:nvPr/>
        </p:nvSpPr>
        <p:spPr>
          <a:xfrm>
            <a:off x="6540500" y="55245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示例：客服查询显示 138****5678，而具备高权限的系统管理员查询则显示完整原始号码。</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技术方案三：加密与传输安全</a:t>
            </a:r>
            <a:endParaRPr lang="en-US" sz="1100"/>
          </a:p>
        </p:txBody>
      </p:sp>
      <p:sp>
        <p:nvSpPr>
          <p:cNvPr id="4" name="AutoShape 4"/>
          <p:cNvSpPr/>
          <p:nvPr/>
        </p:nvSpPr>
        <p:spPr>
          <a:xfrm>
            <a:off x="762000" y="1524000"/>
            <a:ext cx="10668000" cy="1079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25600"/>
            <a:ext cx="1028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密码学手段，将明文数据转换为难以理解的密文，只有拥有正确密钥的人才能解密。这是保障数据全生命周期安全的核心基础，确保信息在不可信的网络环境与存储介质中，依然能严格保持机密性、完整性与可用性。</a:t>
            </a:r>
            <a:endParaRPr lang="en-US" sz="1100"/>
          </a:p>
        </p:txBody>
      </p:sp>
      <p:sp>
        <p:nvSpPr>
          <p:cNvPr id="6" name="AutoShape 6"/>
          <p:cNvSpPr/>
          <p:nvPr/>
        </p:nvSpPr>
        <p:spPr>
          <a:xfrm>
            <a:off x="762000" y="2794000"/>
            <a:ext cx="520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794000"/>
            <a:ext cx="5207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921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传输层安全 (Transport Layer Security)</a:t>
            </a:r>
            <a:endParaRPr lang="en-US" sz="1100"/>
          </a:p>
        </p:txBody>
      </p:sp>
      <p:sp>
        <p:nvSpPr>
          <p:cNvPr id="9" name="AutoShape 9"/>
          <p:cNvSpPr/>
          <p:nvPr/>
        </p:nvSpPr>
        <p:spPr>
          <a:xfrm>
            <a:off x="952500" y="33655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核心目标是阻断数据在公网传输时的窃听与篡改风险，在数据发送端与接收端之间建立一条不可被第三方破解的“安全隧道”。</a:t>
            </a:r>
            <a:endParaRPr lang="en-US" sz="1100"/>
          </a:p>
        </p:txBody>
      </p:sp>
      <p:sp>
        <p:nvSpPr>
          <p:cNvPr id="10" name="AutoShape 10"/>
          <p:cNvSpPr/>
          <p:nvPr/>
        </p:nvSpPr>
        <p:spPr>
          <a:xfrm>
            <a:off x="952500" y="4064000"/>
            <a:ext cx="4889500" cy="698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1275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关键技术：HTTPS / SSL / TLS 协议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验证服务端身份，协商临时会话密钥，实现数据的高强度加密传输。</a:t>
            </a:r>
            <a:endParaRPr lang="en-US" sz="1100"/>
          </a:p>
        </p:txBody>
      </p:sp>
      <p:sp>
        <p:nvSpPr>
          <p:cNvPr id="12" name="AutoShape 12"/>
          <p:cNvSpPr/>
          <p:nvPr/>
        </p:nvSpPr>
        <p:spPr>
          <a:xfrm>
            <a:off x="6223000" y="2794000"/>
            <a:ext cx="520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2794000"/>
            <a:ext cx="5207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13500" y="2921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存储层安全 (Storage Layer Security)</a:t>
            </a:r>
            <a:endParaRPr lang="en-US" sz="1100"/>
          </a:p>
        </p:txBody>
      </p:sp>
      <p:sp>
        <p:nvSpPr>
          <p:cNvPr id="15" name="AutoShape 15"/>
          <p:cNvSpPr/>
          <p:nvPr/>
        </p:nvSpPr>
        <p:spPr>
          <a:xfrm>
            <a:off x="6413500" y="33655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针对静态存储的数据资产提供纵深防御，防止物理或逻辑层面的未授权访问，即使存储介质丢失，数据内容也无法被还原。</a:t>
            </a:r>
            <a:endParaRPr lang="en-US" sz="1100"/>
          </a:p>
        </p:txBody>
      </p:sp>
      <p:sp>
        <p:nvSpPr>
          <p:cNvPr id="16" name="AutoShape 16"/>
          <p:cNvSpPr/>
          <p:nvPr/>
        </p:nvSpPr>
        <p:spPr>
          <a:xfrm>
            <a:off x="6413500" y="4064000"/>
            <a:ext cx="4889500" cy="698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41275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核心策略：分层混合加密体系</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根据数据敏感程度，灵活组合哈希、对称与非对称算法，平衡安全性与性能。</a:t>
            </a:r>
            <a:endParaRPr lang="en-US" sz="1100"/>
          </a:p>
        </p:txBody>
      </p:sp>
      <p:sp>
        <p:nvSpPr>
          <p:cNvPr id="18" name="AutoShape 18"/>
          <p:cNvSpPr/>
          <p:nvPr/>
        </p:nvSpPr>
        <p:spPr>
          <a:xfrm>
            <a:off x="762000" y="5080000"/>
            <a:ext cx="3492500" cy="1587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5080000"/>
            <a:ext cx="3492500" cy="330200"/>
          </a:xfrm>
          <a:prstGeom prst="roundRect">
            <a:avLst>
              <a:gd name="adj" fmla="val 0"/>
            </a:avLst>
          </a:prstGeom>
          <a:solidFill>
            <a:srgbClr val="F97316">
              <a:alpha val="1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63600" y="50927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哈希算法：数字指纹</a:t>
            </a:r>
            <a:endParaRPr lang="en-US" sz="1100"/>
          </a:p>
        </p:txBody>
      </p:sp>
      <p:sp>
        <p:nvSpPr>
          <p:cNvPr id="21" name="AutoShape 21"/>
          <p:cNvSpPr/>
          <p:nvPr/>
        </p:nvSpPr>
        <p:spPr>
          <a:xfrm>
            <a:off x="863600" y="54864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单向不可逆的数学变换，无法反推原文。主要用于密码的安全存储和关键数据的完整性校验，微小的内容修改都会导致哈希结果剧烈变化。</a:t>
            </a:r>
            <a:endParaRPr lang="en-US" sz="1100"/>
          </a:p>
        </p:txBody>
      </p:sp>
      <p:cxnSp>
        <p:nvCxnSpPr>
          <p:cNvPr id="22" name="Connector 22"/>
          <p:cNvCxnSpPr/>
          <p:nvPr/>
        </p:nvCxnSpPr>
        <p:spPr>
          <a:xfrm rot="5372498">
            <a:off x="3587750" y="5867425"/>
            <a:ext cx="1587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23" name="AutoShape 23"/>
          <p:cNvSpPr/>
          <p:nvPr/>
        </p:nvSpPr>
        <p:spPr>
          <a:xfrm>
            <a:off x="4445000" y="5080000"/>
            <a:ext cx="3492500" cy="1587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4445000" y="5080000"/>
            <a:ext cx="3492500" cy="330200"/>
          </a:xfrm>
          <a:prstGeom prst="roundRect">
            <a:avLst>
              <a:gd name="adj" fmla="val 0"/>
            </a:avLst>
          </a:prstGeom>
          <a:solidFill>
            <a:srgbClr val="F97316">
              <a:alpha val="1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546600" y="50927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对称加密：高效流转</a:t>
            </a:r>
            <a:endParaRPr lang="en-US" sz="1100"/>
          </a:p>
        </p:txBody>
      </p:sp>
      <p:sp>
        <p:nvSpPr>
          <p:cNvPr id="26" name="AutoShape 26"/>
          <p:cNvSpPr/>
          <p:nvPr/>
        </p:nvSpPr>
        <p:spPr>
          <a:xfrm>
            <a:off x="4546600" y="54864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加密与解密共用一个密钥，运算速度极快。适用于对大量业务数据（如数据库记录、日志文件）的批量加解密，是平衡效率与安全的最佳实践。</a:t>
            </a:r>
            <a:endParaRPr lang="en-US" sz="1100"/>
          </a:p>
        </p:txBody>
      </p:sp>
      <p:cxnSp>
        <p:nvCxnSpPr>
          <p:cNvPr id="27" name="Connector 27"/>
          <p:cNvCxnSpPr/>
          <p:nvPr/>
        </p:nvCxnSpPr>
        <p:spPr>
          <a:xfrm rot="5372498">
            <a:off x="7270750" y="5867425"/>
            <a:ext cx="1587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28" name="AutoShape 28"/>
          <p:cNvSpPr/>
          <p:nvPr/>
        </p:nvSpPr>
        <p:spPr>
          <a:xfrm>
            <a:off x="8128000" y="5080000"/>
            <a:ext cx="3492500" cy="1587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128000" y="5080000"/>
            <a:ext cx="3492500" cy="330200"/>
          </a:xfrm>
          <a:prstGeom prst="roundRect">
            <a:avLst>
              <a:gd name="adj" fmla="val 0"/>
            </a:avLst>
          </a:prstGeom>
          <a:solidFill>
            <a:srgbClr val="F97316">
              <a:alpha val="1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229600" y="50927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非对称加密：信任锚点</a:t>
            </a:r>
            <a:endParaRPr lang="en-US" sz="1100"/>
          </a:p>
        </p:txBody>
      </p:sp>
      <p:sp>
        <p:nvSpPr>
          <p:cNvPr id="31" name="AutoShape 31"/>
          <p:cNvSpPr/>
          <p:nvPr/>
        </p:nvSpPr>
        <p:spPr>
          <a:xfrm>
            <a:off x="8229600" y="54864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公私钥配对机制，公钥加密私钥解密。主要用于安全的密钥交换、数字签名和身份认证，解决了对称加密中密钥分发的信任难题。</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合规框架一：最小必要原则</a:t>
            </a:r>
            <a:endParaRPr lang="en-US" sz="1100"/>
          </a:p>
        </p:txBody>
      </p:sp>
      <p:sp>
        <p:nvSpPr>
          <p:cNvPr id="4" name="AutoShape 4"/>
          <p:cNvSpPr/>
          <p:nvPr/>
        </p:nvSpPr>
        <p:spPr>
          <a:xfrm>
            <a:off x="762000" y="1524000"/>
            <a:ext cx="10668000" cy="139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者在收集和使用数据时，应当严格限定在实现特定业务目的所必需的最小范围与最少类型，坚决杜绝超出合理边界的过度收集或滥用行为。这是数据合规的基石，要求我们在数据生命周期的每一个环节都保持克制与审慎。</a:t>
            </a:r>
            <a:endParaRPr lang="en-US" sz="1100"/>
          </a:p>
        </p:txBody>
      </p:sp>
      <p:sp>
        <p:nvSpPr>
          <p:cNvPr id="6" name="AutoShape 6"/>
          <p:cNvSpPr/>
          <p:nvPr/>
        </p:nvSpPr>
        <p:spPr>
          <a:xfrm>
            <a:off x="1016000" y="2413000"/>
            <a:ext cx="10160000" cy="4572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06500" y="2425700"/>
            <a:ext cx="9779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核心思想：“够用就好” —— 不贪多、不越界，只取业务运转真正需要的数据</a:t>
            </a:r>
            <a:endParaRPr lang="en-US" sz="1100"/>
          </a:p>
        </p:txBody>
      </p:sp>
      <p:sp>
        <p:nvSpPr>
          <p:cNvPr id="8" name="AutoShape 8"/>
          <p:cNvSpPr/>
          <p:nvPr/>
        </p:nvSpPr>
        <p:spPr>
          <a:xfrm>
            <a:off x="762000" y="3175000"/>
            <a:ext cx="5207000" cy="1841500"/>
          </a:xfrm>
          <a:prstGeom prst="roundRect">
            <a:avLst>
              <a:gd name="adj" fmla="val 0"/>
            </a:avLst>
          </a:prstGeom>
          <a:solidFill>
            <a:srgbClr val="FEF2F2">
              <a:alpha val="94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175000"/>
            <a:ext cx="50800" cy="18415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3251200"/>
            <a:ext cx="469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反面教材：权限越界与过度索权</a:t>
            </a:r>
            <a:endParaRPr lang="en-US" sz="1100"/>
          </a:p>
        </p:txBody>
      </p:sp>
      <p:sp>
        <p:nvSpPr>
          <p:cNvPr id="11" name="AutoShape 11"/>
          <p:cNvSpPr/>
          <p:nvPr/>
        </p:nvSpPr>
        <p:spPr>
          <a:xfrm>
            <a:off x="952500" y="3683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50A0A">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基础的手电筒工具类APP，仅需调用闪光灯硬件即可实现功能，却向用户请求获取通讯录、实时地理位置甚至相机权限。此类行为完全超出了业务本身的合理需求，属于典型的“非必要不收集”的违规反面案例。</a:t>
            </a:r>
            <a:endParaRPr lang="en-US" sz="1100"/>
          </a:p>
        </p:txBody>
      </p:sp>
      <p:sp>
        <p:nvSpPr>
          <p:cNvPr id="12" name="AutoShape 12"/>
          <p:cNvSpPr/>
          <p:nvPr/>
        </p:nvSpPr>
        <p:spPr>
          <a:xfrm>
            <a:off x="6223000" y="3175000"/>
            <a:ext cx="5207000" cy="1841500"/>
          </a:xfrm>
          <a:prstGeom prst="roundRect">
            <a:avLst>
              <a:gd name="adj" fmla="val 0"/>
            </a:avLst>
          </a:prstGeom>
          <a:solidFill>
            <a:srgbClr val="ECFDF5">
              <a:alpha val="94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3175000"/>
            <a:ext cx="50800" cy="1841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13500" y="3251200"/>
            <a:ext cx="469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正面示范：精准聚焦业务核心</a:t>
            </a:r>
            <a:endParaRPr lang="en-US" sz="1100"/>
          </a:p>
        </p:txBody>
      </p:sp>
      <p:sp>
        <p:nvSpPr>
          <p:cNvPr id="15" name="AutoShape 15"/>
          <p:cNvSpPr/>
          <p:nvPr/>
        </p:nvSpPr>
        <p:spPr>
          <a:xfrm>
            <a:off x="6413500" y="3683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064E3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订餐平台APP在服务流程中，仅收集完成交易和履约所必需的关键信息：用户的送餐地址、联系电话以及支付相关信息。所有数据维度均与“完成餐饮配送”这一核心业务目标高度匹配，不采集任何与服务无关的额外用户隐私数据。</a:t>
            </a:r>
            <a:endParaRPr lang="en-US" sz="1100"/>
          </a:p>
        </p:txBody>
      </p:sp>
      <p:sp>
        <p:nvSpPr>
          <p:cNvPr id="16" name="AutoShape 16"/>
          <p:cNvSpPr/>
          <p:nvPr/>
        </p:nvSpPr>
        <p:spPr>
          <a:xfrm>
            <a:off x="762000" y="5207000"/>
            <a:ext cx="10668000" cy="1270000"/>
          </a:xfrm>
          <a:prstGeom prst="roundRect">
            <a:avLst>
              <a:gd name="adj" fmla="val 0"/>
            </a:avLst>
          </a:prstGeom>
          <a:solidFill>
            <a:srgbClr val="FFF7ED">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5207000"/>
            <a:ext cx="50800" cy="1270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2705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实践落地指南</a:t>
            </a:r>
            <a:endParaRPr lang="en-US" sz="1100"/>
          </a:p>
        </p:txBody>
      </p:sp>
      <p:sp>
        <p:nvSpPr>
          <p:cNvPr id="19" name="AutoShape 19"/>
          <p:cNvSpPr/>
          <p:nvPr/>
        </p:nvSpPr>
        <p:spPr>
          <a:xfrm>
            <a:off x="1016000" y="5651500"/>
            <a:ext cx="1003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在设计数据收集表单或开发数据接口时，请时刻对每一个字段进行灵魂拷问：“这个字段真的是达成业务目标必不可少的吗？”每一次审慎的删减，都是对用户隐私的有力保护，也是对企业合规风险的有效规避。</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合规框架二：授权与确权机制</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0800" cy="1206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016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在收集和使用个人信息前，必须获得数据主体（用户）的明确同意，并清晰界定数据的所有权、使用权等权利归属。这是数据合规的基石，也是建立用户信任与合法数据流通的前提。</a:t>
            </a:r>
            <a:endParaRPr lang="en-US" sz="1100"/>
          </a:p>
        </p:txBody>
      </p:sp>
      <p:sp>
        <p:nvSpPr>
          <p:cNvPr id="7" name="AutoShape 7"/>
          <p:cNvSpPr/>
          <p:nvPr/>
        </p:nvSpPr>
        <p:spPr>
          <a:xfrm>
            <a:off x="762000" y="2921000"/>
            <a:ext cx="5270500" cy="3111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92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3149600"/>
            <a:ext cx="508000" cy="508000"/>
          </a:xfrm>
          <a:prstGeom prst="ellipse">
            <a:avLst/>
          </a:prstGeom>
          <a:solidFill>
            <a:srgbClr val="F97316">
              <a:alpha val="12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2200" y="3225800"/>
            <a:ext cx="355600" cy="355600"/>
          </a:xfrm>
          <a:prstGeom prst="rect">
            <a:avLst/>
          </a:prstGeom>
        </p:spPr>
      </p:pic>
      <p:sp>
        <p:nvSpPr>
          <p:cNvPr id="11" name="AutoShape 11"/>
          <p:cNvSpPr/>
          <p:nvPr/>
        </p:nvSpPr>
        <p:spPr>
          <a:xfrm>
            <a:off x="1714500" y="3149600"/>
            <a:ext cx="4064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明示同意 (Explicit Consent)</a:t>
            </a:r>
            <a:endParaRPr lang="en-US" sz="1100"/>
          </a:p>
        </p:txBody>
      </p:sp>
      <p:sp>
        <p:nvSpPr>
          <p:cNvPr id="12" name="AutoShape 12"/>
          <p:cNvSpPr/>
          <p:nvPr/>
        </p:nvSpPr>
        <p:spPr>
          <a:xfrm>
            <a:off x="1016000" y="3810000"/>
            <a:ext cx="4762500" cy="1079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43000" y="3873500"/>
            <a:ext cx="4508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必须以清晰易懂的语言向用户主动告知数据收集的目的、方式及使用范围，同时提供独立的、可被用户自主选择的同意选项，保障用户的知情权与选择权。</a:t>
            </a:r>
            <a:endParaRPr lang="en-US" sz="1100"/>
          </a:p>
        </p:txBody>
      </p:sp>
      <p:sp>
        <p:nvSpPr>
          <p:cNvPr id="14" name="AutoShape 14"/>
          <p:cNvSpPr/>
          <p:nvPr/>
        </p:nvSpPr>
        <p:spPr>
          <a:xfrm>
            <a:off x="1016000" y="5016500"/>
            <a:ext cx="4762500" cy="889000"/>
          </a:xfrm>
          <a:prstGeom prst="roundRect">
            <a:avLst>
              <a:gd name="adj" fmla="val 0"/>
            </a:avLst>
          </a:prstGeom>
          <a:solidFill>
            <a:srgbClr val="FFEDD5">
              <a:alpha val="7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143000" y="50800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警惕误区：</a:t>
            </a:r>
            <a:r>
              <a:rPr lang="en-US" sz="1200" b="0" i="0" u="none" strike="noStrike">
                <a:solidFill>
                  <a:srgbClr val="9A3412">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采用默认勾选同意、“不同意则无法使用基础功能”等“霸王条款”形式，剥夺用户的拒绝权，是合规的高压线。</a:t>
            </a:r>
            <a:endParaRPr lang="en-US" sz="1100"/>
          </a:p>
        </p:txBody>
      </p:sp>
      <p:cxnSp>
        <p:nvCxnSpPr>
          <p:cNvPr id="16" name="Connector 16"/>
          <p:cNvCxnSpPr/>
          <p:nvPr/>
        </p:nvCxnSpPr>
        <p:spPr>
          <a:xfrm rot="5385968">
            <a:off x="4603750" y="4470413"/>
            <a:ext cx="3111500" cy="12700"/>
          </a:xfrm>
          <a:prstGeom prst="straightConnector1">
            <a:avLst/>
          </a:prstGeom>
          <a:solidFill>
            <a:srgbClr val="DEE0E3">
              <a:alpha val="100000"/>
            </a:srgbClr>
          </a:solidFill>
          <a:ln w="12700" cap="flat" cmpd="sng">
            <a:solidFill>
              <a:srgbClr val="D1D5DB">
                <a:alpha val="60000"/>
              </a:srgbClr>
            </a:solidFill>
            <a:prstDash val="dash"/>
            <a:round/>
            <a:headEnd type="none" w="med" len="med"/>
            <a:tailEnd type="none" w="med" len="med"/>
          </a:ln>
        </p:spPr>
      </p:cxnSp>
      <p:sp>
        <p:nvSpPr>
          <p:cNvPr id="17" name="AutoShape 17"/>
          <p:cNvSpPr/>
          <p:nvPr/>
        </p:nvSpPr>
        <p:spPr>
          <a:xfrm>
            <a:off x="6286500" y="2921000"/>
            <a:ext cx="5270500" cy="3111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286500" y="292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540500" y="3149600"/>
            <a:ext cx="508000" cy="508000"/>
          </a:xfrm>
          <a:prstGeom prst="ellipse">
            <a:avLst/>
          </a:prstGeom>
          <a:solidFill>
            <a:srgbClr val="F97316">
              <a:alpha val="12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16700" y="3225800"/>
            <a:ext cx="355600" cy="355600"/>
          </a:xfrm>
          <a:prstGeom prst="rect">
            <a:avLst/>
          </a:prstGeom>
        </p:spPr>
      </p:pic>
      <p:sp>
        <p:nvSpPr>
          <p:cNvPr id="21" name="AutoShape 21"/>
          <p:cNvSpPr/>
          <p:nvPr/>
        </p:nvSpPr>
        <p:spPr>
          <a:xfrm>
            <a:off x="7239000" y="3149600"/>
            <a:ext cx="4064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数据确权 (Data Ownership)</a:t>
            </a:r>
            <a:endParaRPr lang="en-US" sz="1100"/>
          </a:p>
        </p:txBody>
      </p:sp>
      <p:sp>
        <p:nvSpPr>
          <p:cNvPr id="22" name="AutoShape 22"/>
          <p:cNvSpPr/>
          <p:nvPr/>
        </p:nvSpPr>
        <p:spPr>
          <a:xfrm>
            <a:off x="6540500" y="3810000"/>
            <a:ext cx="4762500" cy="1079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667500" y="3873500"/>
            <a:ext cx="4508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明确数据的所有权、使用权、加工权和收益权等核心权益归属。这不仅是对数据主体权益的保护，也是企业合法使用数据资产、开展业务合作的基础依据。</a:t>
            </a:r>
            <a:endParaRPr lang="en-US" sz="1100"/>
          </a:p>
        </p:txBody>
      </p:sp>
      <p:sp>
        <p:nvSpPr>
          <p:cNvPr id="24" name="AutoShape 24"/>
          <p:cNvSpPr/>
          <p:nvPr/>
        </p:nvSpPr>
        <p:spPr>
          <a:xfrm>
            <a:off x="6540500" y="5016500"/>
            <a:ext cx="4762500" cy="889000"/>
          </a:xfrm>
          <a:prstGeom prst="roundRect">
            <a:avLst>
              <a:gd name="adj" fmla="val 0"/>
            </a:avLst>
          </a:prstGeom>
          <a:solidFill>
            <a:srgbClr val="FFEDD5">
              <a:alpha val="7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667500" y="50800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200" b="0" i="0" u="none" strike="noStrike">
                <a:solidFill>
                  <a:srgbClr val="9A3412">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清晰的权责界定是解决潜在数据纠纷、降低法律风险，以及推动数据要素在合规前提下进行流通与市场化合作的关键法律基石。</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合规框架三：审计与追溯</a:t>
            </a:r>
            <a:endParaRPr lang="en-US" sz="1100"/>
          </a:p>
        </p:txBody>
      </p:sp>
      <p:sp>
        <p:nvSpPr>
          <p:cNvPr id="4" name="AutoShape 4"/>
          <p:cNvSpPr/>
          <p:nvPr/>
        </p:nvSpPr>
        <p:spPr>
          <a:xfrm>
            <a:off x="762000" y="1524000"/>
            <a:ext cx="10668000" cy="114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所有数据访问和操作行为进行全链路记录，形成不可篡改的审计日志。这一机制为组织构建了安全的“事后防线”，确保在发生安全事件、数据泄露或违规操作时，能够精准还原事实真相，实现责任的可追溯与可界定。</a:t>
            </a:r>
            <a:endParaRPr lang="en-US" sz="1100"/>
          </a:p>
        </p:txBody>
      </p:sp>
      <p:sp>
        <p:nvSpPr>
          <p:cNvPr id="6" name="AutoShape 6"/>
          <p:cNvSpPr/>
          <p:nvPr/>
        </p:nvSpPr>
        <p:spPr>
          <a:xfrm>
            <a:off x="762000" y="2921000"/>
            <a:ext cx="3429000" cy="1905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111500"/>
            <a:ext cx="355600" cy="355600"/>
          </a:xfrm>
          <a:prstGeom prst="rect">
            <a:avLst/>
          </a:prstGeom>
        </p:spPr>
      </p:pic>
      <p:sp>
        <p:nvSpPr>
          <p:cNvPr id="9" name="AutoShape 9"/>
          <p:cNvSpPr/>
          <p:nvPr/>
        </p:nvSpPr>
        <p:spPr>
          <a:xfrm>
            <a:off x="1460500" y="3111500"/>
            <a:ext cx="2603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事前威慑</a:t>
            </a:r>
            <a:endParaRPr lang="en-US" sz="1100"/>
          </a:p>
        </p:txBody>
      </p:sp>
      <p:sp>
        <p:nvSpPr>
          <p:cNvPr id="10" name="AutoShape 10"/>
          <p:cNvSpPr/>
          <p:nvPr/>
        </p:nvSpPr>
        <p:spPr>
          <a:xfrm>
            <a:off x="952500" y="3619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当用户知晓所有操作都会被永久记录时，心理层面的监督机制会有效抑制内部人员的恶意操作冲动，同时大幅降低无心之失导致的安全隐患。</a:t>
            </a:r>
            <a:endParaRPr lang="en-US" sz="1100"/>
          </a:p>
        </p:txBody>
      </p:sp>
      <p:sp>
        <p:nvSpPr>
          <p:cNvPr id="11" name="AutoShape 11"/>
          <p:cNvSpPr/>
          <p:nvPr/>
        </p:nvSpPr>
        <p:spPr>
          <a:xfrm>
            <a:off x="4381500" y="2921000"/>
            <a:ext cx="3429000" cy="1905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381500" y="2921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3111500"/>
            <a:ext cx="355600" cy="355600"/>
          </a:xfrm>
          <a:prstGeom prst="rect">
            <a:avLst/>
          </a:prstGeom>
        </p:spPr>
      </p:pic>
      <p:sp>
        <p:nvSpPr>
          <p:cNvPr id="14" name="AutoShape 14"/>
          <p:cNvSpPr/>
          <p:nvPr/>
        </p:nvSpPr>
        <p:spPr>
          <a:xfrm>
            <a:off x="5080000" y="3111500"/>
            <a:ext cx="2603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事中溯源</a:t>
            </a:r>
            <a:endParaRPr lang="en-US" sz="1100"/>
          </a:p>
        </p:txBody>
      </p:sp>
      <p:sp>
        <p:nvSpPr>
          <p:cNvPr id="15" name="AutoShape 15"/>
          <p:cNvSpPr/>
          <p:nvPr/>
        </p:nvSpPr>
        <p:spPr>
          <a:xfrm>
            <a:off x="4572000" y="3619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一旦发生数据泄露或异常，无需依赖零散线索。通过完整的审计轨迹，可迅速定位事件发生的具体时间、操作路径及相关责任人，为响应争取宝贵时间。</a:t>
            </a:r>
            <a:endParaRPr lang="en-US" sz="1100"/>
          </a:p>
        </p:txBody>
      </p:sp>
      <p:sp>
        <p:nvSpPr>
          <p:cNvPr id="16" name="AutoShape 16"/>
          <p:cNvSpPr/>
          <p:nvPr/>
        </p:nvSpPr>
        <p:spPr>
          <a:xfrm>
            <a:off x="8001000" y="2921000"/>
            <a:ext cx="3429000" cy="1905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001000" y="2921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3111500"/>
            <a:ext cx="355600" cy="355600"/>
          </a:xfrm>
          <a:prstGeom prst="rect">
            <a:avLst/>
          </a:prstGeom>
        </p:spPr>
      </p:pic>
      <p:sp>
        <p:nvSpPr>
          <p:cNvPr id="19" name="AutoShape 19"/>
          <p:cNvSpPr/>
          <p:nvPr/>
        </p:nvSpPr>
        <p:spPr>
          <a:xfrm>
            <a:off x="8699500" y="3111500"/>
            <a:ext cx="2603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事后取证</a:t>
            </a:r>
            <a:endParaRPr lang="en-US" sz="1100"/>
          </a:p>
        </p:txBody>
      </p:sp>
      <p:sp>
        <p:nvSpPr>
          <p:cNvPr id="20" name="AutoShape 20"/>
          <p:cNvSpPr/>
          <p:nvPr/>
        </p:nvSpPr>
        <p:spPr>
          <a:xfrm>
            <a:off x="8191500" y="3619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不可篡改的日志记录是具备法律效力的关键证据。在涉及合规审查、法律纠纷或监管调查时，它能客观还原事实，成为厘清责任边界的有力依据。</a:t>
            </a:r>
            <a:endParaRPr lang="en-US" sz="1100"/>
          </a:p>
        </p:txBody>
      </p:sp>
      <p:sp>
        <p:nvSpPr>
          <p:cNvPr id="21" name="AutoShape 21"/>
          <p:cNvSpPr/>
          <p:nvPr/>
        </p:nvSpPr>
        <p:spPr>
          <a:xfrm>
            <a:off x="762000" y="5080000"/>
            <a:ext cx="10668000" cy="1397000"/>
          </a:xfrm>
          <a:prstGeom prst="roundRect">
            <a:avLst>
              <a:gd name="adj" fmla="val 0"/>
            </a:avLst>
          </a:prstGeom>
          <a:solidFill>
            <a:srgbClr val="F97316">
              <a:alpha val="92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952500" y="5207000"/>
            <a:ext cx="2476500" cy="11430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270500"/>
            <a:ext cx="2349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Who · 主体</a:t>
            </a:r>
            <a:endParaRPr lang="en-US" sz="1100"/>
          </a:p>
        </p:txBody>
      </p:sp>
      <p:sp>
        <p:nvSpPr>
          <p:cNvPr id="24" name="AutoShape 24"/>
          <p:cNvSpPr/>
          <p:nvPr/>
        </p:nvSpPr>
        <p:spPr>
          <a:xfrm>
            <a:off x="1016000" y="5651500"/>
            <a:ext cx="2349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明确执行操作的具体用户</a:t>
            </a:r>
            <a:b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或系统服务身份</a:t>
            </a:r>
            <a:endParaRPr lang="en-US" sz="1100"/>
          </a:p>
        </p:txBody>
      </p:sp>
      <p:cxnSp>
        <p:nvCxnSpPr>
          <p:cNvPr id="25" name="Connector 25"/>
          <p:cNvCxnSpPr/>
          <p:nvPr/>
        </p:nvCxnSpPr>
        <p:spPr>
          <a:xfrm rot="5354166">
            <a:off x="3016250" y="5740442"/>
            <a:ext cx="9525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26" name="AutoShape 26"/>
          <p:cNvSpPr/>
          <p:nvPr/>
        </p:nvSpPr>
        <p:spPr>
          <a:xfrm>
            <a:off x="3556000" y="5207000"/>
            <a:ext cx="2476500" cy="11430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3619500" y="5270500"/>
            <a:ext cx="2349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When · 时间</a:t>
            </a:r>
            <a:endParaRPr lang="en-US" sz="1100"/>
          </a:p>
        </p:txBody>
      </p:sp>
      <p:sp>
        <p:nvSpPr>
          <p:cNvPr id="28" name="AutoShape 28"/>
          <p:cNvSpPr/>
          <p:nvPr/>
        </p:nvSpPr>
        <p:spPr>
          <a:xfrm>
            <a:off x="3619500" y="5651500"/>
            <a:ext cx="2349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精确到毫秒级的操作时间戳</a:t>
            </a:r>
            <a:b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形成完整时间线</a:t>
            </a:r>
            <a:endParaRPr lang="en-US" sz="1100"/>
          </a:p>
        </p:txBody>
      </p:sp>
      <p:cxnSp>
        <p:nvCxnSpPr>
          <p:cNvPr id="29" name="Connector 29"/>
          <p:cNvCxnSpPr/>
          <p:nvPr/>
        </p:nvCxnSpPr>
        <p:spPr>
          <a:xfrm rot="5354166">
            <a:off x="5619750" y="5740442"/>
            <a:ext cx="9525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30" name="AutoShape 30"/>
          <p:cNvSpPr/>
          <p:nvPr/>
        </p:nvSpPr>
        <p:spPr>
          <a:xfrm>
            <a:off x="6159500" y="5207000"/>
            <a:ext cx="2476500" cy="11430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223000" y="5270500"/>
            <a:ext cx="2349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 行为</a:t>
            </a:r>
            <a:endParaRPr lang="en-US" sz="1100"/>
          </a:p>
        </p:txBody>
      </p:sp>
      <p:sp>
        <p:nvSpPr>
          <p:cNvPr id="32" name="AutoShape 32"/>
          <p:cNvSpPr/>
          <p:nvPr/>
        </p:nvSpPr>
        <p:spPr>
          <a:xfrm>
            <a:off x="6223000" y="5651500"/>
            <a:ext cx="2349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执行的具体动作与访问内容</a:t>
            </a:r>
            <a:b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如查询、修改、删除等</a:t>
            </a:r>
            <a:endParaRPr lang="en-US" sz="1100"/>
          </a:p>
        </p:txBody>
      </p:sp>
      <p:cxnSp>
        <p:nvCxnSpPr>
          <p:cNvPr id="33" name="Connector 33"/>
          <p:cNvCxnSpPr/>
          <p:nvPr/>
        </p:nvCxnSpPr>
        <p:spPr>
          <a:xfrm rot="5354166">
            <a:off x="8223250" y="5740442"/>
            <a:ext cx="9525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34" name="AutoShape 34"/>
          <p:cNvSpPr/>
          <p:nvPr/>
        </p:nvSpPr>
        <p:spPr>
          <a:xfrm>
            <a:off x="8763000" y="5207000"/>
            <a:ext cx="2476500" cy="11430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8826500" y="5270500"/>
            <a:ext cx="2349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How · 方式</a:t>
            </a:r>
            <a:endParaRPr lang="en-US" sz="1100"/>
          </a:p>
        </p:txBody>
      </p:sp>
      <p:sp>
        <p:nvSpPr>
          <p:cNvPr id="36" name="AutoShape 36"/>
          <p:cNvSpPr/>
          <p:nvPr/>
        </p:nvSpPr>
        <p:spPr>
          <a:xfrm>
            <a:off x="8826500" y="5651500"/>
            <a:ext cx="2349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操作的来源终端与访问途径</a:t>
            </a:r>
            <a:b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包含IP、设备及网络环境</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数据安全等级与应对策略</a:t>
            </a:r>
            <a:endParaRPr lang="en-US" sz="1100"/>
          </a:p>
        </p:txBody>
      </p:sp>
      <p:sp>
        <p:nvSpPr>
          <p:cNvPr id="4" name="AutoShape 4"/>
          <p:cNvSpPr/>
          <p:nvPr/>
        </p:nvSpPr>
        <p:spPr>
          <a:xfrm>
            <a:off x="762000" y="1651000"/>
            <a:ext cx="2730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2730500" cy="38100"/>
          </a:xfrm>
          <a:prstGeom prst="roundRect">
            <a:avLst>
              <a:gd name="adj" fmla="val 0"/>
            </a:avLst>
          </a:prstGeom>
          <a:solidFill>
            <a:srgbClr val="F97316">
              <a:alpha val="5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7780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L1 公开级</a:t>
            </a:r>
            <a:endParaRPr lang="en-US" sz="1100"/>
          </a:p>
        </p:txBody>
      </p:sp>
      <p:sp>
        <p:nvSpPr>
          <p:cNvPr id="7" name="AutoShape 7"/>
          <p:cNvSpPr/>
          <p:nvPr/>
        </p:nvSpPr>
        <p:spPr>
          <a:xfrm>
            <a:off x="889000" y="2286000"/>
            <a:ext cx="2476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无隐私或商业敏感属性，可自由对外传播与使用，面向社会大众开放。</a:t>
            </a:r>
            <a:endParaRPr lang="en-US" sz="1100"/>
          </a:p>
        </p:txBody>
      </p:sp>
      <p:sp>
        <p:nvSpPr>
          <p:cNvPr id="8" name="AutoShape 8"/>
          <p:cNvSpPr/>
          <p:nvPr/>
        </p:nvSpPr>
        <p:spPr>
          <a:xfrm>
            <a:off x="889000" y="2984500"/>
            <a:ext cx="2476500" cy="508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0099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示例：品牌新闻稿、公开行业报告</a:t>
            </a:r>
            <a:endParaRPr lang="en-US" sz="1100"/>
          </a:p>
        </p:txBody>
      </p:sp>
      <p:sp>
        <p:nvSpPr>
          <p:cNvPr id="10" name="AutoShape 10"/>
          <p:cNvSpPr/>
          <p:nvPr/>
        </p:nvSpPr>
        <p:spPr>
          <a:xfrm>
            <a:off x="889000" y="35560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策略：无需特殊加密，保持公开可访问</a:t>
            </a:r>
            <a:endParaRPr lang="en-US" sz="1100"/>
          </a:p>
        </p:txBody>
      </p:sp>
      <p:sp>
        <p:nvSpPr>
          <p:cNvPr id="11" name="AutoShape 11"/>
          <p:cNvSpPr/>
          <p:nvPr/>
        </p:nvSpPr>
        <p:spPr>
          <a:xfrm>
            <a:off x="3581400" y="1651000"/>
            <a:ext cx="2730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581400" y="1651000"/>
            <a:ext cx="2730500" cy="381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708400" y="17780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L2 内部级</a:t>
            </a:r>
            <a:endParaRPr lang="en-US" sz="1100"/>
          </a:p>
        </p:txBody>
      </p:sp>
      <p:sp>
        <p:nvSpPr>
          <p:cNvPr id="14" name="AutoShape 14"/>
          <p:cNvSpPr/>
          <p:nvPr/>
        </p:nvSpPr>
        <p:spPr>
          <a:xfrm>
            <a:off x="3708400" y="2286000"/>
            <a:ext cx="2476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仅限企业内部在职员工查阅，服务于日常运营，严禁对外随意扩散。</a:t>
            </a:r>
            <a:endParaRPr lang="en-US" sz="1100"/>
          </a:p>
        </p:txBody>
      </p:sp>
      <p:sp>
        <p:nvSpPr>
          <p:cNvPr id="15" name="AutoShape 15"/>
          <p:cNvSpPr/>
          <p:nvPr/>
        </p:nvSpPr>
        <p:spPr>
          <a:xfrm>
            <a:off x="3708400" y="2984500"/>
            <a:ext cx="2476500" cy="508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3771900" y="30099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示例：内部通讯录、非机密工作文档</a:t>
            </a:r>
            <a:endParaRPr lang="en-US" sz="1100"/>
          </a:p>
        </p:txBody>
      </p:sp>
      <p:sp>
        <p:nvSpPr>
          <p:cNvPr id="17" name="AutoShape 17"/>
          <p:cNvSpPr/>
          <p:nvPr/>
        </p:nvSpPr>
        <p:spPr>
          <a:xfrm>
            <a:off x="3708400" y="35560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策略：基础账号认证，限制内网访问</a:t>
            </a:r>
            <a:endParaRPr lang="en-US" sz="1100"/>
          </a:p>
        </p:txBody>
      </p:sp>
      <p:sp>
        <p:nvSpPr>
          <p:cNvPr id="18" name="AutoShape 18"/>
          <p:cNvSpPr/>
          <p:nvPr/>
        </p:nvSpPr>
        <p:spPr>
          <a:xfrm>
            <a:off x="6400800" y="1651000"/>
            <a:ext cx="2730500" cy="24130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400800" y="1651000"/>
            <a:ext cx="2730500" cy="38100"/>
          </a:xfrm>
          <a:prstGeom prst="roundRect">
            <a:avLst>
              <a:gd name="adj" fmla="val 0"/>
            </a:avLst>
          </a:prstGeom>
          <a:solidFill>
            <a:srgbClr val="F97316">
              <a:alpha val="9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527800" y="17780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L3 敏感级</a:t>
            </a:r>
            <a:endParaRPr lang="en-US" sz="1100"/>
          </a:p>
        </p:txBody>
      </p:sp>
      <p:sp>
        <p:nvSpPr>
          <p:cNvPr id="21" name="AutoShape 21"/>
          <p:cNvSpPr/>
          <p:nvPr/>
        </p:nvSpPr>
        <p:spPr>
          <a:xfrm>
            <a:off x="6527800" y="2286000"/>
            <a:ext cx="2476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包含用户隐私或重要业务信息，泄露将导致用户权益受损或业务风险。</a:t>
            </a:r>
            <a:endParaRPr lang="en-US" sz="1100"/>
          </a:p>
        </p:txBody>
      </p:sp>
      <p:sp>
        <p:nvSpPr>
          <p:cNvPr id="22" name="AutoShape 22"/>
          <p:cNvSpPr/>
          <p:nvPr/>
        </p:nvSpPr>
        <p:spPr>
          <a:xfrm>
            <a:off x="6527800" y="2984500"/>
            <a:ext cx="2476500" cy="5080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591300" y="30099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示例：客户联系方式、订单基础信息</a:t>
            </a:r>
            <a:endParaRPr lang="en-US" sz="1100"/>
          </a:p>
        </p:txBody>
      </p:sp>
      <p:sp>
        <p:nvSpPr>
          <p:cNvPr id="24" name="AutoShape 24"/>
          <p:cNvSpPr/>
          <p:nvPr/>
        </p:nvSpPr>
        <p:spPr>
          <a:xfrm>
            <a:off x="6527800" y="35560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策略：数据动态脱敏，字段级加密存储</a:t>
            </a:r>
            <a:endParaRPr lang="en-US" sz="1100"/>
          </a:p>
        </p:txBody>
      </p:sp>
      <p:sp>
        <p:nvSpPr>
          <p:cNvPr id="25" name="AutoShape 25"/>
          <p:cNvSpPr/>
          <p:nvPr/>
        </p:nvSpPr>
        <p:spPr>
          <a:xfrm>
            <a:off x="9207500" y="1651000"/>
            <a:ext cx="2730500" cy="24130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207500" y="1651000"/>
            <a:ext cx="2730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9334500" y="17780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L4 机密级</a:t>
            </a:r>
            <a:endParaRPr lang="en-US" sz="1100"/>
          </a:p>
        </p:txBody>
      </p:sp>
      <p:sp>
        <p:nvSpPr>
          <p:cNvPr id="28" name="AutoShape 28"/>
          <p:cNvSpPr/>
          <p:nvPr/>
        </p:nvSpPr>
        <p:spPr>
          <a:xfrm>
            <a:off x="9334500" y="2286000"/>
            <a:ext cx="2476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企业核心资产与最高敏感数据，泄露将引发重大合规与经济损失。</a:t>
            </a:r>
            <a:endParaRPr lang="en-US" sz="1100"/>
          </a:p>
        </p:txBody>
      </p:sp>
      <p:sp>
        <p:nvSpPr>
          <p:cNvPr id="29" name="AutoShape 29"/>
          <p:cNvSpPr/>
          <p:nvPr/>
        </p:nvSpPr>
        <p:spPr>
          <a:xfrm>
            <a:off x="9334500" y="2984500"/>
            <a:ext cx="2476500" cy="508000"/>
          </a:xfrm>
          <a:prstGeom prst="roundRect">
            <a:avLst>
              <a:gd name="adj" fmla="val 0"/>
            </a:avLst>
          </a:prstGeom>
          <a:solidFill>
            <a:srgbClr val="FFED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9398000" y="30099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示例：核心密钥、交易流水、核心源码</a:t>
            </a:r>
            <a:endParaRPr lang="en-US" sz="1100"/>
          </a:p>
        </p:txBody>
      </p:sp>
      <p:sp>
        <p:nvSpPr>
          <p:cNvPr id="31" name="AutoShape 31"/>
          <p:cNvSpPr/>
          <p:nvPr/>
        </p:nvSpPr>
        <p:spPr>
          <a:xfrm>
            <a:off x="9334500" y="35560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策略：国密级加密，物理隔离与审计</a:t>
            </a:r>
            <a:endParaRPr lang="en-US" sz="1100"/>
          </a:p>
        </p:txBody>
      </p:sp>
      <p:sp>
        <p:nvSpPr>
          <p:cNvPr id="32" name="AutoShape 32"/>
          <p:cNvSpPr/>
          <p:nvPr/>
        </p:nvSpPr>
        <p:spPr>
          <a:xfrm>
            <a:off x="762000" y="4381500"/>
            <a:ext cx="11176000" cy="1968500"/>
          </a:xfrm>
          <a:prstGeom prst="roundRect">
            <a:avLst>
              <a:gd name="adj" fmla="val 0"/>
            </a:avLst>
          </a:prstGeom>
          <a:solidFill>
            <a:srgbClr val="FFF7ED">
              <a:alpha val="96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762000" y="4381500"/>
            <a:ext cx="508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1016000" y="4508500"/>
            <a:ext cx="1054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分级保护核心逻辑：从“粗放管理”到“精准施策”</a:t>
            </a:r>
            <a:endParaRPr lang="en-US" sz="1100"/>
          </a:p>
        </p:txBody>
      </p:sp>
      <p:sp>
        <p:nvSpPr>
          <p:cNvPr id="35" name="AutoShape 35"/>
          <p:cNvSpPr/>
          <p:nvPr/>
        </p:nvSpPr>
        <p:spPr>
          <a:xfrm>
            <a:off x="1016000" y="5080000"/>
            <a:ext cx="1066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安全不应“一刀切”，而需根据价值与风险进行差异化配置。L1-L4的分级体系，帮助企业在资源投入与安全效果间找到最佳平衡点。对于低风险的公开数据，保持开放效率；而对于高价值的机密数据，则通过动态脱敏、高强度加密和严格的权限审计构建“铜墙铁壁”，从而实现数据全生命周期的精准防护，既保障业务连续性，又严守合规底线。</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课堂研讨一：伦理判断与生活化类比</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场景假设：班级聚餐的信息收集</a:t>
            </a:r>
            <a:endParaRPr lang="en-US" sz="1100"/>
          </a:p>
        </p:txBody>
      </p:sp>
      <p:sp>
        <p:nvSpPr>
          <p:cNvPr id="6" name="AutoShape 6"/>
          <p:cNvSpPr/>
          <p:nvPr/>
        </p:nvSpPr>
        <p:spPr>
          <a:xfrm>
            <a:off x="1016000" y="203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假设你作为组织者，需要通过在线文档发起班级聚餐报名，首要任务是收集大家的联系方式以便统计人数和沟通细节。在这个看似日常的任务中，实则蕴含着个人信息保护的重要考量。</a:t>
            </a:r>
            <a:endParaRPr lang="en-US" sz="1100"/>
          </a:p>
        </p:txBody>
      </p:sp>
      <p:sp>
        <p:nvSpPr>
          <p:cNvPr id="7" name="AutoShape 7"/>
          <p:cNvSpPr/>
          <p:nvPr/>
        </p:nvSpPr>
        <p:spPr>
          <a:xfrm>
            <a:off x="762000" y="2921000"/>
            <a:ext cx="5207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92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0480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思考一：最小必要原则的设计应用</a:t>
            </a:r>
            <a:endParaRPr lang="en-US" sz="1100"/>
          </a:p>
        </p:txBody>
      </p:sp>
      <p:sp>
        <p:nvSpPr>
          <p:cNvPr id="10" name="AutoShape 10"/>
          <p:cNvSpPr/>
          <p:nvPr/>
        </p:nvSpPr>
        <p:spPr>
          <a:xfrm>
            <a:off x="952500" y="34925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你会如何设计这份收集表？表中必须包含哪些核心字段？哪些信息属于“非必要”内容不应收集？请结合“最小必要”原则说明你的筛选逻辑，思考过度收集可能带来的潜在风险。</a:t>
            </a:r>
            <a:endParaRPr lang="en-US" sz="1100"/>
          </a:p>
        </p:txBody>
      </p:sp>
      <p:sp>
        <p:nvSpPr>
          <p:cNvPr id="11" name="AutoShape 11"/>
          <p:cNvSpPr/>
          <p:nvPr/>
        </p:nvSpPr>
        <p:spPr>
          <a:xfrm>
            <a:off x="6223000" y="2921000"/>
            <a:ext cx="5207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292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30480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思考二：数据脱敏的实践操作</a:t>
            </a:r>
            <a:endParaRPr lang="en-US" sz="1100"/>
          </a:p>
        </p:txBody>
      </p:sp>
      <p:sp>
        <p:nvSpPr>
          <p:cNvPr id="14" name="AutoShape 14"/>
          <p:cNvSpPr/>
          <p:nvPr/>
        </p:nvSpPr>
        <p:spPr>
          <a:xfrm>
            <a:off x="6413500" y="34925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当需要将包含联系方式的文档分享给餐厅老板进行座位预订时，如何在不影响预订流程的前提下，最大程度保护同学们的隐私？请具体描述你的数据处理方案和脱敏策略，例如关键信息的隐藏或替换。</a:t>
            </a:r>
            <a:endParaRPr lang="en-US" sz="1100"/>
          </a:p>
        </p:txBody>
      </p:sp>
      <p:sp>
        <p:nvSpPr>
          <p:cNvPr id="15" name="AutoShape 15"/>
          <p:cNvSpPr/>
          <p:nvPr/>
        </p:nvSpPr>
        <p:spPr>
          <a:xfrm>
            <a:off x="762000" y="5080000"/>
            <a:ext cx="10668000" cy="1333500"/>
          </a:xfrm>
          <a:prstGeom prst="roundRect">
            <a:avLst>
              <a:gd name="adj" fmla="val 0"/>
            </a:avLst>
          </a:prstGeom>
          <a:solidFill>
            <a:srgbClr val="F97316">
              <a:alpha val="94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1816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研讨核心目标</a:t>
            </a:r>
            <a:endParaRPr lang="en-US" sz="1100"/>
          </a:p>
        </p:txBody>
      </p:sp>
      <p:sp>
        <p:nvSpPr>
          <p:cNvPr id="17" name="AutoShape 17"/>
          <p:cNvSpPr/>
          <p:nvPr/>
        </p:nvSpPr>
        <p:spPr>
          <a:xfrm>
            <a:off x="1016000" y="55880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将抽象的合规原则转化为可感知的生活决策，帮助大家建立“隐私保护无小事”的意识。通过具体的设计与操作，理解在数据流转的每一个环节中，如何平衡效率与安全，承担起作为信息处理者的责任。</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课堂研讨二：攻防模拟与方案设计</a:t>
            </a:r>
            <a:endParaRPr lang="en-US" sz="1100"/>
          </a:p>
        </p:txBody>
      </p:sp>
      <p:sp>
        <p:nvSpPr>
          <p:cNvPr id="4" name="AutoShape 4"/>
          <p:cNvSpPr/>
          <p:nvPr/>
        </p:nvSpPr>
        <p:spPr>
          <a:xfrm>
            <a:off x="762000" y="1524000"/>
            <a:ext cx="10668000" cy="952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场景背景：学校助学金评定系统涉及大量学生家庭敏感隐私数据。在这个与每位同学切身利益相关的场景中，请大家跳出常规使用者的身份，分别以攻击者和守护者的视角，来探索数据背后的安全博弈。</a:t>
            </a:r>
            <a:endParaRPr lang="en-US" sz="1100"/>
          </a:p>
        </p:txBody>
      </p:sp>
      <p:sp>
        <p:nvSpPr>
          <p:cNvPr id="6" name="AutoShape 6"/>
          <p:cNvSpPr/>
          <p:nvPr/>
        </p:nvSpPr>
        <p:spPr>
          <a:xfrm>
            <a:off x="762000" y="2667000"/>
            <a:ext cx="5270500" cy="2222500"/>
          </a:xfrm>
          <a:prstGeom prst="roundRect">
            <a:avLst>
              <a:gd name="adj" fmla="val 0"/>
            </a:avLst>
          </a:prstGeom>
          <a:solidFill>
            <a:srgbClr val="FFF7ED">
              <a:alpha val="96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667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7940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攻击视角：如果你是一名黑客</a:t>
            </a:r>
            <a:endParaRPr lang="en-US" sz="1100"/>
          </a:p>
        </p:txBody>
      </p:sp>
      <p:sp>
        <p:nvSpPr>
          <p:cNvPr id="9" name="AutoShape 9"/>
          <p:cNvSpPr/>
          <p:nvPr/>
        </p:nvSpPr>
        <p:spPr>
          <a:xfrm>
            <a:off x="952500" y="32385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你会利用系统的哪些潜在弱点？尝试构思一条完整的攻击路径，以窃取这些高价值的敏感数据。</a:t>
            </a:r>
            <a:endParaRPr lang="en-US" sz="1100"/>
          </a:p>
        </p:txBody>
      </p:sp>
      <p:sp>
        <p:nvSpPr>
          <p:cNvPr id="10" name="AutoShape 10"/>
          <p:cNvSpPr/>
          <p:nvPr/>
        </p:nvSpPr>
        <p:spPr>
          <a:xfrm>
            <a:off x="952500" y="3937000"/>
            <a:ext cx="4889500" cy="8255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0005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3140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引导方向：技术层面（SQL注入、接口未授权）、社会工程学（骗取账号/钓鱼）、物理层面（设备盗取/偷窥），思考如何绕过现有简单防护。</a:t>
            </a:r>
            <a:endParaRPr lang="en-US" sz="1100"/>
          </a:p>
        </p:txBody>
      </p:sp>
      <p:sp>
        <p:nvSpPr>
          <p:cNvPr id="12" name="AutoShape 12"/>
          <p:cNvSpPr/>
          <p:nvPr/>
        </p:nvSpPr>
        <p:spPr>
          <a:xfrm>
            <a:off x="6223000" y="2667000"/>
            <a:ext cx="5270500" cy="2222500"/>
          </a:xfrm>
          <a:prstGeom prst="roundRect">
            <a:avLst>
              <a:gd name="adj" fmla="val 0"/>
            </a:avLst>
          </a:prstGeom>
          <a:solidFill>
            <a:srgbClr val="F3F4F6">
              <a:alpha val="96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2667000"/>
            <a:ext cx="5270500" cy="50800"/>
          </a:xfrm>
          <a:prstGeom prst="roundRect">
            <a:avLst>
              <a:gd name="adj" fmla="val 0"/>
            </a:avLst>
          </a:prstGeom>
          <a:solidFill>
            <a:srgbClr val="37415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13500" y="27940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防御视角：作为数据工程师</a:t>
            </a:r>
            <a:endParaRPr lang="en-US" sz="1100"/>
          </a:p>
        </p:txBody>
      </p:sp>
      <p:sp>
        <p:nvSpPr>
          <p:cNvPr id="15" name="AutoShape 15"/>
          <p:cNvSpPr/>
          <p:nvPr/>
        </p:nvSpPr>
        <p:spPr>
          <a:xfrm>
            <a:off x="6413500" y="32385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面对潜在的攻击风险，你会制定哪三条不可妥协的核心安全规则，为系统构建坚固的数据防线？</a:t>
            </a:r>
            <a:endParaRPr lang="en-US" sz="1100"/>
          </a:p>
        </p:txBody>
      </p:sp>
      <p:sp>
        <p:nvSpPr>
          <p:cNvPr id="16" name="AutoShape 16"/>
          <p:cNvSpPr/>
          <p:nvPr/>
        </p:nvSpPr>
        <p:spPr>
          <a:xfrm>
            <a:off x="6413500" y="3937000"/>
            <a:ext cx="4889500" cy="825500"/>
          </a:xfrm>
          <a:prstGeom prst="roundRect">
            <a:avLst>
              <a:gd name="adj" fmla="val 0"/>
            </a:avLst>
          </a:prstGeom>
          <a:solidFill>
            <a:srgbClr val="374151">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40005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核心规则：严格的权限隔离（最小权限原则）、敏感信息的动态脱敏存储、以及所有操作的可追溯审计日志，从源头降低泄露风险。</a:t>
            </a:r>
            <a:endParaRPr lang="en-US" sz="1100"/>
          </a:p>
        </p:txBody>
      </p:sp>
      <p:sp>
        <p:nvSpPr>
          <p:cNvPr id="18" name="AutoShape 18"/>
          <p:cNvSpPr/>
          <p:nvPr/>
        </p:nvSpPr>
        <p:spPr>
          <a:xfrm>
            <a:off x="762000" y="5080000"/>
            <a:ext cx="10731500" cy="1397000"/>
          </a:xfrm>
          <a:prstGeom prst="roundRect">
            <a:avLst>
              <a:gd name="adj" fmla="val 0"/>
            </a:avLst>
          </a:prstGeom>
          <a:solidFill>
            <a:srgbClr val="1F2937">
              <a:alpha val="8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5181600"/>
            <a:ext cx="152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研讨目的</a:t>
            </a:r>
            <a:endParaRPr lang="en-US" sz="1100"/>
          </a:p>
        </p:txBody>
      </p:sp>
      <p:cxnSp>
        <p:nvCxnSpPr>
          <p:cNvPr id="20" name="Connector 20"/>
          <p:cNvCxnSpPr/>
          <p:nvPr/>
        </p:nvCxnSpPr>
        <p:spPr>
          <a:xfrm rot="-5092">
            <a:off x="2667005" y="5238750"/>
            <a:ext cx="85725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21" name="AutoShape 21"/>
          <p:cNvSpPr/>
          <p:nvPr/>
        </p:nvSpPr>
        <p:spPr>
          <a:xfrm>
            <a:off x="1016000" y="5588000"/>
            <a:ext cx="1022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黑客”与“工程师”的角色互换，帮助大家建立逆向的安全攻防思维。理解数据安全并非单一技术的堆砌，而是技术、流程与人员意识共同作用的系统性工程。只有预判到攻击的可能性，才能设计出更具前瞻性的防御方案。</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课堂小结</a:t>
            </a:r>
            <a:endParaRPr lang="en-US" sz="1100"/>
          </a:p>
        </p:txBody>
      </p:sp>
      <p:sp>
        <p:nvSpPr>
          <p:cNvPr id="4" name="AutoShape 4"/>
          <p:cNvSpPr/>
          <p:nvPr/>
        </p:nvSpPr>
        <p:spPr>
          <a:xfrm>
            <a:off x="762000" y="1524000"/>
            <a:ext cx="10668000" cy="1270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270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外延拓展</a:t>
            </a:r>
            <a:endParaRPr lang="en-US" sz="1100"/>
          </a:p>
        </p:txBody>
      </p:sp>
      <p:sp>
        <p:nvSpPr>
          <p:cNvPr id="7" name="AutoShape 7"/>
          <p:cNvSpPr/>
          <p:nvPr/>
        </p:nvSpPr>
        <p:spPr>
          <a:xfrm>
            <a:off x="1016000" y="2032000"/>
            <a:ext cx="990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本讲将数据工程的视野从单纯的“技术效率”拓展到了“法律与安全”的维度，让我们清晰认识到，数据工作不仅是技术的实现，更肩负着数据合规与安全的重要责任，需要在效率与风险之间找到平衡。</a:t>
            </a:r>
            <a:endParaRPr lang="en-US" sz="1100"/>
          </a:p>
        </p:txBody>
      </p:sp>
      <p:sp>
        <p:nvSpPr>
          <p:cNvPr id="8" name="AutoShape 8"/>
          <p:cNvSpPr/>
          <p:nvPr/>
        </p:nvSpPr>
        <p:spPr>
          <a:xfrm>
            <a:off x="762000" y="3048000"/>
            <a:ext cx="34671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048000"/>
            <a:ext cx="34671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3200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标准化：互通基石</a:t>
            </a:r>
            <a:endParaRPr lang="en-US" sz="1100"/>
          </a:p>
        </p:txBody>
      </p:sp>
      <p:sp>
        <p:nvSpPr>
          <p:cNvPr id="11" name="AutoShape 11"/>
          <p:cNvSpPr/>
          <p:nvPr/>
        </p:nvSpPr>
        <p:spPr>
          <a:xfrm>
            <a:off x="952500" y="3683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统一的数据格式与接口标准是打破系统壁垒的关键。它不仅消除了数据孤岛，更确保了数据在跨部门、跨平台流转中的一致性与准确性，是高效协作与数据流通的前提条件。</a:t>
            </a:r>
            <a:endParaRPr lang="en-US" sz="1100"/>
          </a:p>
        </p:txBody>
      </p:sp>
      <p:sp>
        <p:nvSpPr>
          <p:cNvPr id="12" name="AutoShape 12"/>
          <p:cNvSpPr/>
          <p:nvPr/>
        </p:nvSpPr>
        <p:spPr>
          <a:xfrm>
            <a:off x="4394200" y="3048000"/>
            <a:ext cx="34671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94200" y="3048000"/>
            <a:ext cx="34671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84700" y="3200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技术：隐私护盾</a:t>
            </a:r>
            <a:endParaRPr lang="en-US" sz="1100"/>
          </a:p>
        </p:txBody>
      </p:sp>
      <p:sp>
        <p:nvSpPr>
          <p:cNvPr id="15" name="AutoShape 15"/>
          <p:cNvSpPr/>
          <p:nvPr/>
        </p:nvSpPr>
        <p:spPr>
          <a:xfrm>
            <a:off x="4584700" y="3683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脱敏与加密是保护数据隐私的核心技术手段。通过掩码、哈希、国密算法等方式，在数据使用与传输过程中隐藏敏感信息，从技术底层构建坚实的防御体系，有效防止信息泄露。</a:t>
            </a:r>
            <a:endParaRPr lang="en-US" sz="1100"/>
          </a:p>
        </p:txBody>
      </p:sp>
      <p:sp>
        <p:nvSpPr>
          <p:cNvPr id="16" name="AutoShape 16"/>
          <p:cNvSpPr/>
          <p:nvPr/>
        </p:nvSpPr>
        <p:spPr>
          <a:xfrm>
            <a:off x="8026400" y="3048000"/>
            <a:ext cx="34671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026400" y="3048000"/>
            <a:ext cx="34671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216900" y="3200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合规：不可逾越</a:t>
            </a:r>
            <a:endParaRPr lang="en-US" sz="1100"/>
          </a:p>
        </p:txBody>
      </p:sp>
      <p:sp>
        <p:nvSpPr>
          <p:cNvPr id="19" name="AutoShape 19"/>
          <p:cNvSpPr/>
          <p:nvPr/>
        </p:nvSpPr>
        <p:spPr>
          <a:xfrm>
            <a:off x="8216900" y="3683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深刻理解并严格遵守《个人信息保护法》等法律法规，是数据工程师的职业红线。将合规意识融入每一个开发与处理环节，主动识别风险，让合规成为数据工作的底线思维。</a:t>
            </a:r>
            <a:endParaRPr lang="en-US" sz="1100"/>
          </a:p>
        </p:txBody>
      </p:sp>
      <p:sp>
        <p:nvSpPr>
          <p:cNvPr id="20" name="AutoShape 20"/>
          <p:cNvSpPr/>
          <p:nvPr/>
        </p:nvSpPr>
        <p:spPr>
          <a:xfrm>
            <a:off x="762000" y="5080000"/>
            <a:ext cx="10731500" cy="1397000"/>
          </a:xfrm>
          <a:prstGeom prst="roundRect">
            <a:avLst>
              <a:gd name="adj" fmla="val 0"/>
            </a:avLst>
          </a:prstGeom>
          <a:solidFill>
            <a:srgbClr val="F97316">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016000" y="5181600"/>
            <a:ext cx="152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最终寄语</a:t>
            </a:r>
            <a:endParaRPr lang="en-US" sz="1100"/>
          </a:p>
        </p:txBody>
      </p:sp>
      <p:sp>
        <p:nvSpPr>
          <p:cNvPr id="22" name="AutoShape 22"/>
          <p:cNvSpPr/>
          <p:nvPr/>
        </p:nvSpPr>
        <p:spPr>
          <a:xfrm>
            <a:off x="1016000" y="5588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一名优秀的数据工程师，不仅要能构建高效的数据管道，让数据在业务场景中顺畅“流动”起来；更要懂得如何设计严密的安全防御体系，让数据在采集、传输、存储和使用的每一个环节都能“安全地”流动。技术之上，安全为基，合规先行，方能行稳致远。</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课后作业</a:t>
            </a:r>
            <a:endParaRPr lang="en-US" sz="1100"/>
          </a:p>
        </p:txBody>
      </p:sp>
      <p:sp>
        <p:nvSpPr>
          <p:cNvPr id="4" name="AutoShape 4"/>
          <p:cNvSpPr/>
          <p:nvPr/>
        </p:nvSpPr>
        <p:spPr>
          <a:xfrm>
            <a:off x="762000" y="1524000"/>
            <a:ext cx="5207000" cy="4572000"/>
          </a:xfrm>
          <a:prstGeom prst="roundRect">
            <a:avLst>
              <a:gd name="adj" fmla="val 0"/>
            </a:avLst>
          </a:prstGeom>
          <a:solidFill>
            <a:srgbClr val="FFFFFF">
              <a:alpha val="92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78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合规判断挑战</a:t>
            </a:r>
            <a:endParaRPr lang="en-US" sz="1100"/>
          </a:p>
        </p:txBody>
      </p:sp>
      <p:sp>
        <p:nvSpPr>
          <p:cNvPr id="7" name="AutoShape 7"/>
          <p:cNvSpPr/>
          <p:nvPr/>
        </p:nvSpPr>
        <p:spPr>
          <a:xfrm>
            <a:off x="1016000" y="2413000"/>
            <a:ext cx="4699000" cy="1460500"/>
          </a:xfrm>
          <a:prstGeom prst="roundRect">
            <a:avLst>
              <a:gd name="adj" fmla="val 0"/>
            </a:avLst>
          </a:prstGeom>
          <a:solidFill>
            <a:srgbClr val="F97316">
              <a:alpha val="7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413000"/>
            <a:ext cx="50800" cy="14605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24765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场景一：音乐APP的静默收集</a:t>
            </a:r>
            <a:endParaRPr lang="en-US" sz="1100"/>
          </a:p>
        </p:txBody>
      </p:sp>
      <p:sp>
        <p:nvSpPr>
          <p:cNvPr id="10" name="AutoShape 10"/>
          <p:cNvSpPr/>
          <p:nvPr/>
        </p:nvSpPr>
        <p:spPr>
          <a:xfrm>
            <a:off x="1206500" y="2857500"/>
            <a:ext cx="438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用户首次登录后，APP未经明确提示与同意，便在后台静默收集用户通讯录信息。请结合数据合规与个人信息保护相关法规，判断该行为是否违规，并详细阐述做出判断的核心法律依据与风险点。</a:t>
            </a:r>
            <a:endParaRPr lang="en-US" sz="1100"/>
          </a:p>
        </p:txBody>
      </p:sp>
      <p:sp>
        <p:nvSpPr>
          <p:cNvPr id="11" name="AutoShape 11"/>
          <p:cNvSpPr/>
          <p:nvPr/>
        </p:nvSpPr>
        <p:spPr>
          <a:xfrm>
            <a:off x="1016000" y="4127500"/>
            <a:ext cx="4699000" cy="1587500"/>
          </a:xfrm>
          <a:prstGeom prst="roundRect">
            <a:avLst>
              <a:gd name="adj" fmla="val 0"/>
            </a:avLst>
          </a:prstGeom>
          <a:solidFill>
            <a:srgbClr val="F97316">
              <a:alpha val="7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4127500"/>
            <a:ext cx="50800" cy="15875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206500" y="41910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场景二：医疗数据的科研共享</a:t>
            </a:r>
            <a:endParaRPr lang="en-US" sz="1100"/>
          </a:p>
        </p:txBody>
      </p:sp>
      <p:sp>
        <p:nvSpPr>
          <p:cNvPr id="14" name="AutoShape 14"/>
          <p:cNvSpPr/>
          <p:nvPr/>
        </p:nvSpPr>
        <p:spPr>
          <a:xfrm>
            <a:off x="1206500" y="45720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某医院为推进医学研究，将患者病历数据去除姓名、身份证号等显性个人标识后，提供给外部合作科研机构。请分析该行为的合规性，思考去标识化是否足以满足合规要求，并指出可能存在的潜在法律与伦理风险。</a:t>
            </a:r>
            <a:endParaRPr lang="en-US" sz="1100"/>
          </a:p>
        </p:txBody>
      </p:sp>
      <p:cxnSp>
        <p:nvCxnSpPr>
          <p:cNvPr id="15" name="Connector 15"/>
          <p:cNvCxnSpPr/>
          <p:nvPr/>
        </p:nvCxnSpPr>
        <p:spPr>
          <a:xfrm rot="5390450">
            <a:off x="3810000" y="3803659"/>
            <a:ext cx="4572000" cy="12700"/>
          </a:xfrm>
          <a:prstGeom prst="straightConnector1">
            <a:avLst/>
          </a:prstGeom>
          <a:solidFill>
            <a:srgbClr val="DEE0E3">
              <a:alpha val="100000"/>
            </a:srgbClr>
          </a:solidFill>
          <a:ln w="12700" cap="flat" cmpd="sng">
            <a:solidFill>
              <a:srgbClr val="D1D5DB">
                <a:alpha val="70000"/>
              </a:srgbClr>
            </a:solidFill>
            <a:prstDash val="dash"/>
            <a:round/>
            <a:headEnd type="none" w="med" len="med"/>
            <a:tailEnd type="none" w="med" len="med"/>
          </a:ln>
        </p:spPr>
      </p:cxnSp>
      <p:sp>
        <p:nvSpPr>
          <p:cNvPr id="16" name="AutoShape 16"/>
          <p:cNvSpPr/>
          <p:nvPr/>
        </p:nvSpPr>
        <p:spPr>
          <a:xfrm>
            <a:off x="6223000" y="1524000"/>
            <a:ext cx="5207000" cy="4572000"/>
          </a:xfrm>
          <a:prstGeom prst="roundRect">
            <a:avLst>
              <a:gd name="adj" fmla="val 0"/>
            </a:avLst>
          </a:prstGeom>
          <a:solidFill>
            <a:srgbClr val="FFFFFF">
              <a:alpha val="92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1524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1778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电商物流数据共享方案</a:t>
            </a:r>
            <a:endParaRPr lang="en-US" sz="1100"/>
          </a:p>
        </p:txBody>
      </p:sp>
      <p:sp>
        <p:nvSpPr>
          <p:cNvPr id="19" name="AutoShape 19"/>
          <p:cNvSpPr/>
          <p:nvPr/>
        </p:nvSpPr>
        <p:spPr>
          <a:xfrm>
            <a:off x="6477000" y="2413000"/>
            <a:ext cx="4699000" cy="1587500"/>
          </a:xfrm>
          <a:prstGeom prst="roundRect">
            <a:avLst>
              <a:gd name="adj" fmla="val 0"/>
            </a:avLst>
          </a:prstGeom>
          <a:solidFill>
            <a:srgbClr val="3B82F6">
              <a:alpha val="9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477000" y="2413000"/>
            <a:ext cx="50800" cy="1587500"/>
          </a:xfrm>
          <a:prstGeom prst="roundRect">
            <a:avLst>
              <a:gd name="adj" fmla="val 0"/>
            </a:avLst>
          </a:prstGeom>
          <a:solidFill>
            <a:srgbClr val="3B82F6">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67500" y="24765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核心共享字段：业务履约基石</a:t>
            </a:r>
            <a:endParaRPr lang="en-US" sz="1100"/>
          </a:p>
        </p:txBody>
      </p:sp>
      <p:sp>
        <p:nvSpPr>
          <p:cNvPr id="22" name="AutoShape 22"/>
          <p:cNvSpPr/>
          <p:nvPr/>
        </p:nvSpPr>
        <p:spPr>
          <a:xfrm>
            <a:off x="6667500" y="28575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请从订单表中列出至少3个必须直接共享给物流商的关键字段（如收件地址、联系方式等）。结合物流作业全流程，详细说明每个字段对于分拣、运输、末端配送及用户签收环节的不可替代性，论证其对保障服务效率的必要性。</a:t>
            </a:r>
            <a:endParaRPr lang="en-US" sz="1100"/>
          </a:p>
        </p:txBody>
      </p:sp>
      <p:sp>
        <p:nvSpPr>
          <p:cNvPr id="23" name="AutoShape 23"/>
          <p:cNvSpPr/>
          <p:nvPr/>
        </p:nvSpPr>
        <p:spPr>
          <a:xfrm>
            <a:off x="6477000" y="4127500"/>
            <a:ext cx="4699000" cy="1587500"/>
          </a:xfrm>
          <a:prstGeom prst="roundRect">
            <a:avLst>
              <a:gd name="adj" fmla="val 0"/>
            </a:avLst>
          </a:prstGeom>
          <a:solidFill>
            <a:srgbClr val="EF4444">
              <a:alpha val="9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77000" y="4127500"/>
            <a:ext cx="50800" cy="1587500"/>
          </a:xfrm>
          <a:prstGeom prst="roundRect">
            <a:avLst>
              <a:gd name="adj" fmla="val 0"/>
            </a:avLst>
          </a:prstGeom>
          <a:solidFill>
            <a:srgbClr val="EF4444">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667500" y="41910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敏感脱敏字段：隐私安全屏障</a:t>
            </a:r>
            <a:endParaRPr lang="en-US" sz="1100"/>
          </a:p>
        </p:txBody>
      </p:sp>
      <p:sp>
        <p:nvSpPr>
          <p:cNvPr id="26" name="AutoShape 26"/>
          <p:cNvSpPr/>
          <p:nvPr/>
        </p:nvSpPr>
        <p:spPr>
          <a:xfrm>
            <a:off x="6667500" y="45720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请识别出订单表中至少3个高敏感字段（如用户ID、支付信息等）。针对每一字段说明其敏感属性，选择合适的脱敏处理方式（如加密、掩码、泛化），并阐述脱敏策略如何在支撑业务的同时，有效规避用户隐私泄露与数据滥用的合规风险。</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6281</Words>
  <Application>WPS 演示</Application>
  <PresentationFormat/>
  <Paragraphs>341</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15</vt:i4>
      </vt:variant>
    </vt:vector>
  </HeadingPairs>
  <TitlesOfParts>
    <vt:vector size="24"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没事找事</cp:lastModifiedBy>
  <cp:revision>1</cp:revision>
  <dcterms:created xsi:type="dcterms:W3CDTF">2026-06-01T02:07:51Z</dcterms:created>
  <dcterms:modified xsi:type="dcterms:W3CDTF">2026-06-01T02:07:51Z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{"Label":"1","ContentProducer":"001191110102MACQD9K64010000","ProduceID":"7645685870263848157","ReservedCode1":"","ContentPropagator":"","PropagateID":"","ReservedCode2":""}</vt:lpwstr>
  </property>
  <property fmtid="{D5CDD505-2E9C-101B-9397-08002B2CF9AE}" pid="3" name="ICV">
    <vt:lpwstr>35A6DB25230C4F2C8BFC4C26C3EFF41A_12</vt:lpwstr>
  </property>
  <property fmtid="{D5CDD505-2E9C-101B-9397-08002B2CF9AE}" pid="4" name="KSOProductBuildVer">
    <vt:lpwstr>2052-12.1.0.20784</vt:lpwstr>
  </property>
</Properties>
</file>