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Lst>
  <p:notesMasterIdLst>
    <p:notesMasterId r:id="rId5"/>
  </p:notesMasterIdLst>
  <p:sldIdLst>
    <p:sldId id="256" r:id="rId4"/>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457200"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914400"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371600"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1828800"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286000"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2743200"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200400"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3657600"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2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大家好，欢迎来到数据工程第六讲，也是本系列课程的最后一讲。在前面的课程中，我们学习了数据工程的各项核心技能。今天，我们将视野提升到一个更高的维度，探讨数据工程领域的一场深刻变革——平台工程。我们将学习如何将数据工程能力产品化，构建一个高效、协同的数据生态系统。</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本次课程将分为四个部分。我们将首先探讨从“造轮子”到“搭积木”的范式演进，然后深入解析一站式数据工程平台的四大支柱，接着分析平台化趋势下的数据生态角色，最后通过互动研讨，将理论应用于实践。</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学完本讲，你将能够理解平台工程的核心价值，描述一站式数据平台的关键功能，并了解不同角色的演进趋势。更重要的是，你将建立起“从造轮子到搭积木”的平台化思维，并理解数据工程师角色的未来发展方向。</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回顾我们的数据工程之路，你是否经历过这样的场景：环境配置的噩梦、重复造轮子、运维的黑洞、技术栈的孤岛。这就是“造轮子”模式的典型写照，每个项目都在孤立地解决相同的底层问题，导致了巨大的资源浪费。</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如何摆脱这种困境？答案是平台工程。它的核心逻辑，就是将通用的底层能力抽象为可复用的服务。这就像从“自己挖井取水”到“使用自来水厂”的转变，让数据从业者能够回归业务本身，而不是被基础设施工作所困扰。</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一个成熟的一站式数据工程平台，可以被解构为一个四层金字塔架构。从下到上依次是资源层、治理层、研发层和生态层。这四层层层支撑，共同构成了数据生产力的基座。</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第一层是资源层，它的核心功能是提供弹性、可扩展、低成本的算力与存储资源。通过Serverless计算实现极致弹性和按需付费，通过统一存储抽象实现多云存储和数据湖的统一访问。</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二层是治理层，它是平台的“大脑”，负责确保数据处理过程的可观测、可调度、可追溯。通过可视化DAG编排器，我们可以轻松构建数据流水线；通过全链路监控和数据血缘，我们可以快速定位故障、分析影响。</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第三层是研发层，它为数据开发者提供高效、协同、高质量的DataOps工作台。通过集成CI/CD，实现数据开发的敏捷与自动化；通过版本管理，为数据和代码提供“时光机”，确保可追溯和可复现。</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第四层是生态层，它的核心功能是促进数据资产的合规共享与价值流通。通过合规中心，确保数据安全；通过资产市场，打破数据孤岛，激发创新，实现数据价值变现。</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平台工程的出现，重塑了数据团队的角色分工。数据工程师成为平台的“建筑设计师”，数据分析师成为数据的“价值发现者”，而公民数据师则让业务人员可以自主进行数据分析，实现了“数据民主化”。</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平台化趋势正在深刻地改变着每个角色的工作方式。数据工程师从“搬砖工人”转变为“建筑设计师”，数据分析师获得了前所未有的自主权，而公民数据师的出现则让“人人都是数据分析师”成为可能。</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现在是课堂研讨时间。假设你是学校的CDO，要打造一个“校园数据中台”。请大家思考，当前校园管理的痛点是什么？为了实现“一键生成学业报告”，数据中台需要提供哪些核心服务？这个练习能帮助大家应用平台工程思维。</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第二个研讨题，让我们来一场辩论。有人说，未来的数据工程师会失业。你同意吗？如果不同意，你认为数据工程师的核心价值将转向哪里？这个讨论能帮助大家深入思考技术趋势对职业的影响。</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课程到这里就接近尾声了。我们回顾一下，今天我们完成了从“战术执行”到“战略架构”的思维跃迁。平台工程的本质是复用与提效，它通过现代技术手段实现了数据能力的民主化。掌握平台思维，能让我们在未来的数据生态中找到自己的核心价值。</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课后请大家完成两道作业题。一道概念应用题，帮助大家巩固对平台架构的理解。一道角色扮演题，锻炼大家的沟通和商业思维能力。这两道题能很好地检验大家对今天所学知识的掌握程度。</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2.xml"/><Relationship Id="rId1"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gradFill rotWithShape="1">
            <a:gsLst>
              <a:gs pos="0">
                <a:srgbClr val="000000">
                  <a:alpha val="40000"/>
                </a:srgbClr>
              </a:gs>
              <a:gs pos="100000">
                <a:srgbClr val="000000">
                  <a:alpha val="75000"/>
                </a:srgbClr>
              </a:gs>
            </a:gsLst>
            <a:lin ang="5400000"/>
          </a:gra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0" y="2540000"/>
            <a:ext cx="12192000" cy="1016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数据工程第六讲：平台工程与生态</a:t>
            </a:r>
            <a:endParaRPr lang="en-US" sz="1100"/>
          </a:p>
        </p:txBody>
      </p:sp>
      <p:sp>
        <p:nvSpPr>
          <p:cNvPr id="4" name="AutoShape 4"/>
          <p:cNvSpPr/>
          <p:nvPr/>
        </p:nvSpPr>
        <p:spPr>
          <a:xfrm>
            <a:off x="0" y="3810000"/>
            <a:ext cx="12192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400" b="0" i="0" u="none" strike="noStrike">
                <a:solidFill>
                  <a:srgbClr val="FFFFFF">
                    <a:alpha val="94902"/>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数据工程能力的产品化</a:t>
            </a: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635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课程大纲</a:t>
            </a:r>
            <a:endParaRPr lang="en-US" sz="1100"/>
          </a:p>
        </p:txBody>
      </p:sp>
      <p:sp>
        <p:nvSpPr>
          <p:cNvPr id="4" name="AutoShape 4"/>
          <p:cNvSpPr/>
          <p:nvPr/>
        </p:nvSpPr>
        <p:spPr>
          <a:xfrm>
            <a:off x="762000" y="1651000"/>
            <a:ext cx="5270500" cy="2349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1651000"/>
            <a:ext cx="5270500" cy="508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952500" y="1841500"/>
            <a:ext cx="48895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范式演进：从“造轮子”到“搭积木”</a:t>
            </a:r>
            <a:endParaRPr lang="en-US" sz="1100"/>
          </a:p>
        </p:txBody>
      </p:sp>
      <p:sp>
        <p:nvSpPr>
          <p:cNvPr id="7" name="AutoShape 7"/>
          <p:cNvSpPr/>
          <p:nvPr/>
        </p:nvSpPr>
        <p:spPr>
          <a:xfrm>
            <a:off x="952500" y="2413000"/>
            <a:ext cx="48895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回顾传统数据项目中重复造轮子带来的效率瓶颈与协作困境，深刻理解平台工程“以复用提效能”的核心逻辑。通过对比传统开发与平台化开发的差异，清晰认知平台工程如何通过标准化组件与自动化流程，为现代数据业务提供持续的价值支撑。</a:t>
            </a:r>
            <a:endParaRPr lang="en-US" sz="1100"/>
          </a:p>
        </p:txBody>
      </p:sp>
      <p:sp>
        <p:nvSpPr>
          <p:cNvPr id="8" name="AutoShape 8"/>
          <p:cNvSpPr/>
          <p:nvPr/>
        </p:nvSpPr>
        <p:spPr>
          <a:xfrm>
            <a:off x="6223000" y="1651000"/>
            <a:ext cx="5270500" cy="2349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6223000" y="1651000"/>
            <a:ext cx="5270500" cy="508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6413500" y="1841500"/>
            <a:ext cx="48895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核心架构：一站式平台的四大支柱</a:t>
            </a:r>
            <a:endParaRPr lang="en-US" sz="1100"/>
          </a:p>
        </p:txBody>
      </p:sp>
      <p:sp>
        <p:nvSpPr>
          <p:cNvPr id="11" name="AutoShape 11"/>
          <p:cNvSpPr/>
          <p:nvPr/>
        </p:nvSpPr>
        <p:spPr>
          <a:xfrm>
            <a:off x="6413500" y="2413000"/>
            <a:ext cx="48895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深入解析现代数据工程平台的四大关键支柱：资源层、治理层、研发层与生态层。详细阐述各层级的核心功能定位与协同机制，掌握平台设计中“稳定性、灵活性、可扩展性”的核心理念，为构建高效、可靠且易于维护的数据基础设施打下坚实的理论基础。</a:t>
            </a:r>
            <a:endParaRPr lang="en-US" sz="1100"/>
          </a:p>
        </p:txBody>
      </p:sp>
      <p:sp>
        <p:nvSpPr>
          <p:cNvPr id="12" name="AutoShape 12"/>
          <p:cNvSpPr/>
          <p:nvPr/>
        </p:nvSpPr>
        <p:spPr>
          <a:xfrm>
            <a:off x="762000" y="4191000"/>
            <a:ext cx="5270500" cy="2349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762000" y="4191000"/>
            <a:ext cx="5270500" cy="508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952500" y="4381500"/>
            <a:ext cx="48895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生态角色：数据生态的职业图谱</a:t>
            </a:r>
            <a:endParaRPr lang="en-US" sz="1100"/>
          </a:p>
        </p:txBody>
      </p:sp>
      <p:sp>
        <p:nvSpPr>
          <p:cNvPr id="15" name="AutoShape 15"/>
          <p:cNvSpPr/>
          <p:nvPr/>
        </p:nvSpPr>
        <p:spPr>
          <a:xfrm>
            <a:off x="952500" y="4953000"/>
            <a:ext cx="48895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剖析数据工程师、业务分析师以及新兴的公民数据师在平台化时代的角色定位与核心技能要求。通过分析不同角色的工作重心转变，洞察平台化趋势下数据人才的能力模型升级路径，帮助学员明确自身在未来数据生态系统中的成长方向与价值坐标。</a:t>
            </a:r>
            <a:endParaRPr lang="en-US" sz="1100"/>
          </a:p>
        </p:txBody>
      </p:sp>
      <p:sp>
        <p:nvSpPr>
          <p:cNvPr id="16" name="AutoShape 16"/>
          <p:cNvSpPr/>
          <p:nvPr/>
        </p:nvSpPr>
        <p:spPr>
          <a:xfrm>
            <a:off x="6223000" y="4191000"/>
            <a:ext cx="5270500" cy="2349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6223000" y="4191000"/>
            <a:ext cx="5270500" cy="508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6413500" y="4381500"/>
            <a:ext cx="48895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互动研讨：应用与思辨</a:t>
            </a:r>
            <a:endParaRPr lang="en-US" sz="1100"/>
          </a:p>
        </p:txBody>
      </p:sp>
      <p:sp>
        <p:nvSpPr>
          <p:cNvPr id="19" name="AutoShape 19"/>
          <p:cNvSpPr/>
          <p:nvPr/>
        </p:nvSpPr>
        <p:spPr>
          <a:xfrm>
            <a:off x="6413500" y="4953000"/>
            <a:ext cx="48895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校园数据中台”的实战案例设计，将理论知识转化为具体的解决方案思路。同时开展深度趋势辩论：探讨在自动化与AI技术飞速发展的背景下，数据工程师的未来职能边界与不可替代性。在思维碰撞中深化对技术价值与职业发展的认知。</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635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学习目标</a:t>
            </a:r>
            <a:endParaRPr lang="en-US" sz="1100"/>
          </a:p>
        </p:txBody>
      </p:sp>
      <p:sp>
        <p:nvSpPr>
          <p:cNvPr id="4" name="AutoShape 4"/>
          <p:cNvSpPr/>
          <p:nvPr/>
        </p:nvSpPr>
        <p:spPr>
          <a:xfrm>
            <a:off x="762000" y="1651000"/>
            <a:ext cx="3492500" cy="4445000"/>
          </a:xfrm>
          <a:prstGeom prst="roundRect">
            <a:avLst>
              <a:gd name="adj" fmla="val 0"/>
            </a:avLst>
          </a:prstGeom>
          <a:solidFill>
            <a:srgbClr val="FFFFFF">
              <a:alpha val="94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762000" y="1651000"/>
            <a:ext cx="3492500" cy="508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952500" y="1905000"/>
            <a:ext cx="31115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知识目标</a:t>
            </a:r>
            <a:endParaRPr lang="en-US" sz="1100"/>
          </a:p>
        </p:txBody>
      </p:sp>
      <p:cxnSp>
        <p:nvCxnSpPr>
          <p:cNvPr id="7" name="Connector 7"/>
          <p:cNvCxnSpPr/>
          <p:nvPr/>
        </p:nvCxnSpPr>
        <p:spPr>
          <a:xfrm rot="-14031">
            <a:off x="952513" y="2597150"/>
            <a:ext cx="3111500" cy="12700"/>
          </a:xfrm>
          <a:prstGeom prst="straightConnector1">
            <a:avLst/>
          </a:prstGeom>
          <a:solidFill>
            <a:srgbClr val="DEE0E3">
              <a:alpha val="100000"/>
            </a:srgbClr>
          </a:solidFill>
          <a:ln w="12700" cap="flat" cmpd="sng">
            <a:solidFill>
              <a:srgbClr val="F3F4F6">
                <a:alpha val="100000"/>
              </a:srgbClr>
            </a:solidFill>
            <a:prstDash val="solid"/>
            <a:round/>
            <a:headEnd type="none" w="med" len="med"/>
            <a:tailEnd type="none" w="med" len="med"/>
          </a:ln>
        </p:spPr>
      </p:cxnSp>
      <p:sp>
        <p:nvSpPr>
          <p:cNvPr id="8" name="AutoShape 8"/>
          <p:cNvSpPr/>
          <p:nvPr/>
        </p:nvSpPr>
        <p:spPr>
          <a:xfrm>
            <a:off x="952500" y="2794000"/>
            <a:ext cx="3111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理解平台工程的核心价值</a:t>
            </a:r>
            <a:endParaRPr lang="en-US" sz="1100"/>
          </a:p>
        </p:txBody>
      </p:sp>
      <p:sp>
        <p:nvSpPr>
          <p:cNvPr id="9" name="AutoShape 9"/>
          <p:cNvSpPr/>
          <p:nvPr/>
        </p:nvSpPr>
        <p:spPr>
          <a:xfrm>
            <a:off x="952500" y="3238500"/>
            <a:ext cx="31115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清晰阐述平台工程如何解决传统数据开发中资源割裂、效率低下等核心痛点，理解其产生的行业背景与必要性。</a:t>
            </a:r>
            <a:endParaRPr lang="en-US" sz="1100"/>
          </a:p>
        </p:txBody>
      </p:sp>
      <p:sp>
        <p:nvSpPr>
          <p:cNvPr id="10" name="AutoShape 10"/>
          <p:cNvSpPr/>
          <p:nvPr/>
        </p:nvSpPr>
        <p:spPr>
          <a:xfrm>
            <a:off x="952500" y="4064000"/>
            <a:ext cx="3111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掌握一站式平台核心功能模块</a:t>
            </a:r>
            <a:endParaRPr lang="en-US" sz="1100"/>
          </a:p>
        </p:txBody>
      </p:sp>
      <p:sp>
        <p:nvSpPr>
          <p:cNvPr id="11" name="AutoShape 11"/>
          <p:cNvSpPr/>
          <p:nvPr/>
        </p:nvSpPr>
        <p:spPr>
          <a:xfrm>
            <a:off x="952500" y="4508500"/>
            <a:ext cx="31115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准确描述平台四大支柱（资源、治理、研发、生态）的核心功能，明确各模块在数据全生命周期中的定位与作用。</a:t>
            </a:r>
            <a:endParaRPr lang="en-US" sz="1100"/>
          </a:p>
        </p:txBody>
      </p:sp>
      <p:sp>
        <p:nvSpPr>
          <p:cNvPr id="12" name="AutoShape 12"/>
          <p:cNvSpPr/>
          <p:nvPr/>
        </p:nvSpPr>
        <p:spPr>
          <a:xfrm>
            <a:off x="4508500" y="1651000"/>
            <a:ext cx="3492500" cy="4445000"/>
          </a:xfrm>
          <a:prstGeom prst="roundRect">
            <a:avLst>
              <a:gd name="adj" fmla="val 0"/>
            </a:avLst>
          </a:prstGeom>
          <a:solidFill>
            <a:srgbClr val="FFFFFF">
              <a:alpha val="94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13" name="AutoShape 13"/>
          <p:cNvSpPr/>
          <p:nvPr/>
        </p:nvSpPr>
        <p:spPr>
          <a:xfrm>
            <a:off x="4508500" y="1651000"/>
            <a:ext cx="3492500" cy="508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4699000" y="1905000"/>
            <a:ext cx="31115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能力目标</a:t>
            </a:r>
            <a:endParaRPr lang="en-US" sz="1100"/>
          </a:p>
        </p:txBody>
      </p:sp>
      <p:cxnSp>
        <p:nvCxnSpPr>
          <p:cNvPr id="15" name="Connector 15"/>
          <p:cNvCxnSpPr/>
          <p:nvPr/>
        </p:nvCxnSpPr>
        <p:spPr>
          <a:xfrm rot="-14031">
            <a:off x="4699013" y="2597150"/>
            <a:ext cx="3111500" cy="12700"/>
          </a:xfrm>
          <a:prstGeom prst="straightConnector1">
            <a:avLst/>
          </a:prstGeom>
          <a:solidFill>
            <a:srgbClr val="DEE0E3">
              <a:alpha val="100000"/>
            </a:srgbClr>
          </a:solidFill>
          <a:ln w="12700" cap="flat" cmpd="sng">
            <a:solidFill>
              <a:srgbClr val="F3F4F6">
                <a:alpha val="100000"/>
              </a:srgbClr>
            </a:solidFill>
            <a:prstDash val="solid"/>
            <a:round/>
            <a:headEnd type="none" w="med" len="med"/>
            <a:tailEnd type="none" w="med" len="med"/>
          </a:ln>
        </p:spPr>
      </p:cxnSp>
      <p:sp>
        <p:nvSpPr>
          <p:cNvPr id="16" name="AutoShape 16"/>
          <p:cNvSpPr/>
          <p:nvPr/>
        </p:nvSpPr>
        <p:spPr>
          <a:xfrm>
            <a:off x="4699000" y="2794000"/>
            <a:ext cx="3111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分析价值与精准匹配场景</a:t>
            </a:r>
            <a:endParaRPr lang="en-US" sz="1100"/>
          </a:p>
        </p:txBody>
      </p:sp>
      <p:sp>
        <p:nvSpPr>
          <p:cNvPr id="17" name="AutoShape 17"/>
          <p:cNvSpPr/>
          <p:nvPr/>
        </p:nvSpPr>
        <p:spPr>
          <a:xfrm>
            <a:off x="4699000" y="3238500"/>
            <a:ext cx="31115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面对实际数据项目需求，能够客观评估业务痛点，判断引入平台工程是否能带来显著的提效与成本优化效益。</a:t>
            </a:r>
            <a:endParaRPr lang="en-US" sz="1100"/>
          </a:p>
        </p:txBody>
      </p:sp>
      <p:sp>
        <p:nvSpPr>
          <p:cNvPr id="18" name="AutoShape 18"/>
          <p:cNvSpPr/>
          <p:nvPr/>
        </p:nvSpPr>
        <p:spPr>
          <a:xfrm>
            <a:off x="4699000" y="4064000"/>
            <a:ext cx="3111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规划个人职业进阶路径</a:t>
            </a:r>
            <a:endParaRPr lang="en-US" sz="1100"/>
          </a:p>
        </p:txBody>
      </p:sp>
      <p:sp>
        <p:nvSpPr>
          <p:cNvPr id="19" name="AutoShape 19"/>
          <p:cNvSpPr/>
          <p:nvPr/>
        </p:nvSpPr>
        <p:spPr>
          <a:xfrm>
            <a:off x="4699000" y="4508500"/>
            <a:ext cx="31115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结合自身技术栈、兴趣方向与行业发展趋势，制定切实可行的数据工程师成长路线，明确不同阶段的能力要求。</a:t>
            </a:r>
            <a:endParaRPr lang="en-US" sz="1100"/>
          </a:p>
        </p:txBody>
      </p:sp>
      <p:sp>
        <p:nvSpPr>
          <p:cNvPr id="20" name="AutoShape 20"/>
          <p:cNvSpPr/>
          <p:nvPr/>
        </p:nvSpPr>
        <p:spPr>
          <a:xfrm>
            <a:off x="8255000" y="1651000"/>
            <a:ext cx="3492500" cy="4445000"/>
          </a:xfrm>
          <a:prstGeom prst="roundRect">
            <a:avLst>
              <a:gd name="adj" fmla="val 0"/>
            </a:avLst>
          </a:prstGeom>
          <a:solidFill>
            <a:srgbClr val="FFFFFF">
              <a:alpha val="94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21" name="AutoShape 21"/>
          <p:cNvSpPr/>
          <p:nvPr/>
        </p:nvSpPr>
        <p:spPr>
          <a:xfrm>
            <a:off x="8255000" y="1651000"/>
            <a:ext cx="3492500" cy="508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nvSpPr>
        <p:spPr>
          <a:xfrm>
            <a:off x="8445500" y="1905000"/>
            <a:ext cx="31115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素养目标</a:t>
            </a:r>
            <a:endParaRPr lang="en-US" sz="1100"/>
          </a:p>
        </p:txBody>
      </p:sp>
      <p:cxnSp>
        <p:nvCxnSpPr>
          <p:cNvPr id="23" name="Connector 23"/>
          <p:cNvCxnSpPr/>
          <p:nvPr/>
        </p:nvCxnSpPr>
        <p:spPr>
          <a:xfrm rot="-14031">
            <a:off x="8445513" y="2597150"/>
            <a:ext cx="3111500" cy="12700"/>
          </a:xfrm>
          <a:prstGeom prst="straightConnector1">
            <a:avLst/>
          </a:prstGeom>
          <a:solidFill>
            <a:srgbClr val="DEE0E3">
              <a:alpha val="100000"/>
            </a:srgbClr>
          </a:solidFill>
          <a:ln w="12700" cap="flat" cmpd="sng">
            <a:solidFill>
              <a:srgbClr val="F3F4F6">
                <a:alpha val="100000"/>
              </a:srgbClr>
            </a:solidFill>
            <a:prstDash val="solid"/>
            <a:round/>
            <a:headEnd type="none" w="med" len="med"/>
            <a:tailEnd type="none" w="med" len="med"/>
          </a:ln>
        </p:spPr>
      </p:cxnSp>
      <p:sp>
        <p:nvSpPr>
          <p:cNvPr id="24" name="AutoShape 24"/>
          <p:cNvSpPr/>
          <p:nvPr/>
        </p:nvSpPr>
        <p:spPr>
          <a:xfrm>
            <a:off x="8445500" y="2794000"/>
            <a:ext cx="3111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建立平台化思维模式</a:t>
            </a:r>
            <a:endParaRPr lang="en-US" sz="1100"/>
          </a:p>
        </p:txBody>
      </p:sp>
      <p:sp>
        <p:nvSpPr>
          <p:cNvPr id="25" name="AutoShape 25"/>
          <p:cNvSpPr/>
          <p:nvPr/>
        </p:nvSpPr>
        <p:spPr>
          <a:xfrm>
            <a:off x="8445500" y="3238500"/>
            <a:ext cx="31115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摒弃重复造轮子的传统思路，建立“搭积木”的复用思维。在解决业务问题时，优先考量现有服务与平台能力的组合应用。</a:t>
            </a:r>
            <a:endParaRPr lang="en-US" sz="1100"/>
          </a:p>
        </p:txBody>
      </p:sp>
      <p:sp>
        <p:nvSpPr>
          <p:cNvPr id="26" name="AutoShape 26"/>
          <p:cNvSpPr/>
          <p:nvPr/>
        </p:nvSpPr>
        <p:spPr>
          <a:xfrm>
            <a:off x="8445500" y="4064000"/>
            <a:ext cx="3111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洞察角色演进新趋势</a:t>
            </a:r>
            <a:endParaRPr lang="en-US" sz="1100"/>
          </a:p>
        </p:txBody>
      </p:sp>
      <p:sp>
        <p:nvSpPr>
          <p:cNvPr id="27" name="AutoShape 27"/>
          <p:cNvSpPr/>
          <p:nvPr/>
        </p:nvSpPr>
        <p:spPr>
          <a:xfrm>
            <a:off x="8445500" y="4508500"/>
            <a:ext cx="31115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深刻理解数据工程师正从单一的技术实现者，向具备战略视野的平台架构师与生态构建者转变，主动适应行业新要求。</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795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范式演进：从“造轮子”到“搭积木”</a:t>
            </a:r>
            <a:endParaRPr lang="en-US" sz="1100"/>
          </a:p>
        </p:txBody>
      </p:sp>
      <p:sp>
        <p:nvSpPr>
          <p:cNvPr id="4" name="AutoShape 4"/>
          <p:cNvSpPr/>
          <p:nvPr/>
        </p:nvSpPr>
        <p:spPr>
          <a:xfrm>
            <a:off x="762000" y="1651000"/>
            <a:ext cx="2603500" cy="2095500"/>
          </a:xfrm>
          <a:prstGeom prst="roundRect">
            <a:avLst>
              <a:gd name="adj" fmla="val 0"/>
            </a:avLst>
          </a:prstGeom>
          <a:solidFill>
            <a:srgbClr val="FFFFFF">
              <a:alpha val="92000"/>
            </a:srgbClr>
          </a:solidFill>
          <a:ln w="12700" cap="flat" cmpd="sng">
            <a:solidFill>
              <a:srgbClr val="F97316">
                <a:alpha val="4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762000" y="1651000"/>
            <a:ext cx="2603500" cy="381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889000" y="1841500"/>
            <a:ext cx="2349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环境配置的噩梦</a:t>
            </a:r>
            <a:endParaRPr lang="en-US" sz="1100"/>
          </a:p>
        </p:txBody>
      </p:sp>
      <p:sp>
        <p:nvSpPr>
          <p:cNvPr id="7" name="AutoShape 7"/>
          <p:cNvSpPr/>
          <p:nvPr/>
        </p:nvSpPr>
        <p:spPr>
          <a:xfrm>
            <a:off x="889000" y="2413000"/>
            <a:ext cx="23495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新项目启动的第一步永远是漫长的环境搭建。版本冲突、依赖缺失，让开发精力在写代码前就已大量消耗，严重拖慢项目进度。</a:t>
            </a:r>
            <a:endParaRPr lang="en-US" sz="1100"/>
          </a:p>
        </p:txBody>
      </p:sp>
      <p:sp>
        <p:nvSpPr>
          <p:cNvPr id="8" name="AutoShape 8"/>
          <p:cNvSpPr/>
          <p:nvPr/>
        </p:nvSpPr>
        <p:spPr>
          <a:xfrm>
            <a:off x="3530600" y="1651000"/>
            <a:ext cx="2603500" cy="2095500"/>
          </a:xfrm>
          <a:prstGeom prst="roundRect">
            <a:avLst>
              <a:gd name="adj" fmla="val 0"/>
            </a:avLst>
          </a:prstGeom>
          <a:solidFill>
            <a:srgbClr val="FFFFFF">
              <a:alpha val="92000"/>
            </a:srgbClr>
          </a:solidFill>
          <a:ln w="12700" cap="flat" cmpd="sng">
            <a:solidFill>
              <a:srgbClr val="F97316">
                <a:alpha val="40000"/>
              </a:srgbClr>
            </a:solidFill>
            <a:prstDash val="solid"/>
            <a:round/>
          </a:ln>
        </p:spPr>
        <p:txBody>
          <a:bodyPr vert="horz" wrap="square" lIns="63500" tIns="63500" rIns="63500" bIns="63500" rtlCol="0" anchor="ctr"/>
          <a:lstStyle/>
          <a:p>
            <a:pPr algn="ctr">
              <a:defRPr/>
            </a:pPr>
          </a:p>
        </p:txBody>
      </p:sp>
      <p:sp>
        <p:nvSpPr>
          <p:cNvPr id="9" name="AutoShape 9"/>
          <p:cNvSpPr/>
          <p:nvPr/>
        </p:nvSpPr>
        <p:spPr>
          <a:xfrm>
            <a:off x="3530600" y="1651000"/>
            <a:ext cx="2603500" cy="381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3657600" y="1841500"/>
            <a:ext cx="2349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重复造轮子</a:t>
            </a:r>
            <a:endParaRPr lang="en-US" sz="1100"/>
          </a:p>
        </p:txBody>
      </p:sp>
      <p:sp>
        <p:nvSpPr>
          <p:cNvPr id="11" name="AutoShape 11"/>
          <p:cNvSpPr/>
          <p:nvPr/>
        </p:nvSpPr>
        <p:spPr>
          <a:xfrm>
            <a:off x="3657600" y="2413000"/>
            <a:ext cx="23495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大量通用的基础功能在不同项目中被反复编码实现。缺乏沉淀与复用机制，每个人都在从零开始，造成了巨大的人力资源和时间成本浪费。</a:t>
            </a:r>
            <a:endParaRPr lang="en-US" sz="1100"/>
          </a:p>
        </p:txBody>
      </p:sp>
      <p:sp>
        <p:nvSpPr>
          <p:cNvPr id="12" name="AutoShape 12"/>
          <p:cNvSpPr/>
          <p:nvPr/>
        </p:nvSpPr>
        <p:spPr>
          <a:xfrm>
            <a:off x="6299200" y="1651000"/>
            <a:ext cx="2603500" cy="2095500"/>
          </a:xfrm>
          <a:prstGeom prst="roundRect">
            <a:avLst>
              <a:gd name="adj" fmla="val 0"/>
            </a:avLst>
          </a:prstGeom>
          <a:solidFill>
            <a:srgbClr val="FFFFFF">
              <a:alpha val="92000"/>
            </a:srgbClr>
          </a:solidFill>
          <a:ln w="12700" cap="flat" cmpd="sng">
            <a:solidFill>
              <a:srgbClr val="F97316">
                <a:alpha val="40000"/>
              </a:srgbClr>
            </a:solidFill>
            <a:prstDash val="solid"/>
            <a:round/>
          </a:ln>
        </p:spPr>
        <p:txBody>
          <a:bodyPr vert="horz" wrap="square" lIns="63500" tIns="63500" rIns="63500" bIns="63500" rtlCol="0" anchor="ctr"/>
          <a:lstStyle/>
          <a:p>
            <a:pPr algn="ctr">
              <a:defRPr/>
            </a:pPr>
          </a:p>
        </p:txBody>
      </p:sp>
      <p:sp>
        <p:nvSpPr>
          <p:cNvPr id="13" name="AutoShape 13"/>
          <p:cNvSpPr/>
          <p:nvPr/>
        </p:nvSpPr>
        <p:spPr>
          <a:xfrm>
            <a:off x="6299200" y="1651000"/>
            <a:ext cx="2603500" cy="381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6426200" y="1841500"/>
            <a:ext cx="2349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运维的黑洞</a:t>
            </a:r>
            <a:endParaRPr lang="en-US" sz="1100"/>
          </a:p>
        </p:txBody>
      </p:sp>
      <p:sp>
        <p:nvSpPr>
          <p:cNvPr id="15" name="AutoShape 15"/>
          <p:cNvSpPr/>
          <p:nvPr/>
        </p:nvSpPr>
        <p:spPr>
          <a:xfrm>
            <a:off x="6426200" y="2413000"/>
            <a:ext cx="23495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数据任务上线后，运行状态如入黑洞。失败无告警、进度难追踪，团队不得不投入额外精力搭建监控系统，问题排查效率极低。</a:t>
            </a:r>
            <a:endParaRPr lang="en-US" sz="1100"/>
          </a:p>
        </p:txBody>
      </p:sp>
      <p:sp>
        <p:nvSpPr>
          <p:cNvPr id="16" name="AutoShape 16"/>
          <p:cNvSpPr/>
          <p:nvPr/>
        </p:nvSpPr>
        <p:spPr>
          <a:xfrm>
            <a:off x="9067800" y="1651000"/>
            <a:ext cx="2603500" cy="2095500"/>
          </a:xfrm>
          <a:prstGeom prst="roundRect">
            <a:avLst>
              <a:gd name="adj" fmla="val 0"/>
            </a:avLst>
          </a:prstGeom>
          <a:solidFill>
            <a:srgbClr val="FFFFFF">
              <a:alpha val="92000"/>
            </a:srgbClr>
          </a:solidFill>
          <a:ln w="12700" cap="flat" cmpd="sng">
            <a:solidFill>
              <a:srgbClr val="F97316">
                <a:alpha val="40000"/>
              </a:srgbClr>
            </a:solidFill>
            <a:prstDash val="solid"/>
            <a:round/>
          </a:ln>
        </p:spPr>
        <p:txBody>
          <a:bodyPr vert="horz" wrap="square" lIns="63500" tIns="63500" rIns="63500" bIns="63500" rtlCol="0" anchor="ctr"/>
          <a:lstStyle/>
          <a:p>
            <a:pPr algn="ctr">
              <a:defRPr/>
            </a:pPr>
          </a:p>
        </p:txBody>
      </p:sp>
      <p:sp>
        <p:nvSpPr>
          <p:cNvPr id="17" name="AutoShape 17"/>
          <p:cNvSpPr/>
          <p:nvPr/>
        </p:nvSpPr>
        <p:spPr>
          <a:xfrm>
            <a:off x="9067800" y="1651000"/>
            <a:ext cx="2603500" cy="381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9194800" y="1841500"/>
            <a:ext cx="2349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技术栈的孤岛</a:t>
            </a:r>
            <a:endParaRPr lang="en-US" sz="1100"/>
          </a:p>
        </p:txBody>
      </p:sp>
      <p:sp>
        <p:nvSpPr>
          <p:cNvPr id="19" name="AutoShape 19"/>
          <p:cNvSpPr/>
          <p:nvPr/>
        </p:nvSpPr>
        <p:spPr>
          <a:xfrm>
            <a:off x="9194800" y="2413000"/>
            <a:ext cx="23495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成员间工具与框架选择各异，形成难以互通的技术孤岛。代码风格混乱、协作门槛高，跨项目的知识流动与经验共享成为了一种奢望。</a:t>
            </a:r>
            <a:endParaRPr lang="en-US" sz="1100"/>
          </a:p>
        </p:txBody>
      </p:sp>
      <p:sp>
        <p:nvSpPr>
          <p:cNvPr id="20" name="AutoShape 20"/>
          <p:cNvSpPr/>
          <p:nvPr/>
        </p:nvSpPr>
        <p:spPr>
          <a:xfrm>
            <a:off x="762000" y="4191000"/>
            <a:ext cx="10909300" cy="1968500"/>
          </a:xfrm>
          <a:prstGeom prst="roundRect">
            <a:avLst>
              <a:gd name="adj" fmla="val 0"/>
            </a:avLst>
          </a:prstGeom>
          <a:solidFill>
            <a:srgbClr val="1F2937">
              <a:alpha val="85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762000" y="4191000"/>
            <a:ext cx="76200" cy="19685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nvSpPr>
        <p:spPr>
          <a:xfrm>
            <a:off x="1079500" y="4381500"/>
            <a:ext cx="10160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这正是“造轮子”模式的典型写照</a:t>
            </a:r>
            <a:endParaRPr lang="en-US" sz="1100"/>
          </a:p>
        </p:txBody>
      </p:sp>
      <p:sp>
        <p:nvSpPr>
          <p:cNvPr id="23" name="AutoShape 23"/>
          <p:cNvSpPr/>
          <p:nvPr/>
        </p:nvSpPr>
        <p:spPr>
          <a:xfrm>
            <a:off x="1079500" y="5080000"/>
            <a:ext cx="10414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每个团队、每个项目都在孤立地解决相同的底层问题，从环境到运维，从工具到代码，大量的精力被消耗在无差别的重复劳动中。这种模式不仅带来了巨大的资源浪费，更形成了严重的效率瓶颈，限制了业务的快速响应与技术的持续迭代。</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143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平台工程的核心逻辑：从“挖井”到“自来水”</a:t>
            </a:r>
            <a:endParaRPr lang="en-US" sz="1100"/>
          </a:p>
        </p:txBody>
      </p:sp>
      <p:sp>
        <p:nvSpPr>
          <p:cNvPr id="4" name="AutoShape 4"/>
          <p:cNvSpPr/>
          <p:nvPr/>
        </p:nvSpPr>
        <p:spPr>
          <a:xfrm>
            <a:off x="762000" y="1524000"/>
            <a:ext cx="10668000" cy="1143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1524000"/>
            <a:ext cx="50800" cy="11430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016000" y="1600200"/>
            <a:ext cx="10160000" cy="990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平台工程的核心逻辑，是将通用的、底层的、重复性的技术能力进行抽象、封装与标准化，转化为可复用的基础设施服务。这一转变让技术不再是业务推进的阻碍，而是像水电一样，成为一种稳定可靠、随取随用的基础资源，支撑业务的快速迭代。</a:t>
            </a:r>
            <a:endParaRPr lang="en-US" sz="1100"/>
          </a:p>
        </p:txBody>
      </p:sp>
      <p:sp>
        <p:nvSpPr>
          <p:cNvPr id="7" name="AutoShape 7"/>
          <p:cNvSpPr/>
          <p:nvPr/>
        </p:nvSpPr>
        <p:spPr>
          <a:xfrm>
            <a:off x="762000" y="2921000"/>
            <a:ext cx="5270500" cy="1968500"/>
          </a:xfrm>
          <a:prstGeom prst="roundRect">
            <a:avLst>
              <a:gd name="adj" fmla="val 0"/>
            </a:avLst>
          </a:prstGeom>
          <a:solidFill>
            <a:srgbClr val="F9FAFB">
              <a:alpha val="95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762000" y="2921000"/>
            <a:ext cx="5270500" cy="50800"/>
          </a:xfrm>
          <a:prstGeom prst="roundRect">
            <a:avLst>
              <a:gd name="adj" fmla="val 0"/>
            </a:avLst>
          </a:prstGeom>
          <a:solidFill>
            <a:srgbClr val="F97316">
              <a:alpha val="7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952500" y="3073400"/>
            <a:ext cx="48895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挖井模式 · 传统自给自足</a:t>
            </a:r>
            <a:endParaRPr lang="en-US" sz="1100"/>
          </a:p>
        </p:txBody>
      </p:sp>
      <p:sp>
        <p:nvSpPr>
          <p:cNvPr id="10" name="AutoShape 10"/>
          <p:cNvSpPr/>
          <p:nvPr/>
        </p:nvSpPr>
        <p:spPr>
          <a:xfrm>
            <a:off x="952500" y="3556000"/>
            <a:ext cx="48895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如同过去每家每户自行选址、挖掘和维护水井，业务方需要重复建设技术能力。这不仅带来高昂的人力与时间成本，还导致系统质量参差不齐。数据从业者被迫将大量精力消耗在基础设施的“从零搭建”上，而非业务创新。</a:t>
            </a:r>
            <a:endParaRPr lang="en-US" sz="1100"/>
          </a:p>
        </p:txBody>
      </p:sp>
      <p:sp>
        <p:nvSpPr>
          <p:cNvPr id="11" name="AutoShape 11"/>
          <p:cNvSpPr/>
          <p:nvPr/>
        </p:nvSpPr>
        <p:spPr>
          <a:xfrm>
            <a:off x="6223000" y="2921000"/>
            <a:ext cx="5270500" cy="1968500"/>
          </a:xfrm>
          <a:prstGeom prst="roundRect">
            <a:avLst>
              <a:gd name="adj" fmla="val 0"/>
            </a:avLst>
          </a:prstGeom>
          <a:solidFill>
            <a:srgbClr val="F9FAFB">
              <a:alpha val="95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6223000" y="2921000"/>
            <a:ext cx="5270500" cy="508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6413500" y="3073400"/>
            <a:ext cx="48895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自来水模式 · 平台化服务</a:t>
            </a:r>
            <a:endParaRPr lang="en-US" sz="1100"/>
          </a:p>
        </p:txBody>
      </p:sp>
      <p:sp>
        <p:nvSpPr>
          <p:cNvPr id="14" name="AutoShape 14"/>
          <p:cNvSpPr/>
          <p:nvPr/>
        </p:nvSpPr>
        <p:spPr>
          <a:xfrm>
            <a:off x="6413500" y="3556000"/>
            <a:ext cx="48895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建立中心化的“技术水厂”，通过标准化的能力管网为所有业务提供统一服务。用户无需关心底层实现细节，只需“拧开水龙头”即可获取稳定、高质量的技术支持。这实现了资源的规模化复用，大幅降低试错成本，加速业务响应速度。</a:t>
            </a:r>
            <a:endParaRPr lang="en-US" sz="1100"/>
          </a:p>
        </p:txBody>
      </p:sp>
      <p:sp>
        <p:nvSpPr>
          <p:cNvPr id="15" name="AutoShape 15"/>
          <p:cNvSpPr/>
          <p:nvPr/>
        </p:nvSpPr>
        <p:spPr>
          <a:xfrm>
            <a:off x="762000" y="5143500"/>
            <a:ext cx="10731500" cy="1206500"/>
          </a:xfrm>
          <a:prstGeom prst="roundRect">
            <a:avLst>
              <a:gd name="adj" fmla="val 0"/>
            </a:avLst>
          </a:prstGeom>
          <a:solidFill>
            <a:srgbClr val="F97316">
              <a:alpha val="92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1016000" y="5270500"/>
            <a:ext cx="1905000" cy="952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核心愿景</a:t>
            </a:r>
            <a:endParaRPr lang="en-US" sz="1100"/>
          </a:p>
        </p:txBody>
      </p:sp>
      <p:sp>
        <p:nvSpPr>
          <p:cNvPr id="17" name="AutoShape 17"/>
          <p:cNvSpPr/>
          <p:nvPr/>
        </p:nvSpPr>
        <p:spPr>
          <a:xfrm>
            <a:off x="3048000" y="5334000"/>
            <a:ext cx="12700" cy="825500"/>
          </a:xfrm>
          <a:prstGeom prst="roundRect">
            <a:avLst>
              <a:gd name="adj" fmla="val 0"/>
            </a:avLst>
          </a:prstGeom>
          <a:solidFill>
            <a:srgbClr val="FFFFFF">
              <a:alpha val="5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3302000" y="5270500"/>
            <a:ext cx="7747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500" b="0"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让数据从业者彻底从繁琐的底层运维、环境配置与重复造轮子中解放出来，将最宝贵的专业能力与时间，回归到业务洞察、价值创造与业务本身的深度探索中，真正用数据驱动业务增长。</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795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核心架构：一站式数据工程平台的四大支柱</a:t>
            </a:r>
            <a:endParaRPr lang="en-US" sz="1100"/>
          </a:p>
        </p:txBody>
      </p:sp>
      <p:sp>
        <p:nvSpPr>
          <p:cNvPr id="4" name="AutoShape 4"/>
          <p:cNvSpPr/>
          <p:nvPr/>
        </p:nvSpPr>
        <p:spPr>
          <a:xfrm>
            <a:off x="762000" y="1651000"/>
            <a:ext cx="5207000" cy="2095500"/>
          </a:xfrm>
          <a:prstGeom prst="roundRect">
            <a:avLst>
              <a:gd name="adj" fmla="val 0"/>
            </a:avLst>
          </a:prstGeom>
          <a:solidFill>
            <a:srgbClr val="FFFFFF">
              <a:alpha val="94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1651000"/>
            <a:ext cx="50800" cy="20955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016000" y="1778000"/>
            <a:ext cx="4572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生态层 Ecosystem Layer</a:t>
            </a:r>
            <a:endParaRPr lang="en-US" sz="1100"/>
          </a:p>
        </p:txBody>
      </p:sp>
      <p:sp>
        <p:nvSpPr>
          <p:cNvPr id="7" name="AutoShape 7"/>
          <p:cNvSpPr/>
          <p:nvPr/>
        </p:nvSpPr>
        <p:spPr>
          <a:xfrm>
            <a:off x="1016000" y="2349500"/>
            <a:ext cx="47625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平台的顶层服务界面，面向所有数据消费者与生产者。它打破了数据孤岛，提供统一的合规共享能力，让数据资产能被安全、便捷地获取与利用，成为数据价值向外辐射的最终出口，高效连接业务需求与数据供给。</a:t>
            </a:r>
            <a:endParaRPr lang="en-US" sz="1100"/>
          </a:p>
        </p:txBody>
      </p:sp>
      <p:sp>
        <p:nvSpPr>
          <p:cNvPr id="8" name="AutoShape 8"/>
          <p:cNvSpPr/>
          <p:nvPr/>
        </p:nvSpPr>
        <p:spPr>
          <a:xfrm>
            <a:off x="6223000" y="1651000"/>
            <a:ext cx="5207000" cy="2095500"/>
          </a:xfrm>
          <a:prstGeom prst="roundRect">
            <a:avLst>
              <a:gd name="adj" fmla="val 0"/>
            </a:avLst>
          </a:prstGeom>
          <a:solidFill>
            <a:srgbClr val="FFFFFF">
              <a:alpha val="94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6223000" y="1651000"/>
            <a:ext cx="50800" cy="20955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6477000" y="1778000"/>
            <a:ext cx="4572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研发层 Development Layer</a:t>
            </a:r>
            <a:endParaRPr lang="en-US" sz="1100"/>
          </a:p>
        </p:txBody>
      </p:sp>
      <p:sp>
        <p:nvSpPr>
          <p:cNvPr id="11" name="AutoShape 11"/>
          <p:cNvSpPr/>
          <p:nvPr/>
        </p:nvSpPr>
        <p:spPr>
          <a:xfrm>
            <a:off x="6477000" y="2349500"/>
            <a:ext cx="47625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面向专业数据开发者的高效协同阵地，集成了现代化的 DataOps 全流程工具链。从需求分析到代码开发、自动化测试与版本发布，通过标准化的工作台大幅缩短研发周期，让技术团队能更专注于业务逻辑实现，加速数据应用的迭代与落地。</a:t>
            </a:r>
            <a:endParaRPr lang="en-US" sz="1100"/>
          </a:p>
        </p:txBody>
      </p:sp>
      <p:sp>
        <p:nvSpPr>
          <p:cNvPr id="12" name="AutoShape 12"/>
          <p:cNvSpPr/>
          <p:nvPr/>
        </p:nvSpPr>
        <p:spPr>
          <a:xfrm>
            <a:off x="762000" y="4000500"/>
            <a:ext cx="5207000" cy="2095500"/>
          </a:xfrm>
          <a:prstGeom prst="roundRect">
            <a:avLst>
              <a:gd name="adj" fmla="val 0"/>
            </a:avLst>
          </a:prstGeom>
          <a:solidFill>
            <a:srgbClr val="FFFFFF">
              <a:alpha val="94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762000" y="4000500"/>
            <a:ext cx="50800" cy="20955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1016000" y="4127500"/>
            <a:ext cx="4572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治理层 Governance Layer</a:t>
            </a:r>
            <a:endParaRPr lang="en-US" sz="1100"/>
          </a:p>
        </p:txBody>
      </p:sp>
      <p:sp>
        <p:nvSpPr>
          <p:cNvPr id="15" name="AutoShape 15"/>
          <p:cNvSpPr/>
          <p:nvPr/>
        </p:nvSpPr>
        <p:spPr>
          <a:xfrm>
            <a:off x="1016000" y="4699000"/>
            <a:ext cx="47625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平台的“智慧大脑”与控制中枢，贯穿数据全生命周期。通过强大的可观测性能力实时感知平台状态，结合智能任务编排引擎，对海量数据作业进行统一调度与资源协调，确保数据流转的稳定性、安全性与高质量交付，降低运维风险。</a:t>
            </a:r>
            <a:endParaRPr lang="en-US" sz="1100"/>
          </a:p>
        </p:txBody>
      </p:sp>
      <p:sp>
        <p:nvSpPr>
          <p:cNvPr id="16" name="AutoShape 16"/>
          <p:cNvSpPr/>
          <p:nvPr/>
        </p:nvSpPr>
        <p:spPr>
          <a:xfrm>
            <a:off x="6223000" y="4000500"/>
            <a:ext cx="5207000" cy="2095500"/>
          </a:xfrm>
          <a:prstGeom prst="roundRect">
            <a:avLst>
              <a:gd name="adj" fmla="val 0"/>
            </a:avLst>
          </a:prstGeom>
          <a:solidFill>
            <a:srgbClr val="FFFFFF">
              <a:alpha val="94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6223000" y="4000500"/>
            <a:ext cx="50800" cy="20955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6477000" y="4127500"/>
            <a:ext cx="4572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资源层 Resource Layer</a:t>
            </a:r>
            <a:endParaRPr lang="en-US" sz="1100"/>
          </a:p>
        </p:txBody>
      </p:sp>
      <p:sp>
        <p:nvSpPr>
          <p:cNvPr id="19" name="AutoShape 19"/>
          <p:cNvSpPr/>
          <p:nvPr/>
        </p:nvSpPr>
        <p:spPr>
          <a:xfrm>
            <a:off x="6477000" y="4699000"/>
            <a:ext cx="47625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支撑整个平台运行的物理基石。提供弹性伸缩的高性能算力资源池与高可靠的分布式存储服务，能够从容应对波峰波谷的业务流量变化。通过底层资源的动态调度与隔离，为上层的治理、研发与生态应用提供7x24小时不间断的稳固底座。</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详解第一层：资源层</a:t>
            </a:r>
            <a:endParaRPr lang="en-US" sz="1100"/>
          </a:p>
        </p:txBody>
      </p:sp>
      <p:sp>
        <p:nvSpPr>
          <p:cNvPr id="4" name="AutoShape 4"/>
          <p:cNvSpPr/>
          <p:nvPr/>
        </p:nvSpPr>
        <p:spPr>
          <a:xfrm>
            <a:off x="762000" y="1524000"/>
            <a:ext cx="10668000" cy="1079500"/>
          </a:xfrm>
          <a:prstGeom prst="roundRect">
            <a:avLst>
              <a:gd name="adj" fmla="val 0"/>
            </a:avLst>
          </a:prstGeom>
          <a:solidFill>
            <a:srgbClr val="FFFFFF">
              <a:alpha val="9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1524000"/>
            <a:ext cx="76200" cy="10795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016000" y="1587500"/>
            <a:ext cx="10160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核心功能：提供弹性、可扩展、低成本的算力与存储资源。</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为上层应用构建坚实的基础设施底座，实现资源的按需获取与高效流转，大幅降低基础设施的管理复杂度与使用成本。</a:t>
            </a:r>
            <a:endParaRPr lang="en-US" sz="1100"/>
          </a:p>
        </p:txBody>
      </p:sp>
      <p:sp>
        <p:nvSpPr>
          <p:cNvPr id="7" name="AutoShape 7"/>
          <p:cNvSpPr/>
          <p:nvPr/>
        </p:nvSpPr>
        <p:spPr>
          <a:xfrm>
            <a:off x="762000" y="2857500"/>
            <a:ext cx="5207000" cy="3238500"/>
          </a:xfrm>
          <a:prstGeom prst="roundRect">
            <a:avLst>
              <a:gd name="adj" fmla="val 0"/>
            </a:avLst>
          </a:prstGeom>
          <a:solidFill>
            <a:srgbClr val="FFFFFF">
              <a:alpha val="94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762000" y="2857500"/>
            <a:ext cx="5207000" cy="508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952500" y="3022600"/>
            <a:ext cx="4826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弹性算力：Serverless 计算</a:t>
            </a:r>
            <a:endParaRPr lang="en-US" sz="1100"/>
          </a:p>
        </p:txBody>
      </p:sp>
      <p:sp>
        <p:nvSpPr>
          <p:cNvPr id="10" name="AutoShape 10"/>
          <p:cNvSpPr/>
          <p:nvPr/>
        </p:nvSpPr>
        <p:spPr>
          <a:xfrm>
            <a:off x="952500" y="3556000"/>
            <a:ext cx="4826000" cy="889000"/>
          </a:xfrm>
          <a:prstGeom prst="roundRect">
            <a:avLst>
              <a:gd name="adj" fmla="val 0"/>
            </a:avLst>
          </a:prstGeom>
          <a:solidFill>
            <a:srgbClr val="F97316">
              <a:alpha val="9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1079500" y="3619500"/>
            <a:ext cx="4572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一种事件驱动的按需执行代码模型，开发者无需预先配置、购买或管理服务器。系统会根据请求量自动分配资源，代码运行结束后资源立即释放，真正做到“按需使用”。</a:t>
            </a:r>
            <a:endParaRPr lang="en-US" sz="1100"/>
          </a:p>
        </p:txBody>
      </p:sp>
      <p:sp>
        <p:nvSpPr>
          <p:cNvPr id="12" name="AutoShape 12"/>
          <p:cNvSpPr/>
          <p:nvPr/>
        </p:nvSpPr>
        <p:spPr>
          <a:xfrm>
            <a:off x="952500" y="4572000"/>
            <a:ext cx="2349500" cy="1397000"/>
          </a:xfrm>
          <a:prstGeom prst="roundRect">
            <a:avLst>
              <a:gd name="adj" fmla="val 0"/>
            </a:avLst>
          </a:prstGeom>
          <a:solidFill>
            <a:srgbClr val="F3F4F6">
              <a:alpha val="95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1079500" y="4635500"/>
            <a:ext cx="2159000" cy="279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核心优势</a:t>
            </a:r>
            <a:endParaRPr lang="en-US" sz="1100"/>
          </a:p>
        </p:txBody>
      </p:sp>
      <p:sp>
        <p:nvSpPr>
          <p:cNvPr id="14" name="AutoShape 14"/>
          <p:cNvSpPr/>
          <p:nvPr/>
        </p:nvSpPr>
        <p:spPr>
          <a:xfrm>
            <a:off x="1079500" y="4978400"/>
            <a:ext cx="2159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极致的弹性伸缩能力，毫秒级启动；按实际执行消耗付费，无闲置成本；彻底简化运维工作。</a:t>
            </a:r>
            <a:endParaRPr lang="en-US" sz="1100"/>
          </a:p>
        </p:txBody>
      </p:sp>
      <p:sp>
        <p:nvSpPr>
          <p:cNvPr id="15" name="AutoShape 15"/>
          <p:cNvSpPr/>
          <p:nvPr/>
        </p:nvSpPr>
        <p:spPr>
          <a:xfrm>
            <a:off x="3429000" y="4572000"/>
            <a:ext cx="2349500" cy="1397000"/>
          </a:xfrm>
          <a:prstGeom prst="roundRect">
            <a:avLst>
              <a:gd name="adj" fmla="val 0"/>
            </a:avLst>
          </a:prstGeom>
          <a:solidFill>
            <a:srgbClr val="F3F4F6">
              <a:alpha val="95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3556000" y="4635500"/>
            <a:ext cx="2159000" cy="279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代表技术</a:t>
            </a:r>
            <a:endParaRPr lang="en-US" sz="1100"/>
          </a:p>
        </p:txBody>
      </p:sp>
      <p:sp>
        <p:nvSpPr>
          <p:cNvPr id="17" name="AutoShape 17"/>
          <p:cNvSpPr/>
          <p:nvPr/>
        </p:nvSpPr>
        <p:spPr>
          <a:xfrm>
            <a:off x="3556000" y="4978400"/>
            <a:ext cx="2159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AWS Lambda、Google Cloud Functions、阿里云函数计算、腾讯云SCF等。</a:t>
            </a:r>
            <a:endParaRPr lang="en-US" sz="1100"/>
          </a:p>
        </p:txBody>
      </p:sp>
      <p:cxnSp>
        <p:nvCxnSpPr>
          <p:cNvPr id="18" name="Connector 18"/>
          <p:cNvCxnSpPr/>
          <p:nvPr/>
        </p:nvCxnSpPr>
        <p:spPr>
          <a:xfrm rot="5386518">
            <a:off x="4476750" y="4470412"/>
            <a:ext cx="3238500" cy="12700"/>
          </a:xfrm>
          <a:prstGeom prst="straightConnector1">
            <a:avLst/>
          </a:prstGeom>
          <a:solidFill>
            <a:srgbClr val="DEE0E3">
              <a:alpha val="100000"/>
            </a:srgbClr>
          </a:solidFill>
          <a:ln w="12700" cap="flat" cmpd="sng">
            <a:solidFill>
              <a:srgbClr val="D1D5DB">
                <a:alpha val="60000"/>
              </a:srgbClr>
            </a:solidFill>
            <a:prstDash val="solid"/>
            <a:round/>
            <a:headEnd type="none" w="med" len="med"/>
            <a:tailEnd type="none" w="med" len="med"/>
          </a:ln>
        </p:spPr>
      </p:cxnSp>
      <p:sp>
        <p:nvSpPr>
          <p:cNvPr id="19" name="AutoShape 19"/>
          <p:cNvSpPr/>
          <p:nvPr/>
        </p:nvSpPr>
        <p:spPr>
          <a:xfrm>
            <a:off x="6223000" y="2857500"/>
            <a:ext cx="5207000" cy="3238500"/>
          </a:xfrm>
          <a:prstGeom prst="roundRect">
            <a:avLst>
              <a:gd name="adj" fmla="val 0"/>
            </a:avLst>
          </a:prstGeom>
          <a:solidFill>
            <a:srgbClr val="FFFFFF">
              <a:alpha val="94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a:off x="6223000" y="2857500"/>
            <a:ext cx="5207000" cy="508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6413500" y="3022600"/>
            <a:ext cx="4826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统一存储：多云存储与数据湖</a:t>
            </a:r>
            <a:endParaRPr lang="en-US" sz="1100"/>
          </a:p>
        </p:txBody>
      </p:sp>
      <p:sp>
        <p:nvSpPr>
          <p:cNvPr id="22" name="AutoShape 22"/>
          <p:cNvSpPr/>
          <p:nvPr/>
        </p:nvSpPr>
        <p:spPr>
          <a:xfrm>
            <a:off x="6413500" y="3556000"/>
            <a:ext cx="4826000" cy="889000"/>
          </a:xfrm>
          <a:prstGeom prst="roundRect">
            <a:avLst>
              <a:gd name="adj" fmla="val 0"/>
            </a:avLst>
          </a:prstGeom>
          <a:solidFill>
            <a:srgbClr val="F97316">
              <a:alpha val="9000"/>
            </a:srgbClr>
          </a:solidFill>
          <a:ln w="25400" cap="flat" cmpd="sng">
            <a:noFill/>
            <a:prstDash val="solid"/>
            <a:round/>
          </a:ln>
        </p:spPr>
        <p:txBody>
          <a:bodyPr vert="horz" wrap="square" lIns="63500" tIns="63500" rIns="63500" bIns="63500" rtlCol="0" anchor="ctr"/>
          <a:lstStyle/>
          <a:p>
            <a:pPr algn="ctr">
              <a:defRPr/>
            </a:pPr>
          </a:p>
        </p:txBody>
      </p:sp>
      <p:sp>
        <p:nvSpPr>
          <p:cNvPr id="23" name="AutoShape 23"/>
          <p:cNvSpPr/>
          <p:nvPr/>
        </p:nvSpPr>
        <p:spPr>
          <a:xfrm>
            <a:off x="6540500" y="3619500"/>
            <a:ext cx="4572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构建统一的存储访问抽象层，屏蔽底层不同云厂商的API差异，实现对异构存储服务的无缝对接与数据融合，打破物理和逻辑上的数据孤岛。</a:t>
            </a:r>
            <a:endParaRPr lang="en-US" sz="1100"/>
          </a:p>
        </p:txBody>
      </p:sp>
      <p:sp>
        <p:nvSpPr>
          <p:cNvPr id="24" name="AutoShape 24"/>
          <p:cNvSpPr/>
          <p:nvPr/>
        </p:nvSpPr>
        <p:spPr>
          <a:xfrm>
            <a:off x="6413500" y="4572000"/>
            <a:ext cx="2349500" cy="1397000"/>
          </a:xfrm>
          <a:prstGeom prst="roundRect">
            <a:avLst>
              <a:gd name="adj" fmla="val 0"/>
            </a:avLst>
          </a:prstGeom>
          <a:solidFill>
            <a:srgbClr val="F3F4F6">
              <a:alpha val="95000"/>
            </a:srgbClr>
          </a:solidFill>
          <a:ln w="25400" cap="flat" cmpd="sng">
            <a:noFill/>
            <a:prstDash val="solid"/>
            <a:round/>
          </a:ln>
        </p:spPr>
        <p:txBody>
          <a:bodyPr vert="horz" wrap="square" lIns="63500" tIns="63500" rIns="63500" bIns="63500" rtlCol="0" anchor="ctr"/>
          <a:lstStyle/>
          <a:p>
            <a:pPr algn="ctr">
              <a:defRPr/>
            </a:pPr>
          </a:p>
        </p:txBody>
      </p:sp>
      <p:sp>
        <p:nvSpPr>
          <p:cNvPr id="25" name="AutoShape 25"/>
          <p:cNvSpPr/>
          <p:nvPr/>
        </p:nvSpPr>
        <p:spPr>
          <a:xfrm>
            <a:off x="6540500" y="4635500"/>
            <a:ext cx="2159000" cy="279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核心优势</a:t>
            </a:r>
            <a:endParaRPr lang="en-US" sz="1100"/>
          </a:p>
        </p:txBody>
      </p:sp>
      <p:sp>
        <p:nvSpPr>
          <p:cNvPr id="26" name="AutoShape 26"/>
          <p:cNvSpPr/>
          <p:nvPr/>
        </p:nvSpPr>
        <p:spPr>
          <a:xfrm>
            <a:off x="6540500" y="4978400"/>
            <a:ext cx="2159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消除厂商锁定风险，灵活迁移；支持海量非结构化数据低成本持久化；统一入口提升开发效率。</a:t>
            </a:r>
            <a:endParaRPr lang="en-US" sz="1100"/>
          </a:p>
        </p:txBody>
      </p:sp>
      <p:sp>
        <p:nvSpPr>
          <p:cNvPr id="27" name="AutoShape 27"/>
          <p:cNvSpPr/>
          <p:nvPr/>
        </p:nvSpPr>
        <p:spPr>
          <a:xfrm>
            <a:off x="8890000" y="4572000"/>
            <a:ext cx="2349500" cy="1397000"/>
          </a:xfrm>
          <a:prstGeom prst="roundRect">
            <a:avLst>
              <a:gd name="adj" fmla="val 0"/>
            </a:avLst>
          </a:prstGeom>
          <a:solidFill>
            <a:srgbClr val="F3F4F6">
              <a:alpha val="95000"/>
            </a:srgbClr>
          </a:solidFill>
          <a:ln w="25400" cap="flat" cmpd="sng">
            <a:noFill/>
            <a:prstDash val="solid"/>
            <a:round/>
          </a:ln>
        </p:spPr>
        <p:txBody>
          <a:bodyPr vert="horz" wrap="square" lIns="63500" tIns="63500" rIns="63500" bIns="63500" rtlCol="0" anchor="ctr"/>
          <a:lstStyle/>
          <a:p>
            <a:pPr algn="ctr">
              <a:defRPr/>
            </a:pPr>
          </a:p>
        </p:txBody>
      </p:sp>
      <p:sp>
        <p:nvSpPr>
          <p:cNvPr id="28" name="AutoShape 28"/>
          <p:cNvSpPr/>
          <p:nvPr/>
        </p:nvSpPr>
        <p:spPr>
          <a:xfrm>
            <a:off x="9017000" y="4635500"/>
            <a:ext cx="2159000" cy="279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代表技术</a:t>
            </a:r>
            <a:endParaRPr lang="en-US" sz="1100"/>
          </a:p>
        </p:txBody>
      </p:sp>
      <p:sp>
        <p:nvSpPr>
          <p:cNvPr id="29" name="AutoShape 29"/>
          <p:cNvSpPr/>
          <p:nvPr/>
        </p:nvSpPr>
        <p:spPr>
          <a:xfrm>
            <a:off x="9017000" y="4978400"/>
            <a:ext cx="2159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对象存储 (S3/OSS)、Delta Lake、Apache Hudi、MinIO 等云原生存储方案。</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详解第二层：治理层</a:t>
            </a:r>
            <a:endParaRPr lang="en-US" sz="1100"/>
          </a:p>
        </p:txBody>
      </p:sp>
      <p:sp>
        <p:nvSpPr>
          <p:cNvPr id="4" name="AutoShape 4"/>
          <p:cNvSpPr/>
          <p:nvPr/>
        </p:nvSpPr>
        <p:spPr>
          <a:xfrm>
            <a:off x="762000" y="1524000"/>
            <a:ext cx="10668000" cy="952500"/>
          </a:xfrm>
          <a:prstGeom prst="roundRect">
            <a:avLst>
              <a:gd name="adj" fmla="val 0"/>
            </a:avLst>
          </a:prstGeom>
          <a:solidFill>
            <a:srgbClr val="1F2937">
              <a:alpha val="75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952500" y="1587500"/>
            <a:ext cx="10287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核心功能：确保数据处理过程的可观测、可调度、可追溯。让复杂的数据流转变得透明可控，通过统一的治理规则，为业务决策提供可靠、高质量的数据资产保障。</a:t>
            </a:r>
            <a:endParaRPr lang="en-US" sz="1100"/>
          </a:p>
        </p:txBody>
      </p:sp>
      <p:sp>
        <p:nvSpPr>
          <p:cNvPr id="6" name="AutoShape 6"/>
          <p:cNvSpPr/>
          <p:nvPr/>
        </p:nvSpPr>
        <p:spPr>
          <a:xfrm>
            <a:off x="762000" y="2794000"/>
            <a:ext cx="5207000" cy="3175000"/>
          </a:xfrm>
          <a:prstGeom prst="roundRect">
            <a:avLst>
              <a:gd name="adj" fmla="val 0"/>
            </a:avLst>
          </a:prstGeom>
          <a:solidFill>
            <a:srgbClr val="FFFFFF">
              <a:alpha val="92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7" name="AutoShape 7"/>
          <p:cNvSpPr/>
          <p:nvPr/>
        </p:nvSpPr>
        <p:spPr>
          <a:xfrm>
            <a:off x="762000" y="2794000"/>
            <a:ext cx="5207000" cy="508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952500" y="2984500"/>
            <a:ext cx="4826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任务编排：可视化DAG编排器</a:t>
            </a:r>
            <a:endParaRPr lang="en-US" sz="1100"/>
          </a:p>
        </p:txBody>
      </p:sp>
      <p:sp>
        <p:nvSpPr>
          <p:cNvPr id="9" name="AutoShape 9"/>
          <p:cNvSpPr/>
          <p:nvPr/>
        </p:nvSpPr>
        <p:spPr>
          <a:xfrm>
            <a:off x="952500" y="3556000"/>
            <a:ext cx="4826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允许用户通过拖拽节点和连线的方式，直观地构建复杂的数据处理流水线。无需编写大量底层调度代码，即可将业务逻辑转化为可自动执行的工作流，大幅降低了流程搭建的技术门槛。</a:t>
            </a:r>
            <a:endParaRPr lang="en-US" sz="1100"/>
          </a:p>
        </p:txBody>
      </p:sp>
      <p:sp>
        <p:nvSpPr>
          <p:cNvPr id="10" name="AutoShape 10"/>
          <p:cNvSpPr/>
          <p:nvPr/>
        </p:nvSpPr>
        <p:spPr>
          <a:xfrm>
            <a:off x="952500" y="4572000"/>
            <a:ext cx="4826000" cy="635000"/>
          </a:xfrm>
          <a:prstGeom prst="roundRect">
            <a:avLst>
              <a:gd name="adj" fmla="val 0"/>
            </a:avLst>
          </a:prstGeom>
          <a:solidFill>
            <a:srgbClr val="F97316">
              <a:alpha val="1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1079500" y="4610100"/>
            <a:ext cx="4572000" cy="558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核心优势：降低使用门槛 · 逻辑关系清晰 · 任务自动化调度</a:t>
            </a:r>
            <a:endParaRPr lang="en-US" sz="1100"/>
          </a:p>
        </p:txBody>
      </p:sp>
      <p:sp>
        <p:nvSpPr>
          <p:cNvPr id="12" name="AutoShape 12"/>
          <p:cNvSpPr/>
          <p:nvPr/>
        </p:nvSpPr>
        <p:spPr>
          <a:xfrm>
            <a:off x="952500" y="5334000"/>
            <a:ext cx="4826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代表技术：Apache Airflow、DolphinScheduler</a:t>
            </a:r>
            <a:endParaRPr lang="en-US" sz="1100"/>
          </a:p>
        </p:txBody>
      </p:sp>
      <p:cxnSp>
        <p:nvCxnSpPr>
          <p:cNvPr id="13" name="Connector 13"/>
          <p:cNvCxnSpPr/>
          <p:nvPr/>
        </p:nvCxnSpPr>
        <p:spPr>
          <a:xfrm rot="5386249">
            <a:off x="4508500" y="4375163"/>
            <a:ext cx="3175000" cy="12700"/>
          </a:xfrm>
          <a:prstGeom prst="straightConnector1">
            <a:avLst/>
          </a:prstGeom>
          <a:solidFill>
            <a:srgbClr val="DEE0E3">
              <a:alpha val="100000"/>
            </a:srgbClr>
          </a:solidFill>
          <a:ln w="12700" cap="flat" cmpd="sng">
            <a:solidFill>
              <a:srgbClr val="D1D5DB">
                <a:alpha val="80000"/>
              </a:srgbClr>
            </a:solidFill>
            <a:prstDash val="dash"/>
            <a:round/>
            <a:headEnd type="none" w="med" len="med"/>
            <a:tailEnd type="none" w="med" len="med"/>
          </a:ln>
        </p:spPr>
      </p:cxnSp>
      <p:sp>
        <p:nvSpPr>
          <p:cNvPr id="14" name="AutoShape 14"/>
          <p:cNvSpPr/>
          <p:nvPr/>
        </p:nvSpPr>
        <p:spPr>
          <a:xfrm>
            <a:off x="6223000" y="2794000"/>
            <a:ext cx="5207000" cy="3175000"/>
          </a:xfrm>
          <a:prstGeom prst="roundRect">
            <a:avLst>
              <a:gd name="adj" fmla="val 0"/>
            </a:avLst>
          </a:prstGeom>
          <a:solidFill>
            <a:srgbClr val="FFFFFF">
              <a:alpha val="92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15" name="AutoShape 15"/>
          <p:cNvSpPr/>
          <p:nvPr/>
        </p:nvSpPr>
        <p:spPr>
          <a:xfrm>
            <a:off x="6223000" y="2794000"/>
            <a:ext cx="5207000" cy="508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6413500" y="2984500"/>
            <a:ext cx="4826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可观测性：全链路监控与数据血缘</a:t>
            </a:r>
            <a:endParaRPr lang="en-US" sz="1100"/>
          </a:p>
        </p:txBody>
      </p:sp>
      <p:sp>
        <p:nvSpPr>
          <p:cNvPr id="17" name="AutoShape 17"/>
          <p:cNvSpPr/>
          <p:nvPr/>
        </p:nvSpPr>
        <p:spPr>
          <a:xfrm>
            <a:off x="6413500" y="3556000"/>
            <a:ext cx="4826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全链路监控覆盖数据从采集、计算到落地的全生命周期，数据血缘技术则清晰记录每一份数据的来源、流转路径和变换规则。这种透明化让数据的来龙去脉一目了然，形成完整的数据资产档案。</a:t>
            </a:r>
            <a:endParaRPr lang="en-US" sz="1100"/>
          </a:p>
        </p:txBody>
      </p:sp>
      <p:sp>
        <p:nvSpPr>
          <p:cNvPr id="18" name="AutoShape 18"/>
          <p:cNvSpPr/>
          <p:nvPr/>
        </p:nvSpPr>
        <p:spPr>
          <a:xfrm>
            <a:off x="6413500" y="4572000"/>
            <a:ext cx="4826000" cy="635000"/>
          </a:xfrm>
          <a:prstGeom prst="roundRect">
            <a:avLst>
              <a:gd name="adj" fmla="val 0"/>
            </a:avLst>
          </a:prstGeom>
          <a:solidFill>
            <a:srgbClr val="F97316">
              <a:alpha val="10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a:off x="6540500" y="4610100"/>
            <a:ext cx="4572000" cy="558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核心优势：故障快速定位 · 变更影响分析 · 数据质量保障</a:t>
            </a:r>
            <a:endParaRPr lang="en-US" sz="1100"/>
          </a:p>
        </p:txBody>
      </p:sp>
      <p:sp>
        <p:nvSpPr>
          <p:cNvPr id="20" name="AutoShape 20"/>
          <p:cNvSpPr/>
          <p:nvPr/>
        </p:nvSpPr>
        <p:spPr>
          <a:xfrm>
            <a:off x="6413500" y="5334000"/>
            <a:ext cx="4826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代表技术：Apache Atlas、LinkedIn DataHub</a:t>
            </a:r>
            <a:endParaRPr lang="en-US" sz="11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详解第三层：研发层</a:t>
            </a:r>
            <a:endParaRPr lang="en-US" sz="1100"/>
          </a:p>
        </p:txBody>
      </p:sp>
      <p:sp>
        <p:nvSpPr>
          <p:cNvPr id="4" name="AutoShape 4"/>
          <p:cNvSpPr/>
          <p:nvPr/>
        </p:nvSpPr>
        <p:spPr>
          <a:xfrm>
            <a:off x="762000" y="1524000"/>
            <a:ext cx="10668000" cy="1143000"/>
          </a:xfrm>
          <a:prstGeom prst="roundRect">
            <a:avLst>
              <a:gd name="adj" fmla="val 0"/>
            </a:avLst>
          </a:prstGeom>
          <a:solidFill>
            <a:srgbClr val="1F2937">
              <a:alpha val="78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1016000" y="1625600"/>
            <a:ext cx="10160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600" b="0"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为数据开发者提供高效、协同、高质量的 DataOps 工作台，打通从代码编写、数据处理到模型交付的全流程自动化链路，以工程化的方式大幅缩短研发周期，保障数据产出的一致性与可靠性。</a:t>
            </a:r>
            <a:endParaRPr lang="en-US" sz="1100"/>
          </a:p>
        </p:txBody>
      </p:sp>
      <p:sp>
        <p:nvSpPr>
          <p:cNvPr id="6" name="AutoShape 6"/>
          <p:cNvSpPr/>
          <p:nvPr/>
        </p:nvSpPr>
        <p:spPr>
          <a:xfrm>
            <a:off x="762000" y="2921000"/>
            <a:ext cx="5207000" cy="2667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762000" y="2921000"/>
            <a:ext cx="5207000" cy="508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952500" y="3111500"/>
            <a:ext cx="4826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CI/CD 集成：数据开发的敏捷引擎</a:t>
            </a:r>
            <a:endParaRPr lang="en-US" sz="1100"/>
          </a:p>
        </p:txBody>
      </p:sp>
      <p:sp>
        <p:nvSpPr>
          <p:cNvPr id="9" name="AutoShape 9"/>
          <p:cNvSpPr/>
          <p:nvPr/>
        </p:nvSpPr>
        <p:spPr>
          <a:xfrm>
            <a:off x="952500" y="3683000"/>
            <a:ext cx="4826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将代码变更、数据脚本修改自动纳入集成与测试流程，通过流水线实现从开发、验证到生产环境部署的无缝衔接。把传统数据开发中易出错的手动执行环节，转化为标准化的自动化动作。</a:t>
            </a:r>
            <a:endParaRPr lang="en-US" sz="1100"/>
          </a:p>
        </p:txBody>
      </p:sp>
      <p:sp>
        <p:nvSpPr>
          <p:cNvPr id="10" name="AutoShape 10"/>
          <p:cNvSpPr/>
          <p:nvPr/>
        </p:nvSpPr>
        <p:spPr>
          <a:xfrm>
            <a:off x="952500" y="4635500"/>
            <a:ext cx="4826000" cy="825500"/>
          </a:xfrm>
          <a:prstGeom prst="roundRect">
            <a:avLst>
              <a:gd name="adj" fmla="val 0"/>
            </a:avLst>
          </a:prstGeom>
          <a:solidFill>
            <a:srgbClr val="F97316">
              <a:alpha val="9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1079500" y="4699000"/>
            <a:ext cx="46355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1" i="0" u="none" strike="noStrike">
                <a:solidFill>
                  <a:srgbClr val="C2410C"/>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核心价值：</a:t>
            </a: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代码提交即触发自动化质量门禁，版本迭代秒级部署，多人并行开发无冲突，让数据应用的交付效率对标现代软件工程标准。</a:t>
            </a:r>
            <a:endParaRPr lang="en-US" sz="1100"/>
          </a:p>
        </p:txBody>
      </p:sp>
      <p:sp>
        <p:nvSpPr>
          <p:cNvPr id="12" name="AutoShape 12"/>
          <p:cNvSpPr/>
          <p:nvPr/>
        </p:nvSpPr>
        <p:spPr>
          <a:xfrm>
            <a:off x="6223000" y="2921000"/>
            <a:ext cx="5207000" cy="2667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6223000" y="2921000"/>
            <a:ext cx="5207000" cy="508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6413500" y="3111500"/>
            <a:ext cx="4826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版本管理：数据资产的“时光机”</a:t>
            </a:r>
            <a:endParaRPr lang="en-US" sz="1100"/>
          </a:p>
        </p:txBody>
      </p:sp>
      <p:sp>
        <p:nvSpPr>
          <p:cNvPr id="15" name="AutoShape 15"/>
          <p:cNvSpPr/>
          <p:nvPr/>
        </p:nvSpPr>
        <p:spPr>
          <a:xfrm>
            <a:off x="6413500" y="3683000"/>
            <a:ext cx="4826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突破传统Git仅管理代码的局限，将数据集、模型权重、配置文件等核心数据资产纳入统一版本控制。不仅记录修改内容，更保留变更的完整上下文与环境快照。</a:t>
            </a:r>
            <a:endParaRPr lang="en-US" sz="1100"/>
          </a:p>
        </p:txBody>
      </p:sp>
      <p:sp>
        <p:nvSpPr>
          <p:cNvPr id="16" name="AutoShape 16"/>
          <p:cNvSpPr/>
          <p:nvPr/>
        </p:nvSpPr>
        <p:spPr>
          <a:xfrm>
            <a:off x="6413500" y="4635500"/>
            <a:ext cx="4826000" cy="825500"/>
          </a:xfrm>
          <a:prstGeom prst="roundRect">
            <a:avLst>
              <a:gd name="adj" fmla="val 0"/>
            </a:avLst>
          </a:prstGeom>
          <a:solidFill>
            <a:srgbClr val="F97316">
              <a:alpha val="9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6540500" y="4699000"/>
            <a:ext cx="46355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1" i="0" u="none" strike="noStrike">
                <a:solidFill>
                  <a:srgbClr val="C2410C"/>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核心价值：</a:t>
            </a: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实现全链路变更可追溯与结果可复现，支持不同实验版本的并行对比与快速回滚，从根本上解决数据版本混乱导致的研发返工问题。</a:t>
            </a:r>
            <a:endParaRPr lang="en-US" sz="1100"/>
          </a:p>
        </p:txBody>
      </p:sp>
      <p:sp>
        <p:nvSpPr>
          <p:cNvPr id="18" name="AutoShape 18"/>
          <p:cNvSpPr/>
          <p:nvPr/>
        </p:nvSpPr>
        <p:spPr>
          <a:xfrm>
            <a:off x="762000" y="5651500"/>
            <a:ext cx="10668000" cy="952500"/>
          </a:xfrm>
          <a:prstGeom prst="roundRect">
            <a:avLst>
              <a:gd name="adj" fmla="val 0"/>
            </a:avLst>
          </a:prstGeom>
          <a:solidFill>
            <a:srgbClr val="FFF7ED">
              <a:alpha val="95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a:off x="952500" y="5740400"/>
            <a:ext cx="10414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推荐技术栈：DVC (Data Version Control) ——</a:t>
            </a: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专为数据科学场景设计的版本控制工具，兼容 Git 工作流，能够高效管理GB级数据集与模型文件，是构建可复现、可扩展 DataOps 研发体系的关键基础设施。</a:t>
            </a:r>
            <a:endParaRPr lang="en-US" sz="11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详解第四层：生态层</a:t>
            </a:r>
            <a:endParaRPr lang="en-US" sz="1100"/>
          </a:p>
        </p:txBody>
      </p:sp>
      <p:sp>
        <p:nvSpPr>
          <p:cNvPr id="4" name="AutoShape 4"/>
          <p:cNvSpPr/>
          <p:nvPr/>
        </p:nvSpPr>
        <p:spPr>
          <a:xfrm>
            <a:off x="762000" y="1524000"/>
            <a:ext cx="10668000" cy="1143000"/>
          </a:xfrm>
          <a:prstGeom prst="roundRect">
            <a:avLst>
              <a:gd name="adj" fmla="val 0"/>
            </a:avLst>
          </a:prstGeom>
          <a:solidFill>
            <a:srgbClr val="F97316">
              <a:alpha val="9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1016000" y="1625600"/>
            <a:ext cx="10160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核心功能：促进数据资产的合规共享与价值流通</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FFF7ED"/>
                </a:solidFill>
                <a:latin typeface="Noto Sans SC" panose="020B0200000000000000" charset="-122"/>
                <a:ea typeface="Noto Sans SC" panose="020B0200000000000000" charset="-122"/>
                <a:cs typeface="Noto Sans SC" panose="020B0200000000000000" charset="-122"/>
                <a:sym typeface="Noto Sans SC" panose="020B0200000000000000" charset="-122"/>
              </a:rPr>
              <a:t>构建安全、可控、高效的数据要素流通环境，让数据在合规前提下释放最大商业价值，推动数字经济高质量发展。</a:t>
            </a:r>
            <a:endParaRPr lang="en-US" sz="1100"/>
          </a:p>
        </p:txBody>
      </p:sp>
      <p:sp>
        <p:nvSpPr>
          <p:cNvPr id="6" name="AutoShape 6"/>
          <p:cNvSpPr/>
          <p:nvPr/>
        </p:nvSpPr>
        <p:spPr>
          <a:xfrm>
            <a:off x="762000" y="2921000"/>
            <a:ext cx="5207000" cy="3048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762000" y="2921000"/>
            <a:ext cx="5207000" cy="508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952500" y="3111500"/>
            <a:ext cx="4826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合规中心：数据安全的“守门人”</a:t>
            </a:r>
            <a:endParaRPr lang="en-US" sz="1100"/>
          </a:p>
        </p:txBody>
      </p:sp>
      <p:sp>
        <p:nvSpPr>
          <p:cNvPr id="9" name="AutoShape 9"/>
          <p:cNvSpPr/>
          <p:nvPr/>
        </p:nvSpPr>
        <p:spPr>
          <a:xfrm>
            <a:off x="952500" y="3683000"/>
            <a:ext cx="4826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内置全套数据安全与合规工具矩阵，将合规要求深度嵌入数据全生命周期管理。通过标准化的流程与技术手段，确保数据采集、处理、流转的每一个环节都严格符合法律法规与行业监管要求，规避业务风险。</a:t>
            </a:r>
            <a:endParaRPr lang="en-US" sz="1100"/>
          </a:p>
        </p:txBody>
      </p:sp>
      <p:sp>
        <p:nvSpPr>
          <p:cNvPr id="10" name="AutoShape 10"/>
          <p:cNvSpPr/>
          <p:nvPr/>
        </p:nvSpPr>
        <p:spPr>
          <a:xfrm>
            <a:off x="952500" y="4953000"/>
            <a:ext cx="4826000" cy="952500"/>
          </a:xfrm>
          <a:prstGeom prst="roundRect">
            <a:avLst>
              <a:gd name="adj" fmla="val 0"/>
            </a:avLst>
          </a:prstGeom>
          <a:solidFill>
            <a:srgbClr val="F97316">
              <a:alpha val="9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1041400" y="5016500"/>
            <a:ext cx="4635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核心能力：</a:t>
            </a: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敏感数据自动脱敏、多方安全隐私计算、细粒度动态访问控制，为数据资产的安全流通筑牢不可逾越的技术防线。</a:t>
            </a:r>
            <a:endParaRPr lang="en-US" sz="1100"/>
          </a:p>
        </p:txBody>
      </p:sp>
      <p:cxnSp>
        <p:nvCxnSpPr>
          <p:cNvPr id="12" name="Connector 12"/>
          <p:cNvCxnSpPr/>
          <p:nvPr/>
        </p:nvCxnSpPr>
        <p:spPr>
          <a:xfrm rot="5386249">
            <a:off x="4508500" y="4502163"/>
            <a:ext cx="3175000" cy="12700"/>
          </a:xfrm>
          <a:prstGeom prst="straightConnector1">
            <a:avLst/>
          </a:prstGeom>
          <a:solidFill>
            <a:srgbClr val="DEE0E3">
              <a:alpha val="100000"/>
            </a:srgbClr>
          </a:solidFill>
          <a:ln w="12700" cap="flat" cmpd="sng">
            <a:solidFill>
              <a:srgbClr val="F97316">
                <a:alpha val="25000"/>
              </a:srgbClr>
            </a:solidFill>
            <a:prstDash val="solid"/>
            <a:round/>
            <a:headEnd type="none" w="med" len="med"/>
            <a:tailEnd type="none" w="med" len="med"/>
          </a:ln>
        </p:spPr>
      </p:cxnSp>
      <p:sp>
        <p:nvSpPr>
          <p:cNvPr id="13" name="AutoShape 13"/>
          <p:cNvSpPr/>
          <p:nvPr/>
        </p:nvSpPr>
        <p:spPr>
          <a:xfrm>
            <a:off x="6223000" y="2921000"/>
            <a:ext cx="5207000" cy="3048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6223000" y="2921000"/>
            <a:ext cx="5207000" cy="508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6413500" y="3111500"/>
            <a:ext cx="4826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资产市场：数据价值的“交易所”</a:t>
            </a:r>
            <a:endParaRPr lang="en-US" sz="1100"/>
          </a:p>
        </p:txBody>
      </p:sp>
      <p:sp>
        <p:nvSpPr>
          <p:cNvPr id="16" name="AutoShape 16"/>
          <p:cNvSpPr/>
          <p:nvPr/>
        </p:nvSpPr>
        <p:spPr>
          <a:xfrm>
            <a:off x="6413500" y="3683000"/>
            <a:ext cx="4826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面向合规数据资产的专业化流通交易平台，打破传统行业与机构间的数据孤岛。通过数字化手段连接数据供需双方，提供可信、可追溯、可审计的数据资产挂牌、询价与交易服务，降低流通成本。</a:t>
            </a:r>
            <a:endParaRPr lang="en-US" sz="1100"/>
          </a:p>
        </p:txBody>
      </p:sp>
      <p:sp>
        <p:nvSpPr>
          <p:cNvPr id="17" name="AutoShape 17"/>
          <p:cNvSpPr/>
          <p:nvPr/>
        </p:nvSpPr>
        <p:spPr>
          <a:xfrm>
            <a:off x="6413500" y="4953000"/>
            <a:ext cx="4826000" cy="952500"/>
          </a:xfrm>
          <a:prstGeom prst="roundRect">
            <a:avLst>
              <a:gd name="adj" fmla="val 0"/>
            </a:avLst>
          </a:prstGeom>
          <a:solidFill>
            <a:srgbClr val="F97316">
              <a:alpha val="9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6502400" y="5016500"/>
            <a:ext cx="4635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价值赋能：</a:t>
            </a: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高效连接数据供给与业务需求场景，激发企业创新活力，实现数据要素的合规变现，让数据从“沉睡”的资源转化为“流动”的核心生产力。</a:t>
            </a:r>
            <a:endParaRPr lang="en-US" sz="11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数据生态系统的角色分工</a:t>
            </a:r>
            <a:endParaRPr lang="en-US" sz="1100"/>
          </a:p>
        </p:txBody>
      </p:sp>
      <p:sp>
        <p:nvSpPr>
          <p:cNvPr id="4" name="AutoShape 4"/>
          <p:cNvSpPr/>
          <p:nvPr/>
        </p:nvSpPr>
        <p:spPr>
          <a:xfrm>
            <a:off x="762000" y="1778000"/>
            <a:ext cx="3492500" cy="4318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1778000"/>
            <a:ext cx="3492500" cy="508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952500" y="2032000"/>
            <a:ext cx="31115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数据工程师</a:t>
            </a:r>
            <a:endParaRPr lang="en-US" sz="1100"/>
          </a:p>
        </p:txBody>
      </p:sp>
      <p:sp>
        <p:nvSpPr>
          <p:cNvPr id="7" name="AutoShape 7"/>
          <p:cNvSpPr/>
          <p:nvPr/>
        </p:nvSpPr>
        <p:spPr>
          <a:xfrm>
            <a:off x="952500" y="2794000"/>
            <a:ext cx="31115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核心职责：平台的“建筑设计师”</a:t>
            </a:r>
            <a:endParaRPr lang="en-US" sz="1100"/>
          </a:p>
        </p:txBody>
      </p:sp>
      <p:sp>
        <p:nvSpPr>
          <p:cNvPr id="8" name="AutoShape 8"/>
          <p:cNvSpPr/>
          <p:nvPr/>
        </p:nvSpPr>
        <p:spPr>
          <a:xfrm>
            <a:off x="952500" y="3302000"/>
            <a:ext cx="31115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负责搭建和维护稳健、可扩展的数据基础设施，如同工程的基石。他们将分散的数据源整合，保障数据的高可用性与流转效率，是数据平台从蓝图变为现实的执行者。</a:t>
            </a:r>
            <a:endParaRPr lang="en-US" sz="1100"/>
          </a:p>
        </p:txBody>
      </p:sp>
      <p:sp>
        <p:nvSpPr>
          <p:cNvPr id="9" name="AutoShape 9"/>
          <p:cNvSpPr/>
          <p:nvPr/>
        </p:nvSpPr>
        <p:spPr>
          <a:xfrm>
            <a:off x="952500" y="4572000"/>
            <a:ext cx="3111500" cy="1333500"/>
          </a:xfrm>
          <a:prstGeom prst="roundRect">
            <a:avLst>
              <a:gd name="adj" fmla="val 0"/>
            </a:avLst>
          </a:prstGeom>
          <a:solidFill>
            <a:srgbClr val="F97316">
              <a:alpha val="9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1079500" y="4673600"/>
            <a:ext cx="2857500" cy="279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EA580C"/>
                </a:solidFill>
                <a:latin typeface="Noto Sans SC" panose="020B0200000000000000" charset="-122"/>
                <a:ea typeface="Noto Sans SC" panose="020B0200000000000000" charset="-122"/>
                <a:cs typeface="Noto Sans SC" panose="020B0200000000000000" charset="-122"/>
                <a:sym typeface="Noto Sans SC" panose="020B0200000000000000" charset="-122"/>
              </a:rPr>
              <a:t>关键技能栈</a:t>
            </a:r>
            <a:endParaRPr lang="en-US" sz="1100"/>
          </a:p>
        </p:txBody>
      </p:sp>
      <p:sp>
        <p:nvSpPr>
          <p:cNvPr id="11" name="AutoShape 11"/>
          <p:cNvSpPr/>
          <p:nvPr/>
        </p:nvSpPr>
        <p:spPr>
          <a:xfrm>
            <a:off x="1079500" y="5080000"/>
            <a:ext cx="2857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精通分布式系统架构与云原生技术，熟练掌握数据管道开发、海量数据处理与高并发平台架构设计能力。</a:t>
            </a:r>
            <a:endParaRPr lang="en-US" sz="1100"/>
          </a:p>
        </p:txBody>
      </p:sp>
      <p:sp>
        <p:nvSpPr>
          <p:cNvPr id="12" name="AutoShape 12"/>
          <p:cNvSpPr/>
          <p:nvPr/>
        </p:nvSpPr>
        <p:spPr>
          <a:xfrm>
            <a:off x="4445000" y="1778000"/>
            <a:ext cx="3492500" cy="4318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4445000" y="1778000"/>
            <a:ext cx="3492500" cy="508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4635500" y="2032000"/>
            <a:ext cx="31115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数据分析师</a:t>
            </a:r>
            <a:endParaRPr lang="en-US" sz="1100"/>
          </a:p>
        </p:txBody>
      </p:sp>
      <p:sp>
        <p:nvSpPr>
          <p:cNvPr id="15" name="AutoShape 15"/>
          <p:cNvSpPr/>
          <p:nvPr/>
        </p:nvSpPr>
        <p:spPr>
          <a:xfrm>
            <a:off x="4635500" y="2794000"/>
            <a:ext cx="31115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核心职责：业务的“价值发现者”</a:t>
            </a:r>
            <a:endParaRPr lang="en-US" sz="1100"/>
          </a:p>
        </p:txBody>
      </p:sp>
      <p:sp>
        <p:nvSpPr>
          <p:cNvPr id="16" name="AutoShape 16"/>
          <p:cNvSpPr/>
          <p:nvPr/>
        </p:nvSpPr>
        <p:spPr>
          <a:xfrm>
            <a:off x="4635500" y="3302000"/>
            <a:ext cx="31115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利用高质量的可信数据进行深度业务洞察。他们是数据的核心消费者，通过对业务场景的理解，挖掘数据背后的规律，为决策提供可落地的建议与方向。</a:t>
            </a:r>
            <a:endParaRPr lang="en-US" sz="1100"/>
          </a:p>
        </p:txBody>
      </p:sp>
      <p:sp>
        <p:nvSpPr>
          <p:cNvPr id="17" name="AutoShape 17"/>
          <p:cNvSpPr/>
          <p:nvPr/>
        </p:nvSpPr>
        <p:spPr>
          <a:xfrm>
            <a:off x="4635500" y="4572000"/>
            <a:ext cx="3111500" cy="1333500"/>
          </a:xfrm>
          <a:prstGeom prst="roundRect">
            <a:avLst>
              <a:gd name="adj" fmla="val 0"/>
            </a:avLst>
          </a:prstGeom>
          <a:solidFill>
            <a:srgbClr val="F97316">
              <a:alpha val="9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4762500" y="4673600"/>
            <a:ext cx="2857500" cy="279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EA580C"/>
                </a:solidFill>
                <a:latin typeface="Noto Sans SC" panose="020B0200000000000000" charset="-122"/>
                <a:ea typeface="Noto Sans SC" panose="020B0200000000000000" charset="-122"/>
                <a:cs typeface="Noto Sans SC" panose="020B0200000000000000" charset="-122"/>
                <a:sym typeface="Noto Sans SC" panose="020B0200000000000000" charset="-122"/>
              </a:rPr>
              <a:t>关键技能栈</a:t>
            </a:r>
            <a:endParaRPr lang="en-US" sz="1100"/>
          </a:p>
        </p:txBody>
      </p:sp>
      <p:sp>
        <p:nvSpPr>
          <p:cNvPr id="19" name="AutoShape 19"/>
          <p:cNvSpPr/>
          <p:nvPr/>
        </p:nvSpPr>
        <p:spPr>
          <a:xfrm>
            <a:off x="4762500" y="5080000"/>
            <a:ext cx="2857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扎实的SQL数据提取能力，熟练运用BI可视化工具，具备统计学思维，以及将复杂数据转化为业务语言的沟通能力。</a:t>
            </a:r>
            <a:endParaRPr lang="en-US" sz="1100"/>
          </a:p>
        </p:txBody>
      </p:sp>
      <p:sp>
        <p:nvSpPr>
          <p:cNvPr id="20" name="AutoShape 20"/>
          <p:cNvSpPr/>
          <p:nvPr/>
        </p:nvSpPr>
        <p:spPr>
          <a:xfrm>
            <a:off x="8128000" y="1778000"/>
            <a:ext cx="3492500" cy="4318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8128000" y="1778000"/>
            <a:ext cx="3492500" cy="508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nvSpPr>
        <p:spPr>
          <a:xfrm>
            <a:off x="8318500" y="2032000"/>
            <a:ext cx="31115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公民数据师</a:t>
            </a:r>
            <a:endParaRPr lang="en-US" sz="1100"/>
          </a:p>
        </p:txBody>
      </p:sp>
      <p:sp>
        <p:nvSpPr>
          <p:cNvPr id="23" name="AutoShape 23"/>
          <p:cNvSpPr/>
          <p:nvPr/>
        </p:nvSpPr>
        <p:spPr>
          <a:xfrm>
            <a:off x="8318500" y="2794000"/>
            <a:ext cx="31115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核心职责：自主的“业务探索者”</a:t>
            </a:r>
            <a:endParaRPr lang="en-US" sz="1100"/>
          </a:p>
        </p:txBody>
      </p:sp>
      <p:sp>
        <p:nvSpPr>
          <p:cNvPr id="24" name="AutoShape 24"/>
          <p:cNvSpPr/>
          <p:nvPr/>
        </p:nvSpPr>
        <p:spPr>
          <a:xfrm>
            <a:off x="8318500" y="3302000"/>
            <a:ext cx="31115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通常为非技术背景的业务人员，借助低代码/无代码工具打破技术壁垒。他们能够根据工作需求自主查询、分析数据，将数据能力直接融入日常业务执行与快速决策中。</a:t>
            </a:r>
            <a:endParaRPr lang="en-US" sz="1100"/>
          </a:p>
        </p:txBody>
      </p:sp>
      <p:sp>
        <p:nvSpPr>
          <p:cNvPr id="25" name="AutoShape 25"/>
          <p:cNvSpPr/>
          <p:nvPr/>
        </p:nvSpPr>
        <p:spPr>
          <a:xfrm>
            <a:off x="8318500" y="4572000"/>
            <a:ext cx="3111500" cy="1333500"/>
          </a:xfrm>
          <a:prstGeom prst="roundRect">
            <a:avLst>
              <a:gd name="adj" fmla="val 0"/>
            </a:avLst>
          </a:prstGeom>
          <a:solidFill>
            <a:srgbClr val="F97316">
              <a:alpha val="9000"/>
            </a:srgbClr>
          </a:solidFill>
          <a:ln w="25400" cap="flat" cmpd="sng">
            <a:noFill/>
            <a:prstDash val="solid"/>
            <a:round/>
          </a:ln>
        </p:spPr>
        <p:txBody>
          <a:bodyPr vert="horz" wrap="square" lIns="63500" tIns="63500" rIns="63500" bIns="63500" rtlCol="0" anchor="ctr"/>
          <a:lstStyle/>
          <a:p>
            <a:pPr algn="ctr">
              <a:defRPr/>
            </a:pPr>
          </a:p>
        </p:txBody>
      </p:sp>
      <p:sp>
        <p:nvSpPr>
          <p:cNvPr id="26" name="AutoShape 26"/>
          <p:cNvSpPr/>
          <p:nvPr/>
        </p:nvSpPr>
        <p:spPr>
          <a:xfrm>
            <a:off x="8445500" y="4673600"/>
            <a:ext cx="2857500" cy="279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EA580C"/>
                </a:solidFill>
                <a:latin typeface="Noto Sans SC" panose="020B0200000000000000" charset="-122"/>
                <a:ea typeface="Noto Sans SC" panose="020B0200000000000000" charset="-122"/>
                <a:cs typeface="Noto Sans SC" panose="020B0200000000000000" charset="-122"/>
                <a:sym typeface="Noto Sans SC" panose="020B0200000000000000" charset="-122"/>
              </a:rPr>
              <a:t>关键技能栈</a:t>
            </a:r>
            <a:endParaRPr lang="en-US" sz="1100"/>
          </a:p>
        </p:txBody>
      </p:sp>
      <p:sp>
        <p:nvSpPr>
          <p:cNvPr id="27" name="AutoShape 27"/>
          <p:cNvSpPr/>
          <p:nvPr/>
        </p:nvSpPr>
        <p:spPr>
          <a:xfrm>
            <a:off x="8445500" y="5080000"/>
            <a:ext cx="2857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敏锐的业务逻辑思维，深厚的行业知识储备，以及对数据平台和自助分析工具的熟练操作与应用能力。</a:t>
            </a:r>
            <a:endParaRPr lang="en-US" sz="11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762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角色演进趋势</a:t>
            </a:r>
            <a:endParaRPr lang="en-US" sz="1100"/>
          </a:p>
        </p:txBody>
      </p:sp>
      <p:sp>
        <p:nvSpPr>
          <p:cNvPr id="4" name="AutoShape 4"/>
          <p:cNvSpPr/>
          <p:nvPr/>
        </p:nvSpPr>
        <p:spPr>
          <a:xfrm>
            <a:off x="762000" y="1651000"/>
            <a:ext cx="3492500" cy="4445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1651000"/>
            <a:ext cx="3492500" cy="508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952500" y="1841500"/>
            <a:ext cx="3175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数据工程师：从“搬砖”到“设计”</a:t>
            </a:r>
            <a:endParaRPr lang="en-US" sz="1100"/>
          </a:p>
        </p:txBody>
      </p:sp>
      <p:sp>
        <p:nvSpPr>
          <p:cNvPr id="7" name="AutoShape 7"/>
          <p:cNvSpPr/>
          <p:nvPr/>
        </p:nvSpPr>
        <p:spPr>
          <a:xfrm>
            <a:off x="952500" y="2730500"/>
            <a:ext cx="3111500" cy="1460500"/>
          </a:xfrm>
          <a:prstGeom prst="roundRect">
            <a:avLst>
              <a:gd name="adj" fmla="val 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1079500" y="2794000"/>
            <a:ext cx="2857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过去：被动的执行层</a:t>
            </a:r>
            <a:endParaRPr lang="en-US" sz="1100"/>
          </a:p>
        </p:txBody>
      </p:sp>
      <p:sp>
        <p:nvSpPr>
          <p:cNvPr id="9" name="AutoShape 9"/>
          <p:cNvSpPr/>
          <p:nvPr/>
        </p:nvSpPr>
        <p:spPr>
          <a:xfrm>
            <a:off x="1079500" y="3175000"/>
            <a:ext cx="2857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大部分工作被编写ETL脚本、维护底层数据管道占据，如同“数据搬砖工”，深陷繁琐的技术细节，缺乏对业务的宏观支撑。</a:t>
            </a:r>
            <a:endParaRPr lang="en-US" sz="1100"/>
          </a:p>
        </p:txBody>
      </p:sp>
      <p:sp>
        <p:nvSpPr>
          <p:cNvPr id="10" name="AutoShape 10"/>
          <p:cNvSpPr/>
          <p:nvPr/>
        </p:nvSpPr>
        <p:spPr>
          <a:xfrm>
            <a:off x="952500" y="4318000"/>
            <a:ext cx="3111500" cy="1651000"/>
          </a:xfrm>
          <a:prstGeom prst="roundRect">
            <a:avLst>
              <a:gd name="adj" fmla="val 0"/>
            </a:avLst>
          </a:prstGeom>
          <a:solidFill>
            <a:srgbClr val="FFEDDB">
              <a:alpha val="85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1079500" y="4381500"/>
            <a:ext cx="2857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EA580C"/>
                </a:solidFill>
                <a:latin typeface="Noto Sans SC" panose="020B0200000000000000" charset="-122"/>
                <a:ea typeface="Noto Sans SC" panose="020B0200000000000000" charset="-122"/>
                <a:cs typeface="Noto Sans SC" panose="020B0200000000000000" charset="-122"/>
                <a:sym typeface="Noto Sans SC" panose="020B0200000000000000" charset="-122"/>
              </a:rPr>
              <a:t>未来：主动的架构师</a:t>
            </a:r>
            <a:endParaRPr lang="en-US" sz="1100"/>
          </a:p>
        </p:txBody>
      </p:sp>
      <p:sp>
        <p:nvSpPr>
          <p:cNvPr id="12" name="AutoShape 12"/>
          <p:cNvSpPr/>
          <p:nvPr/>
        </p:nvSpPr>
        <p:spPr>
          <a:xfrm>
            <a:off x="1079500" y="4762500"/>
            <a:ext cx="28575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将核心精力转向平台架构设计与数据治理体系建设，通过技术创新优化系统性能，从底层执行者转变为顶层设计者，为业务发展构建稳固的数据基础设施。</a:t>
            </a:r>
            <a:endParaRPr lang="en-US" sz="1100"/>
          </a:p>
        </p:txBody>
      </p:sp>
      <p:sp>
        <p:nvSpPr>
          <p:cNvPr id="13" name="AutoShape 13"/>
          <p:cNvSpPr/>
          <p:nvPr/>
        </p:nvSpPr>
        <p:spPr>
          <a:xfrm>
            <a:off x="4419600" y="1651000"/>
            <a:ext cx="3492500" cy="4445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4419600" y="1651000"/>
            <a:ext cx="3492500" cy="508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4610100" y="1841500"/>
            <a:ext cx="3175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数据分析师：自主权的觉醒</a:t>
            </a:r>
            <a:endParaRPr lang="en-US" sz="1100"/>
          </a:p>
        </p:txBody>
      </p:sp>
      <p:sp>
        <p:nvSpPr>
          <p:cNvPr id="16" name="AutoShape 16"/>
          <p:cNvSpPr/>
          <p:nvPr/>
        </p:nvSpPr>
        <p:spPr>
          <a:xfrm>
            <a:off x="4610100" y="2730500"/>
            <a:ext cx="3111500" cy="1460500"/>
          </a:xfrm>
          <a:prstGeom prst="roundRect">
            <a:avLst>
              <a:gd name="adj" fmla="val 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4737100" y="2794000"/>
            <a:ext cx="2857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过去：漫长的等待者</a:t>
            </a:r>
            <a:endParaRPr lang="en-US" sz="1100"/>
          </a:p>
        </p:txBody>
      </p:sp>
      <p:sp>
        <p:nvSpPr>
          <p:cNvPr id="18" name="AutoShape 18"/>
          <p:cNvSpPr/>
          <p:nvPr/>
        </p:nvSpPr>
        <p:spPr>
          <a:xfrm>
            <a:off x="4737100" y="3175000"/>
            <a:ext cx="2857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高度依赖技术部门提取数据，沟通成本高昂，需求响应周期漫长。数据获取的滞后性严重影响了分析效率，导致业务洞察总是慢人一步。</a:t>
            </a:r>
            <a:endParaRPr lang="en-US" sz="1100"/>
          </a:p>
        </p:txBody>
      </p:sp>
      <p:sp>
        <p:nvSpPr>
          <p:cNvPr id="19" name="AutoShape 19"/>
          <p:cNvSpPr/>
          <p:nvPr/>
        </p:nvSpPr>
        <p:spPr>
          <a:xfrm>
            <a:off x="4610100" y="4318000"/>
            <a:ext cx="3111500" cy="1651000"/>
          </a:xfrm>
          <a:prstGeom prst="roundRect">
            <a:avLst>
              <a:gd name="adj" fmla="val 0"/>
            </a:avLst>
          </a:prstGeom>
          <a:solidFill>
            <a:srgbClr val="FFEDDB">
              <a:alpha val="85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a:off x="4737100" y="4381500"/>
            <a:ext cx="2857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EA580C"/>
                </a:solidFill>
                <a:latin typeface="Noto Sans SC" panose="020B0200000000000000" charset="-122"/>
                <a:ea typeface="Noto Sans SC" panose="020B0200000000000000" charset="-122"/>
                <a:cs typeface="Noto Sans SC" panose="020B0200000000000000" charset="-122"/>
                <a:sym typeface="Noto Sans SC" panose="020B0200000000000000" charset="-122"/>
              </a:rPr>
              <a:t>未来：独立的驾驭者</a:t>
            </a:r>
            <a:endParaRPr lang="en-US" sz="1100"/>
          </a:p>
        </p:txBody>
      </p:sp>
      <p:sp>
        <p:nvSpPr>
          <p:cNvPr id="21" name="AutoShape 21"/>
          <p:cNvSpPr/>
          <p:nvPr/>
        </p:nvSpPr>
        <p:spPr>
          <a:xfrm>
            <a:off x="4737100" y="4762500"/>
            <a:ext cx="28575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借助自助式数据服务平台，分析师可自主完成数据获取、清洗与深度分析。彻底摆脱对他人的依赖，将时间聚焦于业务价值挖掘，实现敏捷的业务决策支持。</a:t>
            </a:r>
            <a:endParaRPr lang="en-US" sz="1100"/>
          </a:p>
        </p:txBody>
      </p:sp>
      <p:sp>
        <p:nvSpPr>
          <p:cNvPr id="22" name="AutoShape 22"/>
          <p:cNvSpPr/>
          <p:nvPr/>
        </p:nvSpPr>
        <p:spPr>
          <a:xfrm>
            <a:off x="8077200" y="1651000"/>
            <a:ext cx="3492500" cy="4445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23" name="AutoShape 23"/>
          <p:cNvSpPr/>
          <p:nvPr/>
        </p:nvSpPr>
        <p:spPr>
          <a:xfrm>
            <a:off x="8077200" y="1651000"/>
            <a:ext cx="3492500" cy="508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24" name="AutoShape 24"/>
          <p:cNvSpPr/>
          <p:nvPr/>
        </p:nvSpPr>
        <p:spPr>
          <a:xfrm>
            <a:off x="8267700" y="1841500"/>
            <a:ext cx="3175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公民数据师：全民数据觉醒</a:t>
            </a:r>
            <a:endParaRPr lang="en-US" sz="1100"/>
          </a:p>
        </p:txBody>
      </p:sp>
      <p:sp>
        <p:nvSpPr>
          <p:cNvPr id="25" name="AutoShape 25"/>
          <p:cNvSpPr/>
          <p:nvPr/>
        </p:nvSpPr>
        <p:spPr>
          <a:xfrm>
            <a:off x="8267700" y="2730500"/>
            <a:ext cx="3111500" cy="1460500"/>
          </a:xfrm>
          <a:prstGeom prst="roundRect">
            <a:avLst>
              <a:gd name="adj" fmla="val 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p>
        </p:txBody>
      </p:sp>
      <p:sp>
        <p:nvSpPr>
          <p:cNvPr id="26" name="AutoShape 26"/>
          <p:cNvSpPr/>
          <p:nvPr/>
        </p:nvSpPr>
        <p:spPr>
          <a:xfrm>
            <a:off x="8394700" y="2794000"/>
            <a:ext cx="2857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过去：技术的门外汉</a:t>
            </a:r>
            <a:endParaRPr lang="en-US" sz="1100"/>
          </a:p>
        </p:txBody>
      </p:sp>
      <p:sp>
        <p:nvSpPr>
          <p:cNvPr id="27" name="AutoShape 27"/>
          <p:cNvSpPr/>
          <p:nvPr/>
        </p:nvSpPr>
        <p:spPr>
          <a:xfrm>
            <a:off x="8394700" y="3175000"/>
            <a:ext cx="2857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业务人员被挡在专业技术门槛之外，数据需求必须通过IT部门中转。大量存在于业务一线的即时问题与潜在价值，因技术壁垒无法被及时发现和利用。</a:t>
            </a:r>
            <a:endParaRPr lang="en-US" sz="1100"/>
          </a:p>
        </p:txBody>
      </p:sp>
      <p:sp>
        <p:nvSpPr>
          <p:cNvPr id="28" name="AutoShape 28"/>
          <p:cNvSpPr/>
          <p:nvPr/>
        </p:nvSpPr>
        <p:spPr>
          <a:xfrm>
            <a:off x="8267700" y="4318000"/>
            <a:ext cx="3111500" cy="1651000"/>
          </a:xfrm>
          <a:prstGeom prst="roundRect">
            <a:avLst>
              <a:gd name="adj" fmla="val 0"/>
            </a:avLst>
          </a:prstGeom>
          <a:solidFill>
            <a:srgbClr val="FFEDDB">
              <a:alpha val="85000"/>
            </a:srgbClr>
          </a:solidFill>
          <a:ln w="25400" cap="flat" cmpd="sng">
            <a:noFill/>
            <a:prstDash val="solid"/>
            <a:round/>
          </a:ln>
        </p:spPr>
        <p:txBody>
          <a:bodyPr vert="horz" wrap="square" lIns="63500" tIns="63500" rIns="63500" bIns="63500" rtlCol="0" anchor="ctr"/>
          <a:lstStyle/>
          <a:p>
            <a:pPr algn="ctr">
              <a:defRPr/>
            </a:pPr>
          </a:p>
        </p:txBody>
      </p:sp>
      <p:sp>
        <p:nvSpPr>
          <p:cNvPr id="29" name="AutoShape 29"/>
          <p:cNvSpPr/>
          <p:nvPr/>
        </p:nvSpPr>
        <p:spPr>
          <a:xfrm>
            <a:off x="8394700" y="4381500"/>
            <a:ext cx="2857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EA580C"/>
                </a:solidFill>
                <a:latin typeface="Noto Sans SC" panose="020B0200000000000000" charset="-122"/>
                <a:ea typeface="Noto Sans SC" panose="020B0200000000000000" charset="-122"/>
                <a:cs typeface="Noto Sans SC" panose="020B0200000000000000" charset="-122"/>
                <a:sym typeface="Noto Sans SC" panose="020B0200000000000000" charset="-122"/>
              </a:rPr>
              <a:t>未来：业务的洞察者</a:t>
            </a:r>
            <a:endParaRPr lang="en-US" sz="1100"/>
          </a:p>
        </p:txBody>
      </p:sp>
      <p:sp>
        <p:nvSpPr>
          <p:cNvPr id="30" name="AutoShape 30"/>
          <p:cNvSpPr/>
          <p:nvPr/>
        </p:nvSpPr>
        <p:spPr>
          <a:xfrm>
            <a:off x="8394700" y="4762500"/>
            <a:ext cx="28575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低代码/无代码工具打破了数据应用的技术围墙，让业务人员直接与数据对话。实现数据能力的“平民化”，让数据价值在业务发生的第一现场得到即时转化。</a:t>
            </a:r>
            <a:endParaRPr lang="en-US" sz="11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课堂研讨一：需求分析与产品设计</a:t>
            </a:r>
            <a:endParaRPr lang="en-US" sz="1100"/>
          </a:p>
        </p:txBody>
      </p:sp>
      <p:sp>
        <p:nvSpPr>
          <p:cNvPr id="4" name="AutoShape 4"/>
          <p:cNvSpPr/>
          <p:nvPr/>
        </p:nvSpPr>
        <p:spPr>
          <a:xfrm>
            <a:off x="762000" y="1524000"/>
            <a:ext cx="10668000" cy="1270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1016000" y="1625600"/>
            <a:ext cx="10160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【场景设定】 校园CDO的新挑战</a:t>
            </a:r>
            <a:endParaRPr lang="en-US" sz="1100"/>
          </a:p>
        </p:txBody>
      </p:sp>
      <p:sp>
        <p:nvSpPr>
          <p:cNvPr id="6" name="AutoShape 6"/>
          <p:cNvSpPr/>
          <p:nvPr/>
        </p:nvSpPr>
        <p:spPr>
          <a:xfrm>
            <a:off x="1016000" y="2032000"/>
            <a:ext cx="10160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假设你被正式任命为学校的“首席数据官（CDO）”，核心使命是打造统一的“校园数据中台”。面对校内教务、学工、后勤等多套独立运行的业务系统，数据分散、口径不一，你需要通过中台建设打破信息孤岛，为全校的教学创新与管理提效提供坚实的数据底座。</a:t>
            </a:r>
            <a:endParaRPr lang="en-US" sz="1100"/>
          </a:p>
        </p:txBody>
      </p:sp>
      <p:sp>
        <p:nvSpPr>
          <p:cNvPr id="7" name="AutoShape 7"/>
          <p:cNvSpPr/>
          <p:nvPr/>
        </p:nvSpPr>
        <p:spPr>
          <a:xfrm>
            <a:off x="762000" y="3048000"/>
            <a:ext cx="5207000" cy="1841500"/>
          </a:xfrm>
          <a:prstGeom prst="roundRect">
            <a:avLst>
              <a:gd name="adj" fmla="val 0"/>
            </a:avLst>
          </a:prstGeom>
          <a:solidFill>
            <a:srgbClr val="FFFFFF">
              <a:alpha val="94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762000" y="3048000"/>
            <a:ext cx="50800" cy="18415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1016000" y="3149600"/>
            <a:ext cx="4572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核心议题一：痛点识别与优先级</a:t>
            </a:r>
            <a:endParaRPr lang="en-US" sz="1100"/>
          </a:p>
        </p:txBody>
      </p:sp>
      <p:sp>
        <p:nvSpPr>
          <p:cNvPr id="10" name="AutoShape 10"/>
          <p:cNvSpPr/>
          <p:nvPr/>
        </p:nvSpPr>
        <p:spPr>
          <a:xfrm>
            <a:off x="1016000" y="3683000"/>
            <a:ext cx="47625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立足当下的校园管理现状，从学生、教职工及管理者的视角出发，你认为当前最急需通过数据中台解决的三个关键业务痛点是什么？请具体描述问题表现、受影响范围，以及如果不解决会带来的长期管理成本。</a:t>
            </a:r>
            <a:endParaRPr lang="en-US" sz="1100"/>
          </a:p>
        </p:txBody>
      </p:sp>
      <p:sp>
        <p:nvSpPr>
          <p:cNvPr id="11" name="AutoShape 11"/>
          <p:cNvSpPr/>
          <p:nvPr/>
        </p:nvSpPr>
        <p:spPr>
          <a:xfrm>
            <a:off x="6223000" y="3048000"/>
            <a:ext cx="5207000" cy="1841500"/>
          </a:xfrm>
          <a:prstGeom prst="roundRect">
            <a:avLst>
              <a:gd name="adj" fmla="val 0"/>
            </a:avLst>
          </a:prstGeom>
          <a:solidFill>
            <a:srgbClr val="FFFFFF">
              <a:alpha val="94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6223000" y="3048000"/>
            <a:ext cx="50800" cy="18415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6477000" y="3149600"/>
            <a:ext cx="4572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核心议题二：核心服务推演</a:t>
            </a:r>
            <a:endParaRPr lang="en-US" sz="1100"/>
          </a:p>
        </p:txBody>
      </p:sp>
      <p:sp>
        <p:nvSpPr>
          <p:cNvPr id="14" name="AutoShape 14"/>
          <p:cNvSpPr/>
          <p:nvPr/>
        </p:nvSpPr>
        <p:spPr>
          <a:xfrm>
            <a:off x="6477000" y="3683000"/>
            <a:ext cx="47625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选定“一键生成学业成长报告”作为首个标杆应用场景。请反推数据中台必须具备哪些核心数据服务？例如基础数据的打通、业务指标的计算逻辑、对外服务的接口形式等。思考技术能力如何支撑这一高频业务需求的落地。</a:t>
            </a:r>
            <a:endParaRPr lang="en-US" sz="1100"/>
          </a:p>
        </p:txBody>
      </p:sp>
      <p:sp>
        <p:nvSpPr>
          <p:cNvPr id="15" name="AutoShape 15"/>
          <p:cNvSpPr/>
          <p:nvPr/>
        </p:nvSpPr>
        <p:spPr>
          <a:xfrm>
            <a:off x="762000" y="5080000"/>
            <a:ext cx="10668000" cy="1270000"/>
          </a:xfrm>
          <a:prstGeom prst="roundRect">
            <a:avLst>
              <a:gd name="adj" fmla="val 0"/>
            </a:avLst>
          </a:prstGeom>
          <a:solidFill>
            <a:srgbClr val="F97316">
              <a:alpha val="92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952500" y="5232400"/>
            <a:ext cx="50800" cy="9652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1143000" y="5232400"/>
            <a:ext cx="1905000" cy="9652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0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研讨</a:t>
            </a:r>
            <a:br>
              <a:rPr lang="en-US" sz="20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20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目的</a:t>
            </a:r>
            <a:endParaRPr lang="en-US" sz="1100"/>
          </a:p>
        </p:txBody>
      </p:sp>
      <p:cxnSp>
        <p:nvCxnSpPr>
          <p:cNvPr id="18" name="Connector 18"/>
          <p:cNvCxnSpPr/>
          <p:nvPr/>
        </p:nvCxnSpPr>
        <p:spPr>
          <a:xfrm rot="5350892">
            <a:off x="2794000" y="5708695"/>
            <a:ext cx="889000" cy="12700"/>
          </a:xfrm>
          <a:prstGeom prst="straightConnector1">
            <a:avLst/>
          </a:prstGeom>
          <a:solidFill>
            <a:srgbClr val="DEE0E3">
              <a:alpha val="100000"/>
            </a:srgbClr>
          </a:solidFill>
          <a:ln w="12700" cap="flat" cmpd="sng">
            <a:solidFill>
              <a:srgbClr val="FFFFFF">
                <a:alpha val="50000"/>
              </a:srgbClr>
            </a:solidFill>
            <a:prstDash val="solid"/>
            <a:round/>
            <a:headEnd type="none" w="med" len="med"/>
            <a:tailEnd type="none" w="med" len="med"/>
          </a:ln>
        </p:spPr>
      </p:cxnSp>
      <p:sp>
        <p:nvSpPr>
          <p:cNvPr id="19" name="AutoShape 19"/>
          <p:cNvSpPr/>
          <p:nvPr/>
        </p:nvSpPr>
        <p:spPr>
          <a:xfrm>
            <a:off x="3429000" y="5270500"/>
            <a:ext cx="7747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拒绝为了技术而堆砌平台，而是回归业务本质。通过本次研讨，我们要学会运用平台工程思维，从真实的用户场景和业务痛点出发，反推数据中台应当具备的核心能力模型，确保中台建设不是空中楼阁，而是能切实解决问题、驱动教育管理数字化转型的有效工具。</a:t>
            </a:r>
            <a:endParaRPr lang="en-US" sz="11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795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课堂研讨二：趋势洞察与职业辩论</a:t>
            </a:r>
            <a:endParaRPr lang="en-US" sz="1100"/>
          </a:p>
        </p:txBody>
      </p:sp>
      <p:sp>
        <p:nvSpPr>
          <p:cNvPr id="4" name="AutoShape 4"/>
          <p:cNvSpPr/>
          <p:nvPr/>
        </p:nvSpPr>
        <p:spPr>
          <a:xfrm>
            <a:off x="762000" y="1524000"/>
            <a:ext cx="10668000" cy="1206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1524000"/>
            <a:ext cx="50800" cy="12065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016000" y="1587500"/>
            <a:ext cx="10160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有一种观点在行业内引发了广泛讨论：“随着 AutoML 技术的成熟与低代码/无代码平台的大规模普及，数据处理的技术门槛正在显著降低，未来的数据工程师这一职业将会逐渐消失甚至失业。”这一论断是否成立？背后隐藏着怎样的技术逻辑与行业现实？</a:t>
            </a:r>
            <a:endParaRPr lang="en-US" sz="1100"/>
          </a:p>
        </p:txBody>
      </p:sp>
      <p:sp>
        <p:nvSpPr>
          <p:cNvPr id="7" name="AutoShape 7"/>
          <p:cNvSpPr/>
          <p:nvPr/>
        </p:nvSpPr>
        <p:spPr>
          <a:xfrm>
            <a:off x="762000" y="2921000"/>
            <a:ext cx="5207000" cy="1841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762000" y="2921000"/>
            <a:ext cx="5207000" cy="381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952500" y="3048000"/>
            <a:ext cx="482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你的立场：是认同还是反驳？</a:t>
            </a:r>
            <a:endParaRPr lang="en-US" sz="1100"/>
          </a:p>
        </p:txBody>
      </p:sp>
      <p:sp>
        <p:nvSpPr>
          <p:cNvPr id="10" name="AutoShape 10"/>
          <p:cNvSpPr/>
          <p:nvPr/>
        </p:nvSpPr>
        <p:spPr>
          <a:xfrm>
            <a:off x="952500" y="3556000"/>
            <a:ext cx="4826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你是否同意“数据工程师将失业”这一观点？请结合当前行业的技术落地案例、企业用人需求变化以及技术工具的实际应用场景，给出明确的立场，并阐述支撑你判断的核心逻辑与现实依据。</a:t>
            </a:r>
            <a:endParaRPr lang="en-US" sz="1100"/>
          </a:p>
        </p:txBody>
      </p:sp>
      <p:sp>
        <p:nvSpPr>
          <p:cNvPr id="11" name="AutoShape 11"/>
          <p:cNvSpPr/>
          <p:nvPr/>
        </p:nvSpPr>
        <p:spPr>
          <a:xfrm>
            <a:off x="6223000" y="2921000"/>
            <a:ext cx="5207000" cy="1841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6223000" y="2921000"/>
            <a:ext cx="5207000" cy="381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6413500" y="3048000"/>
            <a:ext cx="482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价值重塑：核心能力向何处去？</a:t>
            </a:r>
            <a:endParaRPr lang="en-US" sz="1100"/>
          </a:p>
        </p:txBody>
      </p:sp>
      <p:sp>
        <p:nvSpPr>
          <p:cNvPr id="14" name="AutoShape 14"/>
          <p:cNvSpPr/>
          <p:nvPr/>
        </p:nvSpPr>
        <p:spPr>
          <a:xfrm>
            <a:off x="6413500" y="3556000"/>
            <a:ext cx="4826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如果职业不会消失，那么数据工程师的核心价值将发生怎样的迁移？是更深度地理解业务逻辑，成为连接技术与业务的“翻译官”；还是深耕底层技术架构，成为构建高效、稳定数据基础设施的“架构师”？请探讨这一职业未来的核心竞争力所在。</a:t>
            </a:r>
            <a:endParaRPr lang="en-US" sz="1100"/>
          </a:p>
        </p:txBody>
      </p:sp>
      <p:sp>
        <p:nvSpPr>
          <p:cNvPr id="15" name="AutoShape 15"/>
          <p:cNvSpPr/>
          <p:nvPr/>
        </p:nvSpPr>
        <p:spPr>
          <a:xfrm>
            <a:off x="762000" y="4953000"/>
            <a:ext cx="10668000" cy="1460500"/>
          </a:xfrm>
          <a:prstGeom prst="roundRect">
            <a:avLst>
              <a:gd name="adj" fmla="val 0"/>
            </a:avLst>
          </a:prstGeom>
          <a:solidFill>
            <a:srgbClr val="1F2937">
              <a:alpha val="82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762000" y="4953000"/>
            <a:ext cx="101600" cy="14605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1016000" y="5054600"/>
            <a:ext cx="1778000" cy="1206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0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研讨</a:t>
            </a:r>
            <a:br>
              <a:rPr lang="en-US" sz="20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20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目的</a:t>
            </a:r>
            <a:endParaRPr lang="en-US" sz="1100"/>
          </a:p>
        </p:txBody>
      </p:sp>
      <p:cxnSp>
        <p:nvCxnSpPr>
          <p:cNvPr id="18" name="Connector 18"/>
          <p:cNvCxnSpPr/>
          <p:nvPr/>
        </p:nvCxnSpPr>
        <p:spPr>
          <a:xfrm rot="5357030">
            <a:off x="2413000" y="5645190"/>
            <a:ext cx="1016000" cy="12700"/>
          </a:xfrm>
          <a:prstGeom prst="straightConnector1">
            <a:avLst/>
          </a:prstGeom>
          <a:solidFill>
            <a:srgbClr val="DEE0E3">
              <a:alpha val="100000"/>
            </a:srgbClr>
          </a:solidFill>
          <a:ln w="12700" cap="flat" cmpd="sng">
            <a:solidFill>
              <a:srgbClr val="FFFFFF">
                <a:alpha val="30000"/>
              </a:srgbClr>
            </a:solidFill>
            <a:prstDash val="solid"/>
            <a:round/>
            <a:headEnd type="none" w="med" len="med"/>
            <a:tailEnd type="none" w="med" len="med"/>
          </a:ln>
        </p:spPr>
      </p:cxnSp>
      <p:sp>
        <p:nvSpPr>
          <p:cNvPr id="19" name="AutoShape 19"/>
          <p:cNvSpPr/>
          <p:nvPr/>
        </p:nvSpPr>
        <p:spPr>
          <a:xfrm>
            <a:off x="3111500" y="5105400"/>
            <a:ext cx="80645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ECEEF1"/>
                </a:solidFill>
                <a:latin typeface="Noto Sans SC" panose="020B0200000000000000" charset="-122"/>
                <a:ea typeface="Noto Sans SC" panose="020B0200000000000000" charset="-122"/>
                <a:cs typeface="Noto Sans SC" panose="020B0200000000000000" charset="-122"/>
                <a:sym typeface="Noto Sans SC" panose="020B0200000000000000" charset="-122"/>
              </a:rPr>
              <a:t>引导大家跳出技术工具的表象，深入思考技术发展趋势对数据工程师职业版图的深远影响。通过这场思辨，不仅要探索职业核心能力的迭代方向，更要帮助大家清晰定位自己在未来行业生态中的角色，为个人职业发展路径提供具有前瞻性的判断与规划。</a:t>
            </a:r>
            <a:endParaRPr lang="en-US" sz="11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635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课堂小结</a:t>
            </a:r>
            <a:endParaRPr lang="en-US" sz="1100"/>
          </a:p>
        </p:txBody>
      </p:sp>
      <p:sp>
        <p:nvSpPr>
          <p:cNvPr id="4" name="AutoShape 4"/>
          <p:cNvSpPr/>
          <p:nvPr/>
        </p:nvSpPr>
        <p:spPr>
          <a:xfrm>
            <a:off x="762000" y="1651000"/>
            <a:ext cx="5207000" cy="2095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1651000"/>
            <a:ext cx="50800" cy="20955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016000" y="1841500"/>
            <a:ext cx="4572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思维跃迁</a:t>
            </a:r>
            <a:endParaRPr lang="en-US" sz="1100"/>
          </a:p>
        </p:txBody>
      </p:sp>
      <p:sp>
        <p:nvSpPr>
          <p:cNvPr id="7" name="AutoShape 7"/>
          <p:cNvSpPr/>
          <p:nvPr/>
        </p:nvSpPr>
        <p:spPr>
          <a:xfrm>
            <a:off x="1016000" y="2413000"/>
            <a:ext cx="47625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本节课我们完成了从“战术执行”到“战略架构”的关键思维跃迁。不再局限于单一任务的执行细节，而是学会从全局视角审视数据工程的建设逻辑，重新思考技术落地背后的长远价值与发展方向。</a:t>
            </a:r>
            <a:endParaRPr lang="en-US" sz="1100"/>
          </a:p>
        </p:txBody>
      </p:sp>
      <p:sp>
        <p:nvSpPr>
          <p:cNvPr id="8" name="AutoShape 8"/>
          <p:cNvSpPr/>
          <p:nvPr/>
        </p:nvSpPr>
        <p:spPr>
          <a:xfrm>
            <a:off x="6223000" y="1651000"/>
            <a:ext cx="5207000" cy="2095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6223000" y="1651000"/>
            <a:ext cx="50800" cy="20955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6477000" y="1841500"/>
            <a:ext cx="4572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核心本质</a:t>
            </a:r>
            <a:endParaRPr lang="en-US" sz="1100"/>
          </a:p>
        </p:txBody>
      </p:sp>
      <p:sp>
        <p:nvSpPr>
          <p:cNvPr id="11" name="AutoShape 11"/>
          <p:cNvSpPr/>
          <p:nvPr/>
        </p:nvSpPr>
        <p:spPr>
          <a:xfrm>
            <a:off x="6477000" y="2413000"/>
            <a:ext cx="47625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平台工程的核心本质，是将数据工程的成熟最佳实践进行产品化和服务化封装。通过标准化的组件、流程与工具链，实现技术能力的高效“复用”，从而显著降低重复建设成本，提升研发与运维的整体协同效率。</a:t>
            </a:r>
            <a:endParaRPr lang="en-US" sz="1100"/>
          </a:p>
        </p:txBody>
      </p:sp>
      <p:sp>
        <p:nvSpPr>
          <p:cNvPr id="12" name="AutoShape 12"/>
          <p:cNvSpPr/>
          <p:nvPr/>
        </p:nvSpPr>
        <p:spPr>
          <a:xfrm>
            <a:off x="762000" y="4000500"/>
            <a:ext cx="5207000" cy="2095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762000" y="4000500"/>
            <a:ext cx="50800" cy="20955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1016000" y="4191000"/>
            <a:ext cx="4572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关键手段</a:t>
            </a:r>
            <a:endParaRPr lang="en-US" sz="1100"/>
          </a:p>
        </p:txBody>
      </p:sp>
      <p:sp>
        <p:nvSpPr>
          <p:cNvPr id="15" name="AutoShape 15"/>
          <p:cNvSpPr/>
          <p:nvPr/>
        </p:nvSpPr>
        <p:spPr>
          <a:xfrm>
            <a:off x="1016000" y="4762500"/>
            <a:ext cx="47625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依托Serverless架构、全链路可观测性体系以及DataOps工作流集成等现代技术手段，平台工程有效降低了数据处理的技术门槛。让复杂的专业能力变得触手可及，真正实现了数据能力的民主化与普惠化。</a:t>
            </a:r>
            <a:endParaRPr lang="en-US" sz="1100"/>
          </a:p>
        </p:txBody>
      </p:sp>
      <p:sp>
        <p:nvSpPr>
          <p:cNvPr id="16" name="AutoShape 16"/>
          <p:cNvSpPr/>
          <p:nvPr/>
        </p:nvSpPr>
        <p:spPr>
          <a:xfrm>
            <a:off x="6223000" y="4000500"/>
            <a:ext cx="5207000" cy="2095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6223000" y="4000500"/>
            <a:ext cx="50800" cy="20955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6477000" y="4191000"/>
            <a:ext cx="4572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未来定位</a:t>
            </a:r>
            <a:endParaRPr lang="en-US" sz="1100"/>
          </a:p>
        </p:txBody>
      </p:sp>
      <p:sp>
        <p:nvSpPr>
          <p:cNvPr id="19" name="AutoShape 19"/>
          <p:cNvSpPr/>
          <p:nvPr/>
        </p:nvSpPr>
        <p:spPr>
          <a:xfrm>
            <a:off x="6477000" y="4762500"/>
            <a:ext cx="47625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深刻理解并掌握平台思维，是在未来复杂多变的数据生态中立足的关键。无论我们在生态中扮演平台的构建者还是业务的使用者，都能以此为支点，在数据价值的流转链路中，精准找到自身不可替代的核心价值与长远发展方向。</a:t>
            </a:r>
            <a:endParaRPr lang="en-US" sz="11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635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课后作业</a:t>
            </a:r>
            <a:endParaRPr lang="en-US" sz="1100"/>
          </a:p>
        </p:txBody>
      </p:sp>
      <p:sp>
        <p:nvSpPr>
          <p:cNvPr id="4" name="AutoShape 4"/>
          <p:cNvSpPr/>
          <p:nvPr/>
        </p:nvSpPr>
        <p:spPr>
          <a:xfrm>
            <a:off x="762000" y="1651000"/>
            <a:ext cx="5207000" cy="4445000"/>
          </a:xfrm>
          <a:prstGeom prst="roundRect">
            <a:avLst>
              <a:gd name="adj" fmla="val 0"/>
            </a:avLst>
          </a:prstGeom>
          <a:solidFill>
            <a:srgbClr val="FFFFFF">
              <a:alpha val="92000"/>
            </a:srgbClr>
          </a:solidFill>
          <a:ln w="12700" cap="flat" cmpd="sng">
            <a:solidFill>
              <a:srgbClr val="F97316">
                <a:alpha val="3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762000" y="1651000"/>
            <a:ext cx="5207000" cy="508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016000" y="1841500"/>
            <a:ext cx="4699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概念应用题：技术架构抉择</a:t>
            </a:r>
            <a:endParaRPr lang="en-US" sz="1100"/>
          </a:p>
        </p:txBody>
      </p:sp>
      <p:sp>
        <p:nvSpPr>
          <p:cNvPr id="7" name="AutoShape 7"/>
          <p:cNvSpPr/>
          <p:nvPr/>
        </p:nvSpPr>
        <p:spPr>
          <a:xfrm>
            <a:off x="1016000" y="2540000"/>
            <a:ext cx="4699000" cy="1333500"/>
          </a:xfrm>
          <a:prstGeom prst="roundRect">
            <a:avLst>
              <a:gd name="adj" fmla="val 0"/>
            </a:avLst>
          </a:prstGeom>
          <a:solidFill>
            <a:srgbClr val="F97316">
              <a:alpha val="8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1206500" y="2641600"/>
            <a:ext cx="4318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业务场景</a:t>
            </a:r>
            <a:endParaRPr lang="en-US" sz="1100"/>
          </a:p>
        </p:txBody>
      </p:sp>
      <p:sp>
        <p:nvSpPr>
          <p:cNvPr id="9" name="AutoShape 9"/>
          <p:cNvSpPr/>
          <p:nvPr/>
        </p:nvSpPr>
        <p:spPr>
          <a:xfrm>
            <a:off x="1206500" y="3048000"/>
            <a:ext cx="4381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某创业公司仅有3名技术人员，却面临每日TB级的海量日志数据处理需求。在人力极度有限的情况下，如何平衡成本、效率与系统的稳定性？</a:t>
            </a:r>
            <a:endParaRPr lang="en-US" sz="1100"/>
          </a:p>
        </p:txBody>
      </p:sp>
      <p:sp>
        <p:nvSpPr>
          <p:cNvPr id="10" name="AutoShape 10"/>
          <p:cNvSpPr/>
          <p:nvPr/>
        </p:nvSpPr>
        <p:spPr>
          <a:xfrm>
            <a:off x="1016000" y="4064000"/>
            <a:ext cx="4699000" cy="1841500"/>
          </a:xfrm>
          <a:prstGeom prst="roundRect">
            <a:avLst>
              <a:gd name="adj" fmla="val 0"/>
            </a:avLst>
          </a:prstGeom>
          <a:solidFill>
            <a:srgbClr val="1F2937">
              <a:alpha val="6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1206500" y="4165600"/>
            <a:ext cx="4318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核心任务</a:t>
            </a:r>
            <a:endParaRPr lang="en-US" sz="1100"/>
          </a:p>
        </p:txBody>
      </p:sp>
      <p:sp>
        <p:nvSpPr>
          <p:cNvPr id="12" name="AutoShape 12"/>
          <p:cNvSpPr/>
          <p:nvPr/>
        </p:nvSpPr>
        <p:spPr>
          <a:xfrm>
            <a:off x="1206500" y="4572000"/>
            <a:ext cx="43815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请为团队推荐一种架构方案（自建机房 vs 云服务平台）。详细阐述你的决策逻辑，重点分析该方案如何适配当前的技术人员规模，以及在数据处理能力、运维成本和业务扩展速度上的具体优势。</a:t>
            </a:r>
            <a:endParaRPr lang="en-US" sz="1100"/>
          </a:p>
        </p:txBody>
      </p:sp>
      <p:sp>
        <p:nvSpPr>
          <p:cNvPr id="13" name="AutoShape 13"/>
          <p:cNvSpPr/>
          <p:nvPr/>
        </p:nvSpPr>
        <p:spPr>
          <a:xfrm>
            <a:off x="6223000" y="1651000"/>
            <a:ext cx="5207000" cy="4445000"/>
          </a:xfrm>
          <a:prstGeom prst="roundRect">
            <a:avLst>
              <a:gd name="adj" fmla="val 0"/>
            </a:avLst>
          </a:prstGeom>
          <a:solidFill>
            <a:srgbClr val="FFFFFF">
              <a:alpha val="92000"/>
            </a:srgbClr>
          </a:solidFill>
          <a:ln w="12700" cap="flat" cmpd="sng">
            <a:solidFill>
              <a:srgbClr val="F97316">
                <a:alpha val="30000"/>
              </a:srgbClr>
            </a:solidFill>
            <a:prstDash val="solid"/>
            <a:round/>
          </a:ln>
        </p:spPr>
        <p:txBody>
          <a:bodyPr vert="horz" wrap="square" lIns="63500" tIns="63500" rIns="63500" bIns="63500" rtlCol="0" anchor="ctr"/>
          <a:lstStyle/>
          <a:p>
            <a:pPr algn="ctr">
              <a:defRPr/>
            </a:pPr>
          </a:p>
        </p:txBody>
      </p:sp>
      <p:sp>
        <p:nvSpPr>
          <p:cNvPr id="14" name="AutoShape 14"/>
          <p:cNvSpPr/>
          <p:nvPr/>
        </p:nvSpPr>
        <p:spPr>
          <a:xfrm>
            <a:off x="6223000" y="1651000"/>
            <a:ext cx="5207000" cy="508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6477000" y="1841500"/>
            <a:ext cx="4699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角色扮演：向CFO推销价值</a:t>
            </a:r>
            <a:endParaRPr lang="en-US" sz="1100"/>
          </a:p>
        </p:txBody>
      </p:sp>
      <p:sp>
        <p:nvSpPr>
          <p:cNvPr id="16" name="AutoShape 16"/>
          <p:cNvSpPr/>
          <p:nvPr/>
        </p:nvSpPr>
        <p:spPr>
          <a:xfrm>
            <a:off x="6477000" y="2540000"/>
            <a:ext cx="4699000" cy="1333500"/>
          </a:xfrm>
          <a:prstGeom prst="roundRect">
            <a:avLst>
              <a:gd name="adj" fmla="val 0"/>
            </a:avLst>
          </a:prstGeom>
          <a:solidFill>
            <a:srgbClr val="F97316">
              <a:alpha val="8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6667500" y="2641600"/>
            <a:ext cx="4318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身份与对象</a:t>
            </a:r>
            <a:endParaRPr lang="en-US" sz="1100"/>
          </a:p>
        </p:txBody>
      </p:sp>
      <p:sp>
        <p:nvSpPr>
          <p:cNvPr id="18" name="AutoShape 18"/>
          <p:cNvSpPr/>
          <p:nvPr/>
        </p:nvSpPr>
        <p:spPr>
          <a:xfrm>
            <a:off x="6667500" y="3048000"/>
            <a:ext cx="4381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你是数据平台的产品经理，需要向完全不懂技术的财务总监（CFO）汇报。对方关注预算支出与投资回报，对复杂的技术细节没有耐心。</a:t>
            </a:r>
            <a:endParaRPr lang="en-US" sz="1100"/>
          </a:p>
        </p:txBody>
      </p:sp>
      <p:sp>
        <p:nvSpPr>
          <p:cNvPr id="19" name="AutoShape 19"/>
          <p:cNvSpPr/>
          <p:nvPr/>
        </p:nvSpPr>
        <p:spPr>
          <a:xfrm>
            <a:off x="6477000" y="4064000"/>
            <a:ext cx="4699000" cy="1841500"/>
          </a:xfrm>
          <a:prstGeom prst="roundRect">
            <a:avLst>
              <a:gd name="adj" fmla="val 0"/>
            </a:avLst>
          </a:prstGeom>
          <a:solidFill>
            <a:srgbClr val="1F2937">
              <a:alpha val="6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a:off x="6667500" y="4165600"/>
            <a:ext cx="4318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沟通目标</a:t>
            </a:r>
            <a:endParaRPr lang="en-US" sz="1100"/>
          </a:p>
        </p:txBody>
      </p:sp>
      <p:sp>
        <p:nvSpPr>
          <p:cNvPr id="21" name="AutoShape 21"/>
          <p:cNvSpPr/>
          <p:nvPr/>
        </p:nvSpPr>
        <p:spPr>
          <a:xfrm>
            <a:off x="6667500" y="4572000"/>
            <a:ext cx="43815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请使用非技术语言，向CFO解释为什么公司需要投入预算建设数据治理体系。请列举可量化的业务回报（如降本、增效、风险规避），并给出具体的价值预估，说服对方批准项目预算。</a:t>
            </a:r>
            <a:endParaRPr lang="en-US" sz="1100"/>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6670</Words>
  <Application>WPS 演示</Application>
  <PresentationFormat/>
  <Paragraphs>330</Paragraphs>
  <Slides>16</Slides>
  <Notes>0</Notes>
  <HiddenSlides>0</HiddenSlides>
  <MMClips>0</MMClips>
  <ScaleCrop>false</ScaleCrop>
  <HeadingPairs>
    <vt:vector size="6" baseType="variant">
      <vt:variant>
        <vt:lpstr>已用的字体</vt:lpstr>
      </vt:variant>
      <vt:variant>
        <vt:i4>7</vt:i4>
      </vt:variant>
      <vt:variant>
        <vt:lpstr>主题</vt:lpstr>
      </vt:variant>
      <vt:variant>
        <vt:i4>2</vt:i4>
      </vt:variant>
      <vt:variant>
        <vt:lpstr>幻灯片标题</vt:lpstr>
      </vt:variant>
      <vt:variant>
        <vt:i4>16</vt:i4>
      </vt:variant>
    </vt:vector>
  </HeadingPairs>
  <TitlesOfParts>
    <vt:vector size="25" baseType="lpstr">
      <vt:lpstr>Arial</vt:lpstr>
      <vt:lpstr>宋体</vt:lpstr>
      <vt:lpstr>Wingdings</vt:lpstr>
      <vt:lpstr>Arial</vt:lpstr>
      <vt:lpstr>Noto Sans SC</vt:lpstr>
      <vt:lpstr>微软雅黑</vt:lpstr>
      <vt:lpstr>Arial Unicode MS</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没事找事</cp:lastModifiedBy>
  <cp:revision>1</cp:revision>
  <dcterms:created xsi:type="dcterms:W3CDTF">2026-06-01T02:07:48Z</dcterms:created>
  <dcterms:modified xsi:type="dcterms:W3CDTF">2026-06-01T02:07:48Z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{"Label":"1","ContentProducer":"001191110102MACQD9K64010000","ProduceID":"7645685858641644730","ReservedCode1":"","ContentPropagator":"","PropagateID":"","ReservedCode2":""}</vt:lpwstr>
  </property>
  <property fmtid="{D5CDD505-2E9C-101B-9397-08002B2CF9AE}" pid="3" name="ICV">
    <vt:lpwstr>0458ABD1AD66421EB289D74750D514B8_12</vt:lpwstr>
  </property>
  <property fmtid="{D5CDD505-2E9C-101B-9397-08002B2CF9AE}" pid="4" name="KSOProductBuildVer">
    <vt:lpwstr>2052-12.1.0.20784</vt:lpwstr>
  </property>
</Properties>
</file>